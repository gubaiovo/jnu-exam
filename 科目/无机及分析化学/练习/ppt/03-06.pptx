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wav" ContentType="audio/wav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9" r:id="rId1"/>
    <p:sldMasterId id="2147483661" r:id="rId2"/>
  </p:sldMasterIdLst>
  <p:notesMasterIdLst>
    <p:notesMasterId r:id="rId26"/>
  </p:notesMasterIdLst>
  <p:sldIdLst>
    <p:sldId id="256" r:id="rId3"/>
    <p:sldId id="279" r:id="rId4"/>
    <p:sldId id="298" r:id="rId5"/>
    <p:sldId id="280" r:id="rId6"/>
    <p:sldId id="281" r:id="rId7"/>
    <p:sldId id="282" r:id="rId8"/>
    <p:sldId id="299" r:id="rId9"/>
    <p:sldId id="300" r:id="rId10"/>
    <p:sldId id="301" r:id="rId11"/>
    <p:sldId id="285" r:id="rId12"/>
    <p:sldId id="302" r:id="rId13"/>
    <p:sldId id="308" r:id="rId14"/>
    <p:sldId id="306" r:id="rId15"/>
    <p:sldId id="286" r:id="rId16"/>
    <p:sldId id="287" r:id="rId17"/>
    <p:sldId id="303" r:id="rId18"/>
    <p:sldId id="304" r:id="rId19"/>
    <p:sldId id="288" r:id="rId20"/>
    <p:sldId id="289" r:id="rId21"/>
    <p:sldId id="291" r:id="rId22"/>
    <p:sldId id="292" r:id="rId23"/>
    <p:sldId id="305" r:id="rId24"/>
    <p:sldId id="296" r:id="rId25"/>
  </p:sldIdLst>
  <p:sldSz cx="11522075" cy="6480175"/>
  <p:notesSz cx="6858000" cy="9144000"/>
  <p:custDataLst>
    <p:tags r:id="rId27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34">
          <p15:clr>
            <a:srgbClr val="A4A3A4"/>
          </p15:clr>
        </p15:guide>
        <p15:guide id="2" pos="362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FFFF00"/>
    <a:srgbClr val="0000FF"/>
    <a:srgbClr val="FFFFFF"/>
    <a:srgbClr val="F8F8F8"/>
    <a:srgbClr val="FF00FF"/>
    <a:srgbClr val="FF3300"/>
    <a:srgbClr val="EAEA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344D84-9AFB-497E-A393-DC336BA19D2E}" styleName="中度样式 3 - 强调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4620" autoAdjust="0"/>
  </p:normalViewPr>
  <p:slideViewPr>
    <p:cSldViewPr>
      <p:cViewPr varScale="1">
        <p:scale>
          <a:sx n="73" d="100"/>
          <a:sy n="73" d="100"/>
        </p:scale>
        <p:origin x="750" y="66"/>
      </p:cViewPr>
      <p:guideLst>
        <p:guide orient="horz" pos="2034"/>
        <p:guide pos="362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ags" Target="tags/tag1.xml"/><Relationship Id="rId30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png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png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png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png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fld id="{09378730-5A76-4EF1-9BEE-B0078A4F8D82}" type="datetimeFigureOut">
              <a:rPr lang="zh-CN" altLang="en-US"/>
              <a:pPr>
                <a:defRPr/>
              </a:pPr>
              <a:t>2021/10/14</a:t>
            </a:fld>
            <a:endParaRPr lang="en-US" altLang="zh-CN"/>
          </a:p>
        </p:txBody>
      </p:sp>
      <p:sp>
        <p:nvSpPr>
          <p:cNvPr id="2048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76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</a:p>
        </p:txBody>
      </p:sp>
      <p:sp>
        <p:nvSpPr>
          <p:cNvPr id="276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76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fld id="{D0BA76A5-BB03-49A2-9EA9-C44610AC08CC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0BA76A5-BB03-49A2-9EA9-C44610AC08CC}" type="slidenum">
              <a:rPr lang="zh-CN" altLang="en-US" smtClean="0"/>
              <a:pPr>
                <a:defRPr/>
              </a:pPr>
              <a:t>12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224126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pPr eaLnBrk="1" hangingPunct="1"/>
            <a:r>
              <a:rPr kumimoji="1" lang="en-US" altLang="zh-CN" smtClean="0">
                <a:ea typeface="宋体" charset="-122"/>
              </a:rPr>
              <a:t>商少明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pPr eaLnBrk="1" hangingPunct="1"/>
            <a:fld id="{8B2105D1-C915-4DE8-9088-345E3F105E1D}" type="datetime1">
              <a:rPr kumimoji="1" lang="zh-CN" altLang="en-US" smtClean="0">
                <a:ea typeface="宋体" charset="-122"/>
              </a:rPr>
              <a:pPr eaLnBrk="1" hangingPunct="1"/>
              <a:t>2021/10/14</a:t>
            </a:fld>
            <a:endParaRPr kumimoji="1" lang="en-US" altLang="zh-CN" smtClean="0">
              <a:ea typeface="宋体" charset="-122"/>
            </a:endParaRPr>
          </a:p>
        </p:txBody>
      </p:sp>
      <p:sp>
        <p:nvSpPr>
          <p:cNvPr id="2253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eaLnBrk="1" hangingPunct="1"/>
            <a:fld id="{55915220-4211-4A9C-BF7D-955E2ED4A1BB}" type="slidenum">
              <a:rPr kumimoji="1" lang="en-US" altLang="zh-CN" smtClean="0">
                <a:ea typeface="宋体" charset="-122"/>
              </a:rPr>
              <a:pPr eaLnBrk="1" hangingPunct="1"/>
              <a:t>15</a:t>
            </a:fld>
            <a:endParaRPr kumimoji="1" lang="en-US" altLang="zh-CN" smtClean="0">
              <a:ea typeface="宋体" charset="-122"/>
            </a:endParaRPr>
          </a:p>
        </p:txBody>
      </p:sp>
      <p:sp>
        <p:nvSpPr>
          <p:cNvPr id="2253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zh-CN" altLang="en-US" smtClean="0">
                <a:solidFill>
                  <a:schemeClr val="accent2"/>
                </a:solidFill>
              </a:rPr>
              <a:t>强酸定一元弱碱</a:t>
            </a:r>
            <a:r>
              <a:rPr lang="en-US" altLang="zh-CN" smtClean="0"/>
              <a:t>: pH</a:t>
            </a:r>
            <a:r>
              <a:rPr lang="zh-CN" altLang="en-US" smtClean="0"/>
              <a:t>突跃范围处于弱酸性区间。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rPr>
              <a:t>商少明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B2105D1-C915-4DE8-9088-345E3F105E1D}" type="datetime1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2021/10/14</a:t>
            </a:fld>
            <a:endParaRPr kumimoji="1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charset="-122"/>
              <a:cs typeface="+mn-cs"/>
            </a:endParaRPr>
          </a:p>
        </p:txBody>
      </p:sp>
      <p:sp>
        <p:nvSpPr>
          <p:cNvPr id="2253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5915220-4211-4A9C-BF7D-955E2ED4A1BB}" type="slidenum">
              <a:rPr kumimoji="1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1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charset="-122"/>
              <a:cs typeface="+mn-cs"/>
            </a:endParaRPr>
          </a:p>
        </p:txBody>
      </p:sp>
      <p:sp>
        <p:nvSpPr>
          <p:cNvPr id="2253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zh-CN" altLang="en-US" smtClean="0">
                <a:solidFill>
                  <a:schemeClr val="accent2"/>
                </a:solidFill>
              </a:rPr>
              <a:t>强酸定一元弱碱</a:t>
            </a:r>
            <a:r>
              <a:rPr lang="en-US" altLang="zh-CN" smtClean="0"/>
              <a:t>: pH</a:t>
            </a:r>
            <a:r>
              <a:rPr lang="zh-CN" altLang="en-US" smtClean="0"/>
              <a:t>突跃范围处于弱酸性区间。</a:t>
            </a:r>
          </a:p>
        </p:txBody>
      </p:sp>
    </p:spTree>
    <p:extLst>
      <p:ext uri="{BB962C8B-B14F-4D97-AF65-F5344CB8AC3E}">
        <p14:creationId xmlns:p14="http://schemas.microsoft.com/office/powerpoint/2010/main" val="1748662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pPr eaLnBrk="1" hangingPunct="1"/>
            <a:r>
              <a:rPr kumimoji="1" lang="en-US" altLang="zh-CN" smtClean="0">
                <a:ea typeface="宋体" charset="-122"/>
              </a:rPr>
              <a:t>商少明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pPr eaLnBrk="1" hangingPunct="1"/>
            <a:fld id="{0430ADB9-CC63-4362-8118-5885F3FBE03B}" type="datetime1">
              <a:rPr kumimoji="1" lang="zh-CN" altLang="en-US" smtClean="0">
                <a:ea typeface="宋体" charset="-122"/>
              </a:rPr>
              <a:pPr eaLnBrk="1" hangingPunct="1"/>
              <a:t>2021/10/14</a:t>
            </a:fld>
            <a:endParaRPr kumimoji="1" lang="en-US" altLang="zh-CN" smtClean="0">
              <a:ea typeface="宋体" charset="-122"/>
            </a:endParaRPr>
          </a:p>
        </p:txBody>
      </p:sp>
      <p:sp>
        <p:nvSpPr>
          <p:cNvPr id="2355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eaLnBrk="1" hangingPunct="1"/>
            <a:fld id="{0BB815A8-6A76-4473-992D-3C899F8F1B79}" type="slidenum">
              <a:rPr kumimoji="1" lang="en-US" altLang="zh-CN" smtClean="0">
                <a:ea typeface="宋体" charset="-122"/>
              </a:rPr>
              <a:pPr eaLnBrk="1" hangingPunct="1"/>
              <a:t>18</a:t>
            </a:fld>
            <a:endParaRPr kumimoji="1" lang="en-US" altLang="zh-CN" smtClean="0">
              <a:ea typeface="宋体" charset="-122"/>
            </a:endParaRPr>
          </a:p>
        </p:txBody>
      </p:sp>
      <p:sp>
        <p:nvSpPr>
          <p:cNvPr id="2355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zh-CN" altLang="en-US" smtClean="0">
                <a:sym typeface="Monotype Sorts" pitchFamily="2" charset="2"/>
              </a:rPr>
              <a:t>突跃相对较窄。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863600" y="2012950"/>
            <a:ext cx="9794875" cy="13890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728788" y="3671888"/>
            <a:ext cx="80645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432000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8469" y="863823"/>
            <a:ext cx="10369550" cy="42767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500">
                <a:latin typeface="楷体_GB2312" pitchFamily="49" charset="-122"/>
                <a:ea typeface="楷体_GB2312" pitchFamily="49" charset="-122"/>
              </a:defRPr>
            </a:lvl1pPr>
            <a:lvl2pPr marL="457200" indent="0">
              <a:buNone/>
              <a:defRPr sz="2500">
                <a:latin typeface="楷体_GB2312" pitchFamily="49" charset="-122"/>
                <a:ea typeface="楷体_GB2312" pitchFamily="49" charset="-122"/>
              </a:defRPr>
            </a:lvl2pPr>
            <a:lvl3pPr marL="914400" indent="0">
              <a:buNone/>
              <a:defRPr sz="2500">
                <a:latin typeface="楷体_GB2312" pitchFamily="49" charset="-122"/>
                <a:ea typeface="楷体_GB2312" pitchFamily="49" charset="-122"/>
              </a:defRPr>
            </a:lvl3pPr>
            <a:lvl4pPr marL="1371600" indent="0">
              <a:buNone/>
              <a:defRPr sz="2500">
                <a:latin typeface="楷体_GB2312" pitchFamily="49" charset="-122"/>
                <a:ea typeface="楷体_GB2312" pitchFamily="49" charset="-122"/>
              </a:defRPr>
            </a:lvl4pPr>
            <a:lvl5pPr marL="1828800" indent="0">
              <a:buNone/>
              <a:defRPr sz="2500">
                <a:latin typeface="楷体_GB2312" pitchFamily="49" charset="-122"/>
                <a:ea typeface="楷体_GB2312" pitchFamily="49" charset="-122"/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</p:spTree>
  </p:cSld>
  <p:clrMapOvr>
    <a:masterClrMapping/>
  </p:clrMapOvr>
  <p:transition spd="slow">
    <p:split orient="vert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09638" y="4164013"/>
            <a:ext cx="9794875" cy="1287462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09638" y="2746375"/>
            <a:ext cx="9794875" cy="141763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 spd="slow">
    <p:split orient="vert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76263" y="1511300"/>
            <a:ext cx="5108575" cy="4276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837238" y="1511300"/>
            <a:ext cx="5108575" cy="4276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76263" y="1450975"/>
            <a:ext cx="5091112" cy="60483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76263" y="2055813"/>
            <a:ext cx="5091112" cy="3732212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853113" y="1450975"/>
            <a:ext cx="5092700" cy="60483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853113" y="2055813"/>
            <a:ext cx="5092700" cy="3732212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split orient="vert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3790950" cy="1096962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05325" y="258763"/>
            <a:ext cx="6440488" cy="5529262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76263" y="1355725"/>
            <a:ext cx="3790950" cy="4432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 spd="slow">
    <p:split orient="vert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259013" y="4535488"/>
            <a:ext cx="6911975" cy="536575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259013" y="579438"/>
            <a:ext cx="6911975" cy="38877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259013" y="5072063"/>
            <a:ext cx="6911975" cy="7604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 spd="slow">
    <p:split orient="vert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76263" y="1511300"/>
            <a:ext cx="10369550" cy="42767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353425" y="258763"/>
            <a:ext cx="2592388" cy="5529262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76263" y="258763"/>
            <a:ext cx="7624762" cy="552926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863600" y="2012950"/>
            <a:ext cx="9794875" cy="13890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728788" y="3671888"/>
            <a:ext cx="80645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76263" y="1511300"/>
            <a:ext cx="10369550" cy="42767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09638" y="4164013"/>
            <a:ext cx="9794875" cy="1287462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09638" y="2746375"/>
            <a:ext cx="9794875" cy="141763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 spd="slow">
    <p:split orient="vert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76263" y="1511300"/>
            <a:ext cx="5108575" cy="4276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837238" y="1511300"/>
            <a:ext cx="5108575" cy="4276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76263" y="1450975"/>
            <a:ext cx="5091112" cy="60483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76263" y="2055813"/>
            <a:ext cx="5091112" cy="3732212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853113" y="1450975"/>
            <a:ext cx="5092700" cy="60483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853113" y="2055813"/>
            <a:ext cx="5092700" cy="3732212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split orient="vert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3790950" cy="1096962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05325" y="258763"/>
            <a:ext cx="6440488" cy="5529262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76263" y="1355725"/>
            <a:ext cx="3790950" cy="4432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 spd="slow">
    <p:split orient="vert"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259013" y="4535488"/>
            <a:ext cx="6911975" cy="536575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259013" y="579438"/>
            <a:ext cx="6911975" cy="38877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259013" y="5072063"/>
            <a:ext cx="6911975" cy="7604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 spd="slow">
    <p:split orient="vert"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76263" y="1511300"/>
            <a:ext cx="10369550" cy="42767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353425" y="258763"/>
            <a:ext cx="2592388" cy="5529262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76263" y="258763"/>
            <a:ext cx="7624762" cy="552926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4" name="Group 152"/>
          <p:cNvGrpSpPr>
            <a:grpSpLocks/>
          </p:cNvGrpSpPr>
          <p:nvPr userDrawn="1"/>
        </p:nvGrpSpPr>
        <p:grpSpPr bwMode="auto">
          <a:xfrm>
            <a:off x="-34925" y="107950"/>
            <a:ext cx="11588750" cy="6408738"/>
            <a:chOff x="-22" y="68"/>
            <a:chExt cx="7300" cy="4037"/>
          </a:xfrm>
        </p:grpSpPr>
        <p:sp>
          <p:nvSpPr>
            <p:cNvPr id="1028" name="Freeform 1027"/>
            <p:cNvSpPr>
              <a:spLocks/>
            </p:cNvSpPr>
            <p:nvPr userDrawn="1"/>
          </p:nvSpPr>
          <p:spPr bwMode="auto">
            <a:xfrm>
              <a:off x="80" y="431"/>
              <a:ext cx="7080" cy="3174"/>
            </a:xfrm>
            <a:custGeom>
              <a:avLst/>
              <a:gdLst>
                <a:gd name="T0" fmla="*/ 9512 w 5269"/>
                <a:gd name="T1" fmla="*/ 0 h 2977"/>
                <a:gd name="T2" fmla="*/ 0 w 5269"/>
                <a:gd name="T3" fmla="*/ 0 h 2977"/>
                <a:gd name="T4" fmla="*/ 0 w 5269"/>
                <a:gd name="T5" fmla="*/ 3383 h 297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269" h="2977">
                  <a:moveTo>
                    <a:pt x="5268" y="0"/>
                  </a:moveTo>
                  <a:lnTo>
                    <a:pt x="0" y="0"/>
                  </a:lnTo>
                  <a:lnTo>
                    <a:pt x="0" y="2976"/>
                  </a:lnTo>
                </a:path>
              </a:pathLst>
            </a:custGeom>
            <a:noFill/>
            <a:ln w="12700" cap="rnd" cmpd="sng">
              <a:solidFill>
                <a:srgbClr val="B2B2B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grpSp>
          <p:nvGrpSpPr>
            <p:cNvPr id="3077" name="Group 1042"/>
            <p:cNvGrpSpPr>
              <a:grpSpLocks/>
            </p:cNvGrpSpPr>
            <p:nvPr userDrawn="1"/>
          </p:nvGrpSpPr>
          <p:grpSpPr bwMode="auto">
            <a:xfrm rot="5400000">
              <a:off x="3597" y="-3112"/>
              <a:ext cx="68" cy="7141"/>
              <a:chOff x="336" y="1103"/>
              <a:chExt cx="97" cy="2785"/>
            </a:xfrm>
          </p:grpSpPr>
          <p:sp>
            <p:nvSpPr>
              <p:cNvPr id="1039" name="Rectangle 1043"/>
              <p:cNvSpPr>
                <a:spLocks noChangeArrowheads="1"/>
              </p:cNvSpPr>
              <p:nvPr userDrawn="1"/>
            </p:nvSpPr>
            <p:spPr bwMode="auto">
              <a:xfrm>
                <a:off x="338" y="1104"/>
                <a:ext cx="97" cy="2784"/>
              </a:xfrm>
              <a:prstGeom prst="rect">
                <a:avLst/>
              </a:prstGeom>
              <a:solidFill>
                <a:srgbClr val="DDDDDD"/>
              </a:solidFill>
              <a:ln w="1587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kumimoji="1" lang="zh-CN" altLang="zh-CN" sz="2400">
                  <a:ea typeface="宋体" pitchFamily="2" charset="-122"/>
                </a:endParaRPr>
              </a:p>
            </p:txBody>
          </p:sp>
          <p:sp>
            <p:nvSpPr>
              <p:cNvPr id="1040" name="Freeform 1044"/>
              <p:cNvSpPr>
                <a:spLocks/>
              </p:cNvSpPr>
              <p:nvPr userDrawn="1"/>
            </p:nvSpPr>
            <p:spPr bwMode="auto">
              <a:xfrm>
                <a:off x="338" y="1103"/>
                <a:ext cx="97" cy="2785"/>
              </a:xfrm>
              <a:custGeom>
                <a:avLst/>
                <a:gdLst>
                  <a:gd name="T0" fmla="*/ 0 w 97"/>
                  <a:gd name="T1" fmla="*/ 2784 h 2785"/>
                  <a:gd name="T2" fmla="*/ 96 w 97"/>
                  <a:gd name="T3" fmla="*/ 2784 h 2785"/>
                  <a:gd name="T4" fmla="*/ 96 w 97"/>
                  <a:gd name="T5" fmla="*/ 0 h 2785"/>
                  <a:gd name="T6" fmla="*/ 0 60000 65536"/>
                  <a:gd name="T7" fmla="*/ 0 60000 65536"/>
                  <a:gd name="T8" fmla="*/ 0 60000 65536"/>
                  <a:gd name="T9" fmla="*/ 0 w 97"/>
                  <a:gd name="T10" fmla="*/ 0 h 2785"/>
                  <a:gd name="T11" fmla="*/ 97 w 97"/>
                  <a:gd name="T12" fmla="*/ 2785 h 278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97" h="2785">
                    <a:moveTo>
                      <a:pt x="0" y="2784"/>
                    </a:moveTo>
                    <a:lnTo>
                      <a:pt x="96" y="2784"/>
                    </a:lnTo>
                    <a:lnTo>
                      <a:pt x="96" y="0"/>
                    </a:lnTo>
                  </a:path>
                </a:pathLst>
              </a:custGeom>
              <a:solidFill>
                <a:srgbClr val="DDDDDD"/>
              </a:solidFill>
              <a:ln w="15875" cap="rnd">
                <a:noFill/>
                <a:round/>
                <a:headEnd type="none" w="sm" len="sm"/>
                <a:tailEnd type="none" w="sm" len="sm"/>
              </a:ln>
            </p:spPr>
            <p:txBody>
              <a:bodyPr rot="10800000" vert="eaVert"/>
              <a:lstStyle/>
              <a:p>
                <a:pPr>
                  <a:defRPr/>
                </a:pPr>
                <a:endParaRPr lang="zh-CN" altLang="en-US">
                  <a:ea typeface="宋体" pitchFamily="2" charset="-122"/>
                </a:endParaRPr>
              </a:p>
            </p:txBody>
          </p:sp>
          <p:sp>
            <p:nvSpPr>
              <p:cNvPr id="1041" name="Freeform 1045"/>
              <p:cNvSpPr>
                <a:spLocks/>
              </p:cNvSpPr>
              <p:nvPr userDrawn="1"/>
            </p:nvSpPr>
            <p:spPr bwMode="auto">
              <a:xfrm>
                <a:off x="338" y="1103"/>
                <a:ext cx="97" cy="2785"/>
              </a:xfrm>
              <a:custGeom>
                <a:avLst/>
                <a:gdLst>
                  <a:gd name="T0" fmla="*/ 0 w 97"/>
                  <a:gd name="T1" fmla="*/ 2784 h 2785"/>
                  <a:gd name="T2" fmla="*/ 0 w 97"/>
                  <a:gd name="T3" fmla="*/ 0 h 2785"/>
                  <a:gd name="T4" fmla="*/ 96 w 97"/>
                  <a:gd name="T5" fmla="*/ 0 h 2785"/>
                  <a:gd name="T6" fmla="*/ 0 60000 65536"/>
                  <a:gd name="T7" fmla="*/ 0 60000 65536"/>
                  <a:gd name="T8" fmla="*/ 0 60000 65536"/>
                  <a:gd name="T9" fmla="*/ 0 w 97"/>
                  <a:gd name="T10" fmla="*/ 0 h 2785"/>
                  <a:gd name="T11" fmla="*/ 97 w 97"/>
                  <a:gd name="T12" fmla="*/ 2785 h 278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97" h="2785">
                    <a:moveTo>
                      <a:pt x="0" y="2784"/>
                    </a:moveTo>
                    <a:lnTo>
                      <a:pt x="0" y="0"/>
                    </a:lnTo>
                    <a:lnTo>
                      <a:pt x="96" y="0"/>
                    </a:lnTo>
                  </a:path>
                </a:pathLst>
              </a:custGeom>
              <a:solidFill>
                <a:srgbClr val="DDDDDD"/>
              </a:solidFill>
              <a:ln w="15875" cap="rnd">
                <a:noFill/>
                <a:round/>
                <a:headEnd type="none" w="sm" len="sm"/>
                <a:tailEnd type="none" w="sm" len="sm"/>
              </a:ln>
            </p:spPr>
            <p:txBody>
              <a:bodyPr rot="10800000" vert="eaVert"/>
              <a:lstStyle/>
              <a:p>
                <a:pPr>
                  <a:defRPr/>
                </a:pPr>
                <a:endParaRPr lang="zh-CN" altLang="en-US">
                  <a:ea typeface="宋体" pitchFamily="2" charset="-122"/>
                </a:endParaRPr>
              </a:p>
            </p:txBody>
          </p:sp>
        </p:grpSp>
        <p:sp>
          <p:nvSpPr>
            <p:cNvPr id="1030" name="Freeform 1028"/>
            <p:cNvSpPr>
              <a:spLocks/>
            </p:cNvSpPr>
            <p:nvPr userDrawn="1"/>
          </p:nvSpPr>
          <p:spPr bwMode="auto">
            <a:xfrm>
              <a:off x="96" y="431"/>
              <a:ext cx="7080" cy="3174"/>
            </a:xfrm>
            <a:custGeom>
              <a:avLst/>
              <a:gdLst>
                <a:gd name="T0" fmla="*/ 9512 w 5269"/>
                <a:gd name="T1" fmla="*/ 0 h 2977"/>
                <a:gd name="T2" fmla="*/ 9512 w 5269"/>
                <a:gd name="T3" fmla="*/ 3383 h 2977"/>
                <a:gd name="T4" fmla="*/ 0 w 5269"/>
                <a:gd name="T5" fmla="*/ 3383 h 297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269" h="2977">
                  <a:moveTo>
                    <a:pt x="5268" y="0"/>
                  </a:moveTo>
                  <a:lnTo>
                    <a:pt x="5268" y="2976"/>
                  </a:lnTo>
                  <a:lnTo>
                    <a:pt x="0" y="2976"/>
                  </a:lnTo>
                </a:path>
              </a:pathLst>
            </a:custGeom>
            <a:noFill/>
            <a:ln w="1270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1031" name="Rectangle 1036"/>
            <p:cNvSpPr>
              <a:spLocks noChangeArrowheads="1"/>
            </p:cNvSpPr>
            <p:nvPr userDrawn="1"/>
          </p:nvSpPr>
          <p:spPr bwMode="auto">
            <a:xfrm>
              <a:off x="61" y="68"/>
              <a:ext cx="7141" cy="3584"/>
            </a:xfrm>
            <a:prstGeom prst="rect">
              <a:avLst/>
            </a:prstGeom>
            <a:noFill/>
            <a:ln w="254000">
              <a:pattFill prst="dkHorz">
                <a:fgClr>
                  <a:srgbClr val="C8C8C8"/>
                </a:fgClr>
                <a:bgClr>
                  <a:schemeClr val="bg1"/>
                </a:bgClr>
              </a:patt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>
                <a:defRPr/>
              </a:pPr>
              <a:endParaRPr kumimoji="1" lang="zh-CN" altLang="en-US" sz="1600">
                <a:ea typeface="楷体_GB2312" pitchFamily="49" charset="-122"/>
              </a:endParaRPr>
            </a:p>
          </p:txBody>
        </p:sp>
        <p:grpSp>
          <p:nvGrpSpPr>
            <p:cNvPr id="3080" name="Group 1038"/>
            <p:cNvGrpSpPr>
              <a:grpSpLocks/>
            </p:cNvGrpSpPr>
            <p:nvPr userDrawn="1"/>
          </p:nvGrpSpPr>
          <p:grpSpPr bwMode="auto">
            <a:xfrm>
              <a:off x="306" y="584"/>
              <a:ext cx="68" cy="2879"/>
              <a:chOff x="336" y="1103"/>
              <a:chExt cx="97" cy="2785"/>
            </a:xfrm>
          </p:grpSpPr>
          <p:sp>
            <p:nvSpPr>
              <p:cNvPr id="1036" name="Rectangle 1039"/>
              <p:cNvSpPr>
                <a:spLocks noChangeArrowheads="1"/>
              </p:cNvSpPr>
              <p:nvPr userDrawn="1"/>
            </p:nvSpPr>
            <p:spPr bwMode="auto">
              <a:xfrm>
                <a:off x="336" y="1104"/>
                <a:ext cx="96" cy="2784"/>
              </a:xfrm>
              <a:prstGeom prst="rect">
                <a:avLst/>
              </a:prstGeom>
              <a:solidFill>
                <a:srgbClr val="DDDDDD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kumimoji="1" lang="zh-CN" altLang="zh-CN" sz="2400">
                  <a:ea typeface="宋体" pitchFamily="2" charset="-122"/>
                </a:endParaRPr>
              </a:p>
            </p:txBody>
          </p:sp>
          <p:sp>
            <p:nvSpPr>
              <p:cNvPr id="1037" name="Freeform 1040"/>
              <p:cNvSpPr>
                <a:spLocks/>
              </p:cNvSpPr>
              <p:nvPr userDrawn="1"/>
            </p:nvSpPr>
            <p:spPr bwMode="auto">
              <a:xfrm>
                <a:off x="336" y="1103"/>
                <a:ext cx="97" cy="2785"/>
              </a:xfrm>
              <a:custGeom>
                <a:avLst/>
                <a:gdLst>
                  <a:gd name="T0" fmla="*/ 0 w 97"/>
                  <a:gd name="T1" fmla="*/ 2784 h 2785"/>
                  <a:gd name="T2" fmla="*/ 96 w 97"/>
                  <a:gd name="T3" fmla="*/ 2784 h 2785"/>
                  <a:gd name="T4" fmla="*/ 96 w 97"/>
                  <a:gd name="T5" fmla="*/ 0 h 2785"/>
                  <a:gd name="T6" fmla="*/ 0 60000 65536"/>
                  <a:gd name="T7" fmla="*/ 0 60000 65536"/>
                  <a:gd name="T8" fmla="*/ 0 60000 65536"/>
                  <a:gd name="T9" fmla="*/ 0 w 97"/>
                  <a:gd name="T10" fmla="*/ 0 h 2785"/>
                  <a:gd name="T11" fmla="*/ 97 w 97"/>
                  <a:gd name="T12" fmla="*/ 2785 h 278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97" h="2785">
                    <a:moveTo>
                      <a:pt x="0" y="2784"/>
                    </a:moveTo>
                    <a:lnTo>
                      <a:pt x="96" y="2784"/>
                    </a:lnTo>
                    <a:lnTo>
                      <a:pt x="96" y="0"/>
                    </a:lnTo>
                  </a:path>
                </a:pathLst>
              </a:custGeom>
              <a:solidFill>
                <a:srgbClr val="DDDDDD"/>
              </a:solidFill>
              <a:ln w="12700" cap="rnd">
                <a:solidFill>
                  <a:srgbClr val="B2B2B2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a typeface="宋体" pitchFamily="2" charset="-122"/>
                </a:endParaRPr>
              </a:p>
            </p:txBody>
          </p:sp>
          <p:sp>
            <p:nvSpPr>
              <p:cNvPr id="1038" name="Freeform 1041"/>
              <p:cNvSpPr>
                <a:spLocks/>
              </p:cNvSpPr>
              <p:nvPr userDrawn="1"/>
            </p:nvSpPr>
            <p:spPr bwMode="auto">
              <a:xfrm>
                <a:off x="336" y="1103"/>
                <a:ext cx="97" cy="2785"/>
              </a:xfrm>
              <a:custGeom>
                <a:avLst/>
                <a:gdLst>
                  <a:gd name="T0" fmla="*/ 0 w 97"/>
                  <a:gd name="T1" fmla="*/ 2784 h 2785"/>
                  <a:gd name="T2" fmla="*/ 0 w 97"/>
                  <a:gd name="T3" fmla="*/ 0 h 2785"/>
                  <a:gd name="T4" fmla="*/ 96 w 97"/>
                  <a:gd name="T5" fmla="*/ 0 h 2785"/>
                  <a:gd name="T6" fmla="*/ 0 60000 65536"/>
                  <a:gd name="T7" fmla="*/ 0 60000 65536"/>
                  <a:gd name="T8" fmla="*/ 0 60000 65536"/>
                  <a:gd name="T9" fmla="*/ 0 w 97"/>
                  <a:gd name="T10" fmla="*/ 0 h 2785"/>
                  <a:gd name="T11" fmla="*/ 97 w 97"/>
                  <a:gd name="T12" fmla="*/ 2785 h 278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97" h="2785">
                    <a:moveTo>
                      <a:pt x="0" y="2784"/>
                    </a:moveTo>
                    <a:lnTo>
                      <a:pt x="0" y="0"/>
                    </a:lnTo>
                    <a:lnTo>
                      <a:pt x="96" y="0"/>
                    </a:lnTo>
                  </a:path>
                </a:pathLst>
              </a:custGeom>
              <a:solidFill>
                <a:srgbClr val="DDDDDD"/>
              </a:solidFill>
              <a:ln w="12700" cap="rnd">
                <a:solidFill>
                  <a:srgbClr val="FFFFFF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a typeface="宋体" pitchFamily="2" charset="-122"/>
                </a:endParaRPr>
              </a:p>
            </p:txBody>
          </p:sp>
        </p:grpSp>
        <p:sp>
          <p:nvSpPr>
            <p:cNvPr id="1033" name="Rectangle 139" descr="深色横线"/>
            <p:cNvSpPr>
              <a:spLocks noChangeArrowheads="1"/>
            </p:cNvSpPr>
            <p:nvPr userDrawn="1"/>
          </p:nvSpPr>
          <p:spPr bwMode="auto">
            <a:xfrm>
              <a:off x="-22" y="3652"/>
              <a:ext cx="7300" cy="453"/>
            </a:xfrm>
            <a:prstGeom prst="rect">
              <a:avLst/>
            </a:prstGeom>
            <a:pattFill prst="dkHorz">
              <a:fgClr>
                <a:srgbClr val="C8C8C8"/>
              </a:fgClr>
              <a:bgClr>
                <a:schemeClr val="bg1"/>
              </a:bgClr>
            </a:patt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1034" name="AutoShape 143"/>
            <p:cNvSpPr>
              <a:spLocks noChangeArrowheads="1"/>
            </p:cNvSpPr>
            <p:nvPr userDrawn="1"/>
          </p:nvSpPr>
          <p:spPr bwMode="auto">
            <a:xfrm>
              <a:off x="136" y="136"/>
              <a:ext cx="6994" cy="295"/>
            </a:xfrm>
            <a:prstGeom prst="flowChartAlternateProcess">
              <a:avLst/>
            </a:prstGeom>
            <a:solidFill>
              <a:srgbClr val="EAEAEA"/>
            </a:solidFill>
            <a:ln w="31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1035" name="Rectangle 146"/>
            <p:cNvSpPr>
              <a:spLocks noChangeArrowheads="1"/>
            </p:cNvSpPr>
            <p:nvPr userDrawn="1"/>
          </p:nvSpPr>
          <p:spPr bwMode="auto">
            <a:xfrm>
              <a:off x="136" y="499"/>
              <a:ext cx="6982" cy="3083"/>
            </a:xfrm>
            <a:prstGeom prst="rect">
              <a:avLst/>
            </a:prstGeom>
            <a:solidFill>
              <a:srgbClr val="EAEAEA">
                <a:alpha val="85097"/>
              </a:srgbClr>
            </a:solidFill>
            <a:ln w="19050">
              <a:solidFill>
                <a:srgbClr val="F8F8F8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</p:grpSp>
      <p:sp>
        <p:nvSpPr>
          <p:cNvPr id="3075" name="Rectangle 149"/>
          <p:cNvSpPr>
            <a:spLocks noGrp="1" noChangeArrowheads="1"/>
          </p:cNvSpPr>
          <p:nvPr>
            <p:ph type="title"/>
          </p:nvPr>
        </p:nvSpPr>
        <p:spPr bwMode="auto">
          <a:xfrm>
            <a:off x="323850" y="215900"/>
            <a:ext cx="10369550" cy="427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ransition spd="slow">
    <p:split orient="vert"/>
  </p:transition>
  <p:timing>
    <p:tnLst>
      <p:par>
        <p:cTn id="1" dur="indefinite" restart="never" nodeType="tmRoot"/>
      </p:par>
    </p:tnLst>
  </p:timing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rgbClr val="FF0000"/>
          </a:solidFill>
          <a:latin typeface="+mj-lt"/>
          <a:ea typeface="黑体" pitchFamily="2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rgbClr val="FF0000"/>
          </a:solidFill>
          <a:latin typeface="Times New Roman" pitchFamily="18" charset="0"/>
          <a:ea typeface="黑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rgbClr val="FF0000"/>
          </a:solidFill>
          <a:latin typeface="Times New Roman" pitchFamily="18" charset="0"/>
          <a:ea typeface="黑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rgbClr val="FF0000"/>
          </a:solidFill>
          <a:latin typeface="Times New Roman" pitchFamily="18" charset="0"/>
          <a:ea typeface="黑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rgbClr val="FF0000"/>
          </a:solidFill>
          <a:latin typeface="Times New Roman" pitchFamily="18" charset="0"/>
          <a:ea typeface="黑体" pitchFamily="2" charset="-122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FFFFCC"/>
        </a:buClr>
        <a:buSzPct val="90000"/>
        <a:buFont typeface="Wingdings" pitchFamily="2" charset="2"/>
        <a:buChar char="§"/>
        <a:defRPr sz="3200" b="1">
          <a:solidFill>
            <a:srgbClr val="FFFFCC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rgbClr val="FFFFCC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rgbClr val="FFFFCC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rgbClr val="FFFFCC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dk2" tx1="lt1" bg2="dk1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ransition spd="slow">
    <p:split orient="vert"/>
  </p:transition>
  <p:timing>
    <p:tnLst>
      <p:par>
        <p:cTn id="1" dur="indefinite" restart="never" nodeType="tmRoot"/>
      </p:par>
    </p:tnLst>
  </p:timing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FFFFCC"/>
        </a:buClr>
        <a:buSzPct val="90000"/>
        <a:buFont typeface="Wingdings" pitchFamily="2" charset="2"/>
        <a:buChar char="§"/>
        <a:defRPr sz="3200" b="1">
          <a:solidFill>
            <a:srgbClr val="FFFFCC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rgbClr val="FFFFCC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rgbClr val="FFFFCC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rgbClr val="FFFFCC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03-01.pptx" TargetMode="External"/><Relationship Id="rId7" Type="http://schemas.openxmlformats.org/officeDocument/2006/relationships/hyperlink" Target="03-05.pptx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6" Type="http://schemas.openxmlformats.org/officeDocument/2006/relationships/hyperlink" Target="03-04.pptx" TargetMode="External"/><Relationship Id="rId5" Type="http://schemas.openxmlformats.org/officeDocument/2006/relationships/hyperlink" Target="03-03.pptx" TargetMode="External"/><Relationship Id="rId4" Type="http://schemas.openxmlformats.org/officeDocument/2006/relationships/hyperlink" Target="03-02.pptx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9.xml"/><Relationship Id="rId7" Type="http://schemas.openxmlformats.org/officeDocument/2006/relationships/image" Target="../media/image4.jpeg"/><Relationship Id="rId2" Type="http://schemas.openxmlformats.org/officeDocument/2006/relationships/slide" Target="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jpeg"/><Relationship Id="rId5" Type="http://schemas.openxmlformats.org/officeDocument/2006/relationships/slide" Target="slide21.xml"/><Relationship Id="rId4" Type="http://schemas.openxmlformats.org/officeDocument/2006/relationships/slide" Target="slide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7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1.bin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jpeg"/><Relationship Id="rId3" Type="http://schemas.openxmlformats.org/officeDocument/2006/relationships/audio" Target="../media/audio2.wav"/><Relationship Id="rId7" Type="http://schemas.openxmlformats.org/officeDocument/2006/relationships/image" Target="../media/image3.jpe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6.png"/><Relationship Id="rId5" Type="http://schemas.openxmlformats.org/officeDocument/2006/relationships/oleObject" Target="../embeddings/oleObject2.bin"/><Relationship Id="rId4" Type="http://schemas.openxmlformats.org/officeDocument/2006/relationships/audio" Target="../media/audio3.wav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.bin"/><Relationship Id="rId3" Type="http://schemas.openxmlformats.org/officeDocument/2006/relationships/audio" Target="../media/audio1.wav"/><Relationship Id="rId7" Type="http://schemas.openxmlformats.org/officeDocument/2006/relationships/image" Target="../media/image4.jpe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3.jpeg"/><Relationship Id="rId5" Type="http://schemas.openxmlformats.org/officeDocument/2006/relationships/audio" Target="../media/audio4.wav"/><Relationship Id="rId4" Type="http://schemas.openxmlformats.org/officeDocument/2006/relationships/audio" Target="../media/audio3.wav"/><Relationship Id="rId9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7" Type="http://schemas.openxmlformats.org/officeDocument/2006/relationships/image" Target="../media/image4.jpe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3.jpeg"/><Relationship Id="rId5" Type="http://schemas.openxmlformats.org/officeDocument/2006/relationships/image" Target="../media/image5.png"/><Relationship Id="rId4" Type="http://schemas.openxmlformats.org/officeDocument/2006/relationships/oleObject" Target="../embeddings/oleObject1.bin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7" Type="http://schemas.openxmlformats.org/officeDocument/2006/relationships/image" Target="../media/image4.jpe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3.jpeg"/><Relationship Id="rId5" Type="http://schemas.openxmlformats.org/officeDocument/2006/relationships/image" Target="../media/image5.png"/><Relationship Id="rId4" Type="http://schemas.openxmlformats.org/officeDocument/2006/relationships/oleObject" Target="../embeddings/oleObject1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1.bin"/><Relationship Id="rId5" Type="http://schemas.openxmlformats.org/officeDocument/2006/relationships/image" Target="../media/image3.jpeg"/><Relationship Id="rId4" Type="http://schemas.openxmlformats.org/officeDocument/2006/relationships/audio" Target="../media/audio1.wav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jpg"/><Relationship Id="rId5" Type="http://schemas.openxmlformats.org/officeDocument/2006/relationships/image" Target="../media/image10.png"/><Relationship Id="rId4" Type="http://schemas.openxmlformats.org/officeDocument/2006/relationships/image" Target="../media/image4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" Target="slide20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" Target="slide19.xml"/><Relationship Id="rId2" Type="http://schemas.openxmlformats.org/officeDocument/2006/relationships/audio" Target="../media/audio5.wav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hyperlink" Target="../../03EXAMPLE/ch03/03-06-&#20363;&#39064;.pptx#-1,1,&#24187;&#28783;&#29255; 1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../../03EXAMPLE/ch03/03-06-&#20363;&#39064;.pptx#-1,5,&#24187;&#28783;&#29255; 5" TargetMode="External"/><Relationship Id="rId2" Type="http://schemas.openxmlformats.org/officeDocument/2006/relationships/audio" Target="../media/audio5.wav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jpeg"/><Relationship Id="rId5" Type="http://schemas.openxmlformats.org/officeDocument/2006/relationships/hyperlink" Target="../ch04/04-01.pptx" TargetMode="External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2"/>
          <p:cNvSpPr txBox="1">
            <a:spLocks noChangeArrowheads="1"/>
          </p:cNvSpPr>
          <p:nvPr/>
        </p:nvSpPr>
        <p:spPr>
          <a:xfrm>
            <a:off x="3117831" y="954071"/>
            <a:ext cx="5643602" cy="31947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0" hangingPunct="0">
              <a:lnSpc>
                <a:spcPct val="120000"/>
              </a:lnSpc>
              <a:defRPr/>
            </a:pPr>
            <a:r>
              <a:rPr lang="en-US" sz="2800" b="1" kern="0" dirty="0" smtClean="0">
                <a:solidFill>
                  <a:srgbClr val="FFFF00"/>
                </a:solidFill>
                <a:ea typeface="黑体" pitchFamily="49" charset="-122"/>
                <a:cs typeface="+mj-cs"/>
                <a:hlinkClick r:id="rId3" action="ppaction://hlinkpres?slideindex=1&amp;slidetitle="/>
              </a:rPr>
              <a:t>3.1</a:t>
            </a:r>
            <a:r>
              <a:rPr lang="en-US" sz="2800" b="1" kern="0" dirty="0" smtClean="0">
                <a:solidFill>
                  <a:srgbClr val="FFFF00"/>
                </a:solidFill>
                <a:ea typeface="黑体" pitchFamily="49" charset="-122"/>
                <a:cs typeface="+mj-cs"/>
              </a:rPr>
              <a:t> </a:t>
            </a:r>
            <a:r>
              <a:rPr lang="zh-CN" altLang="en-US" sz="2800" b="1" kern="0" dirty="0" smtClean="0">
                <a:solidFill>
                  <a:srgbClr val="FFFF00"/>
                </a:solidFill>
                <a:ea typeface="黑体" pitchFamily="49" charset="-122"/>
                <a:cs typeface="+mj-cs"/>
              </a:rPr>
              <a:t>酸</a:t>
            </a:r>
            <a:r>
              <a:rPr lang="zh-CN" altLang="en-US" sz="2800" b="1" kern="0" dirty="0">
                <a:solidFill>
                  <a:srgbClr val="FFFF00"/>
                </a:solidFill>
                <a:ea typeface="黑体" pitchFamily="49" charset="-122"/>
                <a:cs typeface="+mj-cs"/>
              </a:rPr>
              <a:t>碱质子理论与</a:t>
            </a:r>
            <a:r>
              <a:rPr lang="zh-CN" altLang="en-US" sz="2800" b="1" kern="0" dirty="0" smtClean="0">
                <a:solidFill>
                  <a:srgbClr val="FFFF00"/>
                </a:solidFill>
                <a:ea typeface="黑体" pitchFamily="49" charset="-122"/>
                <a:cs typeface="+mj-cs"/>
              </a:rPr>
              <a:t>酸碱平衡</a:t>
            </a:r>
            <a:endParaRPr lang="en-US" altLang="zh-CN" sz="2800" b="1" kern="0" dirty="0" smtClean="0">
              <a:solidFill>
                <a:srgbClr val="FFFF00"/>
              </a:solidFill>
              <a:ea typeface="黑体" pitchFamily="49" charset="-122"/>
              <a:cs typeface="+mj-cs"/>
            </a:endParaRPr>
          </a:p>
          <a:p>
            <a:pPr eaLnBrk="0" hangingPunct="0">
              <a:lnSpc>
                <a:spcPct val="120000"/>
              </a:lnSpc>
              <a:defRPr/>
            </a:pPr>
            <a:r>
              <a:rPr lang="en-US" altLang="zh-CN" sz="2800" b="1" dirty="0" smtClean="0">
                <a:solidFill>
                  <a:srgbClr val="FFFF00"/>
                </a:solidFill>
                <a:ea typeface="黑体" pitchFamily="49" charset="-122"/>
                <a:hlinkClick r:id="rId4" action="ppaction://hlinkpres?slideindex=1&amp;slidetitle="/>
              </a:rPr>
              <a:t>3.2</a:t>
            </a:r>
            <a:r>
              <a:rPr lang="en-US" altLang="zh-CN" sz="2800" b="1" dirty="0" smtClean="0">
                <a:solidFill>
                  <a:srgbClr val="FFFF00"/>
                </a:solidFill>
                <a:ea typeface="黑体" pitchFamily="49" charset="-122"/>
              </a:rPr>
              <a:t> </a:t>
            </a:r>
            <a:r>
              <a:rPr lang="zh-CN" altLang="en-US" sz="2800" b="1" dirty="0" smtClean="0">
                <a:solidFill>
                  <a:srgbClr val="FFFF00"/>
                </a:solidFill>
                <a:ea typeface="黑体" pitchFamily="49" charset="-122"/>
              </a:rPr>
              <a:t>酸碱平衡的移动</a:t>
            </a:r>
            <a:endParaRPr lang="en-US" altLang="zh-CN" sz="2800" b="1" dirty="0" smtClean="0">
              <a:solidFill>
                <a:srgbClr val="FFFF00"/>
              </a:solidFill>
              <a:ea typeface="黑体" pitchFamily="49" charset="-122"/>
            </a:endParaRPr>
          </a:p>
          <a:p>
            <a:pPr eaLnBrk="0" hangingPunct="0">
              <a:lnSpc>
                <a:spcPct val="120000"/>
              </a:lnSpc>
              <a:defRPr/>
            </a:pPr>
            <a:r>
              <a:rPr lang="en-US" altLang="zh-CN" sz="2800" b="1" dirty="0" smtClean="0">
                <a:solidFill>
                  <a:srgbClr val="FFFF00"/>
                </a:solidFill>
                <a:ea typeface="黑体" pitchFamily="49" charset="-122"/>
                <a:hlinkClick r:id="rId5" action="ppaction://hlinkpres?slideindex=1&amp;slidetitle="/>
              </a:rPr>
              <a:t>3.3</a:t>
            </a:r>
            <a:r>
              <a:rPr lang="en-US" altLang="zh-CN" sz="2800" b="1" dirty="0" smtClean="0">
                <a:solidFill>
                  <a:srgbClr val="FFFF00"/>
                </a:solidFill>
                <a:ea typeface="黑体" pitchFamily="49" charset="-122"/>
              </a:rPr>
              <a:t> </a:t>
            </a:r>
            <a:r>
              <a:rPr lang="zh-CN" altLang="en-US" sz="2800" b="1" dirty="0" smtClean="0">
                <a:solidFill>
                  <a:srgbClr val="FFFF00"/>
                </a:solidFill>
                <a:ea typeface="黑体" pitchFamily="49" charset="-122"/>
              </a:rPr>
              <a:t>组分的分布与浓度的计算</a:t>
            </a:r>
            <a:endParaRPr lang="en-US" altLang="zh-CN" sz="2800" b="1" dirty="0" smtClean="0">
              <a:solidFill>
                <a:srgbClr val="FFFF00"/>
              </a:solidFill>
              <a:ea typeface="黑体" pitchFamily="49" charset="-122"/>
            </a:endParaRPr>
          </a:p>
          <a:p>
            <a:pPr eaLnBrk="0" hangingPunct="0">
              <a:lnSpc>
                <a:spcPct val="120000"/>
              </a:lnSpc>
              <a:defRPr/>
            </a:pPr>
            <a:r>
              <a:rPr lang="en-US" altLang="zh-CN" sz="2800" b="1" dirty="0" smtClean="0">
                <a:solidFill>
                  <a:srgbClr val="FFFF00"/>
                </a:solidFill>
                <a:ea typeface="黑体" pitchFamily="49" charset="-122"/>
                <a:hlinkClick r:id="rId6" action="ppaction://hlinkpres?slideindex=1&amp;slidetitle="/>
              </a:rPr>
              <a:t>3.4</a:t>
            </a:r>
            <a:r>
              <a:rPr lang="en-US" altLang="zh-CN" sz="2800" b="1" dirty="0" smtClean="0">
                <a:solidFill>
                  <a:srgbClr val="FFFF00"/>
                </a:solidFill>
                <a:ea typeface="黑体" pitchFamily="49" charset="-122"/>
              </a:rPr>
              <a:t> </a:t>
            </a:r>
            <a:r>
              <a:rPr lang="zh-CN" altLang="en-US" sz="2800" b="1" dirty="0" smtClean="0">
                <a:solidFill>
                  <a:srgbClr val="FFFF00"/>
                </a:solidFill>
                <a:ea typeface="黑体" pitchFamily="49" charset="-122"/>
              </a:rPr>
              <a:t>溶液酸度的计算</a:t>
            </a:r>
            <a:endParaRPr lang="en-US" altLang="zh-CN" sz="2800" b="1" dirty="0" smtClean="0">
              <a:solidFill>
                <a:srgbClr val="FFFF00"/>
              </a:solidFill>
              <a:ea typeface="黑体" pitchFamily="49" charset="-122"/>
            </a:endParaRPr>
          </a:p>
          <a:p>
            <a:pPr eaLnBrk="0" hangingPunct="0">
              <a:lnSpc>
                <a:spcPct val="120000"/>
              </a:lnSpc>
              <a:defRPr/>
            </a:pPr>
            <a:r>
              <a:rPr lang="en-US" altLang="zh-CN" sz="2800" b="1" dirty="0" smtClean="0">
                <a:solidFill>
                  <a:srgbClr val="FFFF00"/>
                </a:solidFill>
                <a:ea typeface="黑体" pitchFamily="49" charset="-122"/>
                <a:hlinkClick r:id="rId7" action="ppaction://hlinkpres?slideindex=1&amp;slidetitle="/>
              </a:rPr>
              <a:t>3.5</a:t>
            </a:r>
            <a:r>
              <a:rPr lang="en-US" altLang="zh-CN" sz="2800" b="1" dirty="0" smtClean="0">
                <a:solidFill>
                  <a:srgbClr val="FFFF00"/>
                </a:solidFill>
                <a:ea typeface="黑体" pitchFamily="49" charset="-122"/>
              </a:rPr>
              <a:t> </a:t>
            </a:r>
            <a:r>
              <a:rPr lang="zh-CN" altLang="en-US" sz="2800" b="1" dirty="0" smtClean="0">
                <a:solidFill>
                  <a:srgbClr val="FFFF00"/>
                </a:solidFill>
                <a:ea typeface="黑体" pitchFamily="49" charset="-122"/>
              </a:rPr>
              <a:t>溶液酸度的控制与酸碱指示剂</a:t>
            </a:r>
            <a:endParaRPr lang="en-US" altLang="zh-CN" sz="2800" b="1" dirty="0" smtClean="0">
              <a:solidFill>
                <a:srgbClr val="FFFF00"/>
              </a:solidFill>
              <a:ea typeface="黑体" pitchFamily="49" charset="-122"/>
            </a:endParaRPr>
          </a:p>
          <a:p>
            <a:pPr eaLnBrk="0" hangingPunct="0">
              <a:lnSpc>
                <a:spcPct val="120000"/>
              </a:lnSpc>
              <a:defRPr/>
            </a:pPr>
            <a:r>
              <a:rPr lang="en-US" altLang="zh-CN" sz="2800" b="1" dirty="0" smtClean="0">
                <a:solidFill>
                  <a:srgbClr val="FFFFFF"/>
                </a:solidFill>
                <a:ea typeface="黑体" pitchFamily="49" charset="-122"/>
              </a:rPr>
              <a:t>3.6 </a:t>
            </a:r>
            <a:r>
              <a:rPr lang="zh-CN" altLang="en-US" sz="2800" b="1" dirty="0" smtClean="0">
                <a:solidFill>
                  <a:srgbClr val="FFFFFF"/>
                </a:solidFill>
                <a:ea typeface="黑体" pitchFamily="49" charset="-122"/>
              </a:rPr>
              <a:t>酸碱滴定法</a:t>
            </a:r>
            <a:endParaRPr lang="en-US" altLang="zh-CN" sz="2800" b="1" kern="0" dirty="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ea typeface="黑体" pitchFamily="49" charset="-122"/>
              <a:cs typeface="+mj-cs"/>
            </a:endParaRPr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" dur="5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" dur="5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AutoShape 6">
            <a:hlinkClick r:id="rId2" action="ppaction://hlinksldjump" highlightClick="1"/>
          </p:cNvPr>
          <p:cNvSpPr>
            <a:spLocks noChangeAspect="1" noChangeArrowheads="1"/>
          </p:cNvSpPr>
          <p:nvPr/>
        </p:nvSpPr>
        <p:spPr bwMode="auto">
          <a:xfrm>
            <a:off x="2674938" y="1938338"/>
            <a:ext cx="542925" cy="407987"/>
          </a:xfrm>
          <a:prstGeom prst="actionButtonForwardNext">
            <a:avLst/>
          </a:prstGeom>
          <a:solidFill>
            <a:srgbClr val="C0C0C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1" name="AutoShape 7">
            <a:hlinkClick r:id="rId3" action="ppaction://hlinksldjump" highlightClick="1"/>
          </p:cNvPr>
          <p:cNvSpPr>
            <a:spLocks noChangeAspect="1" noChangeArrowheads="1"/>
          </p:cNvSpPr>
          <p:nvPr/>
        </p:nvSpPr>
        <p:spPr bwMode="auto">
          <a:xfrm>
            <a:off x="2674938" y="2652713"/>
            <a:ext cx="542925" cy="407987"/>
          </a:xfrm>
          <a:prstGeom prst="actionButtonForwardNext">
            <a:avLst/>
          </a:prstGeom>
          <a:solidFill>
            <a:srgbClr val="C0C0C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8376" name="Text Box 8"/>
          <p:cNvSpPr txBox="1">
            <a:spLocks noChangeArrowheads="1"/>
          </p:cNvSpPr>
          <p:nvPr/>
        </p:nvSpPr>
        <p:spPr bwMode="auto">
          <a:xfrm>
            <a:off x="3171825" y="1597025"/>
            <a:ext cx="6840538" cy="31956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lnSpc>
                <a:spcPct val="180000"/>
              </a:lnSpc>
            </a:pPr>
            <a:r>
              <a:rPr kumimoji="1" lang="en-US" altLang="zh-CN" sz="2800" b="1" dirty="0">
                <a:ea typeface="黑体" pitchFamily="49" charset="-122"/>
              </a:rPr>
              <a:t>3.6.1 </a:t>
            </a:r>
            <a:r>
              <a:rPr kumimoji="1" lang="zh-CN" altLang="en-US" sz="2800" b="1" dirty="0">
                <a:ea typeface="黑体" pitchFamily="49" charset="-122"/>
              </a:rPr>
              <a:t>强碱</a:t>
            </a:r>
            <a:r>
              <a:rPr kumimoji="1" lang="en-US" altLang="zh-CN" sz="2800" b="1" dirty="0">
                <a:ea typeface="黑体" pitchFamily="49" charset="-122"/>
              </a:rPr>
              <a:t>(</a:t>
            </a:r>
            <a:r>
              <a:rPr kumimoji="1" lang="zh-CN" altLang="en-US" sz="2800" b="1" dirty="0">
                <a:ea typeface="黑体" pitchFamily="49" charset="-122"/>
              </a:rPr>
              <a:t>酸</a:t>
            </a:r>
            <a:r>
              <a:rPr kumimoji="1" lang="en-US" altLang="zh-CN" sz="2800" b="1" dirty="0">
                <a:ea typeface="黑体" pitchFamily="49" charset="-122"/>
              </a:rPr>
              <a:t>)</a:t>
            </a:r>
            <a:r>
              <a:rPr kumimoji="1" lang="zh-CN" altLang="en-US" sz="2800" b="1" dirty="0">
                <a:ea typeface="黑体" pitchFamily="49" charset="-122"/>
              </a:rPr>
              <a:t>滴定强酸</a:t>
            </a:r>
            <a:r>
              <a:rPr kumimoji="1" lang="en-US" altLang="zh-CN" sz="2800" b="1" dirty="0">
                <a:ea typeface="黑体" pitchFamily="49" charset="-122"/>
              </a:rPr>
              <a:t>(</a:t>
            </a:r>
            <a:r>
              <a:rPr kumimoji="1" lang="zh-CN" altLang="en-US" sz="2800" b="1" dirty="0">
                <a:ea typeface="黑体" pitchFamily="49" charset="-122"/>
              </a:rPr>
              <a:t>碱</a:t>
            </a:r>
            <a:r>
              <a:rPr kumimoji="1" lang="en-US" altLang="zh-CN" sz="2800" b="1" dirty="0">
                <a:ea typeface="黑体" pitchFamily="49" charset="-122"/>
              </a:rPr>
              <a:t>)</a:t>
            </a:r>
          </a:p>
          <a:p>
            <a:pPr>
              <a:lnSpc>
                <a:spcPct val="180000"/>
              </a:lnSpc>
            </a:pPr>
            <a:r>
              <a:rPr kumimoji="1" lang="en-US" altLang="zh-CN" sz="2800" b="1" dirty="0">
                <a:ea typeface="黑体" pitchFamily="49" charset="-122"/>
              </a:rPr>
              <a:t>3.6.2 </a:t>
            </a:r>
            <a:r>
              <a:rPr kumimoji="1" lang="zh-CN" altLang="en-US" sz="2800" b="1" dirty="0">
                <a:ea typeface="黑体" pitchFamily="49" charset="-122"/>
              </a:rPr>
              <a:t>强碱</a:t>
            </a:r>
            <a:r>
              <a:rPr kumimoji="1" lang="en-US" altLang="zh-CN" sz="2800" b="1" dirty="0">
                <a:ea typeface="黑体" pitchFamily="49" charset="-122"/>
              </a:rPr>
              <a:t>(</a:t>
            </a:r>
            <a:r>
              <a:rPr kumimoji="1" lang="zh-CN" altLang="en-US" sz="2800" b="1" dirty="0">
                <a:ea typeface="黑体" pitchFamily="49" charset="-122"/>
              </a:rPr>
              <a:t>酸</a:t>
            </a:r>
            <a:r>
              <a:rPr kumimoji="1" lang="en-US" altLang="zh-CN" sz="2800" b="1" dirty="0">
                <a:ea typeface="黑体" pitchFamily="49" charset="-122"/>
              </a:rPr>
              <a:t>)</a:t>
            </a:r>
            <a:r>
              <a:rPr kumimoji="1" lang="zh-CN" altLang="en-US" sz="2800" b="1" dirty="0">
                <a:ea typeface="黑体" pitchFamily="49" charset="-122"/>
              </a:rPr>
              <a:t>滴定一元弱酸</a:t>
            </a:r>
            <a:r>
              <a:rPr kumimoji="1" lang="en-US" altLang="zh-CN" sz="2800" b="1" dirty="0">
                <a:ea typeface="黑体" pitchFamily="49" charset="-122"/>
              </a:rPr>
              <a:t>(</a:t>
            </a:r>
            <a:r>
              <a:rPr kumimoji="1" lang="zh-CN" altLang="en-US" sz="2800" b="1" dirty="0">
                <a:ea typeface="黑体" pitchFamily="49" charset="-122"/>
              </a:rPr>
              <a:t>碱</a:t>
            </a:r>
            <a:r>
              <a:rPr kumimoji="1" lang="en-US" altLang="zh-CN" sz="2800" b="1" dirty="0">
                <a:ea typeface="黑体" pitchFamily="49" charset="-122"/>
              </a:rPr>
              <a:t>)</a:t>
            </a:r>
          </a:p>
          <a:p>
            <a:pPr>
              <a:lnSpc>
                <a:spcPct val="180000"/>
              </a:lnSpc>
            </a:pPr>
            <a:r>
              <a:rPr kumimoji="1" lang="en-US" altLang="zh-CN" sz="2800" b="1" dirty="0">
                <a:ea typeface="黑体" pitchFamily="49" charset="-122"/>
              </a:rPr>
              <a:t>3.6.3 </a:t>
            </a:r>
            <a:r>
              <a:rPr kumimoji="1" lang="zh-CN" altLang="en-US" sz="2800" b="1" dirty="0">
                <a:ea typeface="黑体" pitchFamily="49" charset="-122"/>
              </a:rPr>
              <a:t>多元酸</a:t>
            </a:r>
            <a:r>
              <a:rPr kumimoji="1" lang="en-US" altLang="zh-CN" sz="2800" b="1" dirty="0">
                <a:ea typeface="黑体" pitchFamily="49" charset="-122"/>
              </a:rPr>
              <a:t>(</a:t>
            </a:r>
            <a:r>
              <a:rPr kumimoji="1" lang="zh-CN" altLang="en-US" sz="2800" b="1" dirty="0">
                <a:ea typeface="黑体" pitchFamily="49" charset="-122"/>
              </a:rPr>
              <a:t>碱</a:t>
            </a:r>
            <a:r>
              <a:rPr kumimoji="1" lang="en-US" altLang="zh-CN" sz="2800" b="1" dirty="0">
                <a:ea typeface="黑体" pitchFamily="49" charset="-122"/>
              </a:rPr>
              <a:t>)</a:t>
            </a:r>
            <a:r>
              <a:rPr kumimoji="1" lang="zh-CN" altLang="en-US" sz="2800" b="1" dirty="0">
                <a:ea typeface="黑体" pitchFamily="49" charset="-122"/>
              </a:rPr>
              <a:t>、混酸的滴定</a:t>
            </a:r>
          </a:p>
          <a:p>
            <a:pPr>
              <a:lnSpc>
                <a:spcPct val="180000"/>
              </a:lnSpc>
            </a:pPr>
            <a:r>
              <a:rPr kumimoji="1" lang="en-US" altLang="zh-CN" sz="2800" b="1" dirty="0">
                <a:ea typeface="黑体" pitchFamily="49" charset="-122"/>
              </a:rPr>
              <a:t>3.6.4 </a:t>
            </a:r>
            <a:r>
              <a:rPr kumimoji="1" lang="zh-CN" altLang="en-US" sz="2800" b="1" dirty="0">
                <a:ea typeface="黑体" pitchFamily="49" charset="-122"/>
              </a:rPr>
              <a:t>酸碱滴定法的应用</a:t>
            </a:r>
          </a:p>
        </p:txBody>
      </p:sp>
      <p:sp>
        <p:nvSpPr>
          <p:cNvPr id="7173" name="AutoShape 9">
            <a:hlinkClick r:id="rId4" action="ppaction://hlinksldjump" highlightClick="1"/>
          </p:cNvPr>
          <p:cNvSpPr>
            <a:spLocks noChangeAspect="1" noChangeArrowheads="1"/>
          </p:cNvSpPr>
          <p:nvPr/>
        </p:nvSpPr>
        <p:spPr bwMode="auto">
          <a:xfrm>
            <a:off x="2689225" y="3454400"/>
            <a:ext cx="542925" cy="407988"/>
          </a:xfrm>
          <a:prstGeom prst="actionButtonForwardNext">
            <a:avLst/>
          </a:prstGeom>
          <a:solidFill>
            <a:srgbClr val="C0C0C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4" name="AutoShape 10">
            <a:hlinkClick r:id="rId5" action="ppaction://hlinksldjump" highlightClick="1"/>
          </p:cNvPr>
          <p:cNvSpPr>
            <a:spLocks noChangeAspect="1" noChangeArrowheads="1"/>
          </p:cNvSpPr>
          <p:nvPr/>
        </p:nvSpPr>
        <p:spPr bwMode="auto">
          <a:xfrm>
            <a:off x="2689225" y="4168775"/>
            <a:ext cx="542925" cy="407988"/>
          </a:xfrm>
          <a:prstGeom prst="actionButtonForwardNext">
            <a:avLst/>
          </a:prstGeom>
          <a:solidFill>
            <a:srgbClr val="C0C0C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5" name="Rectangle 14"/>
          <p:cNvSpPr>
            <a:spLocks noGrp="1" noChangeArrowheads="1"/>
          </p:cNvSpPr>
          <p:nvPr>
            <p:ph type="title"/>
          </p:nvPr>
        </p:nvSpPr>
        <p:spPr>
          <a:xfrm>
            <a:off x="576263" y="258763"/>
            <a:ext cx="10369550" cy="431800"/>
          </a:xfrm>
        </p:spPr>
        <p:txBody>
          <a:bodyPr/>
          <a:lstStyle/>
          <a:p>
            <a:pPr eaLnBrk="1" hangingPunct="1"/>
            <a:r>
              <a:rPr lang="en-US" altLang="zh-CN" smtClean="0">
                <a:ea typeface="黑体" pitchFamily="49" charset="-122"/>
              </a:rPr>
              <a:t>3.6 </a:t>
            </a:r>
            <a:r>
              <a:rPr lang="zh-CN" altLang="en-US" smtClean="0">
                <a:ea typeface="黑体" pitchFamily="49" charset="-122"/>
              </a:rPr>
              <a:t>酸碱滴定法</a:t>
            </a:r>
            <a:endParaRPr lang="zh-CN" altLang="en-US" sz="1800" smtClean="0">
              <a:ea typeface="黑体" pitchFamily="49" charset="-122"/>
            </a:endParaRPr>
          </a:p>
        </p:txBody>
      </p:sp>
      <p:sp>
        <p:nvSpPr>
          <p:cNvPr id="7176" name="Oval 26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gray">
          <a:xfrm>
            <a:off x="117475" y="5526088"/>
            <a:ext cx="360363" cy="360362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7" name="Oval 27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gray">
          <a:xfrm>
            <a:off x="11161713" y="5597525"/>
            <a:ext cx="360362" cy="360363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" dur="500"/>
                                        <p:tgtEl>
                                          <p:spTgt spid="583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2" dur="500"/>
                                        <p:tgtEl>
                                          <p:spTgt spid="583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7" dur="500"/>
                                        <p:tgtEl>
                                          <p:spTgt spid="583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2" dur="500"/>
                                        <p:tgtEl>
                                          <p:spTgt spid="583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376" grpId="0" build="p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8" name="Rectangle 10"/>
          <p:cNvSpPr>
            <a:spLocks noChangeArrowheads="1"/>
          </p:cNvSpPr>
          <p:nvPr/>
        </p:nvSpPr>
        <p:spPr bwMode="auto">
          <a:xfrm>
            <a:off x="903288" y="954088"/>
            <a:ext cx="5622925" cy="4778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1.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酸碱滴定曲线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:</a:t>
            </a:r>
          </a:p>
        </p:txBody>
      </p:sp>
      <p:sp>
        <p:nvSpPr>
          <p:cNvPr id="27659" name="Rectangle 11"/>
          <p:cNvSpPr>
            <a:spLocks noChangeArrowheads="1"/>
          </p:cNvSpPr>
          <p:nvPr/>
        </p:nvSpPr>
        <p:spPr bwMode="auto">
          <a:xfrm>
            <a:off x="775755" y="1964933"/>
            <a:ext cx="1391728" cy="477054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(1</a:t>
            </a:r>
            <a:r>
              <a:rPr kumimoji="0" lang="en-US" altLang="zh-CN" sz="25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)</a:t>
            </a:r>
            <a:r>
              <a:rPr kumimoji="0" lang="zh-CN" altLang="en-US" sz="25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 作用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:</a:t>
            </a:r>
          </a:p>
        </p:txBody>
      </p:sp>
      <p:sp>
        <p:nvSpPr>
          <p:cNvPr id="27660" name="Rectangle 12"/>
          <p:cNvSpPr>
            <a:spLocks noChangeArrowheads="1"/>
          </p:cNvSpPr>
          <p:nvPr/>
        </p:nvSpPr>
        <p:spPr bwMode="auto">
          <a:xfrm>
            <a:off x="903288" y="1311275"/>
            <a:ext cx="4281685" cy="477054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　　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pH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～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V</a:t>
            </a:r>
            <a:r>
              <a:rPr kumimoji="0" lang="zh-CN" altLang="en-US" sz="25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滴定剂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或滴定分数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.</a:t>
            </a:r>
          </a:p>
        </p:txBody>
      </p:sp>
      <p:sp>
        <p:nvSpPr>
          <p:cNvPr id="27661" name="Rectangle 13"/>
          <p:cNvSpPr>
            <a:spLocks noChangeArrowheads="1"/>
          </p:cNvSpPr>
          <p:nvPr/>
        </p:nvSpPr>
        <p:spPr bwMode="auto">
          <a:xfrm>
            <a:off x="775755" y="3818933"/>
            <a:ext cx="3393865" cy="477054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(2</a:t>
            </a:r>
            <a:r>
              <a:rPr kumimoji="0" lang="en-US" altLang="zh-CN" sz="25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)</a:t>
            </a:r>
            <a:r>
              <a:rPr kumimoji="0" lang="zh-CN" altLang="en-US" sz="25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滴定曲线获得方式</a:t>
            </a:r>
            <a:r>
              <a:rPr kumimoji="0" lang="en-US" altLang="zh-CN" sz="25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:</a:t>
            </a:r>
            <a:endParaRPr kumimoji="0" lang="en-US" altLang="zh-CN" sz="2500" b="1" i="0" u="none" strike="noStrike" kern="1200" cap="none" spc="0" normalizeH="0" baseline="0" noProof="0" dirty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Times New Roman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8198" name="Rectangle 21"/>
          <p:cNvSpPr>
            <a:spLocks noGrp="1" noChangeArrowheads="1"/>
          </p:cNvSpPr>
          <p:nvPr>
            <p:ph type="title"/>
          </p:nvPr>
        </p:nvSpPr>
        <p:spPr>
          <a:xfrm>
            <a:off x="576263" y="243831"/>
            <a:ext cx="10369550" cy="461665"/>
          </a:xfrm>
        </p:spPr>
        <p:txBody>
          <a:bodyPr/>
          <a:lstStyle/>
          <a:p>
            <a:pPr eaLnBrk="1" hangingPunct="1"/>
            <a:r>
              <a:rPr lang="en-US" altLang="zh-CN" dirty="0" smtClean="0">
                <a:ea typeface="黑体" pitchFamily="49" charset="-122"/>
              </a:rPr>
              <a:t>3.6 </a:t>
            </a:r>
            <a:r>
              <a:rPr lang="zh-CN" altLang="en-US" sz="2400" dirty="0" smtClean="0">
                <a:ea typeface="黑体" pitchFamily="49" charset="-122"/>
              </a:rPr>
              <a:t>酸碱滴定曲线</a:t>
            </a:r>
            <a:endParaRPr lang="en-US" altLang="zh-CN" sz="2400" dirty="0" smtClean="0">
              <a:ea typeface="黑体" pitchFamily="49" charset="-122"/>
            </a:endParaRPr>
          </a:p>
        </p:txBody>
      </p:sp>
      <p:sp>
        <p:nvSpPr>
          <p:cNvPr id="8201" name="Oval 26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gray">
          <a:xfrm>
            <a:off x="0" y="5526088"/>
            <a:ext cx="360363" cy="360362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charset="-122"/>
              <a:cs typeface="+mn-cs"/>
            </a:endParaRPr>
          </a:p>
        </p:txBody>
      </p:sp>
      <p:sp>
        <p:nvSpPr>
          <p:cNvPr id="8202" name="Oval 27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gray">
          <a:xfrm>
            <a:off x="11155363" y="5688013"/>
            <a:ext cx="360362" cy="360362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charset="-122"/>
              <a:cs typeface="+mn-cs"/>
            </a:endParaRPr>
          </a:p>
        </p:txBody>
      </p:sp>
      <p:graphicFrame>
        <p:nvGraphicFramePr>
          <p:cNvPr id="11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72581691"/>
              </p:ext>
            </p:extLst>
          </p:nvPr>
        </p:nvGraphicFramePr>
        <p:xfrm>
          <a:off x="7171739" y="219705"/>
          <a:ext cx="4163805" cy="27552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57" name="BMP 图象" r:id="rId6" imgW="2752381" imgH="2429214" progId="PBrush">
                  <p:embed/>
                </p:oleObj>
              </mc:Choice>
              <mc:Fallback>
                <p:oleObj name="BMP 图象" r:id="rId6" imgW="2752381" imgH="2429214" progId="PBrush">
                  <p:embed/>
                  <p:pic>
                    <p:nvPicPr>
                      <p:cNvPr id="11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71739" y="219705"/>
                        <a:ext cx="4163805" cy="2755289"/>
                      </a:xfrm>
                      <a:prstGeom prst="rect">
                        <a:avLst/>
                      </a:prstGeom>
                      <a:noFill/>
                      <a:ln w="25400">
                        <a:solidFill>
                          <a:srgbClr val="FF00FF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877274" y="2559496"/>
            <a:ext cx="567495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 smtClean="0"/>
              <a:t>a </a:t>
            </a:r>
            <a:r>
              <a:rPr lang="zh-CN" altLang="en-US" sz="2400" b="1" dirty="0" smtClean="0"/>
              <a:t>深入了解滴定过程，判断滴定是否完全</a:t>
            </a:r>
            <a:endParaRPr lang="en-US" altLang="zh-CN" sz="2400" b="1" dirty="0" smtClean="0"/>
          </a:p>
          <a:p>
            <a:endParaRPr lang="zh-CN" altLang="en-US" sz="2400" dirty="0"/>
          </a:p>
        </p:txBody>
      </p:sp>
      <p:sp>
        <p:nvSpPr>
          <p:cNvPr id="12" name="文本框 11"/>
          <p:cNvSpPr txBox="1"/>
          <p:nvPr/>
        </p:nvSpPr>
        <p:spPr>
          <a:xfrm>
            <a:off x="877274" y="3004771"/>
            <a:ext cx="69557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 smtClean="0">
                <a:solidFill>
                  <a:srgbClr val="FF0000"/>
                </a:solidFill>
              </a:rPr>
              <a:t>b  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根据滴定曲线选择合适的指示剂以确定滴定终点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111502" y="4338009"/>
            <a:ext cx="13436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 smtClean="0">
                <a:ea typeface="楷体_GB2312" panose="02010609030101010101"/>
              </a:rPr>
              <a:t>a </a:t>
            </a:r>
            <a:r>
              <a:rPr lang="zh-CN" altLang="en-US" sz="2400" b="1" dirty="0" smtClean="0">
                <a:ea typeface="楷体_GB2312" panose="02010609030101010101"/>
              </a:rPr>
              <a:t>酸度计</a:t>
            </a:r>
            <a:endParaRPr lang="zh-CN" altLang="en-US" sz="2400" b="1" dirty="0">
              <a:ea typeface="楷体_GB2312" panose="02010609030101010101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808653" y="4799674"/>
            <a:ext cx="38363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  <a:ea typeface="楷体_GB2312" panose="02010609030101010101"/>
              </a:rPr>
              <a:t>★b </a:t>
            </a:r>
            <a:r>
              <a:rPr lang="zh-CN" altLang="en-US" sz="2400" b="1" dirty="0" smtClean="0">
                <a:solidFill>
                  <a:srgbClr val="FF0000"/>
                </a:solidFill>
                <a:ea typeface="楷体_GB2312" panose="02010609030101010101"/>
              </a:rPr>
              <a:t>通过计算绘制滴定曲线</a:t>
            </a:r>
            <a:endParaRPr lang="zh-CN" altLang="en-US" sz="2400" b="1" dirty="0">
              <a:solidFill>
                <a:srgbClr val="FF0000"/>
              </a:solidFill>
              <a:ea typeface="楷体_GB2312" panose="02010609030101010101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469749" y="3784011"/>
            <a:ext cx="5472608" cy="156966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solidFill>
                  <a:srgbClr val="FF0000"/>
                </a:solidFill>
              </a:rPr>
              <a:t>化学计量点：</a:t>
            </a:r>
            <a:r>
              <a:rPr lang="zh-CN" altLang="en-US" sz="2400" b="1" dirty="0" smtClean="0"/>
              <a:t>加入滴定剂与被测组分完         全反应的点（理论）</a:t>
            </a:r>
            <a:endParaRPr lang="en-US" altLang="zh-CN" sz="2400" b="1" dirty="0" smtClean="0"/>
          </a:p>
          <a:p>
            <a:r>
              <a:rPr lang="zh-CN" altLang="en-US" sz="2400" b="1" dirty="0" smtClean="0">
                <a:solidFill>
                  <a:srgbClr val="FF0000"/>
                </a:solidFill>
              </a:rPr>
              <a:t>滴定终点：</a:t>
            </a:r>
            <a:r>
              <a:rPr lang="zh-CN" altLang="en-US" sz="2400" b="1" dirty="0" smtClean="0"/>
              <a:t>滴定时指示剂刚好发生颜色变化的转变点，滴定停止</a:t>
            </a:r>
            <a:endParaRPr lang="zh-CN" altLang="en-US" sz="2400" b="1" dirty="0"/>
          </a:p>
        </p:txBody>
      </p:sp>
      <p:sp>
        <p:nvSpPr>
          <p:cNvPr id="5" name="圆角矩形标注 4"/>
          <p:cNvSpPr/>
          <p:nvPr/>
        </p:nvSpPr>
        <p:spPr>
          <a:xfrm>
            <a:off x="7171739" y="2231975"/>
            <a:ext cx="919756" cy="757907"/>
          </a:xfrm>
          <a:prstGeom prst="wedgeRoundRectCallout">
            <a:avLst>
              <a:gd name="adj1" fmla="val 86788"/>
              <a:gd name="adj2" fmla="val -1171"/>
              <a:gd name="adj3" fmla="val 16667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 smtClean="0">
                <a:solidFill>
                  <a:srgbClr val="FF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滴定分数</a:t>
            </a:r>
            <a:endParaRPr lang="zh-CN" altLang="en-US" sz="2400" b="1" dirty="0">
              <a:solidFill>
                <a:srgbClr val="FF0000"/>
              </a:solidFill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58241823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27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76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76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27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8" grpId="0" autoUpdateAnimBg="0"/>
      <p:bldP spid="27659" grpId="0" build="p" autoUpdateAnimBg="0"/>
      <p:bldP spid="27660" grpId="0" build="p" autoUpdateAnimBg="0"/>
      <p:bldP spid="27661" grpId="0" autoUpdateAnimBg="0"/>
      <p:bldP spid="2" grpId="0"/>
      <p:bldP spid="12" grpId="0"/>
      <p:bldP spid="3" grpId="0"/>
      <p:bldP spid="13" grpId="0"/>
      <p:bldP spid="4" grpId="0" animBg="1"/>
      <p:bldP spid="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8" name="Rectangle 21"/>
          <p:cNvSpPr>
            <a:spLocks noGrp="1" noChangeArrowheads="1"/>
          </p:cNvSpPr>
          <p:nvPr>
            <p:ph type="title"/>
          </p:nvPr>
        </p:nvSpPr>
        <p:spPr>
          <a:xfrm>
            <a:off x="576263" y="258763"/>
            <a:ext cx="10369550" cy="431800"/>
          </a:xfrm>
        </p:spPr>
        <p:txBody>
          <a:bodyPr/>
          <a:lstStyle/>
          <a:p>
            <a:pPr eaLnBrk="1" hangingPunct="1"/>
            <a:r>
              <a:rPr lang="en-US" altLang="zh-CN" smtClean="0">
                <a:ea typeface="黑体" pitchFamily="49" charset="-122"/>
              </a:rPr>
              <a:t>3.6.1</a:t>
            </a:r>
            <a:r>
              <a:rPr lang="zh-CN" altLang="en-US" smtClean="0">
                <a:ea typeface="黑体" pitchFamily="49" charset="-122"/>
              </a:rPr>
              <a:t>强碱</a:t>
            </a:r>
            <a:r>
              <a:rPr lang="en-US" altLang="zh-CN" smtClean="0">
                <a:ea typeface="黑体" pitchFamily="49" charset="-122"/>
              </a:rPr>
              <a:t>(</a:t>
            </a:r>
            <a:r>
              <a:rPr lang="zh-CN" altLang="en-US" smtClean="0">
                <a:ea typeface="黑体" pitchFamily="49" charset="-122"/>
              </a:rPr>
              <a:t>酸</a:t>
            </a:r>
            <a:r>
              <a:rPr lang="en-US" altLang="zh-CN" smtClean="0">
                <a:ea typeface="黑体" pitchFamily="49" charset="-122"/>
              </a:rPr>
              <a:t>)</a:t>
            </a:r>
            <a:r>
              <a:rPr lang="zh-CN" altLang="en-US" smtClean="0">
                <a:ea typeface="黑体" pitchFamily="49" charset="-122"/>
              </a:rPr>
              <a:t>滴定强酸</a:t>
            </a:r>
            <a:r>
              <a:rPr lang="en-US" altLang="zh-CN" smtClean="0">
                <a:ea typeface="黑体" pitchFamily="49" charset="-122"/>
              </a:rPr>
              <a:t>(</a:t>
            </a:r>
            <a:r>
              <a:rPr lang="zh-CN" altLang="en-US" smtClean="0">
                <a:ea typeface="黑体" pitchFamily="49" charset="-122"/>
              </a:rPr>
              <a:t>碱</a:t>
            </a:r>
            <a:r>
              <a:rPr lang="en-US" altLang="zh-CN" smtClean="0">
                <a:ea typeface="黑体" pitchFamily="49" charset="-122"/>
              </a:rPr>
              <a:t>)</a:t>
            </a:r>
            <a:endParaRPr lang="en-US" altLang="zh-CN" sz="1800" smtClean="0">
              <a:ea typeface="黑体" pitchFamily="49" charset="-122"/>
            </a:endParaRPr>
          </a:p>
        </p:txBody>
      </p:sp>
      <p:sp>
        <p:nvSpPr>
          <p:cNvPr id="81920" name="Rectangle 0"/>
          <p:cNvSpPr>
            <a:spLocks noChangeArrowheads="1"/>
          </p:cNvSpPr>
          <p:nvPr/>
        </p:nvSpPr>
        <p:spPr bwMode="auto">
          <a:xfrm>
            <a:off x="166664" y="1495793"/>
            <a:ext cx="9275444" cy="477054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r>
              <a:rPr lang="en-US" altLang="zh-CN" sz="2500" b="1" dirty="0">
                <a:ea typeface="楷体_GB2312" pitchFamily="49" charset="-122"/>
              </a:rPr>
              <a:t>      </a:t>
            </a:r>
            <a:r>
              <a:rPr lang="zh-CN" altLang="en-US" sz="2500" b="1" dirty="0" smtClean="0">
                <a:ea typeface="楷体_GB2312" pitchFamily="49" charset="-122"/>
              </a:rPr>
              <a:t>例：</a:t>
            </a:r>
            <a:r>
              <a:rPr lang="en-US" altLang="zh-CN" sz="2500" b="1" dirty="0" smtClean="0">
                <a:ea typeface="楷体_GB2312" pitchFamily="49" charset="-122"/>
              </a:rPr>
              <a:t>  </a:t>
            </a:r>
            <a:r>
              <a:rPr lang="en-US" altLang="zh-CN" sz="2500" b="1" dirty="0">
                <a:ea typeface="楷体_GB2312" pitchFamily="49" charset="-122"/>
              </a:rPr>
              <a:t>0.1000mol·L</a:t>
            </a:r>
            <a:r>
              <a:rPr lang="en-US" altLang="zh-CN" sz="2500" b="1" baseline="30000" dirty="0">
                <a:ea typeface="楷体_GB2312" pitchFamily="49" charset="-122"/>
              </a:rPr>
              <a:t>-1</a:t>
            </a:r>
            <a:r>
              <a:rPr lang="en-US" altLang="zh-CN" sz="2500" b="1" dirty="0">
                <a:ea typeface="楷体_GB2312" pitchFamily="49" charset="-122"/>
              </a:rPr>
              <a:t>NaOH </a:t>
            </a:r>
            <a:r>
              <a:rPr lang="zh-CN" altLang="en-US" sz="2500" b="1" dirty="0" smtClean="0">
                <a:ea typeface="楷体_GB2312" pitchFamily="49" charset="-122"/>
              </a:rPr>
              <a:t>滴定</a:t>
            </a:r>
            <a:r>
              <a:rPr lang="en-US" altLang="zh-CN" sz="2500" b="1" dirty="0" smtClean="0">
                <a:ea typeface="楷体_GB2312" pitchFamily="49" charset="-122"/>
              </a:rPr>
              <a:t>20.00mL0.1000mol·L</a:t>
            </a:r>
            <a:r>
              <a:rPr lang="en-US" altLang="zh-CN" sz="2500" b="1" baseline="30000" dirty="0" smtClean="0">
                <a:ea typeface="楷体_GB2312" pitchFamily="49" charset="-122"/>
              </a:rPr>
              <a:t>-1</a:t>
            </a:r>
            <a:r>
              <a:rPr lang="en-US" altLang="zh-CN" sz="2500" b="1" dirty="0" smtClean="0">
                <a:ea typeface="楷体_GB2312" pitchFamily="49" charset="-122"/>
              </a:rPr>
              <a:t>HCl</a:t>
            </a:r>
            <a:r>
              <a:rPr lang="en-US" altLang="zh-CN" sz="2500" b="1" dirty="0">
                <a:ea typeface="楷体_GB2312" pitchFamily="49" charset="-122"/>
              </a:rPr>
              <a:t>.</a:t>
            </a:r>
          </a:p>
        </p:txBody>
      </p:sp>
      <p:sp>
        <p:nvSpPr>
          <p:cNvPr id="81921" name="Rectangle 1"/>
          <p:cNvSpPr>
            <a:spLocks noChangeArrowheads="1"/>
          </p:cNvSpPr>
          <p:nvPr/>
        </p:nvSpPr>
        <p:spPr bwMode="auto">
          <a:xfrm>
            <a:off x="662057" y="2884127"/>
            <a:ext cx="10136188" cy="2015936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500" b="1" dirty="0">
                <a:solidFill>
                  <a:srgbClr val="FF0000"/>
                </a:solidFill>
                <a:ea typeface="楷体_GB2312"/>
                <a:sym typeface="Monotype Sorts" pitchFamily="2" charset="2"/>
              </a:rPr>
              <a:t>①</a:t>
            </a:r>
            <a:r>
              <a:rPr lang="zh-CN" altLang="en-US" sz="2500" b="1" dirty="0">
                <a:solidFill>
                  <a:srgbClr val="FF0000"/>
                </a:solidFill>
                <a:ea typeface="楷体_GB2312"/>
              </a:rPr>
              <a:t>滴定前</a:t>
            </a:r>
            <a:r>
              <a:rPr lang="en-US" altLang="zh-CN" sz="2500" b="1" dirty="0" smtClean="0">
                <a:solidFill>
                  <a:srgbClr val="FF0000"/>
                </a:solidFill>
                <a:ea typeface="楷体_GB2312"/>
              </a:rPr>
              <a:t>:</a:t>
            </a:r>
            <a:endParaRPr lang="en-US" altLang="zh-CN" sz="2500" b="1" dirty="0">
              <a:solidFill>
                <a:srgbClr val="FF0000"/>
              </a:solidFill>
              <a:ea typeface="楷体_GB2312"/>
            </a:endParaRPr>
          </a:p>
          <a:p>
            <a:pPr>
              <a:defRPr/>
            </a:pPr>
            <a:r>
              <a:rPr lang="zh-CN" altLang="en-US" sz="2500" b="1" dirty="0">
                <a:ea typeface="楷体_GB2312"/>
              </a:rPr>
              <a:t>　　</a:t>
            </a:r>
            <a:r>
              <a:rPr lang="zh-CN" altLang="en-US" sz="2500" b="1" dirty="0">
                <a:solidFill>
                  <a:srgbClr val="FF0000"/>
                </a:solidFill>
                <a:ea typeface="楷体_GB2312"/>
              </a:rPr>
              <a:t>溶液</a:t>
            </a:r>
            <a:r>
              <a:rPr lang="zh-CN" altLang="en-US" sz="2500" b="1" dirty="0" smtClean="0">
                <a:solidFill>
                  <a:srgbClr val="FF0000"/>
                </a:solidFill>
                <a:ea typeface="楷体_GB2312"/>
              </a:rPr>
              <a:t>中仅有</a:t>
            </a:r>
            <a:r>
              <a:rPr lang="en-US" altLang="zh-CN" sz="2500" b="1" dirty="0" smtClean="0">
                <a:ea typeface="楷体_GB2312" pitchFamily="49" charset="-122"/>
              </a:rPr>
              <a:t>0.1000mol·L</a:t>
            </a:r>
            <a:r>
              <a:rPr lang="en-US" altLang="zh-CN" sz="2500" b="1" baseline="30000" dirty="0" smtClean="0">
                <a:ea typeface="楷体_GB2312" pitchFamily="49" charset="-122"/>
              </a:rPr>
              <a:t>-1</a:t>
            </a:r>
            <a:r>
              <a:rPr lang="en-US" altLang="zh-CN" sz="2500" b="1" dirty="0" smtClean="0">
                <a:ea typeface="楷体_GB2312" pitchFamily="49" charset="-122"/>
              </a:rPr>
              <a:t>HCl   </a:t>
            </a:r>
            <a:r>
              <a:rPr lang="en-US" altLang="zh-CN" sz="2500" b="1" i="1" dirty="0" smtClean="0">
                <a:ea typeface="楷体_GB2312"/>
              </a:rPr>
              <a:t>V</a:t>
            </a:r>
            <a:r>
              <a:rPr lang="zh-CN" altLang="en-US" sz="2500" b="1" baseline="-25000" dirty="0">
                <a:ea typeface="楷体_GB2312"/>
              </a:rPr>
              <a:t>滴定剂 </a:t>
            </a:r>
            <a:r>
              <a:rPr lang="en-US" altLang="zh-CN" sz="2500" b="1" dirty="0">
                <a:ea typeface="楷体_GB2312"/>
              </a:rPr>
              <a:t>= 0.00, pH =1.00.</a:t>
            </a:r>
          </a:p>
          <a:p>
            <a:pPr>
              <a:defRPr/>
            </a:pPr>
            <a:endParaRPr lang="en-US" altLang="zh-CN" sz="2500" b="1" dirty="0" smtClean="0">
              <a:solidFill>
                <a:srgbClr val="FF00FF"/>
              </a:solidFill>
              <a:effectLst>
                <a:outerShdw blurRad="38100" dist="38100" dir="2700000" algn="tl">
                  <a:srgbClr val="000000"/>
                </a:outerShdw>
              </a:effectLst>
              <a:ea typeface="楷体_GB2312"/>
              <a:sym typeface="Monotype Sorts" pitchFamily="2" charset="2"/>
            </a:endParaRPr>
          </a:p>
          <a:p>
            <a:pPr>
              <a:defRPr/>
            </a:pPr>
            <a:r>
              <a:rPr lang="en-US" altLang="zh-CN" sz="2500" b="1" dirty="0" smtClean="0">
                <a:solidFill>
                  <a:srgbClr val="FF0000"/>
                </a:solidFill>
                <a:ea typeface="楷体_GB2312"/>
                <a:sym typeface="Monotype Sorts" pitchFamily="2" charset="2"/>
              </a:rPr>
              <a:t>②</a:t>
            </a:r>
            <a:r>
              <a:rPr lang="zh-CN" altLang="en-US" sz="2500" b="1" dirty="0">
                <a:solidFill>
                  <a:srgbClr val="FF0000"/>
                </a:solidFill>
                <a:ea typeface="楷体_GB2312"/>
              </a:rPr>
              <a:t>滴定开始至化学计量点前</a:t>
            </a:r>
            <a:r>
              <a:rPr lang="en-US" altLang="zh-CN" sz="2500" b="1" dirty="0">
                <a:solidFill>
                  <a:srgbClr val="FF0000"/>
                </a:solidFill>
                <a:ea typeface="楷体_GB2312"/>
              </a:rPr>
              <a:t>:</a:t>
            </a:r>
          </a:p>
          <a:p>
            <a:pPr>
              <a:defRPr/>
            </a:pPr>
            <a:r>
              <a:rPr lang="en-US" altLang="zh-CN" sz="2500" b="1" dirty="0">
                <a:ea typeface="楷体_GB2312"/>
              </a:rPr>
              <a:t>        </a:t>
            </a:r>
            <a:r>
              <a:rPr lang="zh-CN" altLang="en-US" sz="2500" b="1" dirty="0" smtClean="0">
                <a:ea typeface="楷体_GB2312"/>
              </a:rPr>
              <a:t>与</a:t>
            </a:r>
            <a:r>
              <a:rPr lang="en-US" altLang="zh-CN" sz="2500" b="1" dirty="0" err="1" smtClean="0">
                <a:ea typeface="楷体_GB2312"/>
              </a:rPr>
              <a:t>NaOH</a:t>
            </a:r>
            <a:r>
              <a:rPr lang="zh-CN" altLang="en-US" sz="2500" b="1" dirty="0" smtClean="0">
                <a:ea typeface="楷体_GB2312"/>
              </a:rPr>
              <a:t>反应后 剩余</a:t>
            </a:r>
            <a:r>
              <a:rPr lang="zh-CN" altLang="en-US" sz="2500" b="1" dirty="0">
                <a:ea typeface="楷体_GB2312"/>
              </a:rPr>
              <a:t>酸的浓度</a:t>
            </a:r>
          </a:p>
        </p:txBody>
      </p:sp>
      <p:sp>
        <p:nvSpPr>
          <p:cNvPr id="8201" name="Oval 26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gray">
          <a:xfrm>
            <a:off x="0" y="5526088"/>
            <a:ext cx="360363" cy="360362"/>
          </a:xfrm>
          <a:prstGeom prst="ellipse">
            <a:avLst/>
          </a:prstGeom>
          <a:blipFill dpi="0" rotWithShape="1">
            <a:blip r:embed="rId2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02" name="Oval 27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gray">
          <a:xfrm>
            <a:off x="11155363" y="5688013"/>
            <a:ext cx="360362" cy="360362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662057" y="905220"/>
            <a:ext cx="32784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 smtClean="0">
                <a:solidFill>
                  <a:srgbClr val="FF0000"/>
                </a:solidFill>
                <a:ea typeface="楷体_GB2312" panose="02010609030101010101"/>
              </a:rPr>
              <a:t>通过计算绘制滴定曲线</a:t>
            </a:r>
            <a:endParaRPr lang="zh-CN" altLang="en-US" sz="2400" b="1" dirty="0">
              <a:solidFill>
                <a:srgbClr val="FF0000"/>
              </a:solidFill>
              <a:ea typeface="楷体_GB2312" panose="02010609030101010101"/>
            </a:endParaRPr>
          </a:p>
        </p:txBody>
      </p:sp>
      <p:sp>
        <p:nvSpPr>
          <p:cNvPr id="2" name="圆角矩形标注 1"/>
          <p:cNvSpPr/>
          <p:nvPr/>
        </p:nvSpPr>
        <p:spPr>
          <a:xfrm>
            <a:off x="5833045" y="461678"/>
            <a:ext cx="1872208" cy="715585"/>
          </a:xfrm>
          <a:prstGeom prst="wedgeRoundRectCallout">
            <a:avLst>
              <a:gd name="adj1" fmla="val -30911"/>
              <a:gd name="adj2" fmla="val 86831"/>
              <a:gd name="adj3" fmla="val 16667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 smtClean="0">
                <a:solidFill>
                  <a:srgbClr val="FF0000"/>
                </a:solidFill>
              </a:rPr>
              <a:t>pH</a:t>
            </a:r>
            <a:r>
              <a:rPr lang="zh-CN" altLang="en-US" sz="2400" dirty="0" smtClean="0">
                <a:solidFill>
                  <a:srgbClr val="FF0000"/>
                </a:solidFill>
              </a:rPr>
              <a:t>值变化特征是什么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581529" y="2060544"/>
            <a:ext cx="1010565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400" b="1" dirty="0">
                <a:solidFill>
                  <a:srgbClr val="FF0000"/>
                </a:solidFill>
                <a:ea typeface="楷体_GB2312"/>
                <a:sym typeface="Monotype Sorts" pitchFamily="2" charset="2"/>
              </a:rPr>
              <a:t>①</a:t>
            </a:r>
            <a:r>
              <a:rPr lang="zh-CN" altLang="en-US" sz="2400" b="1" dirty="0">
                <a:solidFill>
                  <a:srgbClr val="FF0000"/>
                </a:solidFill>
                <a:ea typeface="楷体_GB2312"/>
              </a:rPr>
              <a:t>滴定</a:t>
            </a:r>
            <a:r>
              <a:rPr lang="zh-CN" altLang="en-US" sz="2400" b="1" dirty="0" smtClean="0">
                <a:solidFill>
                  <a:srgbClr val="FF0000"/>
                </a:solidFill>
                <a:ea typeface="楷体_GB2312"/>
              </a:rPr>
              <a:t>前   </a:t>
            </a:r>
            <a:r>
              <a:rPr lang="en-US" altLang="zh-CN" sz="2400" b="1" dirty="0">
                <a:solidFill>
                  <a:srgbClr val="FF0000"/>
                </a:solidFill>
                <a:ea typeface="楷体_GB2312"/>
                <a:sym typeface="Monotype Sorts" pitchFamily="2" charset="2"/>
              </a:rPr>
              <a:t>②</a:t>
            </a:r>
            <a:r>
              <a:rPr lang="zh-CN" altLang="en-US" sz="2400" b="1" dirty="0">
                <a:solidFill>
                  <a:srgbClr val="FF0000"/>
                </a:solidFill>
                <a:ea typeface="楷体_GB2312"/>
              </a:rPr>
              <a:t>滴定开始至化学计量点</a:t>
            </a:r>
            <a:r>
              <a:rPr lang="zh-CN" altLang="en-US" sz="2400" b="1" dirty="0" smtClean="0">
                <a:solidFill>
                  <a:srgbClr val="FF0000"/>
                </a:solidFill>
                <a:ea typeface="楷体_GB2312"/>
              </a:rPr>
              <a:t>前   </a:t>
            </a:r>
            <a:r>
              <a:rPr lang="en-US" altLang="zh-CN" sz="2400" b="1" dirty="0" smtClean="0">
                <a:solidFill>
                  <a:srgbClr val="FF0000"/>
                </a:solidFill>
                <a:ea typeface="楷体_GB2312"/>
                <a:sym typeface="Monotype Sorts" pitchFamily="2" charset="2"/>
              </a:rPr>
              <a:t>③</a:t>
            </a:r>
            <a:r>
              <a:rPr lang="zh-CN" altLang="en-US" sz="2400" b="1" dirty="0">
                <a:solidFill>
                  <a:srgbClr val="FF0000"/>
                </a:solidFill>
                <a:ea typeface="楷体_GB2312"/>
              </a:rPr>
              <a:t>化学计量</a:t>
            </a:r>
            <a:r>
              <a:rPr lang="zh-CN" altLang="en-US" sz="2400" b="1" dirty="0" smtClean="0">
                <a:solidFill>
                  <a:srgbClr val="FF0000"/>
                </a:solidFill>
                <a:ea typeface="楷体_GB2312"/>
              </a:rPr>
              <a:t>点  </a:t>
            </a:r>
            <a:r>
              <a:rPr lang="en-US" altLang="zh-CN" sz="2400" b="1" dirty="0" smtClean="0">
                <a:solidFill>
                  <a:srgbClr val="FF0000"/>
                </a:solidFill>
                <a:ea typeface="楷体_GB2312"/>
                <a:sym typeface="Monotype Sorts" pitchFamily="2" charset="2"/>
              </a:rPr>
              <a:t>④</a:t>
            </a:r>
            <a:r>
              <a:rPr lang="zh-CN" altLang="en-US" sz="2400" b="1" dirty="0">
                <a:solidFill>
                  <a:srgbClr val="FF0000"/>
                </a:solidFill>
                <a:ea typeface="楷体_GB2312"/>
              </a:rPr>
              <a:t>化学计量点后</a:t>
            </a:r>
            <a:r>
              <a:rPr lang="en-US" altLang="zh-CN" sz="2400" b="1" dirty="0">
                <a:solidFill>
                  <a:srgbClr val="FF0000"/>
                </a:solidFill>
                <a:ea typeface="楷体_GB2312"/>
              </a:rPr>
              <a:t>:</a:t>
            </a:r>
            <a:r>
              <a:rPr lang="en-US" altLang="zh-CN" sz="2400" b="1" dirty="0" smtClean="0">
                <a:solidFill>
                  <a:srgbClr val="FF0000"/>
                </a:solidFill>
                <a:ea typeface="楷体_GB2312"/>
              </a:rPr>
              <a:t>   </a:t>
            </a:r>
            <a:endParaRPr lang="en-US" altLang="zh-CN" sz="2400" b="1" dirty="0">
              <a:solidFill>
                <a:srgbClr val="FF0000"/>
              </a:solidFill>
              <a:ea typeface="楷体_GB2312"/>
            </a:endParaRP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819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819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819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819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819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20" grpId="0" autoUpdateAnimBg="0"/>
      <p:bldP spid="81921" grpId="0" build="p" autoUpdateAnimBg="0"/>
      <p:bldP spid="12" grpId="0"/>
      <p:bldP spid="2" grpId="0" animBg="1"/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5" name="Rectangle 7"/>
          <p:cNvSpPr>
            <a:spLocks noChangeArrowheads="1"/>
          </p:cNvSpPr>
          <p:nvPr/>
        </p:nvSpPr>
        <p:spPr bwMode="auto">
          <a:xfrm>
            <a:off x="906463" y="1020763"/>
            <a:ext cx="10136187" cy="4778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r>
              <a:rPr lang="en-US" altLang="zh-CN" sz="2500" b="1" dirty="0">
                <a:ea typeface="楷体_GB2312" pitchFamily="49" charset="-122"/>
              </a:rPr>
              <a:t>        </a:t>
            </a:r>
            <a:r>
              <a:rPr lang="zh-CN" altLang="en-US" sz="2500" b="1" dirty="0" smtClean="0">
                <a:ea typeface="楷体_GB2312" pitchFamily="49" charset="-122"/>
              </a:rPr>
              <a:t>例如：当</a:t>
            </a:r>
            <a:r>
              <a:rPr lang="en-US" altLang="zh-CN" sz="2500" b="1" i="1" dirty="0" smtClean="0">
                <a:ea typeface="楷体_GB2312" pitchFamily="49" charset="-122"/>
              </a:rPr>
              <a:t>V</a:t>
            </a:r>
            <a:r>
              <a:rPr lang="zh-CN" altLang="en-US" sz="2500" b="1" baseline="-25000" dirty="0">
                <a:ea typeface="楷体_GB2312" pitchFamily="49" charset="-122"/>
              </a:rPr>
              <a:t>滴定剂</a:t>
            </a:r>
            <a:r>
              <a:rPr lang="zh-CN" altLang="en-US" sz="2500" b="1" dirty="0">
                <a:ea typeface="楷体_GB2312" pitchFamily="49" charset="-122"/>
              </a:rPr>
              <a:t> </a:t>
            </a:r>
            <a:r>
              <a:rPr lang="en-US" altLang="zh-CN" sz="2500" b="1" dirty="0">
                <a:ea typeface="楷体_GB2312" pitchFamily="49" charset="-122"/>
              </a:rPr>
              <a:t>= 18.00 </a:t>
            </a:r>
            <a:r>
              <a:rPr lang="en-US" altLang="zh-CN" sz="2500" b="1" dirty="0" err="1">
                <a:ea typeface="楷体_GB2312" pitchFamily="49" charset="-122"/>
              </a:rPr>
              <a:t>mL</a:t>
            </a:r>
            <a:r>
              <a:rPr lang="en-US" altLang="zh-CN" sz="2500" b="1" dirty="0">
                <a:ea typeface="楷体_GB2312" pitchFamily="49" charset="-122"/>
              </a:rPr>
              <a:t>:</a:t>
            </a:r>
            <a:r>
              <a:rPr lang="zh-CN" altLang="en-US" sz="2500" b="1" dirty="0">
                <a:ea typeface="楷体_GB2312" pitchFamily="49" charset="-122"/>
              </a:rPr>
              <a:t>　　</a:t>
            </a:r>
          </a:p>
        </p:txBody>
      </p:sp>
      <p:sp>
        <p:nvSpPr>
          <p:cNvPr id="48137" name="Rectangle 9"/>
          <p:cNvSpPr>
            <a:spLocks noChangeArrowheads="1"/>
          </p:cNvSpPr>
          <p:nvPr/>
        </p:nvSpPr>
        <p:spPr bwMode="auto">
          <a:xfrm>
            <a:off x="906463" y="2346325"/>
            <a:ext cx="2157412" cy="4778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altLang="zh-CN" sz="2500" b="1">
                <a:ea typeface="楷体_GB2312" pitchFamily="49" charset="-122"/>
              </a:rPr>
              <a:t>        pH = 2.28</a:t>
            </a:r>
          </a:p>
        </p:txBody>
      </p:sp>
      <p:sp>
        <p:nvSpPr>
          <p:cNvPr id="48138" name="Rectangle 10"/>
          <p:cNvSpPr>
            <a:spLocks noChangeArrowheads="1"/>
          </p:cNvSpPr>
          <p:nvPr/>
        </p:nvSpPr>
        <p:spPr bwMode="auto">
          <a:xfrm>
            <a:off x="1189038" y="1668463"/>
            <a:ext cx="1071562" cy="4778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r>
              <a:rPr lang="en-US" altLang="zh-CN" sz="2500" b="1">
                <a:ea typeface="楷体_GB2312" pitchFamily="49" charset="-122"/>
              </a:rPr>
              <a:t>[H</a:t>
            </a:r>
            <a:r>
              <a:rPr lang="en-US" altLang="zh-CN" sz="2500" b="1" baseline="30000">
                <a:ea typeface="楷体_GB2312" pitchFamily="49" charset="-122"/>
              </a:rPr>
              <a:t>+</a:t>
            </a:r>
            <a:r>
              <a:rPr lang="en-US" altLang="zh-CN" sz="2500" b="1">
                <a:ea typeface="楷体_GB2312" pitchFamily="49" charset="-122"/>
              </a:rPr>
              <a:t>] =</a:t>
            </a:r>
          </a:p>
        </p:txBody>
      </p:sp>
      <p:sp>
        <p:nvSpPr>
          <p:cNvPr id="48139" name="Line 11"/>
          <p:cNvSpPr>
            <a:spLocks noChangeShapeType="1"/>
          </p:cNvSpPr>
          <p:nvPr/>
        </p:nvSpPr>
        <p:spPr bwMode="auto">
          <a:xfrm>
            <a:off x="2401888" y="1971675"/>
            <a:ext cx="4033837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8140" name="Rectangle 12"/>
          <p:cNvSpPr>
            <a:spLocks noChangeArrowheads="1"/>
          </p:cNvSpPr>
          <p:nvPr/>
        </p:nvSpPr>
        <p:spPr bwMode="auto">
          <a:xfrm>
            <a:off x="2724150" y="1428750"/>
            <a:ext cx="3209925" cy="4778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algn="ctr"/>
            <a:r>
              <a:rPr lang="en-US" altLang="zh-CN" sz="2500" b="1" dirty="0">
                <a:ea typeface="楷体_GB2312" pitchFamily="49" charset="-122"/>
              </a:rPr>
              <a:t>0.1000</a:t>
            </a:r>
            <a:r>
              <a:rPr lang="en-US" altLang="zh-CN" sz="2500" b="1" dirty="0">
                <a:ea typeface="楷体_GB2312" pitchFamily="49" charset="-122"/>
                <a:sym typeface="Monotype Sorts" pitchFamily="2" charset="2"/>
              </a:rPr>
              <a:t>×</a:t>
            </a:r>
            <a:r>
              <a:rPr lang="en-US" altLang="zh-CN" sz="2500" b="1" dirty="0">
                <a:ea typeface="楷体_GB2312" pitchFamily="49" charset="-122"/>
              </a:rPr>
              <a:t>(20.00 - 18.00)</a:t>
            </a:r>
          </a:p>
        </p:txBody>
      </p:sp>
      <p:sp>
        <p:nvSpPr>
          <p:cNvPr id="48141" name="Rectangle 13"/>
          <p:cNvSpPr>
            <a:spLocks noChangeArrowheads="1"/>
          </p:cNvSpPr>
          <p:nvPr/>
        </p:nvSpPr>
        <p:spPr bwMode="auto">
          <a:xfrm>
            <a:off x="3157538" y="1971675"/>
            <a:ext cx="2249487" cy="4778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algn="ctr"/>
            <a:r>
              <a:rPr lang="en-US" altLang="zh-CN" sz="2500" b="1" dirty="0">
                <a:ea typeface="楷体_GB2312" pitchFamily="49" charset="-122"/>
              </a:rPr>
              <a:t>(20.00 + 18.00)</a:t>
            </a:r>
          </a:p>
        </p:txBody>
      </p:sp>
      <p:sp>
        <p:nvSpPr>
          <p:cNvPr id="48142" name="Rectangle 14"/>
          <p:cNvSpPr>
            <a:spLocks noChangeArrowheads="1"/>
          </p:cNvSpPr>
          <p:nvPr/>
        </p:nvSpPr>
        <p:spPr bwMode="auto">
          <a:xfrm>
            <a:off x="6483350" y="1700213"/>
            <a:ext cx="2617788" cy="4778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altLang="zh-CN" sz="2500" b="1" dirty="0">
                <a:ea typeface="楷体_GB2312" pitchFamily="49" charset="-122"/>
              </a:rPr>
              <a:t>= 5.3</a:t>
            </a:r>
            <a:r>
              <a:rPr lang="en-US" altLang="zh-CN" sz="2500" b="1" dirty="0">
                <a:ea typeface="楷体_GB2312" pitchFamily="49" charset="-122"/>
                <a:sym typeface="Monotype Sorts" pitchFamily="2" charset="2"/>
              </a:rPr>
              <a:t>×</a:t>
            </a:r>
            <a:r>
              <a:rPr lang="en-US" altLang="zh-CN" sz="2500" b="1" dirty="0">
                <a:ea typeface="楷体_GB2312" pitchFamily="49" charset="-122"/>
              </a:rPr>
              <a:t>10</a:t>
            </a:r>
            <a:r>
              <a:rPr lang="en-US" altLang="zh-CN" sz="2500" b="1" baseline="30000" dirty="0">
                <a:ea typeface="楷体_GB2312" pitchFamily="49" charset="-122"/>
              </a:rPr>
              <a:t>-3 </a:t>
            </a:r>
            <a:r>
              <a:rPr lang="en-US" altLang="zh-CN" sz="2500" b="1" dirty="0">
                <a:ea typeface="楷体_GB2312" pitchFamily="49" charset="-122"/>
              </a:rPr>
              <a:t>mol·L</a:t>
            </a:r>
            <a:r>
              <a:rPr lang="en-US" altLang="zh-CN" sz="2500" b="1" baseline="30000" dirty="0">
                <a:ea typeface="楷体_GB2312" pitchFamily="49" charset="-122"/>
              </a:rPr>
              <a:t>-1</a:t>
            </a:r>
          </a:p>
        </p:txBody>
      </p:sp>
      <p:sp>
        <p:nvSpPr>
          <p:cNvPr id="9225" name="Rectangle 21"/>
          <p:cNvSpPr>
            <a:spLocks noGrp="1" noChangeArrowheads="1"/>
          </p:cNvSpPr>
          <p:nvPr>
            <p:ph type="title"/>
          </p:nvPr>
        </p:nvSpPr>
        <p:spPr>
          <a:xfrm>
            <a:off x="576263" y="258763"/>
            <a:ext cx="10369550" cy="431800"/>
          </a:xfrm>
        </p:spPr>
        <p:txBody>
          <a:bodyPr/>
          <a:lstStyle/>
          <a:p>
            <a:pPr eaLnBrk="1" hangingPunct="1"/>
            <a:r>
              <a:rPr lang="en-US" altLang="zh-CN" smtClean="0">
                <a:ea typeface="黑体" pitchFamily="49" charset="-122"/>
              </a:rPr>
              <a:t>3.6.1</a:t>
            </a:r>
            <a:r>
              <a:rPr lang="zh-CN" altLang="en-US" smtClean="0">
                <a:ea typeface="黑体" pitchFamily="49" charset="-122"/>
              </a:rPr>
              <a:t>强碱</a:t>
            </a:r>
            <a:r>
              <a:rPr lang="en-US" altLang="zh-CN" smtClean="0">
                <a:ea typeface="黑体" pitchFamily="49" charset="-122"/>
              </a:rPr>
              <a:t>(</a:t>
            </a:r>
            <a:r>
              <a:rPr lang="zh-CN" altLang="en-US" smtClean="0">
                <a:ea typeface="黑体" pitchFamily="49" charset="-122"/>
              </a:rPr>
              <a:t>酸</a:t>
            </a:r>
            <a:r>
              <a:rPr lang="en-US" altLang="zh-CN" smtClean="0">
                <a:ea typeface="黑体" pitchFamily="49" charset="-122"/>
              </a:rPr>
              <a:t>)</a:t>
            </a:r>
            <a:r>
              <a:rPr lang="zh-CN" altLang="en-US" smtClean="0">
                <a:ea typeface="黑体" pitchFamily="49" charset="-122"/>
              </a:rPr>
              <a:t>滴定强酸</a:t>
            </a:r>
            <a:r>
              <a:rPr lang="en-US" altLang="zh-CN" smtClean="0">
                <a:ea typeface="黑体" pitchFamily="49" charset="-122"/>
              </a:rPr>
              <a:t>(</a:t>
            </a:r>
            <a:r>
              <a:rPr lang="zh-CN" altLang="en-US" smtClean="0">
                <a:ea typeface="黑体" pitchFamily="49" charset="-122"/>
              </a:rPr>
              <a:t>碱</a:t>
            </a:r>
            <a:r>
              <a:rPr lang="en-US" altLang="zh-CN" smtClean="0">
                <a:ea typeface="黑体" pitchFamily="49" charset="-122"/>
              </a:rPr>
              <a:t>)</a:t>
            </a:r>
          </a:p>
        </p:txBody>
      </p:sp>
      <p:sp>
        <p:nvSpPr>
          <p:cNvPr id="82945" name="Rectangle 1"/>
          <p:cNvSpPr>
            <a:spLocks noChangeArrowheads="1"/>
          </p:cNvSpPr>
          <p:nvPr/>
        </p:nvSpPr>
        <p:spPr bwMode="auto">
          <a:xfrm>
            <a:off x="906463" y="2820988"/>
            <a:ext cx="7899920" cy="477054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altLang="zh-CN" sz="2500" b="1" dirty="0">
                <a:ea typeface="楷体_GB2312" pitchFamily="49" charset="-122"/>
              </a:rPr>
              <a:t>        </a:t>
            </a:r>
            <a:r>
              <a:rPr lang="zh-CN" altLang="en-US" sz="2500" b="1" dirty="0">
                <a:ea typeface="楷体_GB2312" pitchFamily="49" charset="-122"/>
              </a:rPr>
              <a:t>再如</a:t>
            </a:r>
            <a:r>
              <a:rPr lang="en-US" altLang="zh-CN" sz="2500" b="1" i="1" dirty="0">
                <a:ea typeface="楷体_GB2312" pitchFamily="49" charset="-122"/>
              </a:rPr>
              <a:t>V</a:t>
            </a:r>
            <a:r>
              <a:rPr lang="zh-CN" altLang="en-US" sz="2500" b="1" baseline="-25000" dirty="0">
                <a:ea typeface="楷体_GB2312" pitchFamily="49" charset="-122"/>
              </a:rPr>
              <a:t>滴定剂 </a:t>
            </a:r>
            <a:r>
              <a:rPr lang="en-US" altLang="zh-CN" sz="2500" b="1" dirty="0">
                <a:ea typeface="楷体_GB2312" pitchFamily="49" charset="-122"/>
              </a:rPr>
              <a:t>= 19.98 </a:t>
            </a:r>
            <a:r>
              <a:rPr lang="en-US" altLang="zh-CN" sz="2500" b="1" dirty="0" smtClean="0">
                <a:ea typeface="楷体_GB2312" pitchFamily="49" charset="-122"/>
              </a:rPr>
              <a:t>mL</a:t>
            </a:r>
            <a:r>
              <a:rPr lang="zh-CN" altLang="en-US" sz="2500" b="1" dirty="0" smtClean="0">
                <a:ea typeface="楷体_GB2312" pitchFamily="49" charset="-122"/>
              </a:rPr>
              <a:t>（</a:t>
            </a:r>
            <a:r>
              <a:rPr lang="zh-CN" altLang="en-US" sz="2500" b="1" dirty="0" smtClean="0">
                <a:solidFill>
                  <a:srgbClr val="0000FF"/>
                </a:solidFill>
                <a:ea typeface="楷体_GB2312" pitchFamily="49" charset="-122"/>
              </a:rPr>
              <a:t>约化学计量点之前半滴</a:t>
            </a:r>
            <a:r>
              <a:rPr lang="zh-CN" altLang="en-US" sz="2500" b="1" dirty="0" smtClean="0">
                <a:ea typeface="楷体_GB2312" pitchFamily="49" charset="-122"/>
              </a:rPr>
              <a:t>）</a:t>
            </a:r>
            <a:r>
              <a:rPr lang="en-US" altLang="zh-CN" sz="2500" b="1" dirty="0" smtClean="0">
                <a:ea typeface="楷体_GB2312" pitchFamily="49" charset="-122"/>
              </a:rPr>
              <a:t>:</a:t>
            </a:r>
            <a:endParaRPr lang="en-US" altLang="zh-CN" sz="2500" b="1" dirty="0">
              <a:ea typeface="楷体_GB2312" pitchFamily="49" charset="-122"/>
            </a:endParaRPr>
          </a:p>
        </p:txBody>
      </p:sp>
      <p:sp>
        <p:nvSpPr>
          <p:cNvPr id="82947" name="Rectangle 3"/>
          <p:cNvSpPr>
            <a:spLocks noChangeArrowheads="1"/>
          </p:cNvSpPr>
          <p:nvPr/>
        </p:nvSpPr>
        <p:spPr bwMode="auto">
          <a:xfrm>
            <a:off x="1260475" y="3454400"/>
            <a:ext cx="1055688" cy="4778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algn="ctr"/>
            <a:r>
              <a:rPr lang="zh-CN" altLang="zh-CN" sz="2500" b="1">
                <a:ea typeface="楷体_GB2312" pitchFamily="49" charset="-122"/>
              </a:rPr>
              <a:t>[</a:t>
            </a:r>
            <a:r>
              <a:rPr lang="en-US" altLang="zh-CN" sz="2500" b="1">
                <a:ea typeface="楷体_GB2312" pitchFamily="49" charset="-122"/>
              </a:rPr>
              <a:t>H</a:t>
            </a:r>
            <a:r>
              <a:rPr lang="en-US" altLang="zh-CN" sz="2500" b="1" baseline="30000">
                <a:ea typeface="楷体_GB2312" pitchFamily="49" charset="-122"/>
              </a:rPr>
              <a:t>+</a:t>
            </a:r>
            <a:r>
              <a:rPr lang="en-US" altLang="zh-CN" sz="2500" b="1">
                <a:ea typeface="楷体_GB2312" pitchFamily="49" charset="-122"/>
              </a:rPr>
              <a:t>] =</a:t>
            </a:r>
          </a:p>
        </p:txBody>
      </p:sp>
      <p:sp>
        <p:nvSpPr>
          <p:cNvPr id="82948" name="Line 4"/>
          <p:cNvSpPr>
            <a:spLocks noChangeShapeType="1"/>
          </p:cNvSpPr>
          <p:nvPr/>
        </p:nvSpPr>
        <p:spPr bwMode="auto">
          <a:xfrm>
            <a:off x="2401888" y="3773488"/>
            <a:ext cx="3937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949" name="Rectangle 5"/>
          <p:cNvSpPr>
            <a:spLocks noChangeArrowheads="1"/>
          </p:cNvSpPr>
          <p:nvPr/>
        </p:nvSpPr>
        <p:spPr bwMode="auto">
          <a:xfrm>
            <a:off x="2724150" y="3228975"/>
            <a:ext cx="3209925" cy="4778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algn="ctr"/>
            <a:r>
              <a:rPr lang="en-US" altLang="zh-CN" sz="2500" b="1" dirty="0">
                <a:ea typeface="楷体_GB2312" pitchFamily="49" charset="-122"/>
              </a:rPr>
              <a:t>0.1000</a:t>
            </a:r>
            <a:r>
              <a:rPr lang="en-US" altLang="zh-CN" sz="2500" b="1" dirty="0">
                <a:ea typeface="楷体_GB2312" pitchFamily="49" charset="-122"/>
                <a:sym typeface="Monotype Sorts" pitchFamily="2" charset="2"/>
              </a:rPr>
              <a:t>×</a:t>
            </a:r>
            <a:r>
              <a:rPr lang="en-US" altLang="zh-CN" sz="2500" b="1" dirty="0">
                <a:ea typeface="楷体_GB2312" pitchFamily="49" charset="-122"/>
              </a:rPr>
              <a:t>(20.00 - 19.98)</a:t>
            </a:r>
          </a:p>
        </p:txBody>
      </p:sp>
      <p:sp>
        <p:nvSpPr>
          <p:cNvPr id="82950" name="Rectangle 6"/>
          <p:cNvSpPr>
            <a:spLocks noChangeArrowheads="1"/>
          </p:cNvSpPr>
          <p:nvPr/>
        </p:nvSpPr>
        <p:spPr bwMode="auto">
          <a:xfrm>
            <a:off x="3157538" y="3773488"/>
            <a:ext cx="2249487" cy="4778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algn="ctr"/>
            <a:r>
              <a:rPr lang="en-US" altLang="zh-CN" sz="2500" b="1" dirty="0">
                <a:ea typeface="楷体_GB2312" pitchFamily="49" charset="-122"/>
              </a:rPr>
              <a:t>(20.00 + 19.98)</a:t>
            </a:r>
          </a:p>
        </p:txBody>
      </p:sp>
      <p:sp>
        <p:nvSpPr>
          <p:cNvPr id="82951" name="Rectangle 7"/>
          <p:cNvSpPr>
            <a:spLocks noChangeArrowheads="1"/>
          </p:cNvSpPr>
          <p:nvPr/>
        </p:nvSpPr>
        <p:spPr bwMode="auto">
          <a:xfrm>
            <a:off x="6483350" y="3502025"/>
            <a:ext cx="2617788" cy="4778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altLang="zh-CN" sz="2500" b="1" dirty="0">
                <a:ea typeface="楷体_GB2312" pitchFamily="49" charset="-122"/>
              </a:rPr>
              <a:t>= 5.0</a:t>
            </a:r>
            <a:r>
              <a:rPr lang="en-US" altLang="zh-CN" sz="2500" b="1" dirty="0">
                <a:ea typeface="楷体_GB2312" pitchFamily="49" charset="-122"/>
                <a:sym typeface="Monotype Sorts" pitchFamily="2" charset="2"/>
              </a:rPr>
              <a:t>×</a:t>
            </a:r>
            <a:r>
              <a:rPr lang="en-US" altLang="zh-CN" sz="2500" b="1" dirty="0">
                <a:ea typeface="楷体_GB2312" pitchFamily="49" charset="-122"/>
              </a:rPr>
              <a:t>10</a:t>
            </a:r>
            <a:r>
              <a:rPr lang="en-US" altLang="zh-CN" sz="2500" b="1" baseline="30000" dirty="0">
                <a:ea typeface="楷体_GB2312" pitchFamily="49" charset="-122"/>
              </a:rPr>
              <a:t>-5 </a:t>
            </a:r>
            <a:r>
              <a:rPr lang="en-US" altLang="zh-CN" sz="2500" b="1" dirty="0">
                <a:ea typeface="楷体_GB2312" pitchFamily="49" charset="-122"/>
              </a:rPr>
              <a:t>mol·L</a:t>
            </a:r>
            <a:r>
              <a:rPr lang="en-US" altLang="zh-CN" sz="2500" b="1" baseline="30000" dirty="0">
                <a:ea typeface="楷体_GB2312" pitchFamily="49" charset="-122"/>
              </a:rPr>
              <a:t>-1</a:t>
            </a:r>
          </a:p>
        </p:txBody>
      </p:sp>
      <p:sp>
        <p:nvSpPr>
          <p:cNvPr id="82952" name="Rectangle 8"/>
          <p:cNvSpPr>
            <a:spLocks noChangeArrowheads="1"/>
          </p:cNvSpPr>
          <p:nvPr/>
        </p:nvSpPr>
        <p:spPr bwMode="auto">
          <a:xfrm>
            <a:off x="906463" y="4181475"/>
            <a:ext cx="2157412" cy="4778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altLang="zh-CN" sz="2500" b="1">
                <a:ea typeface="楷体_GB2312" pitchFamily="49" charset="-122"/>
              </a:rPr>
              <a:t>        pH = 4.30</a:t>
            </a:r>
          </a:p>
        </p:txBody>
      </p:sp>
      <p:sp>
        <p:nvSpPr>
          <p:cNvPr id="82954" name="Rectangle 10"/>
          <p:cNvSpPr>
            <a:spLocks noChangeArrowheads="1"/>
          </p:cNvSpPr>
          <p:nvPr/>
        </p:nvSpPr>
        <p:spPr bwMode="auto">
          <a:xfrm>
            <a:off x="906463" y="4589463"/>
            <a:ext cx="10177462" cy="862012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500" b="1" dirty="0">
                <a:solidFill>
                  <a:srgbClr val="FF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/>
                <a:sym typeface="Monotype Sorts" pitchFamily="2" charset="2"/>
              </a:rPr>
              <a:t>③</a:t>
            </a:r>
            <a:r>
              <a:rPr lang="zh-CN" altLang="en-US" sz="2500" b="1" dirty="0">
                <a:solidFill>
                  <a:srgbClr val="FF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/>
              </a:rPr>
              <a:t>化学计量点</a:t>
            </a:r>
            <a:r>
              <a:rPr lang="en-US" altLang="zh-CN" sz="2500" b="1" dirty="0">
                <a:solidFill>
                  <a:srgbClr val="FF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/>
              </a:rPr>
              <a:t>:</a:t>
            </a:r>
            <a:endParaRPr lang="en-US" altLang="zh-CN" sz="2500" b="1" dirty="0">
              <a:ea typeface="楷体_GB2312"/>
            </a:endParaRPr>
          </a:p>
          <a:p>
            <a:pPr>
              <a:defRPr/>
            </a:pPr>
            <a:r>
              <a:rPr lang="en-US" altLang="zh-CN" sz="2500" b="1" i="1" dirty="0">
                <a:ea typeface="楷体_GB2312"/>
              </a:rPr>
              <a:t>        V</a:t>
            </a:r>
            <a:r>
              <a:rPr lang="zh-CN" altLang="en-US" sz="2500" b="1" baseline="-25000" dirty="0">
                <a:ea typeface="楷体_GB2312"/>
              </a:rPr>
              <a:t>滴定剂 </a:t>
            </a:r>
            <a:r>
              <a:rPr lang="en-US" altLang="zh-CN" sz="2500" b="1" dirty="0">
                <a:ea typeface="楷体_GB2312"/>
              </a:rPr>
              <a:t>= 20.00 </a:t>
            </a:r>
            <a:r>
              <a:rPr lang="en-US" altLang="zh-CN" sz="2500" b="1" dirty="0" err="1">
                <a:ea typeface="楷体_GB2312"/>
              </a:rPr>
              <a:t>mL.</a:t>
            </a:r>
            <a:r>
              <a:rPr lang="en-US" altLang="zh-CN" sz="2500" b="1" dirty="0">
                <a:ea typeface="楷体_GB2312"/>
              </a:rPr>
              <a:t> </a:t>
            </a:r>
          </a:p>
        </p:txBody>
      </p:sp>
      <p:sp>
        <p:nvSpPr>
          <p:cNvPr id="82955" name="Rectangle 11"/>
          <p:cNvSpPr>
            <a:spLocks noChangeArrowheads="1"/>
          </p:cNvSpPr>
          <p:nvPr/>
        </p:nvSpPr>
        <p:spPr bwMode="auto">
          <a:xfrm>
            <a:off x="5667375" y="4997450"/>
            <a:ext cx="2238375" cy="4778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r>
              <a:rPr lang="en-US" altLang="zh-CN" sz="2500" b="1" dirty="0">
                <a:ea typeface="楷体_GB2312" pitchFamily="49" charset="-122"/>
              </a:rPr>
              <a:t>pH = 7.00.</a:t>
            </a:r>
          </a:p>
        </p:txBody>
      </p:sp>
      <p:sp>
        <p:nvSpPr>
          <p:cNvPr id="9235" name="Oval 26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gray">
          <a:xfrm>
            <a:off x="0" y="5597525"/>
            <a:ext cx="360363" cy="360363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36" name="Oval 27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gray">
          <a:xfrm>
            <a:off x="11155363" y="5688013"/>
            <a:ext cx="360362" cy="360362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" name="圆角矩形标注 1"/>
          <p:cNvSpPr/>
          <p:nvPr/>
        </p:nvSpPr>
        <p:spPr>
          <a:xfrm>
            <a:off x="5695950" y="2188595"/>
            <a:ext cx="2479029" cy="642938"/>
          </a:xfrm>
          <a:prstGeom prst="wedgeRoundRectCallout">
            <a:avLst>
              <a:gd name="adj1" fmla="val -62070"/>
              <a:gd name="adj2" fmla="val -45183"/>
              <a:gd name="adj3" fmla="val 16667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 smtClean="0">
                <a:solidFill>
                  <a:srgbClr val="FF0000"/>
                </a:solidFill>
              </a:rPr>
              <a:t>滴定过程总体积不断增加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81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8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48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48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48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4814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48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829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82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82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000"/>
                            </p:stCondLst>
                            <p:childTnLst>
                              <p:par>
                                <p:cTn id="5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1000"/>
                                        <p:tgtEl>
                                          <p:spTgt spid="82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2000"/>
                            </p:stCondLst>
                            <p:childTnLst>
                              <p:par>
                                <p:cTn id="58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82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2500"/>
                            </p:stCondLst>
                            <p:childTnLst>
                              <p:par>
                                <p:cTn id="62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82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9" dur="500"/>
                                        <p:tgtEl>
                                          <p:spTgt spid="829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829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500"/>
                                        <p:tgtEl>
                                          <p:spTgt spid="829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4" dur="500"/>
                                        <p:tgtEl>
                                          <p:spTgt spid="829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5" grpId="0" build="p" autoUpdateAnimBg="0"/>
      <p:bldP spid="48137" grpId="0" autoUpdateAnimBg="0"/>
      <p:bldP spid="48138" grpId="0" autoUpdateAnimBg="0"/>
      <p:bldP spid="48139" grpId="0" animBg="1"/>
      <p:bldP spid="48140" grpId="0" autoUpdateAnimBg="0"/>
      <p:bldP spid="48141" grpId="0" autoUpdateAnimBg="0"/>
      <p:bldP spid="48142" grpId="0" autoUpdateAnimBg="0"/>
      <p:bldP spid="82945" grpId="0" autoUpdateAnimBg="0"/>
      <p:bldP spid="82947" grpId="0"/>
      <p:bldP spid="82948" grpId="0" animBg="1"/>
      <p:bldP spid="82949" grpId="0"/>
      <p:bldP spid="82950" grpId="0"/>
      <p:bldP spid="82951" grpId="0"/>
      <p:bldP spid="82952" grpId="0"/>
      <p:bldP spid="82954" grpId="0" build="p" autoUpdateAnimBg="0"/>
      <p:bldP spid="82955" grpId="0" build="p" autoUpdateAnimBg="0"/>
      <p:bldP spid="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9092" name="Object 4"/>
          <p:cNvGraphicFramePr>
            <a:graphicFrameLocks noChangeAspect="1"/>
          </p:cNvGraphicFramePr>
          <p:nvPr/>
        </p:nvGraphicFramePr>
        <p:xfrm>
          <a:off x="5975350" y="1168400"/>
          <a:ext cx="5087938" cy="3786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9" name="BMP 图象" r:id="rId5" imgW="2419048" imgH="2390476" progId="PBrush">
                  <p:embed/>
                </p:oleObj>
              </mc:Choice>
              <mc:Fallback>
                <p:oleObj name="BMP 图象" r:id="rId5" imgW="2419048" imgH="2390476" progId="PBrush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75350" y="1168400"/>
                        <a:ext cx="5087938" cy="3786188"/>
                      </a:xfrm>
                      <a:prstGeom prst="rect">
                        <a:avLst/>
                      </a:prstGeom>
                      <a:noFill/>
                      <a:ln w="25400">
                        <a:solidFill>
                          <a:srgbClr val="FF00FF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7" name="Rectangle 10"/>
          <p:cNvSpPr>
            <a:spLocks noGrp="1" noChangeArrowheads="1"/>
          </p:cNvSpPr>
          <p:nvPr>
            <p:ph type="title"/>
          </p:nvPr>
        </p:nvSpPr>
        <p:spPr>
          <a:xfrm>
            <a:off x="576263" y="258763"/>
            <a:ext cx="10369550" cy="431800"/>
          </a:xfrm>
        </p:spPr>
        <p:txBody>
          <a:bodyPr/>
          <a:lstStyle/>
          <a:p>
            <a:pPr eaLnBrk="1" hangingPunct="1"/>
            <a:r>
              <a:rPr lang="en-US" altLang="zh-CN" smtClean="0">
                <a:ea typeface="黑体" pitchFamily="49" charset="-122"/>
              </a:rPr>
              <a:t>3.6.1</a:t>
            </a:r>
            <a:r>
              <a:rPr lang="zh-CN" altLang="en-US" smtClean="0">
                <a:ea typeface="黑体" pitchFamily="49" charset="-122"/>
              </a:rPr>
              <a:t>强碱</a:t>
            </a:r>
            <a:r>
              <a:rPr lang="en-US" altLang="zh-CN" smtClean="0">
                <a:ea typeface="黑体" pitchFamily="49" charset="-122"/>
              </a:rPr>
              <a:t>(</a:t>
            </a:r>
            <a:r>
              <a:rPr lang="zh-CN" altLang="en-US" smtClean="0">
                <a:ea typeface="黑体" pitchFamily="49" charset="-122"/>
              </a:rPr>
              <a:t>酸</a:t>
            </a:r>
            <a:r>
              <a:rPr lang="en-US" altLang="zh-CN" smtClean="0">
                <a:ea typeface="黑体" pitchFamily="49" charset="-122"/>
              </a:rPr>
              <a:t>)</a:t>
            </a:r>
            <a:r>
              <a:rPr lang="zh-CN" altLang="en-US" smtClean="0">
                <a:ea typeface="黑体" pitchFamily="49" charset="-122"/>
              </a:rPr>
              <a:t>滴定强酸</a:t>
            </a:r>
            <a:r>
              <a:rPr lang="en-US" altLang="zh-CN" smtClean="0">
                <a:ea typeface="黑体" pitchFamily="49" charset="-122"/>
              </a:rPr>
              <a:t>(</a:t>
            </a:r>
            <a:r>
              <a:rPr lang="zh-CN" altLang="en-US" smtClean="0">
                <a:ea typeface="黑体" pitchFamily="49" charset="-122"/>
              </a:rPr>
              <a:t>碱</a:t>
            </a:r>
            <a:r>
              <a:rPr lang="en-US" altLang="zh-CN" smtClean="0">
                <a:ea typeface="黑体" pitchFamily="49" charset="-122"/>
              </a:rPr>
              <a:t>)</a:t>
            </a:r>
          </a:p>
        </p:txBody>
      </p:sp>
      <p:sp>
        <p:nvSpPr>
          <p:cNvPr id="89100" name="Rectangle 12"/>
          <p:cNvSpPr>
            <a:spLocks noChangeArrowheads="1"/>
          </p:cNvSpPr>
          <p:nvPr/>
        </p:nvSpPr>
        <p:spPr bwMode="auto">
          <a:xfrm>
            <a:off x="906463" y="1020763"/>
            <a:ext cx="10177462" cy="477837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500" b="1" dirty="0">
                <a:solidFill>
                  <a:srgbClr val="FF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/>
                <a:sym typeface="Monotype Sorts" pitchFamily="2" charset="2"/>
              </a:rPr>
              <a:t>④</a:t>
            </a:r>
            <a:r>
              <a:rPr lang="zh-CN" altLang="en-US" sz="2500" b="1" dirty="0">
                <a:solidFill>
                  <a:srgbClr val="FF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/>
              </a:rPr>
              <a:t>化学计量点后</a:t>
            </a:r>
            <a:r>
              <a:rPr lang="en-US" altLang="zh-CN" sz="2500" b="1" dirty="0">
                <a:solidFill>
                  <a:srgbClr val="FF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/>
              </a:rPr>
              <a:t>:</a:t>
            </a:r>
            <a:r>
              <a:rPr lang="zh-CN" altLang="en-US" sz="2500" b="1" dirty="0">
                <a:ea typeface="楷体_GB2312"/>
              </a:rPr>
              <a:t>　</a:t>
            </a:r>
          </a:p>
        </p:txBody>
      </p:sp>
      <p:sp>
        <p:nvSpPr>
          <p:cNvPr id="89101" name="Rectangle 13"/>
          <p:cNvSpPr>
            <a:spLocks noChangeArrowheads="1"/>
          </p:cNvSpPr>
          <p:nvPr/>
        </p:nvSpPr>
        <p:spPr bwMode="auto">
          <a:xfrm>
            <a:off x="920166" y="2270108"/>
            <a:ext cx="4131259" cy="861774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altLang="zh-CN" sz="2500" b="1" dirty="0">
                <a:ea typeface="楷体_GB2312" pitchFamily="49" charset="-122"/>
              </a:rPr>
              <a:t>        </a:t>
            </a:r>
            <a:r>
              <a:rPr lang="zh-CN" altLang="en-US" sz="2500" b="1" dirty="0">
                <a:ea typeface="楷体_GB2312" pitchFamily="49" charset="-122"/>
              </a:rPr>
              <a:t>如</a:t>
            </a:r>
            <a:r>
              <a:rPr lang="en-US" altLang="zh-CN" sz="2500" b="1" i="1" dirty="0">
                <a:ea typeface="楷体_GB2312" pitchFamily="49" charset="-122"/>
              </a:rPr>
              <a:t>V</a:t>
            </a:r>
            <a:r>
              <a:rPr lang="zh-CN" altLang="en-US" sz="2500" b="1" baseline="-25000" dirty="0">
                <a:ea typeface="楷体_GB2312" pitchFamily="49" charset="-122"/>
              </a:rPr>
              <a:t>滴定剂 </a:t>
            </a:r>
            <a:r>
              <a:rPr lang="en-US" altLang="zh-CN" sz="2500" b="1" dirty="0">
                <a:ea typeface="楷体_GB2312" pitchFamily="49" charset="-122"/>
              </a:rPr>
              <a:t>= 20.02 </a:t>
            </a:r>
            <a:r>
              <a:rPr lang="en-US" altLang="zh-CN" sz="2500" b="1" dirty="0" smtClean="0">
                <a:ea typeface="楷体_GB2312" pitchFamily="49" charset="-122"/>
              </a:rPr>
              <a:t>mL</a:t>
            </a:r>
          </a:p>
          <a:p>
            <a:r>
              <a:rPr lang="zh-CN" altLang="en-US" sz="2500" b="1" dirty="0" smtClean="0">
                <a:solidFill>
                  <a:srgbClr val="0000FF"/>
                </a:solidFill>
                <a:ea typeface="楷体_GB2312" pitchFamily="49" charset="-122"/>
              </a:rPr>
              <a:t>（约化学计量点之后半滴）</a:t>
            </a:r>
            <a:r>
              <a:rPr lang="en-US" altLang="zh-CN" sz="2500" b="1" dirty="0" smtClean="0">
                <a:solidFill>
                  <a:srgbClr val="0000FF"/>
                </a:solidFill>
                <a:ea typeface="楷体_GB2312" pitchFamily="49" charset="-122"/>
              </a:rPr>
              <a:t>.</a:t>
            </a:r>
            <a:endParaRPr lang="en-US" altLang="zh-CN" sz="2500" b="1" dirty="0">
              <a:solidFill>
                <a:srgbClr val="0000FF"/>
              </a:solidFill>
              <a:ea typeface="楷体_GB2312" pitchFamily="49" charset="-122"/>
            </a:endParaRPr>
          </a:p>
        </p:txBody>
      </p:sp>
      <p:sp>
        <p:nvSpPr>
          <p:cNvPr id="89102" name="Rectangle 14"/>
          <p:cNvSpPr>
            <a:spLocks noChangeArrowheads="1"/>
          </p:cNvSpPr>
          <p:nvPr/>
        </p:nvSpPr>
        <p:spPr bwMode="auto">
          <a:xfrm>
            <a:off x="886619" y="1540651"/>
            <a:ext cx="10177462" cy="4778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r>
              <a:rPr lang="zh-CN" altLang="en-US" sz="2500" b="1" dirty="0">
                <a:ea typeface="楷体_GB2312" pitchFamily="49" charset="-122"/>
              </a:rPr>
              <a:t>　　过量</a:t>
            </a:r>
            <a:r>
              <a:rPr lang="zh-CN" altLang="en-US" sz="2500" b="1" dirty="0" smtClean="0">
                <a:ea typeface="楷体_GB2312" pitchFamily="49" charset="-122"/>
              </a:rPr>
              <a:t>滴定剂</a:t>
            </a:r>
            <a:r>
              <a:rPr lang="en-US" altLang="zh-CN" sz="2500" b="1" dirty="0" err="1" smtClean="0">
                <a:ea typeface="楷体_GB2312" pitchFamily="49" charset="-122"/>
              </a:rPr>
              <a:t>NaOH</a:t>
            </a:r>
            <a:r>
              <a:rPr lang="zh-CN" altLang="en-US" sz="2500" b="1" dirty="0" smtClean="0">
                <a:ea typeface="楷体_GB2312" pitchFamily="49" charset="-122"/>
              </a:rPr>
              <a:t>浓度</a:t>
            </a:r>
            <a:r>
              <a:rPr lang="en-US" altLang="zh-CN" sz="2500" b="1" dirty="0" smtClean="0">
                <a:ea typeface="楷体_GB2312" pitchFamily="49" charset="-122"/>
              </a:rPr>
              <a:t>.</a:t>
            </a:r>
            <a:endParaRPr lang="en-US" altLang="zh-CN" sz="2500" b="1" dirty="0">
              <a:ea typeface="楷体_GB2312" pitchFamily="49" charset="-122"/>
            </a:endParaRPr>
          </a:p>
        </p:txBody>
      </p:sp>
      <p:sp>
        <p:nvSpPr>
          <p:cNvPr id="89103" name="Rectangle 15"/>
          <p:cNvSpPr>
            <a:spLocks noChangeArrowheads="1"/>
          </p:cNvSpPr>
          <p:nvPr/>
        </p:nvSpPr>
        <p:spPr bwMode="auto">
          <a:xfrm>
            <a:off x="908050" y="4514179"/>
            <a:ext cx="4143375" cy="124618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r>
              <a:rPr lang="en-US" altLang="zh-CN" sz="2500" b="1" dirty="0">
                <a:ea typeface="楷体_GB2312" pitchFamily="49" charset="-122"/>
              </a:rPr>
              <a:t>        pOH = 4.30,</a:t>
            </a:r>
          </a:p>
          <a:p>
            <a:r>
              <a:rPr lang="en-US" altLang="zh-CN" sz="2500" b="1" dirty="0">
                <a:ea typeface="楷体_GB2312" pitchFamily="49" charset="-122"/>
              </a:rPr>
              <a:t>        pH = 14.00 - 4.30 = 9.70</a:t>
            </a:r>
          </a:p>
          <a:p>
            <a:r>
              <a:rPr lang="en-US" altLang="zh-CN" sz="2500" b="1" dirty="0">
                <a:ea typeface="楷体_GB2312" pitchFamily="49" charset="-122"/>
              </a:rPr>
              <a:t>        </a:t>
            </a:r>
            <a:r>
              <a:rPr lang="zh-CN" altLang="en-US" sz="2500" b="1" dirty="0">
                <a:ea typeface="楷体_GB2312" pitchFamily="49" charset="-122"/>
              </a:rPr>
              <a:t>作</a:t>
            </a:r>
            <a:r>
              <a:rPr lang="en-US" altLang="zh-CN" sz="2500" b="1" dirty="0">
                <a:ea typeface="楷体_GB2312" pitchFamily="49" charset="-122"/>
              </a:rPr>
              <a:t>pH ~ </a:t>
            </a:r>
            <a:r>
              <a:rPr lang="en-US" altLang="zh-CN" sz="2500" b="1" i="1" dirty="0">
                <a:ea typeface="楷体_GB2312" pitchFamily="49" charset="-122"/>
              </a:rPr>
              <a:t>V</a:t>
            </a:r>
            <a:r>
              <a:rPr lang="zh-CN" altLang="en-US" sz="2500" b="1" baseline="-25000" dirty="0">
                <a:ea typeface="楷体_GB2312" pitchFamily="49" charset="-122"/>
              </a:rPr>
              <a:t>滴定剂</a:t>
            </a:r>
            <a:r>
              <a:rPr lang="en-US" altLang="zh-CN" sz="2500" b="1" dirty="0">
                <a:ea typeface="楷体_GB2312" pitchFamily="49" charset="-122"/>
              </a:rPr>
              <a:t>.</a:t>
            </a:r>
          </a:p>
        </p:txBody>
      </p:sp>
      <p:sp>
        <p:nvSpPr>
          <p:cNvPr id="89104" name="Rectangle 16"/>
          <p:cNvSpPr>
            <a:spLocks noChangeArrowheads="1"/>
          </p:cNvSpPr>
          <p:nvPr/>
        </p:nvSpPr>
        <p:spPr bwMode="auto">
          <a:xfrm>
            <a:off x="1046163" y="3442617"/>
            <a:ext cx="1247775" cy="4778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altLang="zh-CN" sz="2500" b="1">
                <a:ea typeface="楷体_GB2312" pitchFamily="49" charset="-122"/>
              </a:rPr>
              <a:t>[OH</a:t>
            </a:r>
            <a:r>
              <a:rPr lang="en-US" altLang="zh-CN" sz="2500" b="1" baseline="30000">
                <a:ea typeface="楷体_GB2312" pitchFamily="49" charset="-122"/>
              </a:rPr>
              <a:t>-</a:t>
            </a:r>
            <a:r>
              <a:rPr lang="en-US" altLang="zh-CN" sz="2500" b="1">
                <a:ea typeface="楷体_GB2312" pitchFamily="49" charset="-122"/>
              </a:rPr>
              <a:t>] =</a:t>
            </a:r>
          </a:p>
        </p:txBody>
      </p:sp>
      <p:sp>
        <p:nvSpPr>
          <p:cNvPr id="89105" name="Line 17"/>
          <p:cNvSpPr>
            <a:spLocks noChangeShapeType="1"/>
          </p:cNvSpPr>
          <p:nvPr/>
        </p:nvSpPr>
        <p:spPr bwMode="auto">
          <a:xfrm>
            <a:off x="2332038" y="3656929"/>
            <a:ext cx="2719387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9106" name="Rectangle 18"/>
          <p:cNvSpPr>
            <a:spLocks noChangeArrowheads="1"/>
          </p:cNvSpPr>
          <p:nvPr/>
        </p:nvSpPr>
        <p:spPr bwMode="auto">
          <a:xfrm>
            <a:off x="2492375" y="3153692"/>
            <a:ext cx="2070100" cy="4778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altLang="zh-CN" sz="2500" b="1">
                <a:ea typeface="楷体_GB2312" pitchFamily="49" charset="-122"/>
              </a:rPr>
              <a:t>(0.1000</a:t>
            </a:r>
            <a:r>
              <a:rPr lang="en-US" altLang="zh-CN" sz="2500" b="1">
                <a:ea typeface="楷体_GB2312" pitchFamily="49" charset="-122"/>
                <a:sym typeface="Monotype Sorts" pitchFamily="2" charset="2"/>
              </a:rPr>
              <a:t>×</a:t>
            </a:r>
            <a:r>
              <a:rPr lang="en-US" altLang="zh-CN" sz="2500" b="1">
                <a:ea typeface="楷体_GB2312" pitchFamily="49" charset="-122"/>
              </a:rPr>
              <a:t>0.02)</a:t>
            </a:r>
          </a:p>
        </p:txBody>
      </p:sp>
      <p:sp>
        <p:nvSpPr>
          <p:cNvPr id="89107" name="Rectangle 19"/>
          <p:cNvSpPr>
            <a:spLocks noChangeArrowheads="1"/>
          </p:cNvSpPr>
          <p:nvPr/>
        </p:nvSpPr>
        <p:spPr bwMode="auto">
          <a:xfrm>
            <a:off x="2492375" y="3731542"/>
            <a:ext cx="2185988" cy="4778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altLang="zh-CN" sz="2500" b="1">
                <a:ea typeface="楷体_GB2312" pitchFamily="49" charset="-122"/>
              </a:rPr>
              <a:t>(20.00 + 20.02)</a:t>
            </a:r>
          </a:p>
        </p:txBody>
      </p:sp>
      <p:sp>
        <p:nvSpPr>
          <p:cNvPr id="89108" name="Rectangle 20"/>
          <p:cNvSpPr>
            <a:spLocks noChangeArrowheads="1"/>
          </p:cNvSpPr>
          <p:nvPr/>
        </p:nvSpPr>
        <p:spPr bwMode="auto">
          <a:xfrm>
            <a:off x="1835697" y="4163893"/>
            <a:ext cx="2842666" cy="4778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r>
              <a:rPr lang="en-US" altLang="zh-CN" sz="2500" b="1" dirty="0" smtClean="0">
                <a:ea typeface="楷体_GB2312" pitchFamily="49" charset="-122"/>
              </a:rPr>
              <a:t> </a:t>
            </a:r>
            <a:r>
              <a:rPr lang="en-US" altLang="zh-CN" sz="2500" b="1" dirty="0">
                <a:ea typeface="楷体_GB2312" pitchFamily="49" charset="-122"/>
              </a:rPr>
              <a:t>= 5.0</a:t>
            </a:r>
            <a:r>
              <a:rPr lang="en-US" altLang="zh-CN" sz="2500" b="1" dirty="0">
                <a:ea typeface="楷体_GB2312" pitchFamily="49" charset="-122"/>
                <a:sym typeface="Monotype Sorts" pitchFamily="2" charset="2"/>
              </a:rPr>
              <a:t>×</a:t>
            </a:r>
            <a:r>
              <a:rPr lang="en-US" altLang="zh-CN" sz="2500" b="1" dirty="0">
                <a:ea typeface="楷体_GB2312" pitchFamily="49" charset="-122"/>
              </a:rPr>
              <a:t>10</a:t>
            </a:r>
            <a:r>
              <a:rPr lang="en-US" altLang="zh-CN" sz="2500" b="1" baseline="30000" dirty="0">
                <a:ea typeface="楷体_GB2312" pitchFamily="49" charset="-122"/>
              </a:rPr>
              <a:t>-5 </a:t>
            </a:r>
            <a:r>
              <a:rPr lang="en-US" altLang="zh-CN" sz="2500" b="1" dirty="0">
                <a:ea typeface="楷体_GB2312" pitchFamily="49" charset="-122"/>
              </a:rPr>
              <a:t>mol·L</a:t>
            </a:r>
            <a:r>
              <a:rPr lang="en-US" altLang="zh-CN" sz="2500" b="1" baseline="30000" dirty="0">
                <a:ea typeface="楷体_GB2312" pitchFamily="49" charset="-122"/>
              </a:rPr>
              <a:t>-1</a:t>
            </a:r>
          </a:p>
        </p:txBody>
      </p:sp>
      <p:sp>
        <p:nvSpPr>
          <p:cNvPr id="1037" name="Oval 26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gray">
          <a:xfrm>
            <a:off x="0" y="5597525"/>
            <a:ext cx="360363" cy="360363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38" name="Oval 27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gray">
          <a:xfrm>
            <a:off x="11155363" y="5688013"/>
            <a:ext cx="360362" cy="360362"/>
          </a:xfrm>
          <a:prstGeom prst="ellipse">
            <a:avLst/>
          </a:prstGeom>
          <a:blipFill dpi="0" rotWithShape="1">
            <a:blip r:embed="rId8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91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891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89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89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89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89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89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8910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891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891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891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8909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recycl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100" grpId="0" build="p" autoUpdateAnimBg="0"/>
      <p:bldP spid="89101" grpId="0" autoUpdateAnimBg="0"/>
      <p:bldP spid="89102" grpId="0" build="p" autoUpdateAnimBg="0"/>
      <p:bldP spid="89103" grpId="0" build="p" autoUpdateAnimBg="0"/>
      <p:bldP spid="89104" grpId="0" autoUpdateAnimBg="0"/>
      <p:bldP spid="89105" grpId="0" animBg="1"/>
      <p:bldP spid="89106" grpId="0" autoUpdateAnimBg="0"/>
      <p:bldP spid="89107" grpId="0" autoUpdateAnimBg="0"/>
      <p:bldP spid="89108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91" name="Rectangle 15"/>
          <p:cNvSpPr>
            <a:spLocks noChangeArrowheads="1"/>
          </p:cNvSpPr>
          <p:nvPr/>
        </p:nvSpPr>
        <p:spPr bwMode="auto">
          <a:xfrm>
            <a:off x="253207" y="3819291"/>
            <a:ext cx="9107886" cy="477054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化学计量点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±0.1%(±0.02mL)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范围</a:t>
            </a:r>
            <a:r>
              <a:rPr kumimoji="0" lang="zh-CN" altLang="en-US" sz="25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内</a:t>
            </a:r>
            <a:r>
              <a:rPr kumimoji="0" lang="en-US" altLang="zh-CN" sz="25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pH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的急剧变化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.</a:t>
            </a:r>
          </a:p>
        </p:txBody>
      </p:sp>
      <p:sp>
        <p:nvSpPr>
          <p:cNvPr id="50192" name="Rectangle 16"/>
          <p:cNvSpPr>
            <a:spLocks noChangeArrowheads="1"/>
          </p:cNvSpPr>
          <p:nvPr/>
        </p:nvSpPr>
        <p:spPr bwMode="auto">
          <a:xfrm>
            <a:off x="1672630" y="3187442"/>
            <a:ext cx="2223686" cy="477054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5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(pH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突跃范围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):</a:t>
            </a:r>
          </a:p>
        </p:txBody>
      </p:sp>
      <p:sp>
        <p:nvSpPr>
          <p:cNvPr id="50200" name="Rectangle 24"/>
          <p:cNvSpPr>
            <a:spLocks noChangeArrowheads="1"/>
          </p:cNvSpPr>
          <p:nvPr/>
        </p:nvSpPr>
        <p:spPr bwMode="auto">
          <a:xfrm>
            <a:off x="255722" y="3225176"/>
            <a:ext cx="1580882" cy="477054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5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滴定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突跃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:</a:t>
            </a:r>
          </a:p>
        </p:txBody>
      </p:sp>
      <p:sp>
        <p:nvSpPr>
          <p:cNvPr id="10245" name="Rectangle 25"/>
          <p:cNvSpPr>
            <a:spLocks noGrp="1" noChangeArrowheads="1"/>
          </p:cNvSpPr>
          <p:nvPr>
            <p:ph type="title"/>
          </p:nvPr>
        </p:nvSpPr>
        <p:spPr>
          <a:xfrm>
            <a:off x="474663" y="239713"/>
            <a:ext cx="3280566" cy="431800"/>
          </a:xfrm>
        </p:spPr>
        <p:txBody>
          <a:bodyPr/>
          <a:lstStyle/>
          <a:p>
            <a:pPr eaLnBrk="1" hangingPunct="1"/>
            <a:r>
              <a:rPr lang="en-US" altLang="zh-CN" smtClean="0">
                <a:ea typeface="黑体" pitchFamily="49" charset="-122"/>
              </a:rPr>
              <a:t>3.6.1</a:t>
            </a:r>
            <a:r>
              <a:rPr lang="zh-CN" altLang="en-US" smtClean="0">
                <a:ea typeface="黑体" pitchFamily="49" charset="-122"/>
              </a:rPr>
              <a:t>强碱</a:t>
            </a:r>
            <a:r>
              <a:rPr lang="en-US" altLang="zh-CN" smtClean="0">
                <a:ea typeface="黑体" pitchFamily="49" charset="-122"/>
              </a:rPr>
              <a:t>(</a:t>
            </a:r>
            <a:r>
              <a:rPr lang="zh-CN" altLang="en-US" smtClean="0">
                <a:ea typeface="黑体" pitchFamily="49" charset="-122"/>
              </a:rPr>
              <a:t>酸</a:t>
            </a:r>
            <a:r>
              <a:rPr lang="en-US" altLang="zh-CN" smtClean="0">
                <a:ea typeface="黑体" pitchFamily="49" charset="-122"/>
              </a:rPr>
              <a:t>)</a:t>
            </a:r>
            <a:r>
              <a:rPr lang="zh-CN" altLang="en-US" smtClean="0">
                <a:ea typeface="黑体" pitchFamily="49" charset="-122"/>
              </a:rPr>
              <a:t>滴定强酸</a:t>
            </a:r>
            <a:r>
              <a:rPr lang="en-US" altLang="zh-CN" smtClean="0">
                <a:ea typeface="黑体" pitchFamily="49" charset="-122"/>
              </a:rPr>
              <a:t>(</a:t>
            </a:r>
            <a:r>
              <a:rPr lang="zh-CN" altLang="en-US" smtClean="0">
                <a:ea typeface="黑体" pitchFamily="49" charset="-122"/>
              </a:rPr>
              <a:t>碱</a:t>
            </a:r>
            <a:r>
              <a:rPr lang="en-US" altLang="zh-CN" smtClean="0">
                <a:ea typeface="黑体" pitchFamily="49" charset="-122"/>
              </a:rPr>
              <a:t>)</a:t>
            </a:r>
          </a:p>
        </p:txBody>
      </p:sp>
      <p:sp>
        <p:nvSpPr>
          <p:cNvPr id="90112" name="Rectangle 0"/>
          <p:cNvSpPr>
            <a:spLocks noChangeArrowheads="1"/>
          </p:cNvSpPr>
          <p:nvPr/>
        </p:nvSpPr>
        <p:spPr bwMode="auto">
          <a:xfrm>
            <a:off x="472876" y="4752255"/>
            <a:ext cx="7011987" cy="124618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原则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:</a:t>
            </a:r>
            <a:endParaRPr kumimoji="0" lang="en-US" altLang="zh-CN" sz="25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楷体_GB2312" pitchFamily="49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  <a:sym typeface="Monotype Sorts" pitchFamily="2" charset="2"/>
              </a:rPr>
              <a:t>①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变色域</a:t>
            </a:r>
            <a:r>
              <a:rPr kumimoji="0" lang="zh-CN" altLang="en-US" sz="25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应全部或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部分处于滴定的突跃范围内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  <a:sym typeface="Monotype Sorts" pitchFamily="2" charset="2"/>
              </a:rPr>
              <a:t>②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变色易于判断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.</a:t>
            </a:r>
          </a:p>
        </p:txBody>
      </p:sp>
      <p:sp>
        <p:nvSpPr>
          <p:cNvPr id="90113" name="AutoShape 1"/>
          <p:cNvSpPr>
            <a:spLocks/>
          </p:cNvSpPr>
          <p:nvPr/>
        </p:nvSpPr>
        <p:spPr bwMode="auto">
          <a:xfrm>
            <a:off x="356696" y="5247989"/>
            <a:ext cx="142875" cy="642937"/>
          </a:xfrm>
          <a:prstGeom prst="leftBrace">
            <a:avLst>
              <a:gd name="adj1" fmla="val 64504"/>
              <a:gd name="adj2" fmla="val 50000"/>
            </a:avLst>
          </a:prstGeom>
          <a:ln>
            <a:headEnd type="none" w="sm" len="sm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5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楷体_GB2312" pitchFamily="49" charset="-122"/>
              <a:cs typeface="+mn-cs"/>
            </a:endParaRPr>
          </a:p>
        </p:txBody>
      </p:sp>
      <p:sp>
        <p:nvSpPr>
          <p:cNvPr id="90114" name="Rectangle 2"/>
          <p:cNvSpPr>
            <a:spLocks noChangeArrowheads="1"/>
          </p:cNvSpPr>
          <p:nvPr/>
        </p:nvSpPr>
        <p:spPr bwMode="auto">
          <a:xfrm>
            <a:off x="1091580" y="863823"/>
            <a:ext cx="3589337" cy="201612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  <a:sym typeface="Monotype Sorts" pitchFamily="2" charset="2"/>
              </a:rPr>
              <a:t>    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  <a:sym typeface="Monotype Sorts" pitchFamily="2" charset="2"/>
              </a:rPr>
              <a:t>部分滴定数据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  <a:sym typeface="Monotype Sorts" pitchFamily="2" charset="2"/>
              </a:rPr>
              <a:t>: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V</a:t>
            </a:r>
            <a:r>
              <a:rPr kumimoji="0" lang="zh-CN" altLang="en-US" sz="25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滴定剂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/mL  pH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 19.98        4.30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 20.00        7.00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 20.02        9.70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790675" y="1283358"/>
            <a:ext cx="3457575" cy="1597025"/>
            <a:chOff x="453" y="2335"/>
            <a:chExt cx="1728" cy="1065"/>
          </a:xfrm>
        </p:grpSpPr>
        <p:sp>
          <p:nvSpPr>
            <p:cNvPr id="10254" name="Line 4"/>
            <p:cNvSpPr>
              <a:spLocks noChangeShapeType="1"/>
            </p:cNvSpPr>
            <p:nvPr/>
          </p:nvSpPr>
          <p:spPr bwMode="auto">
            <a:xfrm>
              <a:off x="453" y="2335"/>
              <a:ext cx="17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endParaRPr>
            </a:p>
          </p:txBody>
        </p:sp>
        <p:sp>
          <p:nvSpPr>
            <p:cNvPr id="10255" name="Line 5"/>
            <p:cNvSpPr>
              <a:spLocks noChangeShapeType="1"/>
            </p:cNvSpPr>
            <p:nvPr/>
          </p:nvSpPr>
          <p:spPr bwMode="auto">
            <a:xfrm>
              <a:off x="453" y="2629"/>
              <a:ext cx="17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endParaRPr>
            </a:p>
          </p:txBody>
        </p:sp>
        <p:sp>
          <p:nvSpPr>
            <p:cNvPr id="10256" name="Line 6"/>
            <p:cNvSpPr>
              <a:spLocks noChangeShapeType="1"/>
            </p:cNvSpPr>
            <p:nvPr/>
          </p:nvSpPr>
          <p:spPr bwMode="auto">
            <a:xfrm>
              <a:off x="453" y="3400"/>
              <a:ext cx="17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endParaRPr>
            </a:p>
          </p:txBody>
        </p:sp>
      </p:grpSp>
      <p:sp>
        <p:nvSpPr>
          <p:cNvPr id="90130" name="Rectangle 18"/>
          <p:cNvSpPr>
            <a:spLocks noChangeArrowheads="1"/>
          </p:cNvSpPr>
          <p:nvPr/>
        </p:nvSpPr>
        <p:spPr bwMode="auto">
          <a:xfrm>
            <a:off x="474663" y="4413406"/>
            <a:ext cx="2143125" cy="4778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2.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指示剂选择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:</a:t>
            </a:r>
          </a:p>
        </p:txBody>
      </p:sp>
      <p:sp>
        <p:nvSpPr>
          <p:cNvPr id="10252" name="Oval 26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gray">
          <a:xfrm>
            <a:off x="-647675" y="5075922"/>
            <a:ext cx="360363" cy="360363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charset="-122"/>
              <a:cs typeface="+mn-cs"/>
            </a:endParaRPr>
          </a:p>
        </p:txBody>
      </p:sp>
      <p:sp>
        <p:nvSpPr>
          <p:cNvPr id="10253" name="Oval 27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gray">
          <a:xfrm>
            <a:off x="11161713" y="5597525"/>
            <a:ext cx="360362" cy="360363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charset="-122"/>
              <a:cs typeface="+mn-cs"/>
            </a:endParaRPr>
          </a:p>
        </p:txBody>
      </p:sp>
      <p:graphicFrame>
        <p:nvGraphicFramePr>
          <p:cNvPr id="17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295356"/>
              </p:ext>
            </p:extLst>
          </p:nvPr>
        </p:nvGraphicFramePr>
        <p:xfrm>
          <a:off x="5202234" y="172876"/>
          <a:ext cx="4692093" cy="34916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8" name="BMP 图象" r:id="rId8" imgW="2419048" imgH="2390476" progId="PBrush">
                  <p:embed/>
                </p:oleObj>
              </mc:Choice>
              <mc:Fallback>
                <p:oleObj name="BMP 图象" r:id="rId8" imgW="2419048" imgH="2390476" progId="PBrush">
                  <p:embed/>
                  <p:pic>
                    <p:nvPicPr>
                      <p:cNvPr id="17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02234" y="172876"/>
                        <a:ext cx="4692093" cy="3491620"/>
                      </a:xfrm>
                      <a:prstGeom prst="rect">
                        <a:avLst/>
                      </a:prstGeom>
                      <a:noFill/>
                      <a:ln w="25400">
                        <a:solidFill>
                          <a:srgbClr val="FF00FF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/>
          <p:nvPr/>
        </p:nvSpPr>
        <p:spPr>
          <a:xfrm>
            <a:off x="7913616" y="917014"/>
            <a:ext cx="360040" cy="1617889"/>
          </a:xfrm>
          <a:prstGeom prst="rect">
            <a:avLst/>
          </a:prstGeom>
          <a:noFill/>
          <a:ln>
            <a:solidFill>
              <a:srgbClr val="FFC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5" name="圆角矩形标注 4"/>
          <p:cNvSpPr/>
          <p:nvPr/>
        </p:nvSpPr>
        <p:spPr>
          <a:xfrm>
            <a:off x="2992607" y="4424369"/>
            <a:ext cx="3096344" cy="455910"/>
          </a:xfrm>
          <a:prstGeom prst="wedgeRoundRectCallout">
            <a:avLst>
              <a:gd name="adj1" fmla="val -53099"/>
              <a:gd name="adj2" fmla="val -86492"/>
              <a:gd name="adj3" fmla="val 16667"/>
            </a:avLst>
          </a:prstGeom>
          <a:solidFill>
            <a:srgbClr val="FFFF00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 smtClean="0">
                <a:solidFill>
                  <a:srgbClr val="FF0000"/>
                </a:solidFill>
              </a:rPr>
              <a:t>滴定允许的相对误差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898576" y="975719"/>
            <a:ext cx="9476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pH 8-10</a:t>
            </a:r>
            <a:endParaRPr lang="zh-CN" altLang="en-US" dirty="0"/>
          </a:p>
        </p:txBody>
      </p:sp>
      <p:sp>
        <p:nvSpPr>
          <p:cNvPr id="22" name="文本框 21"/>
          <p:cNvSpPr txBox="1"/>
          <p:nvPr/>
        </p:nvSpPr>
        <p:spPr>
          <a:xfrm>
            <a:off x="8542133" y="2165571"/>
            <a:ext cx="1178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pH 3.1-4.4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57787651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0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recycl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8" dur="500"/>
                                        <p:tgtEl>
                                          <p:spTgt spid="50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501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350000"/>
                                  </p:iterate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75"/>
                                        <p:tgtEl>
                                          <p:spTgt spid="5019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start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58" dur="500"/>
                                        <p:tgtEl>
                                          <p:spTgt spid="90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901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901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901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500"/>
                            </p:stCondLst>
                            <p:childTnLst>
                              <p:par>
                                <p:cTn id="7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901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91" grpId="0" autoUpdateAnimBg="0"/>
      <p:bldP spid="50192" grpId="0" build="p" autoUpdateAnimBg="0"/>
      <p:bldP spid="50200" grpId="0" autoUpdateAnimBg="0"/>
      <p:bldP spid="90112" grpId="0" build="p" autoUpdateAnimBg="0"/>
      <p:bldP spid="90113" grpId="0" animBg="1"/>
      <p:bldP spid="90114" grpId="0" autoUpdateAnimBg="0"/>
      <p:bldP spid="90130" grpId="0" autoUpdateAnimBg="0"/>
      <p:bldP spid="3" grpId="0" animBg="1"/>
      <p:bldP spid="5" grpId="0" animBg="1"/>
      <p:bldP spid="6" grpId="0"/>
      <p:bldP spid="2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图片 198" descr="图4-5"/>
          <p:cNvPicPr>
            <a:picLocks noChangeAspect="1" noChangeArrowheads="1"/>
          </p:cNvPicPr>
          <p:nvPr/>
        </p:nvPicPr>
        <p:blipFill>
          <a:blip r:embed="rId2">
            <a:lum bright="6000" contras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959" y="893965"/>
            <a:ext cx="6120680" cy="45022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7173690"/>
              </p:ext>
            </p:extLst>
          </p:nvPr>
        </p:nvGraphicFramePr>
        <p:xfrm>
          <a:off x="6481117" y="1007839"/>
          <a:ext cx="4801487" cy="7315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801487">
                  <a:extLst>
                    <a:ext uri="{9D8B030D-6E8A-4147-A177-3AD203B41FA5}">
                      <a16:colId xmlns:a16="http://schemas.microsoft.com/office/drawing/2014/main" val="3197261632"/>
                    </a:ext>
                  </a:extLst>
                </a:gridCol>
              </a:tblGrid>
              <a:tr h="72008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b="1" kern="100" dirty="0">
                          <a:solidFill>
                            <a:schemeClr val="tx1"/>
                          </a:solidFill>
                          <a:effectLst/>
                        </a:rPr>
                        <a:t>不同浓度</a:t>
                      </a:r>
                      <a:r>
                        <a:rPr lang="en-US" sz="2400" b="1" kern="100" dirty="0" err="1">
                          <a:solidFill>
                            <a:schemeClr val="tx1"/>
                          </a:solidFill>
                          <a:effectLst/>
                        </a:rPr>
                        <a:t>NaOH</a:t>
                      </a:r>
                      <a:r>
                        <a:rPr lang="zh-CN" sz="2400" b="1" kern="100" dirty="0">
                          <a:solidFill>
                            <a:schemeClr val="tx1"/>
                          </a:solidFill>
                          <a:effectLst/>
                        </a:rPr>
                        <a:t>溶液滴定不同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b="1" kern="100" dirty="0">
                          <a:solidFill>
                            <a:schemeClr val="tx1"/>
                          </a:solidFill>
                          <a:effectLst/>
                        </a:rPr>
                        <a:t>浓度</a:t>
                      </a:r>
                      <a:r>
                        <a:rPr lang="en-US" sz="2400" b="1" kern="100" dirty="0" err="1">
                          <a:solidFill>
                            <a:schemeClr val="tx1"/>
                          </a:solidFill>
                          <a:effectLst/>
                        </a:rPr>
                        <a:t>HCl</a:t>
                      </a:r>
                      <a:r>
                        <a:rPr lang="zh-CN" sz="2400" b="1" kern="100" dirty="0">
                          <a:solidFill>
                            <a:schemeClr val="tx1"/>
                          </a:solidFill>
                          <a:effectLst/>
                        </a:rPr>
                        <a:t>溶液的滴定曲线</a:t>
                      </a:r>
                      <a:endParaRPr lang="zh-CN" sz="2400" b="1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14935" marR="114935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1091211"/>
                  </a:ext>
                </a:extLst>
              </a:tr>
            </a:tbl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6921313" y="2914248"/>
            <a:ext cx="42066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 smtClean="0">
                <a:solidFill>
                  <a:srgbClr val="FF0000"/>
                </a:solidFill>
              </a:rPr>
              <a:t>体系浓度越大，滴定突跃越大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16421" y="294146"/>
            <a:ext cx="29546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 smtClean="0">
                <a:solidFill>
                  <a:srgbClr val="FF0000"/>
                </a:solidFill>
                <a:latin typeface="楷体_GB2312"/>
              </a:rPr>
              <a:t>滴定突跃的影响因素</a:t>
            </a:r>
            <a:endParaRPr lang="zh-CN" altLang="en-US" sz="2400" b="1" dirty="0">
              <a:solidFill>
                <a:srgbClr val="FF0000"/>
              </a:solidFill>
              <a:latin typeface="楷体_GB231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7188409" y="3600127"/>
            <a:ext cx="3386902" cy="830997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</a:rPr>
              <a:t>滴定突跃的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影响</a:t>
            </a:r>
            <a:r>
              <a:rPr lang="zh-CN" altLang="en-US" sz="2400" b="1" u="sng" dirty="0" smtClean="0">
                <a:solidFill>
                  <a:srgbClr val="FF0000"/>
                </a:solidFill>
              </a:rPr>
              <a:t>两大因素</a:t>
            </a:r>
            <a:r>
              <a:rPr lang="zh-CN" altLang="en-US" sz="2400" b="1" dirty="0">
                <a:solidFill>
                  <a:srgbClr val="FF0000"/>
                </a:solidFill>
              </a:rPr>
              <a:t>之一：浓度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4191708" y="1007839"/>
            <a:ext cx="22894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 err="1" smtClean="0"/>
              <a:t>NaOH</a:t>
            </a:r>
            <a:r>
              <a:rPr lang="en-US" altLang="zh-CN" sz="2400" b="1" dirty="0" smtClean="0"/>
              <a:t>/</a:t>
            </a:r>
            <a:r>
              <a:rPr lang="en-US" altLang="zh-CN" sz="2400" b="1" dirty="0" err="1" smtClean="0"/>
              <a:t>HCl</a:t>
            </a:r>
            <a:r>
              <a:rPr lang="zh-CN" altLang="en-US" sz="2400" b="1" dirty="0" smtClean="0"/>
              <a:t>浓度</a:t>
            </a:r>
            <a:endParaRPr lang="zh-CN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4082235027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7" name="Rectangle 7"/>
          <p:cNvSpPr>
            <a:spLocks noChangeArrowheads="1"/>
          </p:cNvSpPr>
          <p:nvPr/>
        </p:nvSpPr>
        <p:spPr bwMode="auto">
          <a:xfrm>
            <a:off x="758081" y="2518010"/>
            <a:ext cx="6011068" cy="124649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5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uLnTx/>
                <a:uFillTx/>
                <a:latin typeface="Times New Roman" pitchFamily="18" charset="0"/>
                <a:ea typeface="楷体_GB2312"/>
                <a:cs typeface="+mn-cs"/>
                <a:sym typeface="Monotype Sorts" pitchFamily="2" charset="2"/>
              </a:rPr>
              <a:t>①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uLnTx/>
                <a:uFillTx/>
                <a:latin typeface="Times New Roman" pitchFamily="18" charset="0"/>
                <a:ea typeface="楷体_GB2312"/>
                <a:cs typeface="+mn-cs"/>
              </a:rPr>
              <a:t>滴定前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uLnTx/>
                <a:uFillTx/>
                <a:latin typeface="Times New Roman" pitchFamily="18" charset="0"/>
                <a:ea typeface="楷体_GB2312"/>
                <a:cs typeface="+mn-cs"/>
              </a:rPr>
              <a:t>: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_GB2312"/>
                <a:cs typeface="+mn-cs"/>
              </a:rPr>
              <a:t>　　</a:t>
            </a:r>
            <a:r>
              <a:rPr kumimoji="0" lang="zh-CN" altLang="en-US" sz="25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_GB2312"/>
                <a:cs typeface="+mn-cs"/>
              </a:rPr>
              <a:t>体系中仅存在</a:t>
            </a:r>
            <a:r>
              <a:rPr kumimoji="0" lang="en-US" altLang="zh-CN" sz="25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_GB2312"/>
                <a:cs typeface="+mn-cs"/>
              </a:rPr>
              <a:t>HAc</a:t>
            </a:r>
            <a:r>
              <a:rPr kumimoji="0" lang="zh-CN" altLang="en-US" sz="25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_GB2312"/>
                <a:cs typeface="+mn-cs"/>
              </a:rPr>
              <a:t>，</a:t>
            </a:r>
            <a:r>
              <a:rPr kumimoji="0" lang="zh-CN" altLang="en-US" sz="25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楷体_GB2312"/>
                <a:cs typeface="+mn-cs"/>
              </a:rPr>
              <a:t>一元弱酸体系</a:t>
            </a:r>
            <a:r>
              <a:rPr kumimoji="0" lang="en-US" altLang="zh-CN" sz="25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_GB2312"/>
                <a:cs typeface="+mn-cs"/>
              </a:rPr>
              <a:t>.</a:t>
            </a:r>
            <a:endParaRPr kumimoji="0" lang="en-US" altLang="zh-CN" sz="25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楷体_GB2312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_GB2312"/>
                <a:cs typeface="+mn-cs"/>
              </a:rPr>
              <a:t>pH = (</a:t>
            </a:r>
            <a:r>
              <a:rPr kumimoji="0" lang="en-US" altLang="zh-CN" sz="25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_GB2312"/>
                <a:cs typeface="+mn-cs"/>
              </a:rPr>
              <a:t>p</a:t>
            </a:r>
            <a:r>
              <a:rPr kumimoji="0" lang="en-US" altLang="zh-CN" sz="2500" b="1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_GB2312"/>
                <a:cs typeface="+mn-cs"/>
              </a:rPr>
              <a:t>K</a:t>
            </a:r>
            <a:r>
              <a:rPr kumimoji="0" lang="en-US" altLang="zh-CN" sz="1600" b="1" i="0" u="none" strike="noStrike" kern="1200" cap="none" spc="0" normalizeH="0" baseline="100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_GB2312"/>
                <a:cs typeface="+mn-cs"/>
                <a:sym typeface="Webdings" pitchFamily="18" charset="2"/>
              </a:rPr>
              <a:t></a:t>
            </a:r>
            <a:r>
              <a:rPr kumimoji="0" lang="en-US" altLang="zh-CN" sz="2500" b="1" i="0" u="none" strike="noStrike" kern="120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_GB2312"/>
                <a:cs typeface="+mn-cs"/>
                <a:sym typeface="Webdings" pitchFamily="18" charset="2"/>
              </a:rPr>
              <a:t>a</a:t>
            </a:r>
            <a:r>
              <a:rPr kumimoji="0" lang="en-US" altLang="zh-CN" sz="25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_GB2312"/>
                <a:cs typeface="+mn-cs"/>
                <a:sym typeface="Webdings" pitchFamily="18" charset="2"/>
              </a:rPr>
              <a:t> 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_GB2312"/>
                <a:cs typeface="+mn-cs"/>
              </a:rPr>
              <a:t>+ p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_GB2312"/>
                <a:cs typeface="+mn-cs"/>
              </a:rPr>
              <a:t>c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_GB2312"/>
                <a:cs typeface="+mn-cs"/>
              </a:rPr>
              <a:t>)/2 = 2.88</a:t>
            </a:r>
            <a:r>
              <a:rPr kumimoji="0" lang="en-US" altLang="zh-CN" sz="25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_GB2312"/>
                <a:cs typeface="+mn-cs"/>
              </a:rPr>
              <a:t>.</a:t>
            </a:r>
            <a:endParaRPr kumimoji="0" lang="en-US" altLang="zh-CN" sz="25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楷体_GB2312"/>
              <a:cs typeface="+mn-cs"/>
            </a:endParaRPr>
          </a:p>
        </p:txBody>
      </p:sp>
      <p:sp>
        <p:nvSpPr>
          <p:cNvPr id="61449" name="Rectangle 9"/>
          <p:cNvSpPr>
            <a:spLocks noChangeArrowheads="1"/>
          </p:cNvSpPr>
          <p:nvPr/>
        </p:nvSpPr>
        <p:spPr bwMode="auto">
          <a:xfrm>
            <a:off x="207151" y="4286351"/>
            <a:ext cx="10105652" cy="861774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none">
            <a:spAutoFit/>
          </a:bodyPr>
          <a:lstStyle/>
          <a:p>
            <a:pPr lvl="0">
              <a:defRPr/>
            </a:pP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_GB2312"/>
                <a:cs typeface="+mn-cs"/>
              </a:rPr>
              <a:t>        </a:t>
            </a:r>
            <a:r>
              <a:rPr kumimoji="0" lang="zh-CN" altLang="en-US" sz="25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_GB2312"/>
                <a:cs typeface="+mn-cs"/>
              </a:rPr>
              <a:t>体系中既存在反应剩余的</a:t>
            </a:r>
            <a:r>
              <a:rPr kumimoji="0" lang="en-US" altLang="zh-CN" sz="25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_GB2312"/>
                <a:cs typeface="+mn-cs"/>
              </a:rPr>
              <a:t>HAc</a:t>
            </a:r>
            <a:r>
              <a:rPr kumimoji="0" lang="zh-CN" altLang="en-US" sz="25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_GB2312"/>
                <a:cs typeface="+mn-cs"/>
              </a:rPr>
              <a:t>又存在反应产物</a:t>
            </a:r>
            <a:r>
              <a:rPr kumimoji="0" lang="en-US" altLang="zh-CN" sz="25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_GB2312"/>
                <a:cs typeface="+mn-cs"/>
              </a:rPr>
              <a:t>NaAc</a:t>
            </a:r>
            <a:r>
              <a:rPr lang="en-US" altLang="zh-CN" sz="2500" b="1" dirty="0">
                <a:solidFill>
                  <a:srgbClr val="000000"/>
                </a:solidFill>
                <a:ea typeface="楷体_GB2312"/>
              </a:rPr>
              <a:t>    ∴ </a:t>
            </a:r>
            <a:r>
              <a:rPr kumimoji="0" lang="zh-CN" altLang="en-US" sz="25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楷体_GB2312"/>
                <a:cs typeface="+mn-cs"/>
              </a:rPr>
              <a:t>缓冲体系</a:t>
            </a:r>
            <a:r>
              <a:rPr kumimoji="0" lang="en-US" altLang="zh-CN" sz="25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Times New Roman" pitchFamily="18" charset="0"/>
                <a:ea typeface="楷体_GB2312"/>
                <a:cs typeface="+mn-cs"/>
                <a:sym typeface="Monotype Sorts" pitchFamily="2" charset="2"/>
              </a:rPr>
              <a:t>.</a:t>
            </a:r>
            <a:endParaRPr kumimoji="0" lang="en-US" altLang="zh-CN" sz="25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>
                <a:outerShdw blurRad="38100" dist="38100" dir="2700000" algn="tl">
                  <a:srgbClr val="FFFFFF"/>
                </a:outerShdw>
              </a:effectLst>
              <a:uLnTx/>
              <a:uFillTx/>
              <a:latin typeface="Times New Roman" pitchFamily="18" charset="0"/>
              <a:ea typeface="楷体_GB2312"/>
              <a:cs typeface="+mn-cs"/>
              <a:sym typeface="Monotype Sorts" pitchFamily="2" charset="2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_GB2312"/>
                <a:cs typeface="+mn-cs"/>
              </a:rPr>
              <a:t>        </a:t>
            </a:r>
            <a:r>
              <a:rPr kumimoji="0" lang="zh-CN" altLang="en-US" sz="25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_GB2312"/>
                <a:cs typeface="+mn-cs"/>
              </a:rPr>
              <a:t>例如当 </a:t>
            </a:r>
            <a:r>
              <a:rPr kumimoji="0" lang="en-US" altLang="zh-CN" sz="2500" b="1" i="1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_GB2312"/>
                <a:cs typeface="+mn-cs"/>
              </a:rPr>
              <a:t>V</a:t>
            </a:r>
            <a:r>
              <a:rPr kumimoji="0" lang="zh-CN" altLang="en-US" sz="25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_GB2312"/>
                <a:cs typeface="+mn-cs"/>
              </a:rPr>
              <a:t>滴定剂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_GB2312"/>
                <a:cs typeface="+mn-cs"/>
              </a:rPr>
              <a:t> 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_GB2312"/>
                <a:cs typeface="+mn-cs"/>
              </a:rPr>
              <a:t>= 19.98 mL:</a:t>
            </a:r>
          </a:p>
        </p:txBody>
      </p:sp>
      <p:sp>
        <p:nvSpPr>
          <p:cNvPr id="11269" name="Rectangle 17"/>
          <p:cNvSpPr>
            <a:spLocks noGrp="1" noChangeArrowheads="1"/>
          </p:cNvSpPr>
          <p:nvPr>
            <p:ph type="title"/>
          </p:nvPr>
        </p:nvSpPr>
        <p:spPr>
          <a:xfrm>
            <a:off x="576263" y="258763"/>
            <a:ext cx="10369550" cy="431800"/>
          </a:xfrm>
        </p:spPr>
        <p:txBody>
          <a:bodyPr/>
          <a:lstStyle/>
          <a:p>
            <a:pPr eaLnBrk="1" hangingPunct="1"/>
            <a:r>
              <a:rPr lang="en-US" altLang="zh-CN" smtClean="0">
                <a:ea typeface="黑体" pitchFamily="49" charset="-122"/>
              </a:rPr>
              <a:t>3.6.2</a:t>
            </a:r>
            <a:r>
              <a:rPr lang="zh-CN" altLang="en-US" smtClean="0">
                <a:ea typeface="黑体" pitchFamily="49" charset="-122"/>
              </a:rPr>
              <a:t>强碱</a:t>
            </a:r>
            <a:r>
              <a:rPr lang="en-US" altLang="zh-CN" smtClean="0">
                <a:ea typeface="黑体" pitchFamily="49" charset="-122"/>
              </a:rPr>
              <a:t>(</a:t>
            </a:r>
            <a:r>
              <a:rPr lang="zh-CN" altLang="en-US" smtClean="0">
                <a:ea typeface="黑体" pitchFamily="49" charset="-122"/>
              </a:rPr>
              <a:t>酸</a:t>
            </a:r>
            <a:r>
              <a:rPr lang="en-US" altLang="zh-CN" smtClean="0">
                <a:ea typeface="黑体" pitchFamily="49" charset="-122"/>
              </a:rPr>
              <a:t>)</a:t>
            </a:r>
            <a:r>
              <a:rPr lang="zh-CN" altLang="en-US" smtClean="0">
                <a:ea typeface="黑体" pitchFamily="49" charset="-122"/>
              </a:rPr>
              <a:t>滴定一元弱酸</a:t>
            </a:r>
            <a:r>
              <a:rPr lang="en-US" altLang="zh-CN" smtClean="0">
                <a:ea typeface="黑体" pitchFamily="49" charset="-122"/>
              </a:rPr>
              <a:t>(</a:t>
            </a:r>
            <a:r>
              <a:rPr lang="zh-CN" altLang="en-US" smtClean="0">
                <a:ea typeface="黑体" pitchFamily="49" charset="-122"/>
              </a:rPr>
              <a:t>碱</a:t>
            </a:r>
            <a:r>
              <a:rPr lang="en-US" altLang="zh-CN" smtClean="0">
                <a:ea typeface="黑体" pitchFamily="49" charset="-122"/>
              </a:rPr>
              <a:t>)</a:t>
            </a:r>
            <a:endParaRPr lang="en-US" altLang="zh-CN" sz="1800" smtClean="0">
              <a:ea typeface="黑体" pitchFamily="49" charset="-122"/>
            </a:endParaRPr>
          </a:p>
        </p:txBody>
      </p:sp>
      <p:sp>
        <p:nvSpPr>
          <p:cNvPr id="91137" name="Rectangle 1"/>
          <p:cNvSpPr>
            <a:spLocks noChangeArrowheads="1"/>
          </p:cNvSpPr>
          <p:nvPr/>
        </p:nvSpPr>
        <p:spPr bwMode="auto">
          <a:xfrm>
            <a:off x="792485" y="5391695"/>
            <a:ext cx="669925" cy="4778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c</a:t>
            </a:r>
            <a:r>
              <a:rPr kumimoji="0" lang="en-US" altLang="zh-CN" sz="2500" b="1" i="1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a 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=</a:t>
            </a:r>
          </a:p>
        </p:txBody>
      </p:sp>
      <p:sp>
        <p:nvSpPr>
          <p:cNvPr id="91138" name="Line 2"/>
          <p:cNvSpPr>
            <a:spLocks noChangeShapeType="1"/>
          </p:cNvSpPr>
          <p:nvPr/>
        </p:nvSpPr>
        <p:spPr bwMode="auto">
          <a:xfrm>
            <a:off x="1479873" y="5655220"/>
            <a:ext cx="24003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charset="-122"/>
              <a:cs typeface="+mn-cs"/>
            </a:endParaRPr>
          </a:p>
        </p:txBody>
      </p:sp>
      <p:sp>
        <p:nvSpPr>
          <p:cNvPr id="91139" name="Rectangle 3"/>
          <p:cNvSpPr>
            <a:spLocks noChangeArrowheads="1"/>
          </p:cNvSpPr>
          <p:nvPr/>
        </p:nvSpPr>
        <p:spPr bwMode="auto">
          <a:xfrm>
            <a:off x="1570360" y="5112295"/>
            <a:ext cx="1963738" cy="4778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0.02 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  <a:sym typeface="Symbol" pitchFamily="18" charset="2"/>
              </a:rPr>
              <a:t> 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0.1000</a:t>
            </a:r>
          </a:p>
        </p:txBody>
      </p:sp>
      <p:sp>
        <p:nvSpPr>
          <p:cNvPr id="91140" name="Rectangle 4"/>
          <p:cNvSpPr>
            <a:spLocks noChangeArrowheads="1"/>
          </p:cNvSpPr>
          <p:nvPr/>
        </p:nvSpPr>
        <p:spPr bwMode="auto">
          <a:xfrm>
            <a:off x="3975423" y="5383758"/>
            <a:ext cx="2752725" cy="4778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= 5.00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  <a:sym typeface="Symbol" pitchFamily="18" charset="2"/>
              </a:rPr>
              <a:t>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10</a:t>
            </a:r>
            <a:r>
              <a:rPr kumimoji="0" lang="en-US" altLang="zh-CN" sz="2500" b="1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-5 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mol·L</a:t>
            </a:r>
            <a:r>
              <a:rPr kumimoji="0" lang="en-US" altLang="zh-CN" sz="2500" b="1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-1</a:t>
            </a:r>
          </a:p>
        </p:txBody>
      </p:sp>
      <p:sp>
        <p:nvSpPr>
          <p:cNvPr id="91141" name="Rectangle 5"/>
          <p:cNvSpPr>
            <a:spLocks noChangeArrowheads="1"/>
          </p:cNvSpPr>
          <p:nvPr/>
        </p:nvSpPr>
        <p:spPr bwMode="auto">
          <a:xfrm>
            <a:off x="1578298" y="5677445"/>
            <a:ext cx="2185987" cy="4778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5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(20.00 + 19.98)</a:t>
            </a:r>
          </a:p>
        </p:txBody>
      </p:sp>
      <p:sp>
        <p:nvSpPr>
          <p:cNvPr id="11275" name="Oval 26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gray">
          <a:xfrm>
            <a:off x="0" y="5668963"/>
            <a:ext cx="360363" cy="360362"/>
          </a:xfrm>
          <a:prstGeom prst="ellipse">
            <a:avLst/>
          </a:prstGeom>
          <a:blipFill dpi="0" rotWithShape="1">
            <a:blip r:embed="rId2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charset="-122"/>
              <a:cs typeface="+mn-cs"/>
            </a:endParaRPr>
          </a:p>
        </p:txBody>
      </p:sp>
      <p:sp>
        <p:nvSpPr>
          <p:cNvPr id="11276" name="Oval 27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gray">
          <a:xfrm>
            <a:off x="11161713" y="5597525"/>
            <a:ext cx="360362" cy="360363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charset="-122"/>
              <a:cs typeface="+mn-cs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576263" y="1839833"/>
            <a:ext cx="98631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ea typeface="楷体_GB2312"/>
                <a:cs typeface="+mn-cs"/>
                <a:sym typeface="Monotype Sorts" pitchFamily="2" charset="2"/>
              </a:rPr>
              <a:t>①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ea typeface="楷体_GB2312"/>
                <a:cs typeface="+mn-cs"/>
              </a:rPr>
              <a:t>滴定</a:t>
            </a:r>
            <a:r>
              <a:rPr kumimoji="0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ea typeface="楷体_GB2312"/>
                <a:cs typeface="+mn-cs"/>
              </a:rPr>
              <a:t>前  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ea typeface="楷体_GB2312"/>
                <a:cs typeface="+mn-cs"/>
                <a:sym typeface="Monotype Sorts" pitchFamily="2" charset="2"/>
              </a:rPr>
              <a:t>②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ea typeface="楷体_GB2312"/>
                <a:cs typeface="+mn-cs"/>
              </a:rPr>
              <a:t>滴定开始至化学计量点</a:t>
            </a:r>
            <a:r>
              <a:rPr kumimoji="0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ea typeface="楷体_GB2312"/>
                <a:cs typeface="+mn-cs"/>
              </a:rPr>
              <a:t>前   </a:t>
            </a: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ea typeface="楷体_GB2312"/>
                <a:cs typeface="+mn-cs"/>
                <a:sym typeface="Monotype Sorts" pitchFamily="2" charset="2"/>
              </a:rPr>
              <a:t>③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ea typeface="楷体_GB2312"/>
                <a:cs typeface="+mn-cs"/>
              </a:rPr>
              <a:t>化学计量</a:t>
            </a:r>
            <a:r>
              <a:rPr kumimoji="0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ea typeface="楷体_GB2312"/>
                <a:cs typeface="+mn-cs"/>
              </a:rPr>
              <a:t>点  </a:t>
            </a: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ea typeface="楷体_GB2312"/>
                <a:cs typeface="+mn-cs"/>
                <a:sym typeface="Monotype Sorts" pitchFamily="2" charset="2"/>
              </a:rPr>
              <a:t>④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ea typeface="楷体_GB2312"/>
                <a:cs typeface="+mn-cs"/>
              </a:rPr>
              <a:t>化学计量点后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ea typeface="楷体_GB2312"/>
                <a:cs typeface="+mn-cs"/>
              </a:rPr>
              <a:t>:</a:t>
            </a: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ea typeface="楷体_GB2312"/>
                <a:cs typeface="+mn-cs"/>
              </a:rPr>
              <a:t>   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itchFamily="18" charset="0"/>
              <a:ea typeface="楷体_GB2312"/>
              <a:cs typeface="+mn-cs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76263" y="854224"/>
            <a:ext cx="9073206" cy="4770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500" b="1" dirty="0">
                <a:solidFill>
                  <a:srgbClr val="000000"/>
                </a:solidFill>
                <a:ea typeface="楷体_GB2312"/>
              </a:rPr>
              <a:t>例：</a:t>
            </a:r>
            <a:r>
              <a:rPr lang="en-US" altLang="zh-CN" sz="2500" b="1" dirty="0">
                <a:solidFill>
                  <a:srgbClr val="000000"/>
                </a:solidFill>
                <a:ea typeface="楷体_GB2312"/>
              </a:rPr>
              <a:t> 0.1000mol·L</a:t>
            </a:r>
            <a:r>
              <a:rPr lang="en-US" altLang="zh-CN" sz="2500" b="1" baseline="30000" dirty="0">
                <a:solidFill>
                  <a:srgbClr val="000000"/>
                </a:solidFill>
                <a:ea typeface="楷体_GB2312"/>
              </a:rPr>
              <a:t>-1</a:t>
            </a:r>
            <a:r>
              <a:rPr lang="en-US" altLang="zh-CN" sz="2500" b="1" dirty="0">
                <a:solidFill>
                  <a:srgbClr val="000000"/>
                </a:solidFill>
                <a:ea typeface="楷体_GB2312"/>
              </a:rPr>
              <a:t>NaOH</a:t>
            </a:r>
            <a:r>
              <a:rPr lang="zh-CN" altLang="en-US" sz="2500" b="1" dirty="0">
                <a:solidFill>
                  <a:srgbClr val="000000"/>
                </a:solidFill>
                <a:ea typeface="楷体_GB2312" pitchFamily="49" charset="-122"/>
              </a:rPr>
              <a:t>滴定</a:t>
            </a:r>
            <a:r>
              <a:rPr lang="en-US" altLang="zh-CN" sz="2500" b="1" dirty="0">
                <a:solidFill>
                  <a:srgbClr val="000000"/>
                </a:solidFill>
                <a:ea typeface="楷体_GB2312" pitchFamily="49" charset="-122"/>
              </a:rPr>
              <a:t>20.00mL0.1000mol·L</a:t>
            </a:r>
            <a:r>
              <a:rPr lang="en-US" altLang="zh-CN" sz="2500" b="1" baseline="30000" dirty="0">
                <a:solidFill>
                  <a:srgbClr val="000000"/>
                </a:solidFill>
                <a:ea typeface="楷体_GB2312" pitchFamily="49" charset="-122"/>
              </a:rPr>
              <a:t>-1</a:t>
            </a:r>
            <a:r>
              <a:rPr lang="en-US" altLang="zh-CN" sz="2500" b="1" dirty="0">
                <a:solidFill>
                  <a:srgbClr val="000000"/>
                </a:solidFill>
                <a:ea typeface="楷体_GB2312"/>
              </a:rPr>
              <a:t>HAc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758081" y="1350574"/>
            <a:ext cx="2969083" cy="461665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zh-CN" altLang="en-US" sz="2400" b="1" dirty="0" smtClean="0">
                <a:solidFill>
                  <a:srgbClr val="FF0000"/>
                </a:solidFill>
                <a:ea typeface="楷体_GB2312" panose="02010609030101010101"/>
              </a:rPr>
              <a:t>具体问题具体分析：</a:t>
            </a:r>
            <a:endParaRPr lang="zh-CN" altLang="en-US" sz="2400" b="1" dirty="0">
              <a:solidFill>
                <a:srgbClr val="FF0000"/>
              </a:solidFill>
              <a:ea typeface="楷体_GB2312" panose="02010609030101010101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758081" y="3744210"/>
            <a:ext cx="4158511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zh-CN" sz="2500" b="1" dirty="0">
                <a:solidFill>
                  <a:srgbClr val="FF0000"/>
                </a:solidFill>
                <a:ea typeface="楷体_GB2312"/>
                <a:sym typeface="Monotype Sorts" pitchFamily="2" charset="2"/>
              </a:rPr>
              <a:t>②</a:t>
            </a:r>
            <a:r>
              <a:rPr lang="zh-CN" altLang="en-US" sz="2500" b="1" dirty="0">
                <a:solidFill>
                  <a:srgbClr val="FF0000"/>
                </a:solidFill>
                <a:ea typeface="楷体_GB2312"/>
                <a:sym typeface="Monotype Sorts" pitchFamily="2" charset="2"/>
              </a:rPr>
              <a:t>滴定开始至化学计量点前</a:t>
            </a:r>
            <a:r>
              <a:rPr lang="en-US" altLang="zh-CN" sz="2500" b="1" dirty="0">
                <a:solidFill>
                  <a:srgbClr val="FF0000"/>
                </a:solidFill>
                <a:ea typeface="楷体_GB2312"/>
                <a:sym typeface="Monotype Sorts" pitchFamily="2" charset="2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1993247320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614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614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614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614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614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91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91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00"/>
                            </p:stCondLst>
                            <p:childTnLst>
                              <p:par>
                                <p:cTn id="5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91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500"/>
                            </p:stCondLst>
                            <p:childTnLst>
                              <p:par>
                                <p:cTn id="5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91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2000"/>
                            </p:stCondLst>
                            <p:childTnLst>
                              <p:par>
                                <p:cTn id="6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91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47" grpId="0" build="p" autoUpdateAnimBg="0"/>
      <p:bldP spid="61449" grpId="0" build="p" autoUpdateAnimBg="0"/>
      <p:bldP spid="91137" grpId="0" autoUpdateAnimBg="0"/>
      <p:bldP spid="91138" grpId="0" animBg="1"/>
      <p:bldP spid="91139" grpId="0" autoUpdateAnimBg="0"/>
      <p:bldP spid="91140" grpId="0" autoUpdateAnimBg="0"/>
      <p:bldP spid="91141" grpId="0" autoUpdateAnimBg="0"/>
      <p:bldP spid="14" grpId="0"/>
      <p:bldP spid="4" grpId="0" animBg="1"/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5" name="Rectangle 7"/>
          <p:cNvSpPr>
            <a:spLocks noChangeArrowheads="1"/>
          </p:cNvSpPr>
          <p:nvPr/>
        </p:nvSpPr>
        <p:spPr bwMode="auto">
          <a:xfrm>
            <a:off x="906464" y="3043063"/>
            <a:ext cx="8022926" cy="2804614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2500" b="1" dirty="0">
                <a:solidFill>
                  <a:srgbClr val="FF0000"/>
                </a:solidFill>
                <a:ea typeface="楷体_GB2312"/>
                <a:sym typeface="Monotype Sorts" pitchFamily="2" charset="2"/>
              </a:rPr>
              <a:t>③</a:t>
            </a:r>
            <a:r>
              <a:rPr lang="zh-CN" altLang="en-US" sz="2500" b="1" dirty="0">
                <a:solidFill>
                  <a:srgbClr val="FF0000"/>
                </a:solidFill>
                <a:ea typeface="楷体_GB2312"/>
                <a:sym typeface="Monotype Sorts" pitchFamily="2" charset="2"/>
              </a:rPr>
              <a:t>化学计量点</a:t>
            </a:r>
            <a:r>
              <a:rPr lang="en-US" altLang="zh-CN" sz="2500" b="1" dirty="0">
                <a:solidFill>
                  <a:srgbClr val="FF0000"/>
                </a:solidFill>
                <a:ea typeface="楷体_GB2312"/>
                <a:sym typeface="Monotype Sorts" pitchFamily="2" charset="2"/>
              </a:rPr>
              <a:t>:</a:t>
            </a:r>
          </a:p>
          <a:p>
            <a:pPr>
              <a:defRPr/>
            </a:pPr>
            <a:r>
              <a:rPr lang="zh-CN" altLang="en-US" sz="2500" b="1" dirty="0">
                <a:ea typeface="楷体_GB2312"/>
                <a:sym typeface="Monotype Sorts" pitchFamily="2" charset="2"/>
              </a:rPr>
              <a:t>　　</a:t>
            </a:r>
            <a:r>
              <a:rPr lang="zh-CN" altLang="en-US" sz="2500" b="1" dirty="0" smtClean="0">
                <a:ea typeface="楷体_GB2312"/>
                <a:sym typeface="Monotype Sorts" pitchFamily="2" charset="2"/>
              </a:rPr>
              <a:t>完全反应，体系中仅剩下产物</a:t>
            </a:r>
            <a:r>
              <a:rPr lang="en-US" altLang="zh-CN" sz="2500" b="1" dirty="0" err="1" smtClean="0">
                <a:ea typeface="楷体_GB2312"/>
                <a:sym typeface="Monotype Sorts" pitchFamily="2" charset="2"/>
              </a:rPr>
              <a:t>NaAc</a:t>
            </a:r>
            <a:r>
              <a:rPr lang="en-US" altLang="zh-CN" sz="2500" b="1" dirty="0" smtClean="0">
                <a:ea typeface="楷体_GB2312"/>
                <a:sym typeface="Monotype Sorts" pitchFamily="2" charset="2"/>
              </a:rPr>
              <a:t>   </a:t>
            </a:r>
            <a:r>
              <a:rPr lang="zh-CN" altLang="en-US" sz="2500" b="1" dirty="0" smtClean="0">
                <a:solidFill>
                  <a:srgbClr val="0000FF"/>
                </a:solidFill>
                <a:ea typeface="楷体_GB2312"/>
                <a:sym typeface="Monotype Sorts" pitchFamily="2" charset="2"/>
              </a:rPr>
              <a:t>一元弱碱体系</a:t>
            </a:r>
            <a:endParaRPr lang="en-US" altLang="zh-CN" sz="2500" b="1" dirty="0" smtClean="0">
              <a:solidFill>
                <a:srgbClr val="0000FF"/>
              </a:solidFill>
              <a:ea typeface="楷体_GB2312"/>
              <a:sym typeface="Monotype Sorts" pitchFamily="2" charset="2"/>
            </a:endParaRPr>
          </a:p>
          <a:p>
            <a:pPr>
              <a:defRPr/>
            </a:pPr>
            <a:r>
              <a:rPr lang="en-US" altLang="zh-CN" sz="2500" b="1" dirty="0" smtClean="0">
                <a:ea typeface="楷体_GB2312"/>
              </a:rPr>
              <a:t>        </a:t>
            </a:r>
            <a:r>
              <a:rPr lang="en-US" altLang="zh-CN" sz="2500" b="1" dirty="0">
                <a:ea typeface="楷体_GB2312"/>
              </a:rPr>
              <a:t>pOH = (</a:t>
            </a:r>
            <a:r>
              <a:rPr lang="en-US" altLang="zh-CN" sz="2500" b="1" dirty="0" err="1">
                <a:ea typeface="楷体_GB2312"/>
              </a:rPr>
              <a:t>p</a:t>
            </a:r>
            <a:r>
              <a:rPr lang="en-US" altLang="zh-CN" sz="2500" b="1" i="1" dirty="0" err="1">
                <a:ea typeface="楷体_GB2312"/>
              </a:rPr>
              <a:t>K</a:t>
            </a:r>
            <a:r>
              <a:rPr lang="en-US" altLang="zh-CN" sz="1600" b="1" baseline="100000" dirty="0" err="1">
                <a:ea typeface="楷体_GB2312"/>
                <a:sym typeface="Webdings" pitchFamily="18" charset="2"/>
              </a:rPr>
              <a:t></a:t>
            </a:r>
            <a:r>
              <a:rPr lang="en-US" altLang="zh-CN" sz="2500" b="1" baseline="-25000" dirty="0" err="1">
                <a:ea typeface="楷体_GB2312"/>
                <a:sym typeface="Webdings" pitchFamily="18" charset="2"/>
              </a:rPr>
              <a:t>b</a:t>
            </a:r>
            <a:r>
              <a:rPr lang="en-US" altLang="zh-CN" sz="2500" b="1" baseline="-25000" dirty="0">
                <a:ea typeface="楷体_GB2312"/>
                <a:sym typeface="Webdings" pitchFamily="18" charset="2"/>
              </a:rPr>
              <a:t> </a:t>
            </a:r>
            <a:r>
              <a:rPr lang="en-US" altLang="zh-CN" sz="2500" b="1" dirty="0">
                <a:ea typeface="楷体_GB2312"/>
              </a:rPr>
              <a:t>+ p</a:t>
            </a:r>
            <a:r>
              <a:rPr lang="en-US" altLang="zh-CN" sz="2500" b="1" i="1" dirty="0">
                <a:ea typeface="楷体_GB2312"/>
              </a:rPr>
              <a:t>c</a:t>
            </a:r>
            <a:r>
              <a:rPr lang="en-US" altLang="zh-CN" sz="2500" b="1" dirty="0">
                <a:ea typeface="楷体_GB2312"/>
              </a:rPr>
              <a:t>)/2 = 5.28</a:t>
            </a:r>
          </a:p>
          <a:p>
            <a:pPr>
              <a:defRPr/>
            </a:pPr>
            <a:r>
              <a:rPr lang="en-US" altLang="zh-CN" sz="2500" b="1" dirty="0">
                <a:ea typeface="楷体_GB2312"/>
              </a:rPr>
              <a:t>        pH = 8.72.</a:t>
            </a:r>
          </a:p>
          <a:p>
            <a:pPr>
              <a:lnSpc>
                <a:spcPct val="105000"/>
              </a:lnSpc>
              <a:defRPr/>
            </a:pPr>
            <a:r>
              <a:rPr lang="en-US" altLang="zh-CN" sz="2500" b="1" dirty="0">
                <a:solidFill>
                  <a:srgbClr val="FF0000"/>
                </a:solidFill>
                <a:ea typeface="楷体_GB2312"/>
                <a:sym typeface="Monotype Sorts" pitchFamily="2" charset="2"/>
              </a:rPr>
              <a:t>④</a:t>
            </a:r>
            <a:r>
              <a:rPr lang="zh-CN" altLang="en-US" sz="2500" b="1" dirty="0">
                <a:solidFill>
                  <a:srgbClr val="FF0000"/>
                </a:solidFill>
                <a:ea typeface="楷体_GB2312"/>
                <a:sym typeface="Monotype Sorts" pitchFamily="2" charset="2"/>
              </a:rPr>
              <a:t>化学计量点后</a:t>
            </a:r>
            <a:r>
              <a:rPr lang="en-US" altLang="zh-CN" sz="2500" b="1" dirty="0">
                <a:solidFill>
                  <a:srgbClr val="FF0000"/>
                </a:solidFill>
                <a:ea typeface="楷体_GB2312"/>
                <a:sym typeface="Monotype Sorts" pitchFamily="2" charset="2"/>
              </a:rPr>
              <a:t>:</a:t>
            </a:r>
            <a:endParaRPr lang="en-US" altLang="zh-CN" sz="2500" b="1" dirty="0">
              <a:solidFill>
                <a:srgbClr val="FF0000"/>
              </a:solidFill>
              <a:ea typeface="楷体_GB2312"/>
            </a:endParaRPr>
          </a:p>
          <a:p>
            <a:pPr>
              <a:defRPr/>
            </a:pPr>
            <a:r>
              <a:rPr lang="en-US" altLang="zh-CN" sz="2500" b="1" dirty="0">
                <a:ea typeface="楷体_GB2312"/>
              </a:rPr>
              <a:t>        </a:t>
            </a:r>
            <a:r>
              <a:rPr lang="zh-CN" altLang="en-US" sz="2500" b="1" dirty="0">
                <a:ea typeface="楷体_GB2312"/>
              </a:rPr>
              <a:t>过量</a:t>
            </a:r>
            <a:r>
              <a:rPr lang="zh-CN" altLang="en-US" sz="2500" b="1" dirty="0" smtClean="0">
                <a:ea typeface="楷体_GB2312"/>
              </a:rPr>
              <a:t>滴定剂</a:t>
            </a:r>
            <a:r>
              <a:rPr lang="en-US" altLang="zh-CN" sz="2500" b="1" dirty="0" err="1" smtClean="0">
                <a:ea typeface="楷体_GB2312"/>
              </a:rPr>
              <a:t>NaOH</a:t>
            </a:r>
            <a:r>
              <a:rPr lang="en-US" altLang="zh-CN" sz="2500" b="1" dirty="0" smtClean="0">
                <a:ea typeface="楷体_GB2312"/>
              </a:rPr>
              <a:t>. </a:t>
            </a:r>
            <a:r>
              <a:rPr lang="zh-CN" altLang="en-US" sz="2500" b="1" dirty="0" smtClean="0">
                <a:solidFill>
                  <a:srgbClr val="0000FF"/>
                </a:solidFill>
                <a:ea typeface="楷体_GB2312"/>
              </a:rPr>
              <a:t>强碱体系</a:t>
            </a:r>
            <a:endParaRPr lang="en-US" altLang="zh-CN" sz="2500" b="1" dirty="0">
              <a:solidFill>
                <a:srgbClr val="0000FF"/>
              </a:solidFill>
              <a:ea typeface="楷体_GB2312"/>
            </a:endParaRPr>
          </a:p>
          <a:p>
            <a:pPr>
              <a:defRPr/>
            </a:pPr>
            <a:r>
              <a:rPr lang="en-US" altLang="zh-CN" sz="2500" b="1" dirty="0">
                <a:ea typeface="楷体_GB2312"/>
              </a:rPr>
              <a:t>        </a:t>
            </a:r>
            <a:r>
              <a:rPr lang="zh-CN" altLang="en-US" sz="2500" b="1" dirty="0">
                <a:ea typeface="楷体_GB2312"/>
              </a:rPr>
              <a:t>如</a:t>
            </a:r>
            <a:r>
              <a:rPr lang="en-US" altLang="zh-CN" sz="2500" b="1" i="1" dirty="0">
                <a:ea typeface="楷体_GB2312"/>
              </a:rPr>
              <a:t>V</a:t>
            </a:r>
            <a:r>
              <a:rPr lang="zh-CN" altLang="en-US" sz="2500" b="1" baseline="-25000" dirty="0">
                <a:ea typeface="楷体_GB2312"/>
              </a:rPr>
              <a:t>滴定剂</a:t>
            </a:r>
            <a:r>
              <a:rPr lang="zh-CN" altLang="en-US" sz="2500" b="1" dirty="0">
                <a:ea typeface="楷体_GB2312"/>
              </a:rPr>
              <a:t> </a:t>
            </a:r>
            <a:r>
              <a:rPr lang="en-US" altLang="zh-CN" sz="2500" b="1" dirty="0">
                <a:ea typeface="楷体_GB2312"/>
              </a:rPr>
              <a:t>= 20.02 </a:t>
            </a:r>
            <a:r>
              <a:rPr lang="en-US" altLang="zh-CN" sz="2500" b="1" dirty="0" err="1">
                <a:ea typeface="楷体_GB2312"/>
              </a:rPr>
              <a:t>mL</a:t>
            </a:r>
            <a:r>
              <a:rPr lang="en-US" altLang="zh-CN" sz="2500" b="1" dirty="0">
                <a:ea typeface="楷体_GB2312"/>
              </a:rPr>
              <a:t>, pH = 9.70.</a:t>
            </a:r>
          </a:p>
        </p:txBody>
      </p:sp>
      <p:sp>
        <p:nvSpPr>
          <p:cNvPr id="73740" name="Rectangle 12"/>
          <p:cNvSpPr>
            <a:spLocks noChangeArrowheads="1"/>
          </p:cNvSpPr>
          <p:nvPr/>
        </p:nvSpPr>
        <p:spPr bwMode="auto">
          <a:xfrm>
            <a:off x="1209873" y="1933623"/>
            <a:ext cx="3265488" cy="4778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ctr"/>
            <a:r>
              <a:rPr lang="en-US" altLang="zh-CN" sz="2500" b="1" dirty="0">
                <a:ea typeface="楷体_GB2312" pitchFamily="49" charset="-122"/>
              </a:rPr>
              <a:t>(20.00 + 19.98)</a:t>
            </a:r>
          </a:p>
        </p:txBody>
      </p:sp>
      <p:sp>
        <p:nvSpPr>
          <p:cNvPr id="73742" name="Rectangle 14"/>
          <p:cNvSpPr>
            <a:spLocks noChangeArrowheads="1"/>
          </p:cNvSpPr>
          <p:nvPr/>
        </p:nvSpPr>
        <p:spPr bwMode="auto">
          <a:xfrm>
            <a:off x="716161" y="1678036"/>
            <a:ext cx="669925" cy="4778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altLang="zh-CN" sz="2500" b="1" i="1" dirty="0" err="1">
                <a:ea typeface="楷体_GB2312" pitchFamily="49" charset="-122"/>
              </a:rPr>
              <a:t>c</a:t>
            </a:r>
            <a:r>
              <a:rPr lang="en-US" altLang="zh-CN" sz="2500" b="1" i="1" baseline="-25000" dirty="0" err="1">
                <a:ea typeface="楷体_GB2312" pitchFamily="49" charset="-122"/>
              </a:rPr>
              <a:t>b</a:t>
            </a:r>
            <a:r>
              <a:rPr lang="en-US" altLang="zh-CN" sz="2500" b="1" i="1" baseline="-25000" dirty="0">
                <a:ea typeface="楷体_GB2312" pitchFamily="49" charset="-122"/>
              </a:rPr>
              <a:t> </a:t>
            </a:r>
            <a:r>
              <a:rPr lang="en-US" altLang="zh-CN" sz="2500" b="1" dirty="0">
                <a:ea typeface="楷体_GB2312" pitchFamily="49" charset="-122"/>
              </a:rPr>
              <a:t>=</a:t>
            </a:r>
          </a:p>
        </p:txBody>
      </p:sp>
      <p:sp>
        <p:nvSpPr>
          <p:cNvPr id="73743" name="Line 15"/>
          <p:cNvSpPr>
            <a:spLocks noChangeShapeType="1"/>
          </p:cNvSpPr>
          <p:nvPr/>
        </p:nvSpPr>
        <p:spPr bwMode="auto">
          <a:xfrm>
            <a:off x="1528961" y="1933623"/>
            <a:ext cx="24939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3744" name="Rectangle 16"/>
          <p:cNvSpPr>
            <a:spLocks noChangeArrowheads="1"/>
          </p:cNvSpPr>
          <p:nvPr/>
        </p:nvSpPr>
        <p:spPr bwMode="auto">
          <a:xfrm>
            <a:off x="1638498" y="1458961"/>
            <a:ext cx="2124075" cy="4778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algn="ctr"/>
            <a:r>
              <a:rPr lang="en-US" altLang="zh-CN" sz="2500" b="1" dirty="0">
                <a:ea typeface="楷体_GB2312" pitchFamily="49" charset="-122"/>
              </a:rPr>
              <a:t>19.98 </a:t>
            </a:r>
            <a:r>
              <a:rPr lang="en-US" altLang="zh-CN" sz="2500" b="1" dirty="0">
                <a:ea typeface="楷体_GB2312" pitchFamily="49" charset="-122"/>
                <a:sym typeface="Symbol" pitchFamily="18" charset="2"/>
              </a:rPr>
              <a:t> </a:t>
            </a:r>
            <a:r>
              <a:rPr lang="en-US" altLang="zh-CN" sz="2500" b="1" dirty="0">
                <a:ea typeface="楷体_GB2312" pitchFamily="49" charset="-122"/>
              </a:rPr>
              <a:t>0.1000</a:t>
            </a:r>
          </a:p>
        </p:txBody>
      </p:sp>
      <p:sp>
        <p:nvSpPr>
          <p:cNvPr id="73746" name="Rectangle 18"/>
          <p:cNvSpPr>
            <a:spLocks noChangeArrowheads="1"/>
          </p:cNvSpPr>
          <p:nvPr/>
        </p:nvSpPr>
        <p:spPr bwMode="auto">
          <a:xfrm>
            <a:off x="3978473" y="1662161"/>
            <a:ext cx="2752725" cy="4778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altLang="zh-CN" sz="2500" b="1">
                <a:ea typeface="楷体_GB2312" pitchFamily="49" charset="-122"/>
              </a:rPr>
              <a:t>= 5.00</a:t>
            </a:r>
            <a:r>
              <a:rPr lang="en-US" altLang="zh-CN" sz="2500" b="1">
                <a:ea typeface="楷体_GB2312" pitchFamily="49" charset="-122"/>
                <a:sym typeface="Symbol" pitchFamily="18" charset="2"/>
              </a:rPr>
              <a:t></a:t>
            </a:r>
            <a:r>
              <a:rPr lang="en-US" altLang="zh-CN" sz="2500" b="1">
                <a:ea typeface="楷体_GB2312" pitchFamily="49" charset="-122"/>
              </a:rPr>
              <a:t>10</a:t>
            </a:r>
            <a:r>
              <a:rPr lang="en-US" altLang="zh-CN" sz="2500" b="1" baseline="30000">
                <a:ea typeface="楷体_GB2312" pitchFamily="49" charset="-122"/>
              </a:rPr>
              <a:t>-2 </a:t>
            </a:r>
            <a:r>
              <a:rPr lang="en-US" altLang="zh-CN" sz="2500" b="1">
                <a:ea typeface="楷体_GB2312" pitchFamily="49" charset="-122"/>
              </a:rPr>
              <a:t>mol·L</a:t>
            </a:r>
            <a:r>
              <a:rPr lang="en-US" altLang="zh-CN" sz="2500" b="1" baseline="30000">
                <a:ea typeface="楷体_GB2312" pitchFamily="49" charset="-122"/>
              </a:rPr>
              <a:t>-1</a:t>
            </a:r>
          </a:p>
        </p:txBody>
      </p:sp>
      <p:sp>
        <p:nvSpPr>
          <p:cNvPr id="73747" name="Rectangle 19"/>
          <p:cNvSpPr>
            <a:spLocks noChangeArrowheads="1"/>
          </p:cNvSpPr>
          <p:nvPr/>
        </p:nvSpPr>
        <p:spPr bwMode="auto">
          <a:xfrm>
            <a:off x="576461" y="2382886"/>
            <a:ext cx="3941762" cy="4778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altLang="zh-CN" sz="2500" b="1" dirty="0">
                <a:ea typeface="楷体_GB2312" pitchFamily="49" charset="-122"/>
              </a:rPr>
              <a:t>pH = </a:t>
            </a:r>
            <a:r>
              <a:rPr lang="en-US" altLang="zh-CN" sz="2500" b="1" dirty="0" err="1">
                <a:ea typeface="楷体_GB2312" pitchFamily="49" charset="-122"/>
              </a:rPr>
              <a:t>p</a:t>
            </a:r>
            <a:r>
              <a:rPr lang="en-US" altLang="zh-CN" sz="2500" b="1" i="1" dirty="0" err="1">
                <a:ea typeface="楷体_GB2312" pitchFamily="49" charset="-122"/>
              </a:rPr>
              <a:t>K</a:t>
            </a:r>
            <a:r>
              <a:rPr lang="en-US" altLang="zh-CN" sz="1600" b="1" baseline="100000" dirty="0" err="1"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baseline="-25000" dirty="0" err="1">
                <a:ea typeface="楷体_GB2312" pitchFamily="49" charset="-122"/>
                <a:sym typeface="Webdings" pitchFamily="18" charset="2"/>
              </a:rPr>
              <a:t>a</a:t>
            </a:r>
            <a:r>
              <a:rPr lang="en-US" altLang="zh-CN" sz="2500" b="1" baseline="-25000" dirty="0">
                <a:ea typeface="楷体_GB2312" pitchFamily="49" charset="-122"/>
                <a:sym typeface="Webdings" pitchFamily="18" charset="2"/>
              </a:rPr>
              <a:t> </a:t>
            </a:r>
            <a:r>
              <a:rPr lang="en-US" altLang="zh-CN" sz="2500" b="1" dirty="0">
                <a:ea typeface="楷体_GB2312" pitchFamily="49" charset="-122"/>
              </a:rPr>
              <a:t>+ </a:t>
            </a:r>
            <a:r>
              <a:rPr lang="en-US" altLang="zh-CN" sz="2500" b="1" dirty="0" err="1">
                <a:ea typeface="楷体_GB2312" pitchFamily="49" charset="-122"/>
              </a:rPr>
              <a:t>lg</a:t>
            </a:r>
            <a:r>
              <a:rPr lang="en-US" altLang="zh-CN" sz="2500" b="1" dirty="0">
                <a:ea typeface="楷体_GB2312" pitchFamily="49" charset="-122"/>
              </a:rPr>
              <a:t>(</a:t>
            </a:r>
            <a:r>
              <a:rPr lang="en-US" altLang="zh-CN" sz="2500" b="1" i="1" dirty="0" err="1">
                <a:ea typeface="楷体_GB2312" pitchFamily="49" charset="-122"/>
              </a:rPr>
              <a:t>c</a:t>
            </a:r>
            <a:r>
              <a:rPr lang="en-US" altLang="zh-CN" sz="2500" b="1" i="1" baseline="-25000" dirty="0" err="1">
                <a:ea typeface="楷体_GB2312" pitchFamily="49" charset="-122"/>
              </a:rPr>
              <a:t>b</a:t>
            </a:r>
            <a:r>
              <a:rPr lang="en-US" altLang="zh-CN" sz="2500" b="1" dirty="0">
                <a:ea typeface="楷体_GB2312" pitchFamily="49" charset="-122"/>
              </a:rPr>
              <a:t>/</a:t>
            </a:r>
            <a:r>
              <a:rPr lang="en-US" altLang="zh-CN" sz="2500" b="1" i="1" dirty="0">
                <a:ea typeface="楷体_GB2312" pitchFamily="49" charset="-122"/>
              </a:rPr>
              <a:t>c</a:t>
            </a:r>
            <a:r>
              <a:rPr lang="en-US" altLang="zh-CN" sz="2500" b="1" i="1" baseline="-25000" dirty="0">
                <a:ea typeface="楷体_GB2312" pitchFamily="49" charset="-122"/>
              </a:rPr>
              <a:t>a</a:t>
            </a:r>
            <a:r>
              <a:rPr lang="en-US" altLang="zh-CN" sz="2500" b="1" dirty="0">
                <a:ea typeface="楷体_GB2312" pitchFamily="49" charset="-122"/>
              </a:rPr>
              <a:t>) = 7.75</a:t>
            </a:r>
          </a:p>
        </p:txBody>
      </p:sp>
      <p:sp>
        <p:nvSpPr>
          <p:cNvPr id="12297" name="Rectangle 30"/>
          <p:cNvSpPr>
            <a:spLocks noGrp="1" noChangeArrowheads="1"/>
          </p:cNvSpPr>
          <p:nvPr>
            <p:ph type="title"/>
          </p:nvPr>
        </p:nvSpPr>
        <p:spPr>
          <a:xfrm>
            <a:off x="576263" y="258763"/>
            <a:ext cx="4176662" cy="431800"/>
          </a:xfrm>
        </p:spPr>
        <p:txBody>
          <a:bodyPr/>
          <a:lstStyle/>
          <a:p>
            <a:pPr eaLnBrk="1" hangingPunct="1"/>
            <a:r>
              <a:rPr lang="en-US" altLang="zh-CN" dirty="0" smtClean="0">
                <a:ea typeface="黑体" pitchFamily="49" charset="-122"/>
              </a:rPr>
              <a:t>3.6.2</a:t>
            </a:r>
            <a:r>
              <a:rPr lang="zh-CN" altLang="en-US" dirty="0" smtClean="0">
                <a:ea typeface="黑体" pitchFamily="49" charset="-122"/>
              </a:rPr>
              <a:t>强碱</a:t>
            </a:r>
            <a:r>
              <a:rPr lang="en-US" altLang="zh-CN" dirty="0" smtClean="0">
                <a:ea typeface="黑体" pitchFamily="49" charset="-122"/>
              </a:rPr>
              <a:t>(</a:t>
            </a:r>
            <a:r>
              <a:rPr lang="zh-CN" altLang="en-US" dirty="0" smtClean="0">
                <a:ea typeface="黑体" pitchFamily="49" charset="-122"/>
              </a:rPr>
              <a:t>酸</a:t>
            </a:r>
            <a:r>
              <a:rPr lang="en-US" altLang="zh-CN" dirty="0" smtClean="0">
                <a:ea typeface="黑体" pitchFamily="49" charset="-122"/>
              </a:rPr>
              <a:t>)</a:t>
            </a:r>
            <a:r>
              <a:rPr lang="zh-CN" altLang="en-US" dirty="0" smtClean="0">
                <a:ea typeface="黑体" pitchFamily="49" charset="-122"/>
              </a:rPr>
              <a:t>滴定一元弱酸</a:t>
            </a:r>
            <a:r>
              <a:rPr lang="en-US" altLang="zh-CN" dirty="0" smtClean="0">
                <a:ea typeface="黑体" pitchFamily="49" charset="-122"/>
              </a:rPr>
              <a:t>(</a:t>
            </a:r>
            <a:r>
              <a:rPr lang="zh-CN" altLang="en-US" dirty="0" smtClean="0">
                <a:ea typeface="黑体" pitchFamily="49" charset="-122"/>
              </a:rPr>
              <a:t>碱</a:t>
            </a:r>
            <a:r>
              <a:rPr lang="en-US" altLang="zh-CN" dirty="0" smtClean="0">
                <a:ea typeface="黑体" pitchFamily="49" charset="-122"/>
              </a:rPr>
              <a:t>)</a:t>
            </a:r>
            <a:endParaRPr lang="en-US" altLang="zh-CN" sz="1800" dirty="0" smtClean="0">
              <a:ea typeface="黑体" pitchFamily="49" charset="-122"/>
            </a:endParaRPr>
          </a:p>
        </p:txBody>
      </p:sp>
      <p:sp>
        <p:nvSpPr>
          <p:cNvPr id="12298" name="Oval 26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gray">
          <a:xfrm>
            <a:off x="0" y="6264101"/>
            <a:ext cx="360363" cy="360362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299" name="Oval 27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gray">
          <a:xfrm>
            <a:off x="11161713" y="5597525"/>
            <a:ext cx="360362" cy="360363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597310" y="726698"/>
            <a:ext cx="9073206" cy="4770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500" b="1" dirty="0">
                <a:solidFill>
                  <a:srgbClr val="000000"/>
                </a:solidFill>
                <a:ea typeface="楷体_GB2312"/>
              </a:rPr>
              <a:t>例：</a:t>
            </a:r>
            <a:r>
              <a:rPr lang="en-US" altLang="zh-CN" sz="2500" b="1" dirty="0">
                <a:solidFill>
                  <a:srgbClr val="000000"/>
                </a:solidFill>
                <a:ea typeface="楷体_GB2312"/>
              </a:rPr>
              <a:t> 0.1000mol·L</a:t>
            </a:r>
            <a:r>
              <a:rPr lang="en-US" altLang="zh-CN" sz="2500" b="1" baseline="30000" dirty="0">
                <a:solidFill>
                  <a:srgbClr val="000000"/>
                </a:solidFill>
                <a:ea typeface="楷体_GB2312"/>
              </a:rPr>
              <a:t>-1</a:t>
            </a:r>
            <a:r>
              <a:rPr lang="en-US" altLang="zh-CN" sz="2500" b="1" dirty="0">
                <a:solidFill>
                  <a:srgbClr val="000000"/>
                </a:solidFill>
                <a:ea typeface="楷体_GB2312"/>
              </a:rPr>
              <a:t>NaOH</a:t>
            </a:r>
            <a:r>
              <a:rPr lang="zh-CN" altLang="en-US" sz="2500" b="1" dirty="0">
                <a:solidFill>
                  <a:srgbClr val="000000"/>
                </a:solidFill>
                <a:ea typeface="楷体_GB2312" pitchFamily="49" charset="-122"/>
              </a:rPr>
              <a:t>滴定</a:t>
            </a:r>
            <a:r>
              <a:rPr lang="en-US" altLang="zh-CN" sz="2500" b="1" dirty="0">
                <a:solidFill>
                  <a:srgbClr val="000000"/>
                </a:solidFill>
                <a:ea typeface="楷体_GB2312" pitchFamily="49" charset="-122"/>
              </a:rPr>
              <a:t>20.00mL0.1000mol·L</a:t>
            </a:r>
            <a:r>
              <a:rPr lang="en-US" altLang="zh-CN" sz="2500" b="1" baseline="30000" dirty="0">
                <a:solidFill>
                  <a:srgbClr val="000000"/>
                </a:solidFill>
                <a:ea typeface="楷体_GB2312" pitchFamily="49" charset="-122"/>
              </a:rPr>
              <a:t>-1</a:t>
            </a:r>
            <a:r>
              <a:rPr lang="en-US" altLang="zh-CN" sz="2500" b="1" dirty="0">
                <a:solidFill>
                  <a:srgbClr val="000000"/>
                </a:solidFill>
                <a:ea typeface="楷体_GB2312"/>
              </a:rPr>
              <a:t>HAc</a:t>
            </a:r>
            <a:endParaRPr lang="zh-CN" altLang="en-US" dirty="0"/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3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73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73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73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7374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73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737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737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737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737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737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737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737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735" grpId="0" build="p" autoUpdateAnimBg="0"/>
      <p:bldP spid="73740" grpId="0" autoUpdateAnimBg="0"/>
      <p:bldP spid="73742" grpId="0" autoUpdateAnimBg="0"/>
      <p:bldP spid="73743" grpId="0" animBg="1"/>
      <p:bldP spid="73744" grpId="0" autoUpdateAnimBg="0"/>
      <p:bldP spid="73746" grpId="0" autoUpdateAnimBg="0"/>
      <p:bldP spid="73747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742024" y="760139"/>
            <a:ext cx="152477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zh-CN" sz="2400" b="1" dirty="0">
                <a:solidFill>
                  <a:srgbClr val="FF0000"/>
                </a:solidFill>
                <a:ea typeface="楷体_GB2312"/>
                <a:sym typeface="Monotype Sorts" pitchFamily="2" charset="2"/>
              </a:rPr>
              <a:t>①</a:t>
            </a:r>
            <a:r>
              <a:rPr lang="zh-CN" altLang="en-US" sz="2400" b="1" dirty="0">
                <a:solidFill>
                  <a:srgbClr val="FF0000"/>
                </a:solidFill>
                <a:ea typeface="楷体_GB2312"/>
              </a:rPr>
              <a:t>滴定前</a:t>
            </a:r>
            <a:r>
              <a:rPr lang="en-US" altLang="zh-CN" sz="2400" b="1" dirty="0">
                <a:solidFill>
                  <a:srgbClr val="FF0000"/>
                </a:solidFill>
                <a:ea typeface="楷体_GB2312"/>
              </a:rPr>
              <a:t>:</a:t>
            </a:r>
          </a:p>
        </p:txBody>
      </p:sp>
      <p:sp>
        <p:nvSpPr>
          <p:cNvPr id="3" name="Rectangle 30"/>
          <p:cNvSpPr>
            <a:spLocks noGrp="1" noChangeArrowheads="1"/>
          </p:cNvSpPr>
          <p:nvPr>
            <p:ph type="title"/>
          </p:nvPr>
        </p:nvSpPr>
        <p:spPr>
          <a:xfrm>
            <a:off x="576263" y="89943"/>
            <a:ext cx="6048870" cy="769441"/>
          </a:xfrm>
        </p:spPr>
        <p:txBody>
          <a:bodyPr/>
          <a:lstStyle/>
          <a:p>
            <a:pPr eaLnBrk="1" hangingPunct="1"/>
            <a:r>
              <a:rPr lang="en-US" altLang="zh-CN" dirty="0" smtClean="0">
                <a:ea typeface="黑体" pitchFamily="49" charset="-122"/>
              </a:rPr>
              <a:t>3.6.2</a:t>
            </a:r>
            <a:r>
              <a:rPr lang="zh-CN" altLang="en-US" dirty="0" smtClean="0">
                <a:ea typeface="黑体" pitchFamily="49" charset="-122"/>
              </a:rPr>
              <a:t>强碱</a:t>
            </a:r>
            <a:r>
              <a:rPr lang="en-US" altLang="zh-CN" dirty="0" smtClean="0">
                <a:ea typeface="黑体" pitchFamily="49" charset="-122"/>
              </a:rPr>
              <a:t>(</a:t>
            </a:r>
            <a:r>
              <a:rPr lang="zh-CN" altLang="en-US" dirty="0" smtClean="0">
                <a:ea typeface="黑体" pitchFamily="49" charset="-122"/>
              </a:rPr>
              <a:t>酸</a:t>
            </a:r>
            <a:r>
              <a:rPr lang="en-US" altLang="zh-CN" dirty="0" smtClean="0">
                <a:ea typeface="黑体" pitchFamily="49" charset="-122"/>
              </a:rPr>
              <a:t>)</a:t>
            </a:r>
            <a:r>
              <a:rPr lang="zh-CN" altLang="en-US" dirty="0" smtClean="0">
                <a:ea typeface="黑体" pitchFamily="49" charset="-122"/>
              </a:rPr>
              <a:t>滴定一元弱酸</a:t>
            </a:r>
            <a:r>
              <a:rPr lang="en-US" altLang="zh-CN" dirty="0" smtClean="0">
                <a:ea typeface="黑体" pitchFamily="49" charset="-122"/>
              </a:rPr>
              <a:t>(</a:t>
            </a:r>
            <a:r>
              <a:rPr lang="zh-CN" altLang="en-US" dirty="0" smtClean="0">
                <a:ea typeface="黑体" pitchFamily="49" charset="-122"/>
              </a:rPr>
              <a:t>碱</a:t>
            </a:r>
            <a:r>
              <a:rPr lang="en-US" altLang="zh-CN" dirty="0" smtClean="0">
                <a:ea typeface="黑体" pitchFamily="49" charset="-122"/>
              </a:rPr>
              <a:t>) </a:t>
            </a:r>
            <a:r>
              <a:rPr lang="zh-CN" altLang="en-US" dirty="0" smtClean="0">
                <a:ea typeface="黑体" pitchFamily="49" charset="-122"/>
              </a:rPr>
              <a:t>过程回顾总结</a:t>
            </a:r>
            <a:endParaRPr lang="en-US" altLang="zh-CN" sz="1800" dirty="0" smtClean="0">
              <a:ea typeface="黑体" pitchFamily="49" charset="-122"/>
            </a:endParaRPr>
          </a:p>
        </p:txBody>
      </p:sp>
      <p:sp>
        <p:nvSpPr>
          <p:cNvPr id="5" name="Rectangle 7"/>
          <p:cNvSpPr>
            <a:spLocks noChangeArrowheads="1"/>
          </p:cNvSpPr>
          <p:nvPr/>
        </p:nvSpPr>
        <p:spPr bwMode="auto">
          <a:xfrm>
            <a:off x="760194" y="4241499"/>
            <a:ext cx="6336112" cy="477054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kumimoji="0" lang="en-US" altLang="zh-CN" sz="25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_GB2312"/>
                <a:cs typeface="+mn-cs"/>
              </a:rPr>
              <a:t>pOH 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_GB2312"/>
                <a:cs typeface="+mn-cs"/>
              </a:rPr>
              <a:t>= (</a:t>
            </a:r>
            <a:r>
              <a:rPr kumimoji="0" lang="en-US" altLang="zh-CN" sz="25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_GB2312"/>
                <a:cs typeface="+mn-cs"/>
              </a:rPr>
              <a:t>p</a:t>
            </a:r>
            <a:r>
              <a:rPr kumimoji="0" lang="en-US" altLang="zh-CN" sz="2500" b="1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_GB2312"/>
                <a:cs typeface="+mn-cs"/>
              </a:rPr>
              <a:t>K</a:t>
            </a:r>
            <a:r>
              <a:rPr kumimoji="0" lang="en-US" altLang="zh-CN" sz="1600" b="1" i="0" u="none" strike="noStrike" kern="1200" cap="none" spc="0" normalizeH="0" baseline="10000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_GB2312"/>
                <a:cs typeface="+mn-cs"/>
                <a:sym typeface="Webdings" pitchFamily="18" charset="2"/>
              </a:rPr>
              <a:t></a:t>
            </a:r>
            <a:r>
              <a:rPr lang="en-US" altLang="zh-CN" sz="2500" b="1" baseline="-25000" dirty="0" err="1">
                <a:solidFill>
                  <a:srgbClr val="000000"/>
                </a:solidFill>
                <a:ea typeface="楷体_GB2312"/>
                <a:sym typeface="Webdings" pitchFamily="18" charset="2"/>
              </a:rPr>
              <a:t>b</a:t>
            </a:r>
            <a:r>
              <a:rPr kumimoji="0" lang="en-US" altLang="zh-CN" sz="2500" b="1" i="0" u="none" strike="noStrike" kern="1200" cap="none" spc="0" normalizeH="0" baseline="-2500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_GB2312"/>
                <a:cs typeface="+mn-cs"/>
                <a:sym typeface="Webdings" pitchFamily="18" charset="2"/>
              </a:rPr>
              <a:t> 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_GB2312"/>
                <a:cs typeface="+mn-cs"/>
              </a:rPr>
              <a:t>+ p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_GB2312"/>
                <a:cs typeface="+mn-cs"/>
              </a:rPr>
              <a:t>c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_GB2312"/>
                <a:cs typeface="+mn-cs"/>
              </a:rPr>
              <a:t>)/</a:t>
            </a:r>
            <a:r>
              <a:rPr kumimoji="0" lang="en-US" altLang="zh-CN" sz="25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_GB2312"/>
                <a:cs typeface="+mn-cs"/>
              </a:rPr>
              <a:t>2       </a:t>
            </a:r>
            <a:r>
              <a:rPr lang="en-US" altLang="zh-CN" sz="2500" b="1" dirty="0" smtClean="0">
                <a:solidFill>
                  <a:srgbClr val="000000"/>
                </a:solidFill>
                <a:ea typeface="楷体_GB2312"/>
              </a:rPr>
              <a:t>pH = (</a:t>
            </a:r>
            <a:r>
              <a:rPr lang="en-US" altLang="zh-CN" sz="2500" b="1" dirty="0" err="1" smtClean="0">
                <a:solidFill>
                  <a:srgbClr val="000000"/>
                </a:solidFill>
                <a:ea typeface="楷体_GB2312"/>
              </a:rPr>
              <a:t>p</a:t>
            </a:r>
            <a:r>
              <a:rPr lang="en-US" altLang="zh-CN" sz="2500" b="1" i="1" dirty="0" err="1" smtClean="0">
                <a:solidFill>
                  <a:srgbClr val="000000"/>
                </a:solidFill>
                <a:ea typeface="楷体_GB2312"/>
              </a:rPr>
              <a:t>K</a:t>
            </a:r>
            <a:r>
              <a:rPr lang="en-US" altLang="zh-CN" sz="1600" b="1" baseline="100000" dirty="0" err="1" smtClean="0">
                <a:solidFill>
                  <a:srgbClr val="000000"/>
                </a:solidFill>
                <a:ea typeface="楷体_GB2312"/>
                <a:sym typeface="Webdings" pitchFamily="18" charset="2"/>
              </a:rPr>
              <a:t></a:t>
            </a:r>
            <a:r>
              <a:rPr lang="en-US" altLang="zh-CN" sz="2500" b="1" baseline="-25000" dirty="0" err="1">
                <a:solidFill>
                  <a:srgbClr val="000000"/>
                </a:solidFill>
                <a:ea typeface="楷体_GB2312"/>
                <a:sym typeface="Webdings" pitchFamily="18" charset="2"/>
              </a:rPr>
              <a:t>a</a:t>
            </a:r>
            <a:r>
              <a:rPr lang="en-US" altLang="zh-CN" sz="2500" b="1" baseline="-25000" dirty="0" smtClean="0">
                <a:solidFill>
                  <a:srgbClr val="000000"/>
                </a:solidFill>
                <a:ea typeface="楷体_GB2312"/>
                <a:sym typeface="Webdings" pitchFamily="18" charset="2"/>
              </a:rPr>
              <a:t> </a:t>
            </a:r>
            <a:r>
              <a:rPr lang="en-US" altLang="zh-CN" sz="2500" b="1" dirty="0" smtClean="0">
                <a:solidFill>
                  <a:srgbClr val="000000"/>
                </a:solidFill>
                <a:ea typeface="楷体_GB2312"/>
              </a:rPr>
              <a:t>+ p</a:t>
            </a:r>
            <a:r>
              <a:rPr lang="en-US" altLang="zh-CN" sz="2500" b="1" i="1" dirty="0" smtClean="0">
                <a:solidFill>
                  <a:srgbClr val="000000"/>
                </a:solidFill>
                <a:ea typeface="楷体_GB2312"/>
              </a:rPr>
              <a:t>c</a:t>
            </a:r>
            <a:r>
              <a:rPr lang="en-US" altLang="zh-CN" sz="2500" b="1" dirty="0" smtClean="0">
                <a:solidFill>
                  <a:srgbClr val="000000"/>
                </a:solidFill>
                <a:ea typeface="楷体_GB2312"/>
              </a:rPr>
              <a:t>)/2</a:t>
            </a:r>
            <a:r>
              <a:rPr kumimoji="0" lang="en-US" altLang="zh-CN" sz="25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_GB2312"/>
                <a:cs typeface="+mn-cs"/>
              </a:rPr>
              <a:t> </a:t>
            </a:r>
            <a:endParaRPr kumimoji="0" lang="en-US" altLang="zh-CN" sz="25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楷体_GB2312"/>
              <a:cs typeface="+mn-cs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762013" y="2075533"/>
            <a:ext cx="4158511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zh-CN" sz="2500" b="1" dirty="0">
                <a:solidFill>
                  <a:srgbClr val="FF0000"/>
                </a:solidFill>
                <a:ea typeface="楷体_GB2312"/>
                <a:sym typeface="Monotype Sorts" pitchFamily="2" charset="2"/>
              </a:rPr>
              <a:t>②</a:t>
            </a:r>
            <a:r>
              <a:rPr lang="zh-CN" altLang="en-US" sz="2500" b="1" dirty="0">
                <a:solidFill>
                  <a:srgbClr val="FF0000"/>
                </a:solidFill>
                <a:ea typeface="楷体_GB2312"/>
                <a:sym typeface="Monotype Sorts" pitchFamily="2" charset="2"/>
              </a:rPr>
              <a:t>滴定开始至化学计量点前</a:t>
            </a:r>
            <a:r>
              <a:rPr lang="en-US" altLang="zh-CN" sz="2500" b="1" dirty="0">
                <a:solidFill>
                  <a:srgbClr val="FF0000"/>
                </a:solidFill>
                <a:ea typeface="楷体_GB2312"/>
                <a:sym typeface="Monotype Sorts" pitchFamily="2" charset="2"/>
              </a:rPr>
              <a:t>:</a:t>
            </a:r>
          </a:p>
        </p:txBody>
      </p:sp>
      <p:sp>
        <p:nvSpPr>
          <p:cNvPr id="8" name="矩形 7"/>
          <p:cNvSpPr/>
          <p:nvPr/>
        </p:nvSpPr>
        <p:spPr>
          <a:xfrm>
            <a:off x="1825955" y="1151221"/>
            <a:ext cx="2842445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zh-CN" altLang="en-US" sz="2500" b="1" dirty="0" smtClean="0">
                <a:solidFill>
                  <a:srgbClr val="0000FF"/>
                </a:solidFill>
                <a:ea typeface="楷体_GB2312"/>
              </a:rPr>
              <a:t>一</a:t>
            </a:r>
            <a:r>
              <a:rPr lang="zh-CN" altLang="en-US" sz="2500" b="1" dirty="0">
                <a:solidFill>
                  <a:srgbClr val="0000FF"/>
                </a:solidFill>
                <a:ea typeface="楷体_GB2312"/>
              </a:rPr>
              <a:t>元弱酸（弱碱）</a:t>
            </a:r>
            <a:r>
              <a:rPr lang="en-US" altLang="zh-CN" sz="2500" b="1" dirty="0">
                <a:solidFill>
                  <a:srgbClr val="000000"/>
                </a:solidFill>
                <a:ea typeface="楷体_GB2312"/>
              </a:rPr>
              <a:t>.</a:t>
            </a:r>
          </a:p>
        </p:txBody>
      </p:sp>
      <p:sp>
        <p:nvSpPr>
          <p:cNvPr id="10" name="矩形 9"/>
          <p:cNvSpPr/>
          <p:nvPr/>
        </p:nvSpPr>
        <p:spPr>
          <a:xfrm>
            <a:off x="1825954" y="2488846"/>
            <a:ext cx="3486852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zh-CN" altLang="en-US" sz="2500" b="1" dirty="0" smtClean="0">
                <a:solidFill>
                  <a:srgbClr val="0000FF"/>
                </a:solidFill>
                <a:ea typeface="楷体_GB2312"/>
              </a:rPr>
              <a:t>缓冲体系（共轭酸碱）</a:t>
            </a:r>
            <a:r>
              <a:rPr lang="en-US" altLang="zh-CN" sz="2500" b="1" dirty="0" smtClean="0">
                <a:solidFill>
                  <a:srgbClr val="000000"/>
                </a:solidFill>
                <a:ea typeface="楷体_GB2312"/>
              </a:rPr>
              <a:t>.</a:t>
            </a:r>
            <a:endParaRPr lang="en-US" altLang="zh-CN" sz="2500" b="1" dirty="0">
              <a:solidFill>
                <a:srgbClr val="000000"/>
              </a:solidFill>
              <a:ea typeface="楷体_GB2312"/>
            </a:endParaRPr>
          </a:p>
        </p:txBody>
      </p:sp>
      <p:sp>
        <p:nvSpPr>
          <p:cNvPr id="11" name="Rectangle 19"/>
          <p:cNvSpPr>
            <a:spLocks noChangeArrowheads="1"/>
          </p:cNvSpPr>
          <p:nvPr/>
        </p:nvSpPr>
        <p:spPr bwMode="auto">
          <a:xfrm>
            <a:off x="1401497" y="2990325"/>
            <a:ext cx="2961067" cy="477054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altLang="zh-CN" sz="2500" b="1" dirty="0">
                <a:ea typeface="楷体_GB2312" pitchFamily="49" charset="-122"/>
              </a:rPr>
              <a:t>pH = </a:t>
            </a:r>
            <a:r>
              <a:rPr lang="en-US" altLang="zh-CN" sz="2500" b="1" dirty="0" err="1">
                <a:ea typeface="楷体_GB2312" pitchFamily="49" charset="-122"/>
              </a:rPr>
              <a:t>p</a:t>
            </a:r>
            <a:r>
              <a:rPr lang="en-US" altLang="zh-CN" sz="2500" b="1" i="1" dirty="0" err="1">
                <a:ea typeface="楷体_GB2312" pitchFamily="49" charset="-122"/>
              </a:rPr>
              <a:t>K</a:t>
            </a:r>
            <a:r>
              <a:rPr lang="en-US" altLang="zh-CN" sz="1600" b="1" baseline="100000" dirty="0" err="1"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baseline="-25000" dirty="0" err="1">
                <a:ea typeface="楷体_GB2312" pitchFamily="49" charset="-122"/>
                <a:sym typeface="Webdings" pitchFamily="18" charset="2"/>
              </a:rPr>
              <a:t>a</a:t>
            </a:r>
            <a:r>
              <a:rPr lang="en-US" altLang="zh-CN" sz="2500" b="1" baseline="-25000" dirty="0">
                <a:ea typeface="楷体_GB2312" pitchFamily="49" charset="-122"/>
                <a:sym typeface="Webdings" pitchFamily="18" charset="2"/>
              </a:rPr>
              <a:t> </a:t>
            </a:r>
            <a:r>
              <a:rPr lang="en-US" altLang="zh-CN" sz="2500" b="1" dirty="0">
                <a:ea typeface="楷体_GB2312" pitchFamily="49" charset="-122"/>
              </a:rPr>
              <a:t>+ </a:t>
            </a:r>
            <a:r>
              <a:rPr lang="en-US" altLang="zh-CN" sz="2500" b="1" dirty="0" err="1">
                <a:ea typeface="楷体_GB2312" pitchFamily="49" charset="-122"/>
              </a:rPr>
              <a:t>lg</a:t>
            </a:r>
            <a:r>
              <a:rPr lang="en-US" altLang="zh-CN" sz="2500" b="1" dirty="0">
                <a:ea typeface="楷体_GB2312" pitchFamily="49" charset="-122"/>
              </a:rPr>
              <a:t>(</a:t>
            </a:r>
            <a:r>
              <a:rPr lang="en-US" altLang="zh-CN" sz="2500" b="1" i="1" dirty="0" err="1">
                <a:ea typeface="楷体_GB2312" pitchFamily="49" charset="-122"/>
              </a:rPr>
              <a:t>c</a:t>
            </a:r>
            <a:r>
              <a:rPr lang="en-US" altLang="zh-CN" sz="2500" b="1" i="1" baseline="-25000" dirty="0" err="1">
                <a:ea typeface="楷体_GB2312" pitchFamily="49" charset="-122"/>
              </a:rPr>
              <a:t>b</a:t>
            </a:r>
            <a:r>
              <a:rPr lang="en-US" altLang="zh-CN" sz="2500" b="1" dirty="0">
                <a:ea typeface="楷体_GB2312" pitchFamily="49" charset="-122"/>
              </a:rPr>
              <a:t>/</a:t>
            </a:r>
            <a:r>
              <a:rPr lang="en-US" altLang="zh-CN" sz="2500" b="1" i="1" dirty="0">
                <a:ea typeface="楷体_GB2312" pitchFamily="49" charset="-122"/>
              </a:rPr>
              <a:t>c</a:t>
            </a:r>
            <a:r>
              <a:rPr lang="en-US" altLang="zh-CN" sz="2500" b="1" i="1" baseline="-25000" dirty="0">
                <a:ea typeface="楷体_GB2312" pitchFamily="49" charset="-122"/>
              </a:rPr>
              <a:t>a</a:t>
            </a:r>
            <a:r>
              <a:rPr lang="en-US" altLang="zh-CN" sz="2500" b="1" dirty="0" smtClean="0">
                <a:ea typeface="楷体_GB2312" pitchFamily="49" charset="-122"/>
              </a:rPr>
              <a:t>)</a:t>
            </a:r>
            <a:endParaRPr lang="en-US" altLang="zh-CN" sz="2500" b="1" dirty="0">
              <a:ea typeface="楷体_GB2312" pitchFamily="49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802949" y="3358537"/>
            <a:ext cx="2225289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zh-CN" sz="2500" b="1" dirty="0">
                <a:solidFill>
                  <a:srgbClr val="FF0000"/>
                </a:solidFill>
                <a:ea typeface="楷体_GB2312"/>
                <a:sym typeface="Monotype Sorts" pitchFamily="2" charset="2"/>
              </a:rPr>
              <a:t>③</a:t>
            </a:r>
            <a:r>
              <a:rPr lang="zh-CN" altLang="en-US" sz="2500" b="1" dirty="0">
                <a:solidFill>
                  <a:srgbClr val="FF0000"/>
                </a:solidFill>
                <a:ea typeface="楷体_GB2312"/>
                <a:sym typeface="Monotype Sorts" pitchFamily="2" charset="2"/>
              </a:rPr>
              <a:t>化学计量点</a:t>
            </a:r>
            <a:r>
              <a:rPr lang="en-US" altLang="zh-CN" sz="2500" b="1" dirty="0">
                <a:solidFill>
                  <a:srgbClr val="FF0000"/>
                </a:solidFill>
                <a:ea typeface="楷体_GB2312"/>
                <a:sym typeface="Monotype Sorts" pitchFamily="2" charset="2"/>
              </a:rPr>
              <a:t>:</a:t>
            </a:r>
          </a:p>
        </p:txBody>
      </p:sp>
      <p:sp>
        <p:nvSpPr>
          <p:cNvPr id="14" name="矩形 13"/>
          <p:cNvSpPr/>
          <p:nvPr/>
        </p:nvSpPr>
        <p:spPr>
          <a:xfrm>
            <a:off x="1825954" y="3764445"/>
            <a:ext cx="2842445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zh-CN" altLang="en-US" sz="2500" b="1" dirty="0" smtClean="0">
                <a:solidFill>
                  <a:srgbClr val="000000"/>
                </a:solidFill>
                <a:ea typeface="楷体_GB2312"/>
              </a:rPr>
              <a:t>一</a:t>
            </a:r>
            <a:r>
              <a:rPr lang="zh-CN" altLang="en-US" sz="2500" b="1" dirty="0">
                <a:solidFill>
                  <a:srgbClr val="0000FF"/>
                </a:solidFill>
                <a:ea typeface="楷体_GB2312"/>
              </a:rPr>
              <a:t>元弱碱（弱酸</a:t>
            </a:r>
            <a:r>
              <a:rPr lang="zh-CN" altLang="en-US" sz="2500" b="1" dirty="0" smtClean="0">
                <a:solidFill>
                  <a:srgbClr val="0000FF"/>
                </a:solidFill>
                <a:ea typeface="楷体_GB2312"/>
              </a:rPr>
              <a:t>）</a:t>
            </a:r>
            <a:r>
              <a:rPr lang="en-US" altLang="zh-CN" sz="2500" b="1" dirty="0" smtClean="0">
                <a:solidFill>
                  <a:srgbClr val="0000FF"/>
                </a:solidFill>
                <a:ea typeface="楷体_GB2312"/>
              </a:rPr>
              <a:t>.</a:t>
            </a:r>
            <a:endParaRPr lang="en-US" altLang="zh-CN" sz="2500" b="1" dirty="0">
              <a:solidFill>
                <a:srgbClr val="0000FF"/>
              </a:solidFill>
              <a:ea typeface="楷体_GB231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825859" y="1177613"/>
            <a:ext cx="1151277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500" b="1" dirty="0">
                <a:solidFill>
                  <a:srgbClr val="0000FF"/>
                </a:solidFill>
                <a:ea typeface="楷体_GB2312"/>
              </a:rPr>
              <a:t>体系：</a:t>
            </a:r>
            <a:endParaRPr lang="zh-CN" altLang="en-US" dirty="0"/>
          </a:p>
        </p:txBody>
      </p:sp>
      <p:sp>
        <p:nvSpPr>
          <p:cNvPr id="16" name="矩形 15"/>
          <p:cNvSpPr/>
          <p:nvPr/>
        </p:nvSpPr>
        <p:spPr>
          <a:xfrm>
            <a:off x="864492" y="2517970"/>
            <a:ext cx="1151277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500" b="1" dirty="0">
                <a:solidFill>
                  <a:srgbClr val="0000FF"/>
                </a:solidFill>
                <a:ea typeface="楷体_GB2312"/>
              </a:rPr>
              <a:t>体系：</a:t>
            </a:r>
            <a:endParaRPr lang="zh-CN" altLang="en-US" dirty="0"/>
          </a:p>
        </p:txBody>
      </p:sp>
      <p:sp>
        <p:nvSpPr>
          <p:cNvPr id="17" name="矩形 16"/>
          <p:cNvSpPr/>
          <p:nvPr/>
        </p:nvSpPr>
        <p:spPr>
          <a:xfrm>
            <a:off x="864492" y="3810283"/>
            <a:ext cx="1151277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500" b="1" dirty="0">
                <a:solidFill>
                  <a:srgbClr val="0000FF"/>
                </a:solidFill>
                <a:ea typeface="楷体_GB2312"/>
              </a:rPr>
              <a:t>体系：</a:t>
            </a:r>
            <a:endParaRPr lang="zh-CN" altLang="en-US" dirty="0"/>
          </a:p>
        </p:txBody>
      </p:sp>
      <p:sp>
        <p:nvSpPr>
          <p:cNvPr id="18" name="矩形 17"/>
          <p:cNvSpPr/>
          <p:nvPr/>
        </p:nvSpPr>
        <p:spPr>
          <a:xfrm>
            <a:off x="798047" y="4710678"/>
            <a:ext cx="2547492" cy="49629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lnSpc>
                <a:spcPct val="105000"/>
              </a:lnSpc>
              <a:defRPr/>
            </a:pPr>
            <a:r>
              <a:rPr lang="en-US" altLang="zh-CN" sz="2500" b="1" dirty="0">
                <a:solidFill>
                  <a:srgbClr val="FF0000"/>
                </a:solidFill>
                <a:ea typeface="楷体_GB2312"/>
                <a:sym typeface="Monotype Sorts" pitchFamily="2" charset="2"/>
              </a:rPr>
              <a:t>④</a:t>
            </a:r>
            <a:r>
              <a:rPr lang="zh-CN" altLang="en-US" sz="2500" b="1" dirty="0">
                <a:solidFill>
                  <a:srgbClr val="FF0000"/>
                </a:solidFill>
                <a:ea typeface="楷体_GB2312"/>
                <a:sym typeface="Monotype Sorts" pitchFamily="2" charset="2"/>
              </a:rPr>
              <a:t>化学计量点后</a:t>
            </a:r>
            <a:r>
              <a:rPr lang="en-US" altLang="zh-CN" sz="2500" b="1" dirty="0">
                <a:solidFill>
                  <a:srgbClr val="FF0000"/>
                </a:solidFill>
                <a:ea typeface="楷体_GB2312"/>
                <a:sym typeface="Monotype Sorts" pitchFamily="2" charset="2"/>
              </a:rPr>
              <a:t>:</a:t>
            </a:r>
            <a:endParaRPr lang="en-US" altLang="zh-CN" sz="2500" b="1" dirty="0">
              <a:solidFill>
                <a:srgbClr val="FF0000"/>
              </a:solidFill>
              <a:ea typeface="楷体_GB231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928773" y="5138949"/>
            <a:ext cx="1151277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500" b="1" dirty="0">
                <a:solidFill>
                  <a:srgbClr val="0000FF"/>
                </a:solidFill>
                <a:ea typeface="楷体_GB2312"/>
              </a:rPr>
              <a:t>体系：</a:t>
            </a:r>
            <a:endParaRPr lang="zh-CN" altLang="en-US" dirty="0"/>
          </a:p>
        </p:txBody>
      </p:sp>
      <p:sp>
        <p:nvSpPr>
          <p:cNvPr id="21" name="矩形 20"/>
          <p:cNvSpPr/>
          <p:nvPr/>
        </p:nvSpPr>
        <p:spPr>
          <a:xfrm>
            <a:off x="1915139" y="5150310"/>
            <a:ext cx="4453463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500" b="1" dirty="0">
                <a:solidFill>
                  <a:srgbClr val="0000FF"/>
                </a:solidFill>
                <a:ea typeface="楷体_GB2312" pitchFamily="49" charset="-122"/>
              </a:rPr>
              <a:t>过量</a:t>
            </a:r>
            <a:r>
              <a:rPr lang="zh-CN" altLang="en-US" sz="2500" b="1" dirty="0" smtClean="0">
                <a:solidFill>
                  <a:srgbClr val="0000FF"/>
                </a:solidFill>
                <a:ea typeface="楷体_GB2312" pitchFamily="49" charset="-122"/>
              </a:rPr>
              <a:t>滴定剂（强碱 强酸）</a:t>
            </a:r>
            <a:r>
              <a:rPr lang="zh-CN" altLang="en-US" sz="2500" b="1" dirty="0">
                <a:solidFill>
                  <a:srgbClr val="0000FF"/>
                </a:solidFill>
                <a:ea typeface="楷体_GB2312" pitchFamily="49" charset="-122"/>
              </a:rPr>
              <a:t>浓度</a:t>
            </a:r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13" y="1489332"/>
            <a:ext cx="6334293" cy="670618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6402" y="353923"/>
            <a:ext cx="2160240" cy="2071650"/>
          </a:xfrm>
          <a:prstGeom prst="rect">
            <a:avLst/>
          </a:prstGeom>
        </p:spPr>
      </p:pic>
      <p:sp>
        <p:nvSpPr>
          <p:cNvPr id="27" name="文本框 26"/>
          <p:cNvSpPr txBox="1"/>
          <p:nvPr/>
        </p:nvSpPr>
        <p:spPr>
          <a:xfrm>
            <a:off x="7652858" y="2831070"/>
            <a:ext cx="3384376" cy="138499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  <a:ea typeface="楷体_GB2312" panose="02010609030101010101"/>
              </a:rPr>
              <a:t>具体问题具体分析</a:t>
            </a:r>
            <a:endParaRPr lang="en-US" altLang="zh-CN" sz="2800" b="1" dirty="0" smtClean="0">
              <a:solidFill>
                <a:srgbClr val="FF0000"/>
              </a:solidFill>
              <a:ea typeface="楷体_GB2312" panose="02010609030101010101"/>
            </a:endParaRPr>
          </a:p>
          <a:p>
            <a:r>
              <a:rPr lang="zh-CN" altLang="en-US" sz="2800" b="1" dirty="0" smtClean="0">
                <a:solidFill>
                  <a:srgbClr val="FF0000"/>
                </a:solidFill>
                <a:ea typeface="楷体_GB2312" panose="02010609030101010101"/>
              </a:rPr>
              <a:t>先判断体系再选用相应公式计算</a:t>
            </a:r>
            <a:endParaRPr lang="zh-CN" altLang="en-US" sz="2800" b="1" dirty="0">
              <a:solidFill>
                <a:srgbClr val="FF0000"/>
              </a:solidFill>
              <a:ea typeface="楷体_GB2312" panose="02010609030101010101"/>
            </a:endParaRPr>
          </a:p>
        </p:txBody>
      </p:sp>
    </p:spTree>
    <p:extLst>
      <p:ext uri="{BB962C8B-B14F-4D97-AF65-F5344CB8AC3E}">
        <p14:creationId xmlns:p14="http://schemas.microsoft.com/office/powerpoint/2010/main" val="1984141164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8" grpId="0"/>
      <p:bldP spid="10" grpId="0"/>
      <p:bldP spid="11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1" grpId="0"/>
      <p:bldP spid="2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练一练</a:t>
            </a:r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504653" y="758899"/>
            <a:ext cx="1015332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</a:pPr>
            <a:r>
              <a:rPr lang="en-US" altLang="zh-CN" sz="2400" b="1" kern="100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1. 50 </a:t>
            </a:r>
            <a:r>
              <a:rPr lang="en-US" altLang="zh-CN" sz="2400" b="1" kern="100" dirty="0">
                <a:ea typeface="宋体" panose="02010600030101010101" pitchFamily="2" charset="-122"/>
                <a:cs typeface="Times New Roman" panose="02020603050405020304" pitchFamily="18" charset="0"/>
              </a:rPr>
              <a:t>mL 0.1mol/L </a:t>
            </a:r>
            <a:r>
              <a:rPr lang="zh-CN" altLang="zh-CN" sz="2400" b="1" kern="100" dirty="0">
                <a:ea typeface="宋体" panose="02010600030101010101" pitchFamily="2" charset="-122"/>
                <a:cs typeface="Times New Roman" panose="02020603050405020304" pitchFamily="18" charset="0"/>
              </a:rPr>
              <a:t>一元弱酸溶液，与</a:t>
            </a:r>
            <a:r>
              <a:rPr lang="en-US" altLang="zh-CN" sz="2400" b="1" kern="100" dirty="0">
                <a:ea typeface="宋体" panose="02010600030101010101" pitchFamily="2" charset="-122"/>
                <a:cs typeface="Times New Roman" panose="02020603050405020304" pitchFamily="18" charset="0"/>
              </a:rPr>
              <a:t>25 mL</a:t>
            </a:r>
            <a:r>
              <a:rPr lang="zh-CN" altLang="zh-CN" sz="2400" b="1" kern="100" dirty="0">
                <a:ea typeface="宋体" panose="02010600030101010101" pitchFamily="2" charset="-122"/>
                <a:cs typeface="Times New Roman" panose="02020603050405020304" pitchFamily="18" charset="0"/>
              </a:rPr>
              <a:t>同浓度的</a:t>
            </a:r>
            <a:r>
              <a:rPr lang="en-US" altLang="zh-CN" sz="2400" b="1" kern="100" dirty="0" err="1">
                <a:ea typeface="宋体" panose="02010600030101010101" pitchFamily="2" charset="-122"/>
                <a:cs typeface="Times New Roman" panose="02020603050405020304" pitchFamily="18" charset="0"/>
              </a:rPr>
              <a:t>NaOH</a:t>
            </a:r>
            <a:r>
              <a:rPr lang="zh-CN" altLang="zh-CN" sz="2400" b="1" kern="100" dirty="0">
                <a:ea typeface="宋体" panose="02010600030101010101" pitchFamily="2" charset="-122"/>
                <a:cs typeface="Times New Roman" panose="02020603050405020304" pitchFamily="18" charset="0"/>
              </a:rPr>
              <a:t>混合，将混合液稀释至</a:t>
            </a:r>
            <a:r>
              <a:rPr lang="en-US" altLang="zh-CN" sz="2400" b="1" kern="100" dirty="0">
                <a:ea typeface="宋体" panose="02010600030101010101" pitchFamily="2" charset="-122"/>
                <a:cs typeface="Times New Roman" panose="02020603050405020304" pitchFamily="18" charset="0"/>
              </a:rPr>
              <a:t>100 mL</a:t>
            </a:r>
            <a:r>
              <a:rPr lang="zh-CN" altLang="zh-CN" sz="2400" b="1" kern="100" dirty="0">
                <a:ea typeface="宋体" panose="02010600030101010101" pitchFamily="2" charset="-122"/>
                <a:cs typeface="Times New Roman" panose="02020603050405020304" pitchFamily="18" charset="0"/>
              </a:rPr>
              <a:t>，测得其</a:t>
            </a:r>
            <a:r>
              <a:rPr lang="en-US" altLang="zh-CN" sz="2400" b="1" kern="100" dirty="0">
                <a:ea typeface="宋体" panose="02010600030101010101" pitchFamily="2" charset="-122"/>
                <a:cs typeface="Times New Roman" panose="02020603050405020304" pitchFamily="18" charset="0"/>
              </a:rPr>
              <a:t>pH</a:t>
            </a:r>
            <a:r>
              <a:rPr lang="zh-CN" altLang="zh-CN" sz="2400" b="1" kern="100" dirty="0">
                <a:ea typeface="宋体" panose="02010600030101010101" pitchFamily="2" charset="-122"/>
                <a:cs typeface="Times New Roman" panose="02020603050405020304" pitchFamily="18" charset="0"/>
              </a:rPr>
              <a:t>为</a:t>
            </a:r>
            <a:r>
              <a:rPr lang="en-US" altLang="zh-CN" sz="2400" b="1" kern="100" dirty="0">
                <a:ea typeface="宋体" panose="02010600030101010101" pitchFamily="2" charset="-122"/>
                <a:cs typeface="Times New Roman" panose="02020603050405020304" pitchFamily="18" charset="0"/>
              </a:rPr>
              <a:t>5.35</a:t>
            </a:r>
            <a:r>
              <a:rPr lang="zh-CN" altLang="zh-CN" sz="2400" b="1" kern="100" dirty="0">
                <a:ea typeface="宋体" panose="02010600030101010101" pitchFamily="2" charset="-122"/>
                <a:cs typeface="Times New Roman" panose="02020603050405020304" pitchFamily="18" charset="0"/>
              </a:rPr>
              <a:t>，则该弱酸的解离平衡常数为</a:t>
            </a:r>
            <a:r>
              <a:rPr lang="zh-CN" altLang="zh-CN" sz="2400" b="1" kern="100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400" b="1" kern="100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zh-CN" altLang="zh-CN" sz="2400" b="1" kern="100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endParaRPr lang="zh-CN" altLang="zh-CN" sz="2400" b="1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10108" y="1620377"/>
            <a:ext cx="103018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/>
              <a:t>A 5.1×10</a:t>
            </a:r>
            <a:r>
              <a:rPr lang="en-US" altLang="zh-CN" sz="2400" b="1" baseline="30000" dirty="0"/>
              <a:t>-8</a:t>
            </a:r>
            <a:r>
              <a:rPr lang="en-US" altLang="zh-CN" sz="2400" b="1" dirty="0"/>
              <a:t>               B 1.76×10</a:t>
            </a:r>
            <a:r>
              <a:rPr lang="en-US" altLang="zh-CN" sz="2400" b="1" baseline="30000" dirty="0"/>
              <a:t>-5    </a:t>
            </a:r>
            <a:r>
              <a:rPr lang="en-US" altLang="zh-CN" sz="2400" b="1" dirty="0"/>
              <a:t>                 C 4.5×10</a:t>
            </a:r>
            <a:r>
              <a:rPr lang="en-US" altLang="zh-CN" sz="2400" b="1" baseline="30000" dirty="0"/>
              <a:t>-6</a:t>
            </a:r>
            <a:r>
              <a:rPr lang="en-US" altLang="zh-CN" sz="2400" b="1" dirty="0"/>
              <a:t>                  D </a:t>
            </a:r>
            <a:r>
              <a:rPr lang="en-US" altLang="zh-CN" sz="2400" b="1" dirty="0" smtClean="0"/>
              <a:t>2.6×10 </a:t>
            </a:r>
            <a:r>
              <a:rPr lang="en-US" altLang="zh-CN" sz="2400" b="1" baseline="30000" dirty="0" smtClean="0"/>
              <a:t>-3</a:t>
            </a:r>
            <a:endParaRPr lang="zh-CN" altLang="en-US" sz="2400" b="1" baseline="30000" dirty="0"/>
          </a:p>
        </p:txBody>
      </p:sp>
      <p:sp>
        <p:nvSpPr>
          <p:cNvPr id="5" name="文本框 4"/>
          <p:cNvSpPr txBox="1"/>
          <p:nvPr/>
        </p:nvSpPr>
        <p:spPr>
          <a:xfrm flipH="1">
            <a:off x="9145413" y="1089629"/>
            <a:ext cx="5255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 smtClean="0">
                <a:solidFill>
                  <a:srgbClr val="FF0000"/>
                </a:solidFill>
              </a:rPr>
              <a:t>C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504653" y="2194588"/>
            <a:ext cx="1044116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</a:pPr>
            <a:r>
              <a:rPr lang="en-US" altLang="zh-CN" sz="2400" b="1" kern="100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2. </a:t>
            </a:r>
            <a:r>
              <a:rPr lang="zh-CN" altLang="zh-CN" sz="2400" b="1" kern="100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lang="en-US" altLang="zh-CN" sz="2400" b="1" kern="100" dirty="0">
                <a:ea typeface="宋体" panose="02010600030101010101" pitchFamily="2" charset="-122"/>
                <a:cs typeface="Times New Roman" panose="02020603050405020304" pitchFamily="18" charset="0"/>
              </a:rPr>
              <a:t>35.0mL0.20 mol·L</a:t>
            </a:r>
            <a:r>
              <a:rPr lang="en-US" altLang="zh-CN" sz="2400" b="1" kern="100" baseline="30000" dirty="0">
                <a:ea typeface="宋体" panose="02010600030101010101" pitchFamily="2" charset="-122"/>
                <a:cs typeface="Times New Roman" panose="02020603050405020304" pitchFamily="18" charset="0"/>
              </a:rPr>
              <a:t>-1</a:t>
            </a:r>
            <a:r>
              <a:rPr lang="en-US" altLang="zh-CN" sz="2400" b="1" kern="100" dirty="0">
                <a:ea typeface="宋体" panose="02010600030101010101" pitchFamily="2" charset="-122"/>
                <a:cs typeface="Times New Roman" panose="02020603050405020304" pitchFamily="18" charset="0"/>
              </a:rPr>
              <a:t>HCN</a:t>
            </a:r>
            <a:r>
              <a:rPr lang="zh-CN" altLang="zh-CN" sz="2400" b="1" kern="100" dirty="0">
                <a:ea typeface="宋体" panose="02010600030101010101" pitchFamily="2" charset="-122"/>
                <a:cs typeface="Times New Roman" panose="02020603050405020304" pitchFamily="18" charset="0"/>
              </a:rPr>
              <a:t>溶液中，加入</a:t>
            </a:r>
            <a:r>
              <a:rPr lang="en-US" altLang="zh-CN" sz="2400" b="1" kern="100" dirty="0">
                <a:ea typeface="宋体" panose="02010600030101010101" pitchFamily="2" charset="-122"/>
                <a:cs typeface="Times New Roman" panose="02020603050405020304" pitchFamily="18" charset="0"/>
              </a:rPr>
              <a:t>25.0mL0.20 mol·L</a:t>
            </a:r>
            <a:r>
              <a:rPr lang="en-US" altLang="zh-CN" sz="2400" b="1" kern="100" baseline="30000" dirty="0">
                <a:ea typeface="宋体" panose="02010600030101010101" pitchFamily="2" charset="-122"/>
                <a:cs typeface="Times New Roman" panose="02020603050405020304" pitchFamily="18" charset="0"/>
              </a:rPr>
              <a:t>-1</a:t>
            </a:r>
            <a:r>
              <a:rPr lang="en-US" altLang="zh-CN" sz="2400" b="1" kern="100" dirty="0">
                <a:ea typeface="宋体" panose="02010600030101010101" pitchFamily="2" charset="-122"/>
                <a:cs typeface="Times New Roman" panose="02020603050405020304" pitchFamily="18" charset="0"/>
              </a:rPr>
              <a:t>KOH</a:t>
            </a:r>
            <a:r>
              <a:rPr lang="zh-CN" altLang="zh-CN" sz="2400" b="1" kern="100" dirty="0">
                <a:ea typeface="宋体" panose="02010600030101010101" pitchFamily="2" charset="-122"/>
                <a:cs typeface="Times New Roman" panose="02020603050405020304" pitchFamily="18" charset="0"/>
              </a:rPr>
              <a:t>溶液，混合溶液的</a:t>
            </a:r>
            <a:r>
              <a:rPr lang="en-US" altLang="zh-CN" sz="2400" b="1" kern="100" dirty="0">
                <a:ea typeface="宋体" panose="02010600030101010101" pitchFamily="2" charset="-122"/>
                <a:cs typeface="Times New Roman" panose="02020603050405020304" pitchFamily="18" charset="0"/>
              </a:rPr>
              <a:t>pH</a:t>
            </a:r>
            <a:r>
              <a:rPr lang="zh-CN" altLang="zh-CN" sz="2400" b="1" kern="100" dirty="0">
                <a:ea typeface="宋体" panose="02010600030101010101" pitchFamily="2" charset="-122"/>
                <a:cs typeface="Times New Roman" panose="02020603050405020304" pitchFamily="18" charset="0"/>
              </a:rPr>
              <a:t>值是</a:t>
            </a:r>
            <a:r>
              <a:rPr lang="zh-CN" altLang="zh-CN" sz="2400" b="1" kern="100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400" b="1" kern="100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zh-CN" altLang="zh-CN" sz="2400" b="1" kern="100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r>
              <a:rPr lang="en-US" altLang="zh-CN" sz="2400" b="1" kern="100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400" b="1" dirty="0" err="1"/>
              <a:t>Ka</a:t>
            </a:r>
            <a:r>
              <a:rPr lang="en-US" altLang="zh-CN" sz="2400" b="1" dirty="0"/>
              <a:t> (HCN) =6.2×10</a:t>
            </a:r>
            <a:r>
              <a:rPr lang="en-US" altLang="zh-CN" sz="2400" b="1" baseline="30000" dirty="0"/>
              <a:t>-10</a:t>
            </a:r>
            <a:endParaRPr lang="zh-CN" altLang="zh-CN" sz="2400" b="1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altLang="zh-CN" sz="2400" b="1" kern="100" dirty="0">
                <a:ea typeface="宋体" panose="02010600030101010101" pitchFamily="2" charset="-122"/>
                <a:cs typeface="Times New Roman" panose="02020603050405020304" pitchFamily="18" charset="0"/>
              </a:rPr>
              <a:t>A. 5.7          B. 6.4         C. 9.5           D. 8.6</a:t>
            </a:r>
            <a:endParaRPr lang="zh-CN" altLang="zh-CN" sz="2400" b="1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 flipH="1">
            <a:off x="2103509" y="5196160"/>
            <a:ext cx="5255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 smtClean="0">
                <a:solidFill>
                  <a:srgbClr val="FF0000"/>
                </a:solidFill>
              </a:rPr>
              <a:t>   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470807" y="4706120"/>
            <a:ext cx="1044116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</a:pPr>
            <a:r>
              <a:rPr lang="en-US" altLang="zh-CN" sz="2400" b="1" kern="100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4. </a:t>
            </a:r>
            <a:r>
              <a:rPr lang="zh-CN" altLang="zh-CN" sz="2400" b="1" kern="100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lang="en-US" altLang="zh-CN" sz="2400" b="1" kern="100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40 mL0.10 mol·L</a:t>
            </a:r>
            <a:r>
              <a:rPr lang="en-US" altLang="zh-CN" sz="2400" b="1" kern="100" baseline="30000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-1</a:t>
            </a:r>
            <a:r>
              <a:rPr lang="en-US" altLang="zh-CN" sz="2400" b="1" kern="100" dirty="0">
                <a:ea typeface="宋体" panose="02010600030101010101" pitchFamily="2" charset="-122"/>
                <a:cs typeface="Times New Roman" panose="02020603050405020304" pitchFamily="18" charset="0"/>
              </a:rPr>
              <a:t>HCN</a:t>
            </a:r>
            <a:r>
              <a:rPr lang="zh-CN" altLang="zh-CN" sz="2400" b="1" kern="100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中</a:t>
            </a:r>
            <a:r>
              <a:rPr lang="zh-CN" altLang="zh-CN" sz="2400" b="1" kern="100" dirty="0"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zh-CN" altLang="zh-CN" sz="2400" b="1" kern="100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加入</a:t>
            </a:r>
            <a:r>
              <a:rPr lang="en-US" altLang="zh-CN" sz="2400" b="1" kern="100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60 mL</a:t>
            </a:r>
            <a:r>
              <a:rPr lang="zh-CN" altLang="en-US" sz="2400" b="1" kern="100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同浓度</a:t>
            </a:r>
            <a:r>
              <a:rPr lang="en-US" altLang="zh-CN" sz="2400" b="1" kern="100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KOH</a:t>
            </a:r>
            <a:r>
              <a:rPr lang="zh-CN" altLang="zh-CN" sz="2400" b="1" kern="100" dirty="0">
                <a:ea typeface="宋体" panose="02010600030101010101" pitchFamily="2" charset="-122"/>
                <a:cs typeface="Times New Roman" panose="02020603050405020304" pitchFamily="18" charset="0"/>
              </a:rPr>
              <a:t>溶液</a:t>
            </a:r>
            <a:r>
              <a:rPr lang="zh-CN" altLang="zh-CN" sz="2400" b="1" kern="100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zh-CN" altLang="en-US" sz="2400" b="1" kern="100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lang="zh-CN" altLang="zh-CN" sz="2400" b="1" kern="100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混合</a:t>
            </a:r>
            <a:r>
              <a:rPr lang="zh-CN" altLang="zh-CN" sz="2400" b="1" kern="100" dirty="0">
                <a:ea typeface="宋体" panose="02010600030101010101" pitchFamily="2" charset="-122"/>
                <a:cs typeface="Times New Roman" panose="02020603050405020304" pitchFamily="18" charset="0"/>
              </a:rPr>
              <a:t>溶液</a:t>
            </a:r>
            <a:r>
              <a:rPr lang="zh-CN" altLang="zh-CN" sz="2400" b="1" kern="100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en-US" altLang="zh-CN" sz="2400" b="1" kern="100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pH</a:t>
            </a:r>
            <a:r>
              <a:rPr lang="zh-CN" altLang="zh-CN" sz="2400" b="1" kern="100" dirty="0">
                <a:ea typeface="宋体" panose="02010600030101010101" pitchFamily="2" charset="-122"/>
                <a:cs typeface="Times New Roman" panose="02020603050405020304" pitchFamily="18" charset="0"/>
              </a:rPr>
              <a:t>值</a:t>
            </a:r>
            <a:r>
              <a:rPr lang="zh-CN" altLang="zh-CN" sz="2400" b="1" kern="100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是</a:t>
            </a:r>
            <a:r>
              <a:rPr lang="zh-CN" altLang="en-US" sz="2400" b="1" kern="100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（    ）</a:t>
            </a:r>
            <a:endParaRPr lang="zh-CN" altLang="zh-CN" sz="2400" b="1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altLang="zh-CN" sz="2400" b="1" kern="100" dirty="0">
                <a:ea typeface="宋体" panose="02010600030101010101" pitchFamily="2" charset="-122"/>
                <a:cs typeface="Times New Roman" panose="02020603050405020304" pitchFamily="18" charset="0"/>
              </a:rPr>
              <a:t>A. </a:t>
            </a:r>
            <a:r>
              <a:rPr lang="en-US" altLang="zh-CN" sz="2400" b="1" kern="100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4.5          </a:t>
            </a:r>
            <a:r>
              <a:rPr lang="en-US" altLang="zh-CN" sz="2400" b="1" kern="100" dirty="0">
                <a:ea typeface="宋体" panose="02010600030101010101" pitchFamily="2" charset="-122"/>
                <a:cs typeface="Times New Roman" panose="02020603050405020304" pitchFamily="18" charset="0"/>
              </a:rPr>
              <a:t>B. </a:t>
            </a:r>
            <a:r>
              <a:rPr lang="en-US" altLang="zh-CN" sz="2400" b="1" kern="100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9.2         </a:t>
            </a:r>
            <a:r>
              <a:rPr lang="en-US" altLang="zh-CN" sz="2400" b="1" kern="100" dirty="0">
                <a:ea typeface="宋体" panose="02010600030101010101" pitchFamily="2" charset="-122"/>
                <a:cs typeface="Times New Roman" panose="02020603050405020304" pitchFamily="18" charset="0"/>
              </a:rPr>
              <a:t>C. </a:t>
            </a:r>
            <a:r>
              <a:rPr lang="en-US" altLang="zh-CN" sz="2400" b="1" kern="100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12.3           </a:t>
            </a:r>
            <a:r>
              <a:rPr lang="en-US" altLang="zh-CN" sz="2400" b="1" kern="100" dirty="0">
                <a:ea typeface="宋体" panose="02010600030101010101" pitchFamily="2" charset="-122"/>
                <a:cs typeface="Times New Roman" panose="02020603050405020304" pitchFamily="18" charset="0"/>
              </a:rPr>
              <a:t>D. </a:t>
            </a:r>
            <a:r>
              <a:rPr lang="en-US" altLang="zh-CN" sz="2400" b="1" kern="100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11.6</a:t>
            </a:r>
            <a:endParaRPr lang="zh-CN" altLang="zh-CN" sz="2400" b="1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 flipH="1">
            <a:off x="2181414" y="3898010"/>
            <a:ext cx="5255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 smtClean="0">
                <a:solidFill>
                  <a:srgbClr val="FF0000"/>
                </a:solidFill>
              </a:rPr>
              <a:t>C    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540457" y="3523945"/>
            <a:ext cx="1044116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</a:pPr>
            <a:r>
              <a:rPr lang="en-US" altLang="zh-CN" sz="2400" b="1" kern="100" dirty="0"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sz="2400" b="1" kern="100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. </a:t>
            </a:r>
            <a:r>
              <a:rPr lang="zh-CN" altLang="zh-CN" sz="2400" b="1" kern="100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lang="en-US" altLang="zh-CN" sz="2400" b="1" kern="100" dirty="0">
                <a:ea typeface="宋体" panose="02010600030101010101" pitchFamily="2" charset="-122"/>
                <a:cs typeface="Times New Roman" panose="02020603050405020304" pitchFamily="18" charset="0"/>
              </a:rPr>
              <a:t>35.0mL0.20 </a:t>
            </a:r>
            <a:r>
              <a:rPr lang="en-US" altLang="zh-CN" sz="2400" b="1" kern="100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mol·L</a:t>
            </a:r>
            <a:r>
              <a:rPr lang="en-US" altLang="zh-CN" sz="2400" b="1" kern="100" baseline="30000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-1</a:t>
            </a:r>
            <a:r>
              <a:rPr lang="en-US" altLang="zh-CN" sz="2400" b="1" kern="100" dirty="0">
                <a:ea typeface="宋体" panose="02010600030101010101" pitchFamily="2" charset="-122"/>
                <a:cs typeface="Times New Roman" panose="02020603050405020304" pitchFamily="18" charset="0"/>
              </a:rPr>
              <a:t>HCN</a:t>
            </a:r>
            <a:r>
              <a:rPr lang="zh-CN" altLang="zh-CN" sz="2400" b="1" kern="100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中</a:t>
            </a:r>
            <a:r>
              <a:rPr lang="zh-CN" altLang="zh-CN" sz="2400" b="1" kern="100" dirty="0"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zh-CN" altLang="zh-CN" sz="2400" b="1" kern="100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加入</a:t>
            </a:r>
            <a:r>
              <a:rPr lang="zh-CN" altLang="en-US" sz="2400" b="1" kern="100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等体积同浓度</a:t>
            </a:r>
            <a:r>
              <a:rPr lang="en-US" altLang="zh-CN" sz="2400" b="1" kern="100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KOH</a:t>
            </a:r>
            <a:r>
              <a:rPr lang="zh-CN" altLang="zh-CN" sz="2400" b="1" kern="100" dirty="0">
                <a:ea typeface="宋体" panose="02010600030101010101" pitchFamily="2" charset="-122"/>
                <a:cs typeface="Times New Roman" panose="02020603050405020304" pitchFamily="18" charset="0"/>
              </a:rPr>
              <a:t>溶液</a:t>
            </a:r>
            <a:r>
              <a:rPr lang="zh-CN" altLang="zh-CN" sz="2400" b="1" kern="100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zh-CN" altLang="en-US" sz="2400" b="1" kern="100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lang="zh-CN" altLang="zh-CN" sz="2400" b="1" kern="100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混合</a:t>
            </a:r>
            <a:r>
              <a:rPr lang="zh-CN" altLang="zh-CN" sz="2400" b="1" kern="100" dirty="0">
                <a:ea typeface="宋体" panose="02010600030101010101" pitchFamily="2" charset="-122"/>
                <a:cs typeface="Times New Roman" panose="02020603050405020304" pitchFamily="18" charset="0"/>
              </a:rPr>
              <a:t>溶液</a:t>
            </a:r>
            <a:r>
              <a:rPr lang="zh-CN" altLang="zh-CN" sz="2400" b="1" kern="100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en-US" altLang="zh-CN" sz="2400" b="1" kern="100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pH</a:t>
            </a:r>
            <a:r>
              <a:rPr lang="zh-CN" altLang="zh-CN" sz="2400" b="1" kern="100" dirty="0">
                <a:ea typeface="宋体" panose="02010600030101010101" pitchFamily="2" charset="-122"/>
                <a:cs typeface="Times New Roman" panose="02020603050405020304" pitchFamily="18" charset="0"/>
              </a:rPr>
              <a:t>值</a:t>
            </a:r>
            <a:r>
              <a:rPr lang="zh-CN" altLang="zh-CN" sz="2400" b="1" kern="100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是（</a:t>
            </a:r>
            <a:r>
              <a:rPr lang="en-US" altLang="zh-CN" sz="2400" b="1" kern="100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zh-CN" altLang="zh-CN" sz="2400" b="1" kern="100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r>
              <a:rPr lang="en-US" altLang="zh-CN" sz="2400" b="1" dirty="0"/>
              <a:t> </a:t>
            </a:r>
            <a:r>
              <a:rPr lang="en-US" altLang="zh-CN" sz="2400" b="1" dirty="0" err="1"/>
              <a:t>Ka</a:t>
            </a:r>
            <a:r>
              <a:rPr lang="en-US" altLang="zh-CN" sz="2400" b="1" dirty="0"/>
              <a:t> (HCN) =</a:t>
            </a:r>
            <a:r>
              <a:rPr lang="en-US" altLang="zh-CN" sz="2400" b="1" dirty="0" smtClean="0"/>
              <a:t>6.2×10</a:t>
            </a:r>
            <a:r>
              <a:rPr lang="en-US" altLang="zh-CN" sz="2400" b="1" baseline="30000" dirty="0" smtClean="0"/>
              <a:t>-10</a:t>
            </a:r>
            <a:endParaRPr lang="zh-CN" altLang="zh-CN" sz="2400" b="1" kern="100" dirty="0" smtClean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altLang="zh-CN" sz="2400" b="1" kern="100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A. 9.5          B. 6.4         C. </a:t>
            </a:r>
            <a:r>
              <a:rPr lang="en-US" altLang="zh-CN" sz="2400" b="1" kern="100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8.9</a:t>
            </a:r>
            <a:r>
              <a:rPr lang="en-US" altLang="zh-CN" sz="2400" b="1" kern="100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     </a:t>
            </a:r>
            <a:r>
              <a:rPr lang="en-US" altLang="zh-CN" sz="2400" b="1" kern="100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D. </a:t>
            </a:r>
            <a:r>
              <a:rPr lang="en-US" altLang="zh-CN" sz="2400" b="1" kern="100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5.1</a:t>
            </a:r>
            <a:endParaRPr lang="zh-CN" altLang="zh-CN" sz="2400" b="1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 flipH="1">
            <a:off x="3096741" y="2563919"/>
            <a:ext cx="5255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 smtClean="0">
                <a:solidFill>
                  <a:srgbClr val="FF0000"/>
                </a:solidFill>
              </a:rPr>
              <a:t>C    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 flipH="1">
            <a:off x="1884735" y="5018587"/>
            <a:ext cx="5255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 smtClean="0">
                <a:solidFill>
                  <a:srgbClr val="FF0000"/>
                </a:solidFill>
              </a:rPr>
              <a:t>C    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5869117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/>
      <p:bldP spid="11" grpId="0"/>
      <p:bldP spid="1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2474" name="Object 10"/>
          <p:cNvGraphicFramePr>
            <a:graphicFrameLocks noChangeAspect="1"/>
          </p:cNvGraphicFramePr>
          <p:nvPr>
            <p:extLst/>
          </p:nvPr>
        </p:nvGraphicFramePr>
        <p:xfrm>
          <a:off x="392463" y="1456234"/>
          <a:ext cx="5138737" cy="3400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1" name="BMP 图象" r:id="rId4" imgW="2752381" imgH="2429214" progId="PBrush">
                  <p:embed/>
                </p:oleObj>
              </mc:Choice>
              <mc:Fallback>
                <p:oleObj name="BMP 图象" r:id="rId4" imgW="2752381" imgH="2429214" progId="PBrush">
                  <p:embed/>
                  <p:pic>
                    <p:nvPicPr>
                      <p:cNvPr id="62474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463" y="1456234"/>
                        <a:ext cx="5138737" cy="3400425"/>
                      </a:xfrm>
                      <a:prstGeom prst="rect">
                        <a:avLst/>
                      </a:prstGeom>
                      <a:noFill/>
                      <a:ln w="25400">
                        <a:solidFill>
                          <a:srgbClr val="FF00FF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475" name="Rectangle 11"/>
          <p:cNvSpPr>
            <a:spLocks noChangeArrowheads="1"/>
          </p:cNvSpPr>
          <p:nvPr/>
        </p:nvSpPr>
        <p:spPr bwMode="auto">
          <a:xfrm>
            <a:off x="589101" y="879475"/>
            <a:ext cx="2838350" cy="49629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　　作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pH~ 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V</a:t>
            </a:r>
            <a:r>
              <a:rPr kumimoji="0" lang="zh-CN" altLang="en-US" sz="25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滴定剂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.</a:t>
            </a:r>
          </a:p>
        </p:txBody>
      </p:sp>
      <p:sp>
        <p:nvSpPr>
          <p:cNvPr id="2052" name="Rectangle 20"/>
          <p:cNvSpPr>
            <a:spLocks noGrp="1" noChangeArrowheads="1"/>
          </p:cNvSpPr>
          <p:nvPr>
            <p:ph type="title"/>
          </p:nvPr>
        </p:nvSpPr>
        <p:spPr>
          <a:xfrm>
            <a:off x="576263" y="258763"/>
            <a:ext cx="10369550" cy="477837"/>
          </a:xfrm>
        </p:spPr>
        <p:txBody>
          <a:bodyPr/>
          <a:lstStyle/>
          <a:p>
            <a:pPr eaLnBrk="1" hangingPunct="1"/>
            <a:r>
              <a:rPr lang="en-US" altLang="zh-CN" sz="2500" smtClean="0">
                <a:ea typeface="楷体_GB2312" pitchFamily="49" charset="-122"/>
              </a:rPr>
              <a:t>3.6.2</a:t>
            </a:r>
            <a:r>
              <a:rPr lang="zh-CN" altLang="en-US" sz="2500" smtClean="0">
                <a:ea typeface="楷体_GB2312" pitchFamily="49" charset="-122"/>
              </a:rPr>
              <a:t>强碱</a:t>
            </a:r>
            <a:r>
              <a:rPr lang="en-US" altLang="zh-CN" sz="2500" smtClean="0">
                <a:ea typeface="楷体_GB2312" pitchFamily="49" charset="-122"/>
              </a:rPr>
              <a:t>(</a:t>
            </a:r>
            <a:r>
              <a:rPr lang="zh-CN" altLang="en-US" sz="2500" smtClean="0">
                <a:ea typeface="楷体_GB2312" pitchFamily="49" charset="-122"/>
              </a:rPr>
              <a:t>酸</a:t>
            </a:r>
            <a:r>
              <a:rPr lang="en-US" altLang="zh-CN" sz="2500" smtClean="0">
                <a:ea typeface="楷体_GB2312" pitchFamily="49" charset="-122"/>
              </a:rPr>
              <a:t>)</a:t>
            </a:r>
            <a:r>
              <a:rPr lang="zh-CN" altLang="en-US" sz="2500" smtClean="0">
                <a:ea typeface="楷体_GB2312" pitchFamily="49" charset="-122"/>
              </a:rPr>
              <a:t>滴定一元弱酸</a:t>
            </a:r>
            <a:r>
              <a:rPr lang="en-US" altLang="zh-CN" sz="2500" smtClean="0">
                <a:ea typeface="楷体_GB2312" pitchFamily="49" charset="-122"/>
              </a:rPr>
              <a:t>(</a:t>
            </a:r>
            <a:r>
              <a:rPr lang="zh-CN" altLang="en-US" sz="2500" smtClean="0">
                <a:ea typeface="楷体_GB2312" pitchFamily="49" charset="-122"/>
              </a:rPr>
              <a:t>碱</a:t>
            </a:r>
            <a:r>
              <a:rPr lang="en-US" altLang="zh-CN" sz="2500" smtClean="0">
                <a:ea typeface="楷体_GB2312" pitchFamily="49" charset="-122"/>
              </a:rPr>
              <a:t>)</a:t>
            </a:r>
          </a:p>
        </p:txBody>
      </p:sp>
      <p:sp>
        <p:nvSpPr>
          <p:cNvPr id="100352" name="Text Box 0"/>
          <p:cNvSpPr txBox="1">
            <a:spLocks noChangeArrowheads="1"/>
          </p:cNvSpPr>
          <p:nvPr/>
        </p:nvSpPr>
        <p:spPr bwMode="auto">
          <a:xfrm>
            <a:off x="253724" y="5097096"/>
            <a:ext cx="5934694" cy="4778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        </a:t>
            </a:r>
            <a:r>
              <a:rPr kumimoji="1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特点</a:t>
            </a:r>
            <a:r>
              <a:rPr kumimoji="1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: </a:t>
            </a:r>
            <a:r>
              <a:rPr kumimoji="1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起点</a:t>
            </a:r>
            <a:r>
              <a:rPr kumimoji="1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;</a:t>
            </a:r>
            <a:r>
              <a:rPr kumimoji="1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开始到突跃前</a:t>
            </a:r>
            <a:r>
              <a:rPr kumimoji="1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;</a:t>
            </a:r>
            <a:r>
              <a:rPr kumimoji="1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计量点</a:t>
            </a:r>
            <a:r>
              <a:rPr kumimoji="1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.</a:t>
            </a:r>
          </a:p>
        </p:txBody>
      </p:sp>
      <p:sp>
        <p:nvSpPr>
          <p:cNvPr id="2054" name="Oval 26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gray">
          <a:xfrm>
            <a:off x="0" y="5597525"/>
            <a:ext cx="360363" cy="360363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charset="-122"/>
              <a:cs typeface="+mn-cs"/>
            </a:endParaRPr>
          </a:p>
        </p:txBody>
      </p:sp>
      <p:sp>
        <p:nvSpPr>
          <p:cNvPr id="2055" name="Oval 27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gray">
          <a:xfrm>
            <a:off x="11155363" y="5688013"/>
            <a:ext cx="360362" cy="360362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charset="-122"/>
              <a:cs typeface="+mn-cs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134080" y="887626"/>
            <a:ext cx="48790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latin typeface="新宋体" panose="02010609030101010101" pitchFamily="49" charset="-122"/>
                <a:ea typeface="新宋体" panose="02010609030101010101" pitchFamily="49" charset="-122"/>
              </a:rPr>
              <a:t>①滴定前，弱酸仅部分解离，曲线开始点提高</a:t>
            </a:r>
            <a:endParaRPr lang="zh-CN" altLang="en-US" sz="2400" b="1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102309" y="1831476"/>
            <a:ext cx="484350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②滴定开始时，</a:t>
            </a:r>
            <a:r>
              <a:rPr lang="en-US" altLang="zh-CN" sz="24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pH</a:t>
            </a:r>
            <a:r>
              <a:rPr lang="zh-CN" altLang="en-US" sz="24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上升较快，由于产生</a:t>
            </a:r>
            <a:r>
              <a:rPr lang="zh-CN" altLang="en-US" sz="2400" b="1" dirty="0" smtClean="0">
                <a:latin typeface="新宋体" panose="02010609030101010101" pitchFamily="49" charset="-122"/>
                <a:ea typeface="新宋体" panose="02010609030101010101" pitchFamily="49" charset="-122"/>
              </a:rPr>
              <a:t>的共轭碱因</a:t>
            </a:r>
            <a:r>
              <a:rPr lang="zh-CN" altLang="en-US" sz="24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同离子效应抑制酸解离，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6134080" y="3040765"/>
            <a:ext cx="493339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③继续添加</a:t>
            </a:r>
            <a:r>
              <a:rPr lang="en-US" altLang="zh-CN" sz="2400" b="1" dirty="0" err="1">
                <a:latin typeface="新宋体" panose="02010609030101010101" pitchFamily="49" charset="-122"/>
                <a:ea typeface="新宋体" panose="02010609030101010101" pitchFamily="49" charset="-122"/>
              </a:rPr>
              <a:t>NaOH</a:t>
            </a:r>
            <a:r>
              <a:rPr lang="zh-CN" altLang="en-US" sz="24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，溶液呈缓冲体系，曲线平缓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6143689" y="4049653"/>
            <a:ext cx="480212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④接近化学计量点时酸几乎消耗完，</a:t>
            </a:r>
            <a:r>
              <a:rPr lang="en-US" altLang="zh-CN" sz="24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pH</a:t>
            </a:r>
            <a:r>
              <a:rPr lang="zh-CN" altLang="en-US" sz="24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上升较快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6102309" y="4928466"/>
            <a:ext cx="48435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⑤与强酸相比，弱酸滴定突跃范围变小</a:t>
            </a:r>
          </a:p>
        </p:txBody>
      </p:sp>
      <p:sp>
        <p:nvSpPr>
          <p:cNvPr id="7" name="矩形 6"/>
          <p:cNvSpPr/>
          <p:nvPr/>
        </p:nvSpPr>
        <p:spPr>
          <a:xfrm>
            <a:off x="936501" y="2231975"/>
            <a:ext cx="432048" cy="124819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1512565" y="1943942"/>
            <a:ext cx="1440160" cy="1497113"/>
          </a:xfrm>
          <a:prstGeom prst="rect">
            <a:avLst/>
          </a:prstGeom>
          <a:noFill/>
          <a:ln w="508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923803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24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6247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00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475" grpId="0" build="p" autoUpdateAnimBg="0"/>
      <p:bldP spid="100352" grpId="0" autoUpdateAnimBg="0"/>
      <p:bldP spid="2" grpId="0"/>
      <p:bldP spid="3" grpId="0"/>
      <p:bldP spid="4" grpId="0"/>
      <p:bldP spid="5" grpId="0"/>
      <p:bldP spid="6" grpId="0"/>
      <p:bldP spid="7" grpId="0" animBg="1"/>
      <p:bldP spid="7" grpId="1" animBg="1"/>
      <p:bldP spid="9" grpId="0" animBg="1"/>
      <p:bldP spid="9" grpId="1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2474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5584077"/>
              </p:ext>
            </p:extLst>
          </p:nvPr>
        </p:nvGraphicFramePr>
        <p:xfrm>
          <a:off x="392463" y="1456234"/>
          <a:ext cx="5138737" cy="3400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4" name="BMP 图象" r:id="rId4" imgW="2752381" imgH="2429214" progId="PBrush">
                  <p:embed/>
                </p:oleObj>
              </mc:Choice>
              <mc:Fallback>
                <p:oleObj name="BMP 图象" r:id="rId4" imgW="2752381" imgH="2429214" progId="PBrush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463" y="1456234"/>
                        <a:ext cx="5138737" cy="3400425"/>
                      </a:xfrm>
                      <a:prstGeom prst="rect">
                        <a:avLst/>
                      </a:prstGeom>
                      <a:noFill/>
                      <a:ln w="25400">
                        <a:solidFill>
                          <a:srgbClr val="FF00FF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475" name="Rectangle 11"/>
          <p:cNvSpPr>
            <a:spLocks noChangeArrowheads="1"/>
          </p:cNvSpPr>
          <p:nvPr/>
        </p:nvSpPr>
        <p:spPr bwMode="auto">
          <a:xfrm>
            <a:off x="589101" y="879475"/>
            <a:ext cx="2838350" cy="49629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lang="zh-CN" altLang="en-US" sz="2500" b="1" dirty="0">
                <a:ea typeface="楷体_GB2312" pitchFamily="49" charset="-122"/>
              </a:rPr>
              <a:t>　　作</a:t>
            </a:r>
            <a:r>
              <a:rPr lang="en-US" altLang="zh-CN" sz="2500" b="1" dirty="0">
                <a:ea typeface="楷体_GB2312" pitchFamily="49" charset="-122"/>
              </a:rPr>
              <a:t>pH~ </a:t>
            </a:r>
            <a:r>
              <a:rPr lang="en-US" altLang="zh-CN" sz="2500" b="1" i="1" dirty="0">
                <a:ea typeface="楷体_GB2312" pitchFamily="49" charset="-122"/>
              </a:rPr>
              <a:t>V</a:t>
            </a:r>
            <a:r>
              <a:rPr lang="zh-CN" altLang="en-US" sz="2500" b="1" baseline="-25000" dirty="0">
                <a:ea typeface="楷体_GB2312" pitchFamily="49" charset="-122"/>
              </a:rPr>
              <a:t>滴定剂</a:t>
            </a:r>
            <a:r>
              <a:rPr lang="en-US" altLang="zh-CN" sz="2500" b="1" dirty="0">
                <a:ea typeface="楷体_GB2312" pitchFamily="49" charset="-122"/>
              </a:rPr>
              <a:t>.</a:t>
            </a:r>
          </a:p>
        </p:txBody>
      </p:sp>
      <p:sp>
        <p:nvSpPr>
          <p:cNvPr id="2052" name="Rectangle 20"/>
          <p:cNvSpPr>
            <a:spLocks noGrp="1" noChangeArrowheads="1"/>
          </p:cNvSpPr>
          <p:nvPr>
            <p:ph type="title"/>
          </p:nvPr>
        </p:nvSpPr>
        <p:spPr>
          <a:xfrm>
            <a:off x="576263" y="258763"/>
            <a:ext cx="10369550" cy="477837"/>
          </a:xfrm>
        </p:spPr>
        <p:txBody>
          <a:bodyPr/>
          <a:lstStyle/>
          <a:p>
            <a:pPr eaLnBrk="1" hangingPunct="1"/>
            <a:r>
              <a:rPr lang="en-US" altLang="zh-CN" sz="2500" smtClean="0">
                <a:ea typeface="楷体_GB2312" pitchFamily="49" charset="-122"/>
              </a:rPr>
              <a:t>3.6.2</a:t>
            </a:r>
            <a:r>
              <a:rPr lang="zh-CN" altLang="en-US" sz="2500" smtClean="0">
                <a:ea typeface="楷体_GB2312" pitchFamily="49" charset="-122"/>
              </a:rPr>
              <a:t>强碱</a:t>
            </a:r>
            <a:r>
              <a:rPr lang="en-US" altLang="zh-CN" sz="2500" smtClean="0">
                <a:ea typeface="楷体_GB2312" pitchFamily="49" charset="-122"/>
              </a:rPr>
              <a:t>(</a:t>
            </a:r>
            <a:r>
              <a:rPr lang="zh-CN" altLang="en-US" sz="2500" smtClean="0">
                <a:ea typeface="楷体_GB2312" pitchFamily="49" charset="-122"/>
              </a:rPr>
              <a:t>酸</a:t>
            </a:r>
            <a:r>
              <a:rPr lang="en-US" altLang="zh-CN" sz="2500" smtClean="0">
                <a:ea typeface="楷体_GB2312" pitchFamily="49" charset="-122"/>
              </a:rPr>
              <a:t>)</a:t>
            </a:r>
            <a:r>
              <a:rPr lang="zh-CN" altLang="en-US" sz="2500" smtClean="0">
                <a:ea typeface="楷体_GB2312" pitchFamily="49" charset="-122"/>
              </a:rPr>
              <a:t>滴定一元弱酸</a:t>
            </a:r>
            <a:r>
              <a:rPr lang="en-US" altLang="zh-CN" sz="2500" smtClean="0">
                <a:ea typeface="楷体_GB2312" pitchFamily="49" charset="-122"/>
              </a:rPr>
              <a:t>(</a:t>
            </a:r>
            <a:r>
              <a:rPr lang="zh-CN" altLang="en-US" sz="2500" smtClean="0">
                <a:ea typeface="楷体_GB2312" pitchFamily="49" charset="-122"/>
              </a:rPr>
              <a:t>碱</a:t>
            </a:r>
            <a:r>
              <a:rPr lang="en-US" altLang="zh-CN" sz="2500" smtClean="0">
                <a:ea typeface="楷体_GB2312" pitchFamily="49" charset="-122"/>
              </a:rPr>
              <a:t>)</a:t>
            </a:r>
          </a:p>
        </p:txBody>
      </p:sp>
      <p:sp>
        <p:nvSpPr>
          <p:cNvPr id="2054" name="Oval 26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gray">
          <a:xfrm>
            <a:off x="0" y="5597525"/>
            <a:ext cx="360363" cy="360363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55" name="Oval 27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gray">
          <a:xfrm>
            <a:off x="11155363" y="5688013"/>
            <a:ext cx="360362" cy="360362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6121077" y="1956117"/>
            <a:ext cx="3967278" cy="1200329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</a:rPr>
              <a:t>滴定突跃的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影响</a:t>
            </a:r>
            <a:r>
              <a:rPr lang="zh-CN" altLang="en-US" sz="2400" b="1" u="sng" dirty="0">
                <a:solidFill>
                  <a:srgbClr val="FF0000"/>
                </a:solidFill>
              </a:rPr>
              <a:t>两大</a:t>
            </a:r>
            <a:r>
              <a:rPr lang="zh-CN" altLang="en-US" sz="2400" b="1" u="sng" dirty="0" smtClean="0">
                <a:solidFill>
                  <a:srgbClr val="FF0000"/>
                </a:solidFill>
              </a:rPr>
              <a:t>因素之二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：被滴定物的解离平衡常数（酸碱强弱）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24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6247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475" grpId="0" build="p" autoUpdateAnimBg="0"/>
      <p:bldP spid="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4"/>
          <p:cNvSpPr>
            <a:spLocks noGrp="1" noChangeArrowheads="1"/>
          </p:cNvSpPr>
          <p:nvPr>
            <p:ph type="title"/>
          </p:nvPr>
        </p:nvSpPr>
        <p:spPr>
          <a:xfrm>
            <a:off x="546100" y="239713"/>
            <a:ext cx="10369550" cy="477837"/>
          </a:xfrm>
        </p:spPr>
        <p:txBody>
          <a:bodyPr/>
          <a:lstStyle/>
          <a:p>
            <a:pPr eaLnBrk="1" hangingPunct="1"/>
            <a:r>
              <a:rPr lang="en-US" altLang="zh-CN" sz="2500" smtClean="0">
                <a:ea typeface="楷体_GB2312" pitchFamily="49" charset="-122"/>
              </a:rPr>
              <a:t>3.6.2</a:t>
            </a:r>
            <a:r>
              <a:rPr lang="zh-CN" altLang="en-US" sz="2500" smtClean="0">
                <a:ea typeface="楷体_GB2312" pitchFamily="49" charset="-122"/>
              </a:rPr>
              <a:t>强碱</a:t>
            </a:r>
            <a:r>
              <a:rPr lang="en-US" altLang="zh-CN" sz="2500" smtClean="0">
                <a:ea typeface="楷体_GB2312" pitchFamily="49" charset="-122"/>
              </a:rPr>
              <a:t>(</a:t>
            </a:r>
            <a:r>
              <a:rPr lang="zh-CN" altLang="en-US" sz="2500" smtClean="0">
                <a:ea typeface="楷体_GB2312" pitchFamily="49" charset="-122"/>
              </a:rPr>
              <a:t>酸</a:t>
            </a:r>
            <a:r>
              <a:rPr lang="en-US" altLang="zh-CN" sz="2500" smtClean="0">
                <a:ea typeface="楷体_GB2312" pitchFamily="49" charset="-122"/>
              </a:rPr>
              <a:t>)</a:t>
            </a:r>
            <a:r>
              <a:rPr lang="zh-CN" altLang="en-US" sz="2500" smtClean="0">
                <a:ea typeface="楷体_GB2312" pitchFamily="49" charset="-122"/>
              </a:rPr>
              <a:t>滴定一元弱酸</a:t>
            </a:r>
            <a:r>
              <a:rPr lang="en-US" altLang="zh-CN" sz="2500" smtClean="0">
                <a:ea typeface="楷体_GB2312" pitchFamily="49" charset="-122"/>
              </a:rPr>
              <a:t>(</a:t>
            </a:r>
            <a:r>
              <a:rPr lang="zh-CN" altLang="en-US" sz="2500" smtClean="0">
                <a:ea typeface="楷体_GB2312" pitchFamily="49" charset="-122"/>
              </a:rPr>
              <a:t>碱</a:t>
            </a:r>
            <a:r>
              <a:rPr lang="en-US" altLang="zh-CN" sz="2500" smtClean="0">
                <a:ea typeface="楷体_GB2312" pitchFamily="49" charset="-122"/>
              </a:rPr>
              <a:t>)</a:t>
            </a:r>
          </a:p>
        </p:txBody>
      </p:sp>
      <p:sp>
        <p:nvSpPr>
          <p:cNvPr id="121861" name="Rectangle 5"/>
          <p:cNvSpPr>
            <a:spLocks noChangeArrowheads="1"/>
          </p:cNvSpPr>
          <p:nvPr/>
        </p:nvSpPr>
        <p:spPr bwMode="auto">
          <a:xfrm>
            <a:off x="617538" y="850106"/>
            <a:ext cx="4076700" cy="4778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altLang="zh-CN" sz="2500" b="1" dirty="0">
                <a:solidFill>
                  <a:srgbClr val="FF0000"/>
                </a:solidFill>
                <a:ea typeface="楷体_GB2312" pitchFamily="49" charset="-122"/>
              </a:rPr>
              <a:t>2.</a:t>
            </a:r>
            <a:r>
              <a:rPr lang="zh-CN" altLang="en-US" sz="2500" b="1" dirty="0">
                <a:solidFill>
                  <a:srgbClr val="FF0000"/>
                </a:solidFill>
                <a:ea typeface="楷体_GB2312" pitchFamily="49" charset="-122"/>
              </a:rPr>
              <a:t>影响突跃范围的主要因素</a:t>
            </a:r>
            <a:r>
              <a:rPr lang="en-US" altLang="zh-CN" sz="2500" b="1" dirty="0">
                <a:solidFill>
                  <a:srgbClr val="FF0000"/>
                </a:solidFill>
                <a:ea typeface="楷体_GB2312" pitchFamily="49" charset="-122"/>
              </a:rPr>
              <a:t>:</a:t>
            </a:r>
            <a:endParaRPr lang="en-US" altLang="zh-CN" sz="2500" b="1" dirty="0">
              <a:solidFill>
                <a:srgbClr val="FF0000"/>
              </a:solidFill>
              <a:ea typeface="楷体_GB2312" pitchFamily="49" charset="-122"/>
              <a:sym typeface="Monotype Sorts" pitchFamily="2" charset="2"/>
            </a:endParaRPr>
          </a:p>
        </p:txBody>
      </p:sp>
      <p:sp>
        <p:nvSpPr>
          <p:cNvPr id="121862" name="Rectangle 6"/>
          <p:cNvSpPr>
            <a:spLocks noChangeArrowheads="1"/>
          </p:cNvSpPr>
          <p:nvPr/>
        </p:nvSpPr>
        <p:spPr bwMode="auto">
          <a:xfrm>
            <a:off x="906463" y="1327943"/>
            <a:ext cx="8964313" cy="861774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altLang="zh-CN" sz="2500" b="1" dirty="0">
                <a:ea typeface="楷体_GB2312" pitchFamily="49" charset="-122"/>
                <a:sym typeface="Monotype Sorts" pitchFamily="2" charset="2"/>
              </a:rPr>
              <a:t> ①</a:t>
            </a:r>
            <a:r>
              <a:rPr lang="zh-CN" altLang="en-US" sz="2500" b="1" dirty="0" smtClean="0">
                <a:solidFill>
                  <a:srgbClr val="FF0000"/>
                </a:solidFill>
                <a:ea typeface="楷体_GB2312" pitchFamily="49" charset="-122"/>
                <a:sym typeface="Monotype Sorts" pitchFamily="2" charset="2"/>
              </a:rPr>
              <a:t>浓度</a:t>
            </a:r>
            <a:r>
              <a:rPr lang="en-US" altLang="zh-CN" sz="2500" b="1" dirty="0" smtClean="0">
                <a:ea typeface="楷体_GB2312" pitchFamily="49" charset="-122"/>
                <a:sym typeface="Monotype Sorts" pitchFamily="2" charset="2"/>
              </a:rPr>
              <a:t>; </a:t>
            </a:r>
            <a:r>
              <a:rPr lang="zh-CN" altLang="en-US" sz="2500" b="1" dirty="0" smtClean="0">
                <a:ea typeface="楷体_GB2312" pitchFamily="49" charset="-122"/>
                <a:sym typeface="Monotype Sorts" pitchFamily="2" charset="2"/>
              </a:rPr>
              <a:t>浓度越大，突跃越大</a:t>
            </a:r>
            <a:endParaRPr lang="en-US" altLang="zh-CN" sz="2500" b="1" dirty="0">
              <a:ea typeface="楷体_GB2312" pitchFamily="49" charset="-122"/>
              <a:sym typeface="Monotype Sorts" pitchFamily="2" charset="2"/>
            </a:endParaRPr>
          </a:p>
          <a:p>
            <a:r>
              <a:rPr lang="en-US" altLang="zh-CN" sz="2500" b="1" dirty="0">
                <a:ea typeface="楷体_GB2312" pitchFamily="49" charset="-122"/>
                <a:sym typeface="Monotype Sorts" pitchFamily="2" charset="2"/>
              </a:rPr>
              <a:t> ②</a:t>
            </a:r>
            <a:r>
              <a:rPr lang="zh-CN" altLang="en-US" sz="2500" b="1" dirty="0">
                <a:solidFill>
                  <a:srgbClr val="FF0000"/>
                </a:solidFill>
                <a:ea typeface="楷体_GB2312" pitchFamily="49" charset="-122"/>
                <a:sym typeface="Monotype Sorts" pitchFamily="2" charset="2"/>
              </a:rPr>
              <a:t>被滴定酸碱的</a:t>
            </a:r>
            <a:r>
              <a:rPr lang="zh-CN" altLang="en-US" sz="2500" b="1" dirty="0" smtClean="0">
                <a:solidFill>
                  <a:srgbClr val="FF0000"/>
                </a:solidFill>
                <a:ea typeface="楷体_GB2312" pitchFamily="49" charset="-122"/>
                <a:sym typeface="Monotype Sorts" pitchFamily="2" charset="2"/>
              </a:rPr>
              <a:t>强弱（</a:t>
            </a:r>
            <a:r>
              <a:rPr lang="en-US" altLang="zh-CN" sz="2500" b="1" dirty="0" err="1" smtClean="0">
                <a:solidFill>
                  <a:srgbClr val="FF0000"/>
                </a:solidFill>
                <a:ea typeface="楷体_GB2312" pitchFamily="49" charset="-122"/>
                <a:sym typeface="Monotype Sorts" pitchFamily="2" charset="2"/>
              </a:rPr>
              <a:t>K</a:t>
            </a:r>
            <a:r>
              <a:rPr lang="en-US" altLang="zh-CN" sz="2500" b="1" baseline="-25000" dirty="0" err="1" smtClean="0">
                <a:solidFill>
                  <a:srgbClr val="FF0000"/>
                </a:solidFill>
                <a:ea typeface="楷体_GB2312" pitchFamily="49" charset="-122"/>
                <a:sym typeface="Monotype Sorts" pitchFamily="2" charset="2"/>
              </a:rPr>
              <a:t>a</a:t>
            </a:r>
            <a:r>
              <a:rPr lang="en-US" altLang="zh-CN" sz="2500" b="1" dirty="0" smtClean="0">
                <a:solidFill>
                  <a:srgbClr val="FF0000"/>
                </a:solidFill>
                <a:ea typeface="楷体_GB2312" pitchFamily="49" charset="-122"/>
                <a:sym typeface="Monotype Sorts" pitchFamily="2" charset="2"/>
              </a:rPr>
              <a:t> K</a:t>
            </a:r>
            <a:r>
              <a:rPr lang="en-US" altLang="zh-CN" sz="2500" b="1" baseline="-25000" dirty="0" smtClean="0">
                <a:solidFill>
                  <a:srgbClr val="FF0000"/>
                </a:solidFill>
                <a:ea typeface="楷体_GB2312" pitchFamily="49" charset="-122"/>
                <a:sym typeface="Monotype Sorts" pitchFamily="2" charset="2"/>
              </a:rPr>
              <a:t>b</a:t>
            </a:r>
            <a:r>
              <a:rPr lang="zh-CN" altLang="en-US" sz="2500" b="1" dirty="0" smtClean="0">
                <a:solidFill>
                  <a:srgbClr val="FF0000"/>
                </a:solidFill>
                <a:ea typeface="楷体_GB2312" pitchFamily="49" charset="-122"/>
                <a:sym typeface="Monotype Sorts" pitchFamily="2" charset="2"/>
              </a:rPr>
              <a:t>）</a:t>
            </a:r>
            <a:r>
              <a:rPr lang="zh-CN" altLang="en-US" sz="2500" b="1" dirty="0" smtClean="0">
                <a:ea typeface="楷体_GB2312" pitchFamily="49" charset="-122"/>
                <a:sym typeface="Monotype Sorts" pitchFamily="2" charset="2"/>
              </a:rPr>
              <a:t>解离平衡常数越大，突跃越大</a:t>
            </a:r>
            <a:r>
              <a:rPr lang="en-US" altLang="zh-CN" sz="2500" b="1" dirty="0" smtClean="0">
                <a:ea typeface="楷体_GB2312" pitchFamily="49" charset="-122"/>
                <a:sym typeface="Monotype Sorts" pitchFamily="2" charset="2"/>
              </a:rPr>
              <a:t>  </a:t>
            </a:r>
            <a:endParaRPr lang="en-US" altLang="zh-CN" sz="2500" b="1" dirty="0">
              <a:ea typeface="楷体_GB2312" pitchFamily="49" charset="-122"/>
              <a:sym typeface="Monotype Sorts" pitchFamily="2" charset="2"/>
            </a:endParaRPr>
          </a:p>
        </p:txBody>
      </p:sp>
      <p:sp>
        <p:nvSpPr>
          <p:cNvPr id="121863" name="AutoShape 7"/>
          <p:cNvSpPr>
            <a:spLocks/>
          </p:cNvSpPr>
          <p:nvPr/>
        </p:nvSpPr>
        <p:spPr bwMode="auto">
          <a:xfrm>
            <a:off x="846275" y="1363470"/>
            <a:ext cx="192087" cy="647700"/>
          </a:xfrm>
          <a:prstGeom prst="leftBrace">
            <a:avLst>
              <a:gd name="adj1" fmla="val 37466"/>
              <a:gd name="adj2" fmla="val 50000"/>
            </a:avLst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CN" altLang="en-US" sz="2500">
              <a:ea typeface="楷体_GB2312" pitchFamily="49" charset="-122"/>
            </a:endParaRPr>
          </a:p>
        </p:txBody>
      </p:sp>
      <p:sp>
        <p:nvSpPr>
          <p:cNvPr id="13323" name="Oval 26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gray">
          <a:xfrm>
            <a:off x="0" y="5526088"/>
            <a:ext cx="360363" cy="360362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5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8653043"/>
              </p:ext>
            </p:extLst>
          </p:nvPr>
        </p:nvGraphicFramePr>
        <p:xfrm>
          <a:off x="5806926" y="2463148"/>
          <a:ext cx="5138737" cy="3400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2" name="BMP 图象" r:id="rId6" imgW="2752381" imgH="2429214" progId="PBrush">
                  <p:embed/>
                </p:oleObj>
              </mc:Choice>
              <mc:Fallback>
                <p:oleObj name="BMP 图象" r:id="rId6" imgW="2752381" imgH="2429214" progId="PBrush">
                  <p:embed/>
                  <p:pic>
                    <p:nvPicPr>
                      <p:cNvPr id="62474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06926" y="2463148"/>
                        <a:ext cx="5138737" cy="3400425"/>
                      </a:xfrm>
                      <a:prstGeom prst="rect">
                        <a:avLst/>
                      </a:prstGeom>
                      <a:noFill/>
                      <a:ln w="25400">
                        <a:solidFill>
                          <a:srgbClr val="FF00FF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6" name="图片 198" descr="图4-5"/>
          <p:cNvPicPr>
            <a:picLocks noChangeAspect="1" noChangeArrowheads="1"/>
          </p:cNvPicPr>
          <p:nvPr/>
        </p:nvPicPr>
        <p:blipFill>
          <a:blip r:embed="rId8">
            <a:lum bright="6000" contras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191" y="2450240"/>
            <a:ext cx="4657896" cy="34262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218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218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218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2186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861" grpId="0" build="p" autoUpdateAnimBg="0"/>
      <p:bldP spid="121862" grpId="0" build="p" autoUpdateAnimBg="0"/>
      <p:bldP spid="12186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4"/>
          <p:cNvSpPr>
            <a:spLocks noGrp="1" noChangeArrowheads="1"/>
          </p:cNvSpPr>
          <p:nvPr>
            <p:ph type="title"/>
          </p:nvPr>
        </p:nvSpPr>
        <p:spPr>
          <a:xfrm>
            <a:off x="546100" y="239713"/>
            <a:ext cx="10369550" cy="477837"/>
          </a:xfrm>
        </p:spPr>
        <p:txBody>
          <a:bodyPr/>
          <a:lstStyle/>
          <a:p>
            <a:pPr eaLnBrk="1" hangingPunct="1"/>
            <a:r>
              <a:rPr lang="en-US" altLang="zh-CN" sz="2500" smtClean="0">
                <a:ea typeface="楷体_GB2312" pitchFamily="49" charset="-122"/>
              </a:rPr>
              <a:t>3.6.2</a:t>
            </a:r>
            <a:r>
              <a:rPr lang="zh-CN" altLang="en-US" sz="2500" smtClean="0">
                <a:ea typeface="楷体_GB2312" pitchFamily="49" charset="-122"/>
              </a:rPr>
              <a:t>强碱</a:t>
            </a:r>
            <a:r>
              <a:rPr lang="en-US" altLang="zh-CN" sz="2500" smtClean="0">
                <a:ea typeface="楷体_GB2312" pitchFamily="49" charset="-122"/>
              </a:rPr>
              <a:t>(</a:t>
            </a:r>
            <a:r>
              <a:rPr lang="zh-CN" altLang="en-US" sz="2500" smtClean="0">
                <a:ea typeface="楷体_GB2312" pitchFamily="49" charset="-122"/>
              </a:rPr>
              <a:t>酸</a:t>
            </a:r>
            <a:r>
              <a:rPr lang="en-US" altLang="zh-CN" sz="2500" smtClean="0">
                <a:ea typeface="楷体_GB2312" pitchFamily="49" charset="-122"/>
              </a:rPr>
              <a:t>)</a:t>
            </a:r>
            <a:r>
              <a:rPr lang="zh-CN" altLang="en-US" sz="2500" smtClean="0">
                <a:ea typeface="楷体_GB2312" pitchFamily="49" charset="-122"/>
              </a:rPr>
              <a:t>滴定一元弱酸</a:t>
            </a:r>
            <a:r>
              <a:rPr lang="en-US" altLang="zh-CN" sz="2500" smtClean="0">
                <a:ea typeface="楷体_GB2312" pitchFamily="49" charset="-122"/>
              </a:rPr>
              <a:t>(</a:t>
            </a:r>
            <a:r>
              <a:rPr lang="zh-CN" altLang="en-US" sz="2500" smtClean="0">
                <a:ea typeface="楷体_GB2312" pitchFamily="49" charset="-122"/>
              </a:rPr>
              <a:t>碱</a:t>
            </a:r>
            <a:r>
              <a:rPr lang="en-US" altLang="zh-CN" sz="2500" smtClean="0">
                <a:ea typeface="楷体_GB2312" pitchFamily="49" charset="-122"/>
              </a:rPr>
              <a:t>)</a:t>
            </a:r>
          </a:p>
        </p:txBody>
      </p:sp>
      <p:sp>
        <p:nvSpPr>
          <p:cNvPr id="121869" name="Text Box 13"/>
          <p:cNvSpPr txBox="1">
            <a:spLocks noChangeArrowheads="1"/>
          </p:cNvSpPr>
          <p:nvPr/>
        </p:nvSpPr>
        <p:spPr bwMode="auto">
          <a:xfrm>
            <a:off x="360363" y="1502774"/>
            <a:ext cx="2479774" cy="4778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3.</a:t>
            </a:r>
            <a:r>
              <a:rPr kumimoji="1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指示剂选择</a:t>
            </a:r>
            <a:r>
              <a:rPr kumimoji="1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:</a:t>
            </a:r>
          </a:p>
        </p:txBody>
      </p:sp>
      <p:sp>
        <p:nvSpPr>
          <p:cNvPr id="121870" name="Rectangle 14"/>
          <p:cNvSpPr>
            <a:spLocks noChangeArrowheads="1"/>
          </p:cNvSpPr>
          <p:nvPr/>
        </p:nvSpPr>
        <p:spPr bwMode="auto">
          <a:xfrm>
            <a:off x="525759" y="5218907"/>
            <a:ext cx="10207625" cy="93821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　　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强碱滴一元弱酸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: </a:t>
            </a:r>
            <a:r>
              <a:rPr kumimoji="0" lang="zh-CN" altLang="en-US" sz="2500" b="1" i="0" u="sng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弱碱性区间变色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的指示剂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(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如酚酞、百里酚酞等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).</a:t>
            </a:r>
          </a:p>
          <a:p>
            <a:pPr marL="0" marR="0" lvl="0" indent="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　　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强酸定一元弱碱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: </a:t>
            </a:r>
            <a:r>
              <a:rPr kumimoji="0" lang="zh-CN" altLang="en-US" sz="2500" b="1" i="0" u="sng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弱酸性区间变色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的指示剂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(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如甲基橙、甲基红等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).</a:t>
            </a:r>
          </a:p>
        </p:txBody>
      </p:sp>
      <p:sp>
        <p:nvSpPr>
          <p:cNvPr id="13323" name="Oval 26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gray">
          <a:xfrm>
            <a:off x="0" y="5526088"/>
            <a:ext cx="360363" cy="360362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charset="-122"/>
              <a:cs typeface="+mn-cs"/>
            </a:endParaRPr>
          </a:p>
        </p:txBody>
      </p:sp>
      <p:sp>
        <p:nvSpPr>
          <p:cNvPr id="13324" name="Oval 27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gray">
          <a:xfrm>
            <a:off x="11155363" y="5688013"/>
            <a:ext cx="360362" cy="360362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charset="-122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8669" y="1195342"/>
            <a:ext cx="4289871" cy="3685182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525759" y="806392"/>
            <a:ext cx="77604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 smtClean="0"/>
              <a:t>滴定曲线意义：</a:t>
            </a:r>
            <a:r>
              <a:rPr lang="zh-CN" altLang="en-US" sz="2800" b="1" dirty="0" smtClean="0">
                <a:solidFill>
                  <a:srgbClr val="FF0000"/>
                </a:solidFill>
                <a:ea typeface="楷体_GB2312" panose="02010609030101010101"/>
              </a:rPr>
              <a:t>选择合适的指示剂以确定滴定终点</a:t>
            </a:r>
            <a:endParaRPr lang="zh-CN" altLang="en-US" sz="2800" b="1" dirty="0">
              <a:solidFill>
                <a:srgbClr val="FF0000"/>
              </a:solidFill>
              <a:ea typeface="楷体_GB2312" panose="02010609030101010101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3205" y="1116667"/>
            <a:ext cx="3354482" cy="3993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9444598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21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218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218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869" grpId="0" autoUpdateAnimBg="0"/>
      <p:bldP spid="121870" grpId="0" build="p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5"/>
          <p:cNvSpPr>
            <a:spLocks noChangeArrowheads="1"/>
          </p:cNvSpPr>
          <p:nvPr/>
        </p:nvSpPr>
        <p:spPr bwMode="auto">
          <a:xfrm>
            <a:off x="504453" y="863823"/>
            <a:ext cx="2787650" cy="4778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4.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准确滴定的判据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:</a:t>
            </a:r>
            <a:endParaRPr kumimoji="0" lang="en-US" altLang="zh-CN" sz="25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楷体_GB2312" pitchFamily="49" charset="-122"/>
              <a:cs typeface="+mn-cs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453" y="1376276"/>
            <a:ext cx="5029413" cy="4320480"/>
          </a:xfrm>
          <a:prstGeom prst="rect">
            <a:avLst/>
          </a:prstGeom>
        </p:spPr>
      </p:pic>
      <p:sp>
        <p:nvSpPr>
          <p:cNvPr id="6" name="椭圆 5"/>
          <p:cNvSpPr/>
          <p:nvPr/>
        </p:nvSpPr>
        <p:spPr>
          <a:xfrm>
            <a:off x="3292103" y="1943943"/>
            <a:ext cx="308694" cy="57606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Rectangle 16"/>
          <p:cNvSpPr>
            <a:spLocks noChangeArrowheads="1"/>
          </p:cNvSpPr>
          <p:nvPr/>
        </p:nvSpPr>
        <p:spPr bwMode="auto">
          <a:xfrm>
            <a:off x="7057181" y="2880047"/>
            <a:ext cx="3096344" cy="5847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1" i="1" u="sng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cK</a:t>
            </a:r>
            <a:r>
              <a:rPr kumimoji="0" lang="en-US" altLang="zh-CN" sz="3200" b="1" i="0" u="sng" strike="noStrike" kern="1200" cap="none" spc="0" normalizeH="0" baseline="7000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  <a:sym typeface="Webdings" pitchFamily="18" charset="2"/>
              </a:rPr>
              <a:t></a:t>
            </a:r>
            <a:r>
              <a:rPr kumimoji="0" lang="en-US" altLang="zh-CN" sz="3200" b="1" i="0" u="sng" strike="noStrike" kern="1200" cap="none" spc="0" normalizeH="0" baseline="-2500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  <a:sym typeface="Webdings" pitchFamily="18" charset="2"/>
              </a:rPr>
              <a:t>a</a:t>
            </a:r>
            <a:r>
              <a:rPr kumimoji="0" lang="en-US" altLang="zh-CN" sz="3200" b="1" i="0" u="sng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(</a:t>
            </a:r>
            <a:r>
              <a:rPr kumimoji="0" lang="en-US" altLang="zh-CN" sz="3200" b="1" i="1" u="sng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cK</a:t>
            </a:r>
            <a:r>
              <a:rPr kumimoji="0" lang="en-US" altLang="zh-CN" sz="3200" b="1" i="0" u="sng" strike="noStrike" kern="1200" cap="none" spc="0" normalizeH="0" baseline="7000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  <a:sym typeface="Webdings" pitchFamily="18" charset="2"/>
              </a:rPr>
              <a:t></a:t>
            </a:r>
            <a:r>
              <a:rPr kumimoji="0" lang="en-US" altLang="zh-CN" sz="3200" b="1" i="0" u="sng" strike="noStrike" kern="1200" cap="none" spc="0" normalizeH="0" baseline="-2500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  <a:sym typeface="Webdings" pitchFamily="18" charset="2"/>
              </a:rPr>
              <a:t>b</a:t>
            </a:r>
            <a:r>
              <a:rPr kumimoji="0" lang="en-US" altLang="zh-CN" sz="3200" b="1" i="0" u="sng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)≥10</a:t>
            </a:r>
            <a:r>
              <a:rPr kumimoji="0" lang="en-US" altLang="zh-CN" sz="3200" b="1" i="0" u="sng" strike="noStrike" kern="1200" cap="none" spc="0" normalizeH="0" baseline="30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-8</a:t>
            </a:r>
            <a:endParaRPr kumimoji="0" lang="en-US" altLang="zh-CN" sz="3200" b="1" i="0" u="sng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itchFamily="18" charset="0"/>
              <a:ea typeface="楷体_GB2312" pitchFamily="49" charset="-122"/>
              <a:cs typeface="+mn-cs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0704" y="1317209"/>
            <a:ext cx="1649916" cy="111324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6841157" y="4151344"/>
            <a:ext cx="379142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新宋体" panose="02010609030101010101" pitchFamily="49" charset="-122"/>
                <a:ea typeface="新宋体" panose="02010609030101010101" pitchFamily="49" charset="-122"/>
              </a:rPr>
              <a:t>否则没有明显滴定突跃</a:t>
            </a:r>
            <a:endParaRPr lang="zh-CN" altLang="en-US" sz="2800" b="1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129189" y="3546473"/>
            <a:ext cx="289053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c</a:t>
            </a:r>
            <a:r>
              <a:rPr lang="zh-CN" altLang="en-US" sz="2800" b="1" dirty="0" smtClean="0">
                <a:latin typeface="新宋体" panose="02010609030101010101" pitchFamily="49" charset="-122"/>
                <a:ea typeface="新宋体" panose="02010609030101010101" pitchFamily="49" charset="-122"/>
              </a:rPr>
              <a:t>：被滴溶液浓度</a:t>
            </a:r>
            <a:endParaRPr lang="zh-CN" altLang="en-US" sz="2800" b="1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63629640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75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  <p:bldP spid="6" grpId="0" animBg="1"/>
      <p:bldP spid="7" grpId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6" name="Text Box 6"/>
          <p:cNvSpPr txBox="1">
            <a:spLocks noChangeArrowheads="1"/>
          </p:cNvSpPr>
          <p:nvPr/>
        </p:nvSpPr>
        <p:spPr bwMode="auto">
          <a:xfrm>
            <a:off x="648469" y="1418009"/>
            <a:ext cx="7014814" cy="49629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kumimoji="1" lang="en-US" altLang="zh-CN" sz="2500" b="1" dirty="0" smtClean="0">
                <a:ea typeface="楷体_GB2312" pitchFamily="49" charset="-122"/>
              </a:rPr>
              <a:t>1.</a:t>
            </a:r>
            <a:r>
              <a:rPr kumimoji="1" lang="zh-CN" altLang="en-US" sz="2500" b="1" dirty="0" smtClean="0">
                <a:latin typeface="新宋体" panose="02010609030101010101" pitchFamily="49" charset="-122"/>
                <a:ea typeface="新宋体" panose="02010609030101010101" pitchFamily="49" charset="-122"/>
              </a:rPr>
              <a:t>首先满足</a:t>
            </a:r>
            <a:r>
              <a:rPr kumimoji="1" lang="zh-CN" altLang="en-US" sz="2500" b="1" dirty="0">
                <a:solidFill>
                  <a:srgbClr val="FF3300"/>
                </a:solidFill>
                <a:ea typeface="楷体_GB2312" pitchFamily="49" charset="-122"/>
              </a:rPr>
              <a:t>准确</a:t>
            </a:r>
            <a:r>
              <a:rPr kumimoji="1" lang="zh-CN" altLang="en-US" sz="2500" b="1" dirty="0" smtClean="0">
                <a:solidFill>
                  <a:srgbClr val="FF3300"/>
                </a:solidFill>
                <a:ea typeface="楷体_GB2312" pitchFamily="49" charset="-122"/>
              </a:rPr>
              <a:t>滴定 即</a:t>
            </a:r>
            <a:r>
              <a:rPr kumimoji="1" lang="en-US" altLang="zh-CN" sz="2500" b="1" i="1" u="sng" dirty="0" err="1" smtClean="0">
                <a:solidFill>
                  <a:srgbClr val="FF0000"/>
                </a:solidFill>
                <a:ea typeface="楷体_GB2312" pitchFamily="49" charset="-122"/>
              </a:rPr>
              <a:t>cK</a:t>
            </a:r>
            <a:r>
              <a:rPr kumimoji="1" lang="en-US" altLang="zh-CN" sz="1600" b="1" u="sng" baseline="100000" dirty="0" err="1">
                <a:solidFill>
                  <a:srgbClr val="FF0000"/>
                </a:solidFill>
                <a:ea typeface="楷体_GB2312" pitchFamily="49" charset="-122"/>
                <a:sym typeface="Webdings" pitchFamily="18" charset="2"/>
              </a:rPr>
              <a:t></a:t>
            </a:r>
            <a:r>
              <a:rPr kumimoji="1" lang="en-US" altLang="zh-CN" sz="2500" b="1" u="sng" baseline="-25000" dirty="0" err="1">
                <a:solidFill>
                  <a:srgbClr val="FF0000"/>
                </a:solidFill>
                <a:ea typeface="楷体_GB2312" pitchFamily="49" charset="-122"/>
                <a:sym typeface="Webdings" pitchFamily="18" charset="2"/>
              </a:rPr>
              <a:t>an</a:t>
            </a:r>
            <a:r>
              <a:rPr kumimoji="1" lang="en-US" altLang="zh-CN" sz="2500" b="1" u="sng" dirty="0">
                <a:solidFill>
                  <a:srgbClr val="FF0000"/>
                </a:solidFill>
                <a:ea typeface="楷体_GB2312" pitchFamily="49" charset="-122"/>
              </a:rPr>
              <a:t>(</a:t>
            </a:r>
            <a:r>
              <a:rPr kumimoji="1" lang="en-US" altLang="zh-CN" sz="2500" b="1" i="1" u="sng" dirty="0" err="1">
                <a:solidFill>
                  <a:srgbClr val="FF0000"/>
                </a:solidFill>
                <a:ea typeface="楷体_GB2312" pitchFamily="49" charset="-122"/>
              </a:rPr>
              <a:t>cK</a:t>
            </a:r>
            <a:r>
              <a:rPr kumimoji="1" lang="en-US" altLang="zh-CN" sz="1600" b="1" u="sng" baseline="100000" dirty="0" err="1">
                <a:solidFill>
                  <a:srgbClr val="FF0000"/>
                </a:solidFill>
                <a:ea typeface="楷体_GB2312" pitchFamily="49" charset="-122"/>
                <a:sym typeface="Webdings" pitchFamily="18" charset="2"/>
              </a:rPr>
              <a:t></a:t>
            </a:r>
            <a:r>
              <a:rPr kumimoji="1" lang="en-US" altLang="zh-CN" sz="2500" b="1" u="sng" baseline="-25000" dirty="0" err="1">
                <a:solidFill>
                  <a:srgbClr val="FF0000"/>
                </a:solidFill>
                <a:ea typeface="楷体_GB2312" pitchFamily="49" charset="-122"/>
                <a:sym typeface="Webdings" pitchFamily="18" charset="2"/>
              </a:rPr>
              <a:t>bn</a:t>
            </a:r>
            <a:r>
              <a:rPr kumimoji="1" lang="en-US" altLang="zh-CN" sz="2500" b="1" u="sng" dirty="0">
                <a:solidFill>
                  <a:srgbClr val="FF0000"/>
                </a:solidFill>
                <a:ea typeface="楷体_GB2312" pitchFamily="49" charset="-122"/>
              </a:rPr>
              <a:t>)≥</a:t>
            </a:r>
            <a:r>
              <a:rPr kumimoji="1" lang="en-US" altLang="zh-CN" sz="2500" b="1" u="sng" dirty="0" smtClean="0">
                <a:solidFill>
                  <a:srgbClr val="FF0000"/>
                </a:solidFill>
                <a:ea typeface="楷体_GB2312" pitchFamily="49" charset="-122"/>
              </a:rPr>
              <a:t>10</a:t>
            </a:r>
            <a:r>
              <a:rPr kumimoji="1" lang="en-US" altLang="zh-CN" sz="2500" b="1" u="sng" baseline="30000" dirty="0" smtClean="0">
                <a:solidFill>
                  <a:srgbClr val="FF0000"/>
                </a:solidFill>
                <a:ea typeface="楷体_GB2312" pitchFamily="49" charset="-122"/>
              </a:rPr>
              <a:t>-8</a:t>
            </a:r>
            <a:r>
              <a:rPr kumimoji="1" lang="en-US" altLang="zh-CN" sz="2500" b="1" dirty="0" smtClean="0">
                <a:ea typeface="楷体_GB2312" pitchFamily="49" charset="-122"/>
              </a:rPr>
              <a:t>.</a:t>
            </a:r>
            <a:endParaRPr kumimoji="1" lang="en-US" altLang="zh-CN" sz="2500" b="1" dirty="0">
              <a:ea typeface="楷体_GB2312" pitchFamily="49" charset="-122"/>
            </a:endParaRPr>
          </a:p>
        </p:txBody>
      </p:sp>
      <p:sp>
        <p:nvSpPr>
          <p:cNvPr id="66570" name="Rectangle 10"/>
          <p:cNvSpPr>
            <a:spLocks noChangeArrowheads="1"/>
          </p:cNvSpPr>
          <p:nvPr/>
        </p:nvSpPr>
        <p:spPr bwMode="auto">
          <a:xfrm>
            <a:off x="557075" y="1957847"/>
            <a:ext cx="6726783" cy="49629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lang="en-US" altLang="zh-CN" sz="2500" b="1" dirty="0">
                <a:ea typeface="楷体_GB2312" pitchFamily="49" charset="-122"/>
              </a:rPr>
              <a:t> </a:t>
            </a:r>
            <a:r>
              <a:rPr lang="en-US" altLang="zh-CN" sz="2500" b="1" dirty="0" smtClean="0">
                <a:ea typeface="楷体_GB2312" pitchFamily="49" charset="-122"/>
              </a:rPr>
              <a:t>2. </a:t>
            </a:r>
            <a:r>
              <a:rPr lang="zh-CN" altLang="en-US" sz="2500" b="1" dirty="0" smtClean="0">
                <a:latin typeface="新宋体" panose="02010609030101010101" pitchFamily="49" charset="-122"/>
                <a:ea typeface="新宋体" panose="02010609030101010101" pitchFamily="49" charset="-122"/>
              </a:rPr>
              <a:t>满</a:t>
            </a:r>
            <a:r>
              <a:rPr lang="zh-CN" altLang="en-US" sz="2500" b="1" dirty="0" smtClean="0">
                <a:ea typeface="楷体_GB2312" pitchFamily="49" charset="-122"/>
              </a:rPr>
              <a:t>足</a:t>
            </a:r>
            <a:r>
              <a:rPr lang="en-US" altLang="zh-CN" sz="2500" b="1" dirty="0" smtClean="0">
                <a:ea typeface="楷体_GB2312" pitchFamily="49" charset="-122"/>
              </a:rPr>
              <a:t>    </a:t>
            </a:r>
            <a:r>
              <a:rPr lang="en-US" altLang="zh-CN" sz="2500" b="1" i="1" u="sng" dirty="0" err="1">
                <a:solidFill>
                  <a:srgbClr val="FF0000"/>
                </a:solidFill>
                <a:ea typeface="楷体_GB2312" pitchFamily="49" charset="-122"/>
              </a:rPr>
              <a:t>K</a:t>
            </a:r>
            <a:r>
              <a:rPr kumimoji="1" lang="en-US" altLang="zh-CN" sz="1600" b="1" u="sng" baseline="100000" dirty="0" err="1">
                <a:solidFill>
                  <a:srgbClr val="FF0000"/>
                </a:solidFill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u="sng" baseline="-25000" dirty="0" err="1">
                <a:solidFill>
                  <a:srgbClr val="FF0000"/>
                </a:solidFill>
                <a:ea typeface="楷体_GB2312" pitchFamily="49" charset="-122"/>
                <a:sym typeface="Webdings" pitchFamily="18" charset="2"/>
              </a:rPr>
              <a:t>an</a:t>
            </a:r>
            <a:r>
              <a:rPr lang="en-US" altLang="zh-CN" sz="2500" b="1" u="sng" dirty="0">
                <a:solidFill>
                  <a:srgbClr val="FF0000"/>
                </a:solidFill>
                <a:ea typeface="楷体_GB2312" pitchFamily="49" charset="-122"/>
              </a:rPr>
              <a:t>/</a:t>
            </a:r>
            <a:r>
              <a:rPr lang="en-US" altLang="zh-CN" sz="2500" b="1" i="1" u="sng" dirty="0">
                <a:solidFill>
                  <a:srgbClr val="FF0000"/>
                </a:solidFill>
                <a:ea typeface="楷体_GB2312" pitchFamily="49" charset="-122"/>
              </a:rPr>
              <a:t>K</a:t>
            </a:r>
            <a:r>
              <a:rPr kumimoji="1" lang="en-US" altLang="zh-CN" sz="1600" b="1" u="sng" baseline="100000" dirty="0">
                <a:solidFill>
                  <a:srgbClr val="FF0000"/>
                </a:solidFill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u="sng" baseline="-25000" dirty="0">
                <a:solidFill>
                  <a:srgbClr val="FF0000"/>
                </a:solidFill>
                <a:ea typeface="楷体_GB2312" pitchFamily="49" charset="-122"/>
                <a:sym typeface="Webdings" pitchFamily="18" charset="2"/>
              </a:rPr>
              <a:t>an+1</a:t>
            </a:r>
            <a:r>
              <a:rPr lang="en-US" altLang="zh-CN" sz="2500" b="1" u="sng" dirty="0">
                <a:solidFill>
                  <a:srgbClr val="FF0000"/>
                </a:solidFill>
                <a:ea typeface="楷体_GB2312" pitchFamily="49" charset="-122"/>
              </a:rPr>
              <a:t>≥10</a:t>
            </a:r>
            <a:r>
              <a:rPr lang="en-US" altLang="zh-CN" sz="2500" b="1" u="sng" baseline="30000" dirty="0">
                <a:solidFill>
                  <a:srgbClr val="FF0000"/>
                </a:solidFill>
                <a:ea typeface="楷体_GB2312" pitchFamily="49" charset="-122"/>
              </a:rPr>
              <a:t>4</a:t>
            </a:r>
            <a:r>
              <a:rPr lang="en-US" altLang="zh-CN" sz="2500" b="1" dirty="0">
                <a:solidFill>
                  <a:srgbClr val="FF0000"/>
                </a:solidFill>
                <a:ea typeface="楷体_GB2312" pitchFamily="49" charset="-122"/>
              </a:rPr>
              <a:t> </a:t>
            </a:r>
            <a:r>
              <a:rPr lang="en-US" altLang="zh-CN" sz="2500" b="1" dirty="0" smtClean="0">
                <a:solidFill>
                  <a:srgbClr val="FF0000"/>
                </a:solidFill>
                <a:ea typeface="楷体_GB2312" pitchFamily="49" charset="-122"/>
              </a:rPr>
              <a:t> </a:t>
            </a:r>
            <a:r>
              <a:rPr lang="en-US" altLang="zh-CN" sz="2500" b="1" dirty="0">
                <a:solidFill>
                  <a:srgbClr val="FF0000"/>
                </a:solidFill>
                <a:ea typeface="楷体_GB2312" pitchFamily="49" charset="-122"/>
              </a:rPr>
              <a:t>(</a:t>
            </a:r>
            <a:r>
              <a:rPr lang="en-US" altLang="zh-CN" sz="2500" b="1" i="1" dirty="0" err="1">
                <a:solidFill>
                  <a:srgbClr val="FF0000"/>
                </a:solidFill>
                <a:ea typeface="楷体_GB2312" pitchFamily="49" charset="-122"/>
              </a:rPr>
              <a:t>K</a:t>
            </a:r>
            <a:r>
              <a:rPr kumimoji="1" lang="en-US" altLang="zh-CN" sz="1600" b="1" u="sng" baseline="100000" dirty="0" err="1">
                <a:solidFill>
                  <a:srgbClr val="FF0000"/>
                </a:solidFill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baseline="-25000" dirty="0" err="1">
                <a:solidFill>
                  <a:srgbClr val="FF0000"/>
                </a:solidFill>
                <a:ea typeface="楷体_GB2312" pitchFamily="49" charset="-122"/>
                <a:sym typeface="Webdings" pitchFamily="18" charset="2"/>
              </a:rPr>
              <a:t>bn</a:t>
            </a:r>
            <a:r>
              <a:rPr lang="en-US" altLang="zh-CN" sz="2500" b="1" dirty="0">
                <a:solidFill>
                  <a:srgbClr val="FF0000"/>
                </a:solidFill>
                <a:ea typeface="楷体_GB2312" pitchFamily="49" charset="-122"/>
              </a:rPr>
              <a:t>/</a:t>
            </a:r>
            <a:r>
              <a:rPr lang="en-US" altLang="zh-CN" sz="2500" b="1" i="1" dirty="0">
                <a:solidFill>
                  <a:srgbClr val="FF0000"/>
                </a:solidFill>
                <a:ea typeface="楷体_GB2312" pitchFamily="49" charset="-122"/>
              </a:rPr>
              <a:t>K</a:t>
            </a:r>
            <a:r>
              <a:rPr kumimoji="1" lang="en-US" altLang="zh-CN" sz="1600" b="1" u="sng" baseline="100000" dirty="0">
                <a:solidFill>
                  <a:srgbClr val="FF0000"/>
                </a:solidFill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baseline="-25000" dirty="0">
                <a:solidFill>
                  <a:srgbClr val="FF0000"/>
                </a:solidFill>
                <a:ea typeface="楷体_GB2312" pitchFamily="49" charset="-122"/>
                <a:sym typeface="Webdings" pitchFamily="18" charset="2"/>
              </a:rPr>
              <a:t>bn+1</a:t>
            </a:r>
            <a:r>
              <a:rPr lang="en-US" altLang="zh-CN" sz="2500" b="1" dirty="0">
                <a:solidFill>
                  <a:srgbClr val="FF0000"/>
                </a:solidFill>
                <a:ea typeface="楷体_GB2312" pitchFamily="49" charset="-122"/>
              </a:rPr>
              <a:t>≥10</a:t>
            </a:r>
            <a:r>
              <a:rPr lang="en-US" altLang="zh-CN" sz="2500" b="1" baseline="30000" dirty="0">
                <a:solidFill>
                  <a:srgbClr val="FF0000"/>
                </a:solidFill>
                <a:ea typeface="楷体_GB2312" pitchFamily="49" charset="-122"/>
              </a:rPr>
              <a:t>4</a:t>
            </a:r>
            <a:r>
              <a:rPr lang="en-US" altLang="zh-CN" sz="2500" b="1" dirty="0">
                <a:solidFill>
                  <a:srgbClr val="FF0000"/>
                </a:solidFill>
                <a:ea typeface="楷体_GB2312" pitchFamily="49" charset="-122"/>
              </a:rPr>
              <a:t>)</a:t>
            </a:r>
          </a:p>
        </p:txBody>
      </p:sp>
      <p:sp>
        <p:nvSpPr>
          <p:cNvPr id="14346" name="Rectangle 21"/>
          <p:cNvSpPr>
            <a:spLocks noGrp="1" noChangeArrowheads="1"/>
          </p:cNvSpPr>
          <p:nvPr>
            <p:ph type="title"/>
          </p:nvPr>
        </p:nvSpPr>
        <p:spPr>
          <a:xfrm>
            <a:off x="576263" y="258763"/>
            <a:ext cx="10369550" cy="431800"/>
          </a:xfrm>
        </p:spPr>
        <p:txBody>
          <a:bodyPr/>
          <a:lstStyle/>
          <a:p>
            <a:pPr eaLnBrk="1" hangingPunct="1"/>
            <a:r>
              <a:rPr lang="en-US" altLang="zh-CN" dirty="0" smtClean="0">
                <a:ea typeface="黑体" pitchFamily="49" charset="-122"/>
              </a:rPr>
              <a:t>3.6.3</a:t>
            </a:r>
            <a:r>
              <a:rPr lang="zh-CN" altLang="en-US" dirty="0" smtClean="0">
                <a:ea typeface="黑体" pitchFamily="49" charset="-122"/>
              </a:rPr>
              <a:t>多元酸</a:t>
            </a:r>
            <a:r>
              <a:rPr lang="en-US" altLang="zh-CN" dirty="0" smtClean="0">
                <a:ea typeface="黑体" pitchFamily="49" charset="-122"/>
              </a:rPr>
              <a:t>(</a:t>
            </a:r>
            <a:r>
              <a:rPr lang="zh-CN" altLang="en-US" dirty="0" smtClean="0">
                <a:ea typeface="黑体" pitchFamily="49" charset="-122"/>
              </a:rPr>
              <a:t>碱</a:t>
            </a:r>
            <a:r>
              <a:rPr lang="en-US" altLang="zh-CN" dirty="0" smtClean="0">
                <a:ea typeface="黑体" pitchFamily="49" charset="-122"/>
              </a:rPr>
              <a:t>)</a:t>
            </a:r>
            <a:r>
              <a:rPr lang="zh-CN" altLang="en-US" dirty="0" smtClean="0">
                <a:ea typeface="黑体" pitchFamily="49" charset="-122"/>
              </a:rPr>
              <a:t> 的滴定</a:t>
            </a:r>
            <a:endParaRPr lang="zh-CN" altLang="en-US" sz="1800" dirty="0" smtClean="0">
              <a:ea typeface="黑体" pitchFamily="49" charset="-122"/>
            </a:endParaRPr>
          </a:p>
        </p:txBody>
      </p:sp>
      <p:sp>
        <p:nvSpPr>
          <p:cNvPr id="14347" name="Oval 26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gray">
          <a:xfrm>
            <a:off x="0" y="5597525"/>
            <a:ext cx="360363" cy="360363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48" name="Oval 27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gray">
          <a:xfrm>
            <a:off x="11155363" y="5688013"/>
            <a:ext cx="360362" cy="360362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679450" y="856848"/>
            <a:ext cx="4698722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zh-CN" altLang="en-US" sz="25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多元酸</a:t>
            </a:r>
            <a:r>
              <a:rPr lang="en-US" altLang="zh-CN" sz="25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(</a:t>
            </a:r>
            <a:r>
              <a:rPr lang="zh-CN" altLang="en-US" sz="25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碱</a:t>
            </a:r>
            <a:r>
              <a:rPr lang="en-US" altLang="zh-CN" sz="2500" b="1" dirty="0">
                <a:latin typeface="新宋体" panose="02010609030101010101" pitchFamily="49" charset="-122"/>
                <a:ea typeface="新宋体" panose="02010609030101010101" pitchFamily="49" charset="-122"/>
              </a:rPr>
              <a:t>) </a:t>
            </a:r>
            <a:r>
              <a:rPr lang="zh-CN" altLang="en-US" sz="2500" b="1" dirty="0" smtClean="0">
                <a:latin typeface="新宋体" panose="02010609030101010101" pitchFamily="49" charset="-122"/>
                <a:ea typeface="新宋体" panose="02010609030101010101" pitchFamily="49" charset="-122"/>
              </a:rPr>
              <a:t>分步滴定满足条件</a:t>
            </a:r>
            <a:r>
              <a:rPr lang="en-US" altLang="zh-CN" sz="2500" b="1" dirty="0" smtClean="0">
                <a:latin typeface="新宋体" panose="02010609030101010101" pitchFamily="49" charset="-122"/>
                <a:ea typeface="新宋体" panose="02010609030101010101" pitchFamily="49" charset="-122"/>
              </a:rPr>
              <a:t>.</a:t>
            </a:r>
            <a:endParaRPr lang="en-US" altLang="zh-CN" sz="2500" b="1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92485" y="2562304"/>
            <a:ext cx="8731878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b="1" dirty="0" smtClean="0">
                <a:ea typeface="楷体_GB2312" pitchFamily="49" charset="-122"/>
              </a:rPr>
              <a:t>保</a:t>
            </a:r>
            <a:r>
              <a:rPr kumimoji="1" lang="zh-CN" altLang="en-US" sz="2400" b="1" dirty="0" smtClean="0">
                <a:latin typeface="新宋体" panose="02010609030101010101" pitchFamily="49" charset="-122"/>
                <a:ea typeface="新宋体" panose="02010609030101010101" pitchFamily="49" charset="-122"/>
              </a:rPr>
              <a:t>证</a:t>
            </a:r>
            <a:r>
              <a:rPr kumimoji="1" lang="en-US" altLang="zh-CN" sz="2400" b="1" dirty="0" smtClean="0">
                <a:ea typeface="楷体_GB2312" pitchFamily="49" charset="-122"/>
              </a:rPr>
              <a:t>    </a:t>
            </a:r>
            <a:r>
              <a:rPr lang="en-US" altLang="zh-CN" sz="2400" b="1" i="1" u="sng" dirty="0" err="1">
                <a:solidFill>
                  <a:srgbClr val="FF0000"/>
                </a:solidFill>
                <a:ea typeface="楷体_GB2312" pitchFamily="49" charset="-122"/>
              </a:rPr>
              <a:t>K</a:t>
            </a:r>
            <a:r>
              <a:rPr kumimoji="1" lang="en-US" altLang="zh-CN" sz="2400" b="1" u="sng" baseline="100000" dirty="0" err="1">
                <a:solidFill>
                  <a:srgbClr val="FF0000"/>
                </a:solidFill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400" b="1" u="sng" baseline="-25000" dirty="0" err="1" smtClean="0">
                <a:solidFill>
                  <a:srgbClr val="FF0000"/>
                </a:solidFill>
                <a:ea typeface="楷体_GB2312" pitchFamily="49" charset="-122"/>
                <a:sym typeface="Webdings" pitchFamily="18" charset="2"/>
              </a:rPr>
              <a:t>an</a:t>
            </a:r>
            <a:r>
              <a:rPr lang="zh-CN" altLang="en-US" sz="2400" b="1" u="sng" dirty="0" smtClean="0">
                <a:solidFill>
                  <a:srgbClr val="FF0000"/>
                </a:solidFill>
                <a:ea typeface="楷体_GB2312" pitchFamily="49" charset="-122"/>
              </a:rPr>
              <a:t>解离完之后再解离</a:t>
            </a:r>
            <a:r>
              <a:rPr lang="en-US" altLang="zh-CN" sz="2400" b="1" i="1" u="sng" dirty="0" smtClean="0">
                <a:solidFill>
                  <a:srgbClr val="FF0000"/>
                </a:solidFill>
                <a:ea typeface="楷体_GB2312" pitchFamily="49" charset="-122"/>
              </a:rPr>
              <a:t>K</a:t>
            </a:r>
            <a:r>
              <a:rPr kumimoji="1" lang="en-US" altLang="zh-CN" sz="2400" b="1" u="sng" baseline="100000" dirty="0">
                <a:solidFill>
                  <a:srgbClr val="FF0000"/>
                </a:solidFill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400" b="1" u="sng" baseline="-25000" dirty="0" smtClean="0">
                <a:solidFill>
                  <a:srgbClr val="FF0000"/>
                </a:solidFill>
                <a:ea typeface="楷体_GB2312" pitchFamily="49" charset="-122"/>
                <a:sym typeface="Webdings" pitchFamily="18" charset="2"/>
              </a:rPr>
              <a:t>an+1</a:t>
            </a:r>
            <a:r>
              <a:rPr lang="zh-CN" altLang="en-US" sz="2400" b="1" u="sng" dirty="0" smtClean="0">
                <a:solidFill>
                  <a:srgbClr val="FF0000"/>
                </a:solidFill>
                <a:ea typeface="楷体_GB2312" pitchFamily="49" charset="-122"/>
                <a:sym typeface="Webdings" pitchFamily="18" charset="2"/>
              </a:rPr>
              <a:t>从而达到分步滴定的目的</a:t>
            </a:r>
            <a:r>
              <a:rPr lang="en-US" altLang="zh-CN" sz="2400" b="1" dirty="0" smtClean="0">
                <a:solidFill>
                  <a:srgbClr val="FF0000"/>
                </a:solidFill>
                <a:ea typeface="楷体_GB2312" pitchFamily="49" charset="-122"/>
              </a:rPr>
              <a:t> </a:t>
            </a:r>
            <a:endParaRPr lang="zh-CN" altLang="en-US" sz="2400" dirty="0"/>
          </a:p>
        </p:txBody>
      </p:sp>
      <p:sp>
        <p:nvSpPr>
          <p:cNvPr id="5" name="矩形 4"/>
          <p:cNvSpPr/>
          <p:nvPr/>
        </p:nvSpPr>
        <p:spPr>
          <a:xfrm>
            <a:off x="540694" y="3624579"/>
            <a:ext cx="6910866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500" b="1" kern="0" dirty="0">
                <a:latin typeface="新宋体" panose="02010609030101010101" pitchFamily="49" charset="-122"/>
                <a:ea typeface="新宋体" panose="02010609030101010101" pitchFamily="49" charset="-122"/>
                <a:cs typeface="+mj-cs"/>
              </a:rPr>
              <a:t>混</a:t>
            </a:r>
            <a:r>
              <a:rPr lang="zh-CN" altLang="en-US" sz="2500" b="1" kern="0" dirty="0" smtClean="0">
                <a:latin typeface="新宋体" panose="02010609030101010101" pitchFamily="49" charset="-122"/>
                <a:ea typeface="新宋体" panose="02010609030101010101" pitchFamily="49" charset="-122"/>
                <a:cs typeface="+mj-cs"/>
              </a:rPr>
              <a:t>酸（碱）分步滴定满足条件： 以混酸</a:t>
            </a:r>
            <a:r>
              <a:rPr lang="en-US" altLang="zh-CN" sz="2500" b="1" kern="0" dirty="0" smtClean="0">
                <a:latin typeface="新宋体" panose="02010609030101010101" pitchFamily="49" charset="-122"/>
                <a:ea typeface="新宋体" panose="02010609030101010101" pitchFamily="49" charset="-122"/>
                <a:cs typeface="+mj-cs"/>
              </a:rPr>
              <a:t>A B</a:t>
            </a:r>
            <a:r>
              <a:rPr lang="zh-CN" altLang="en-US" sz="2500" b="1" kern="0" dirty="0" smtClean="0">
                <a:latin typeface="新宋体" panose="02010609030101010101" pitchFamily="49" charset="-122"/>
                <a:ea typeface="新宋体" panose="02010609030101010101" pitchFamily="49" charset="-122"/>
                <a:cs typeface="+mj-cs"/>
              </a:rPr>
              <a:t>为例</a:t>
            </a:r>
            <a:endParaRPr lang="zh-CN" altLang="en-US" sz="25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20" name="Text Box 6"/>
          <p:cNvSpPr txBox="1">
            <a:spLocks noChangeArrowheads="1"/>
          </p:cNvSpPr>
          <p:nvPr/>
        </p:nvSpPr>
        <p:spPr bwMode="auto">
          <a:xfrm>
            <a:off x="580799" y="4117993"/>
            <a:ext cx="7014814" cy="49629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kumimoji="1" lang="en-US" altLang="zh-CN" sz="2500" b="1" dirty="0" smtClean="0">
                <a:ea typeface="楷体_GB2312" pitchFamily="49" charset="-122"/>
              </a:rPr>
              <a:t>1</a:t>
            </a:r>
            <a:r>
              <a:rPr kumimoji="1" lang="en-US" altLang="zh-CN" sz="2500" b="1" dirty="0" smtClean="0">
                <a:latin typeface="新宋体" panose="02010609030101010101" pitchFamily="49" charset="-122"/>
                <a:ea typeface="新宋体" panose="02010609030101010101" pitchFamily="49" charset="-122"/>
              </a:rPr>
              <a:t>.</a:t>
            </a:r>
            <a:r>
              <a:rPr kumimoji="1" lang="zh-CN" altLang="en-US" sz="2500" b="1" dirty="0" smtClean="0">
                <a:latin typeface="新宋体" panose="02010609030101010101" pitchFamily="49" charset="-122"/>
                <a:ea typeface="新宋体" panose="02010609030101010101" pitchFamily="49" charset="-122"/>
              </a:rPr>
              <a:t>首先满足</a:t>
            </a:r>
            <a:r>
              <a:rPr kumimoji="1" lang="zh-CN" altLang="en-US" sz="2500" b="1" dirty="0">
                <a:solidFill>
                  <a:srgbClr val="FF3300"/>
                </a:solidFill>
                <a:ea typeface="楷体_GB2312" pitchFamily="49" charset="-122"/>
              </a:rPr>
              <a:t>准确</a:t>
            </a:r>
            <a:r>
              <a:rPr kumimoji="1" lang="zh-CN" altLang="en-US" sz="2500" b="1" dirty="0" smtClean="0">
                <a:solidFill>
                  <a:srgbClr val="FF3300"/>
                </a:solidFill>
                <a:ea typeface="楷体_GB2312" pitchFamily="49" charset="-122"/>
              </a:rPr>
              <a:t>滴定 即</a:t>
            </a:r>
            <a:r>
              <a:rPr kumimoji="1" lang="en-US" altLang="zh-CN" sz="2500" b="1" i="1" u="sng" dirty="0" err="1" smtClean="0">
                <a:solidFill>
                  <a:srgbClr val="FF0000"/>
                </a:solidFill>
                <a:ea typeface="楷体_GB2312" pitchFamily="49" charset="-122"/>
              </a:rPr>
              <a:t>cK</a:t>
            </a:r>
            <a:r>
              <a:rPr kumimoji="1" lang="en-US" altLang="zh-CN" sz="1600" b="1" u="sng" baseline="100000" dirty="0" smtClean="0">
                <a:solidFill>
                  <a:srgbClr val="FF0000"/>
                </a:solidFill>
                <a:ea typeface="楷体_GB2312" pitchFamily="49" charset="-122"/>
                <a:sym typeface="Webdings" pitchFamily="18" charset="2"/>
              </a:rPr>
              <a:t> </a:t>
            </a:r>
            <a:r>
              <a:rPr kumimoji="1" lang="en-US" altLang="zh-CN" sz="2500" b="1" u="sng" baseline="-25000" dirty="0" err="1" smtClean="0">
                <a:solidFill>
                  <a:srgbClr val="FF0000"/>
                </a:solidFill>
                <a:ea typeface="楷体_GB2312" pitchFamily="49" charset="-122"/>
                <a:sym typeface="Webdings" pitchFamily="18" charset="2"/>
              </a:rPr>
              <a:t>aA</a:t>
            </a:r>
            <a:r>
              <a:rPr kumimoji="1" lang="en-US" altLang="zh-CN" sz="2500" b="1" u="sng" dirty="0" smtClean="0">
                <a:solidFill>
                  <a:srgbClr val="FF0000"/>
                </a:solidFill>
                <a:ea typeface="楷体_GB2312" pitchFamily="49" charset="-122"/>
              </a:rPr>
              <a:t>(</a:t>
            </a:r>
            <a:r>
              <a:rPr kumimoji="1" lang="en-US" altLang="zh-CN" sz="2500" b="1" i="1" u="sng" dirty="0" err="1" smtClean="0">
                <a:solidFill>
                  <a:srgbClr val="FF0000"/>
                </a:solidFill>
                <a:ea typeface="楷体_GB2312" pitchFamily="49" charset="-122"/>
              </a:rPr>
              <a:t>cK</a:t>
            </a:r>
            <a:r>
              <a:rPr kumimoji="1" lang="en-US" altLang="zh-CN" sz="1600" b="1" u="sng" baseline="100000" dirty="0" err="1" smtClean="0">
                <a:solidFill>
                  <a:srgbClr val="FF0000"/>
                </a:solidFill>
                <a:ea typeface="楷体_GB2312" pitchFamily="49" charset="-122"/>
                <a:sym typeface="Webdings" pitchFamily="18" charset="2"/>
              </a:rPr>
              <a:t></a:t>
            </a:r>
            <a:r>
              <a:rPr kumimoji="1" lang="en-US" altLang="zh-CN" sz="2500" b="1" u="sng" baseline="-25000" dirty="0" err="1">
                <a:solidFill>
                  <a:srgbClr val="FF0000"/>
                </a:solidFill>
                <a:ea typeface="楷体_GB2312" pitchFamily="49" charset="-122"/>
                <a:sym typeface="Webdings" pitchFamily="18" charset="2"/>
              </a:rPr>
              <a:t>b</a:t>
            </a:r>
            <a:r>
              <a:rPr kumimoji="1" lang="en-US" altLang="zh-CN" sz="2500" b="1" u="sng" baseline="-25000" dirty="0" err="1" smtClean="0">
                <a:solidFill>
                  <a:srgbClr val="FF0000"/>
                </a:solidFill>
                <a:ea typeface="楷体_GB2312" pitchFamily="49" charset="-122"/>
                <a:sym typeface="Webdings" pitchFamily="18" charset="2"/>
              </a:rPr>
              <a:t>B</a:t>
            </a:r>
            <a:r>
              <a:rPr kumimoji="1" lang="en-US" altLang="zh-CN" sz="2500" b="1" u="sng" dirty="0" smtClean="0">
                <a:solidFill>
                  <a:srgbClr val="FF0000"/>
                </a:solidFill>
                <a:ea typeface="楷体_GB2312" pitchFamily="49" charset="-122"/>
              </a:rPr>
              <a:t>)</a:t>
            </a:r>
            <a:r>
              <a:rPr kumimoji="1" lang="en-US" altLang="zh-CN" sz="2500" b="1" u="sng" dirty="0">
                <a:solidFill>
                  <a:srgbClr val="FF0000"/>
                </a:solidFill>
                <a:ea typeface="楷体_GB2312" pitchFamily="49" charset="-122"/>
              </a:rPr>
              <a:t>≥</a:t>
            </a:r>
            <a:r>
              <a:rPr kumimoji="1" lang="en-US" altLang="zh-CN" sz="2500" b="1" u="sng" dirty="0" smtClean="0">
                <a:solidFill>
                  <a:srgbClr val="FF0000"/>
                </a:solidFill>
                <a:ea typeface="楷体_GB2312" pitchFamily="49" charset="-122"/>
              </a:rPr>
              <a:t>10</a:t>
            </a:r>
            <a:r>
              <a:rPr kumimoji="1" lang="en-US" altLang="zh-CN" sz="2500" b="1" u="sng" baseline="30000" dirty="0" smtClean="0">
                <a:solidFill>
                  <a:srgbClr val="FF0000"/>
                </a:solidFill>
                <a:ea typeface="楷体_GB2312" pitchFamily="49" charset="-122"/>
              </a:rPr>
              <a:t>-8</a:t>
            </a:r>
            <a:r>
              <a:rPr kumimoji="1" lang="en-US" altLang="zh-CN" sz="2500" b="1" dirty="0" smtClean="0">
                <a:ea typeface="楷体_GB2312" pitchFamily="49" charset="-122"/>
              </a:rPr>
              <a:t>.</a:t>
            </a:r>
            <a:endParaRPr kumimoji="1" lang="en-US" altLang="zh-CN" sz="2500" b="1" dirty="0">
              <a:ea typeface="楷体_GB2312" pitchFamily="49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66983" y="4704285"/>
            <a:ext cx="3429144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500" b="1" dirty="0" smtClean="0">
                <a:solidFill>
                  <a:srgbClr val="000000"/>
                </a:solidFill>
                <a:ea typeface="楷体_GB2312" pitchFamily="49" charset="-122"/>
              </a:rPr>
              <a:t>2</a:t>
            </a:r>
            <a:r>
              <a:rPr lang="en-US" altLang="zh-CN" sz="2500" b="1" dirty="0">
                <a:solidFill>
                  <a:srgbClr val="000000"/>
                </a:solidFill>
                <a:ea typeface="楷体_GB2312" pitchFamily="49" charset="-122"/>
              </a:rPr>
              <a:t>.</a:t>
            </a:r>
            <a:r>
              <a:rPr lang="zh-CN" altLang="en-US" sz="2500" b="1" dirty="0" smtClean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同浓度</a:t>
            </a:r>
            <a:r>
              <a:rPr lang="en-US" altLang="zh-CN" sz="2500" b="1" dirty="0">
                <a:solidFill>
                  <a:srgbClr val="000000"/>
                </a:solidFill>
                <a:ea typeface="楷体_GB2312" pitchFamily="49" charset="-122"/>
              </a:rPr>
              <a:t>,</a:t>
            </a:r>
            <a:r>
              <a:rPr lang="en-US" altLang="zh-CN" sz="2500" b="1" i="1" dirty="0" err="1">
                <a:solidFill>
                  <a:srgbClr val="FF0000"/>
                </a:solidFill>
                <a:ea typeface="楷体_GB2312" pitchFamily="49" charset="-122"/>
              </a:rPr>
              <a:t>K</a:t>
            </a:r>
            <a:r>
              <a:rPr kumimoji="1" lang="en-US" altLang="zh-CN" sz="1600" b="1" u="sng" baseline="100000" dirty="0" err="1" smtClean="0">
                <a:solidFill>
                  <a:srgbClr val="FF0000"/>
                </a:solidFill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baseline="-25000" dirty="0" err="1" smtClean="0">
                <a:solidFill>
                  <a:srgbClr val="FF0000"/>
                </a:solidFill>
                <a:ea typeface="楷体_GB2312" pitchFamily="49" charset="-122"/>
                <a:sym typeface="Webdings" pitchFamily="18" charset="2"/>
              </a:rPr>
              <a:t>aA</a:t>
            </a:r>
            <a:r>
              <a:rPr lang="en-US" altLang="zh-CN" sz="2500" b="1" dirty="0" smtClean="0">
                <a:solidFill>
                  <a:srgbClr val="FF0000"/>
                </a:solidFill>
                <a:ea typeface="楷体_GB2312" pitchFamily="49" charset="-122"/>
              </a:rPr>
              <a:t>/</a:t>
            </a:r>
            <a:r>
              <a:rPr lang="en-US" altLang="zh-CN" sz="2500" b="1" i="1" dirty="0" smtClean="0">
                <a:solidFill>
                  <a:srgbClr val="FF0000"/>
                </a:solidFill>
                <a:ea typeface="楷体_GB2312" pitchFamily="49" charset="-122"/>
              </a:rPr>
              <a:t>K</a:t>
            </a:r>
            <a:r>
              <a:rPr kumimoji="1" lang="en-US" altLang="zh-CN" sz="1600" b="1" u="sng" baseline="100000" dirty="0" smtClean="0">
                <a:solidFill>
                  <a:srgbClr val="FF0000"/>
                </a:solidFill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baseline="-25000" dirty="0" smtClean="0">
                <a:solidFill>
                  <a:srgbClr val="FF0000"/>
                </a:solidFill>
                <a:ea typeface="楷体_GB2312" pitchFamily="49" charset="-122"/>
                <a:sym typeface="Webdings" pitchFamily="18" charset="2"/>
              </a:rPr>
              <a:t>aB</a:t>
            </a:r>
            <a:r>
              <a:rPr lang="en-US" altLang="zh-CN" sz="2500" b="1" dirty="0">
                <a:solidFill>
                  <a:srgbClr val="FF0000"/>
                </a:solidFill>
                <a:ea typeface="楷体_GB2312" pitchFamily="49" charset="-122"/>
              </a:rPr>
              <a:t>≥10</a:t>
            </a:r>
            <a:r>
              <a:rPr lang="en-US" altLang="zh-CN" sz="2500" b="1" baseline="30000" dirty="0">
                <a:solidFill>
                  <a:srgbClr val="FF0000"/>
                </a:solidFill>
                <a:ea typeface="楷体_GB2312" pitchFamily="49" charset="-122"/>
              </a:rPr>
              <a:t>4 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65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66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566" grpId="0" build="p" autoUpdateAnimBg="0"/>
      <p:bldP spid="66570" grpId="0" autoUpdateAnimBg="0"/>
      <p:bldP spid="4" grpId="0"/>
      <p:bldP spid="5" grpId="0"/>
      <p:bldP spid="20" grpId="0" build="p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90" name="Text Box 6"/>
          <p:cNvSpPr txBox="1">
            <a:spLocks noChangeArrowheads="1"/>
          </p:cNvSpPr>
          <p:nvPr/>
        </p:nvSpPr>
        <p:spPr bwMode="auto">
          <a:xfrm>
            <a:off x="906463" y="950913"/>
            <a:ext cx="3317875" cy="4778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r>
              <a:rPr kumimoji="1" lang="zh-CN" altLang="en-US" sz="2500" b="1" dirty="0" smtClean="0">
                <a:solidFill>
                  <a:srgbClr val="FF3300"/>
                </a:solidFill>
                <a:ea typeface="楷体_GB2312" pitchFamily="49" charset="-122"/>
              </a:rPr>
              <a:t>例：</a:t>
            </a:r>
            <a:endParaRPr kumimoji="1" lang="en-US" altLang="zh-CN" sz="2500" b="1" dirty="0">
              <a:solidFill>
                <a:srgbClr val="FF3300"/>
              </a:solidFill>
              <a:ea typeface="楷体_GB2312" pitchFamily="49" charset="-122"/>
            </a:endParaRPr>
          </a:p>
        </p:txBody>
      </p:sp>
      <p:sp>
        <p:nvSpPr>
          <p:cNvPr id="67591" name="Rectangle 7"/>
          <p:cNvSpPr>
            <a:spLocks noChangeArrowheads="1"/>
          </p:cNvSpPr>
          <p:nvPr/>
        </p:nvSpPr>
        <p:spPr bwMode="auto">
          <a:xfrm>
            <a:off x="906463" y="950913"/>
            <a:ext cx="10136187" cy="240065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r>
              <a:rPr lang="en-US" altLang="zh-CN" sz="2500" b="1" dirty="0">
                <a:ea typeface="楷体_GB2312" pitchFamily="49" charset="-122"/>
              </a:rPr>
              <a:t>       </a:t>
            </a:r>
            <a:r>
              <a:rPr lang="zh-CN" altLang="en-US" sz="2500" b="1" dirty="0" smtClean="0">
                <a:ea typeface="楷体_GB2312" pitchFamily="49" charset="-122"/>
              </a:rPr>
              <a:t>用</a:t>
            </a:r>
            <a:r>
              <a:rPr lang="en-US" altLang="zh-CN" sz="2500" b="1" dirty="0" smtClean="0">
                <a:ea typeface="楷体_GB2312" pitchFamily="49" charset="-122"/>
              </a:rPr>
              <a:t> </a:t>
            </a:r>
            <a:r>
              <a:rPr lang="en-US" altLang="zh-CN" sz="2500" b="1" dirty="0">
                <a:ea typeface="楷体_GB2312" pitchFamily="49" charset="-122"/>
              </a:rPr>
              <a:t>0.10 mol·L</a:t>
            </a:r>
            <a:r>
              <a:rPr lang="en-US" altLang="zh-CN" sz="2500" b="1" baseline="30000" dirty="0">
                <a:ea typeface="楷体_GB2312" pitchFamily="49" charset="-122"/>
              </a:rPr>
              <a:t>-1 </a:t>
            </a:r>
            <a:r>
              <a:rPr lang="en-US" altLang="zh-CN" sz="2500" b="1" dirty="0" err="1" smtClean="0">
                <a:ea typeface="楷体_GB2312" pitchFamily="49" charset="-122"/>
              </a:rPr>
              <a:t>NaOH</a:t>
            </a:r>
            <a:r>
              <a:rPr lang="zh-CN" altLang="en-US" sz="2500" b="1" dirty="0">
                <a:ea typeface="楷体_GB2312" pitchFamily="49" charset="-122"/>
              </a:rPr>
              <a:t>滴定</a:t>
            </a:r>
            <a:r>
              <a:rPr lang="zh-CN" altLang="en-US" sz="2500" b="1" dirty="0" smtClean="0">
                <a:ea typeface="楷体_GB2312" pitchFamily="49" charset="-122"/>
              </a:rPr>
              <a:t>同</a:t>
            </a:r>
            <a:r>
              <a:rPr lang="zh-CN" altLang="en-US" sz="2500" b="1" dirty="0">
                <a:ea typeface="楷体_GB2312" pitchFamily="49" charset="-122"/>
              </a:rPr>
              <a:t>浓度</a:t>
            </a:r>
            <a:r>
              <a:rPr lang="en-US" altLang="zh-CN" sz="2500" b="1" dirty="0">
                <a:ea typeface="楷体_GB2312" pitchFamily="49" charset="-122"/>
              </a:rPr>
              <a:t>H</a:t>
            </a:r>
            <a:r>
              <a:rPr lang="en-US" altLang="zh-CN" sz="2500" b="1" baseline="-25000" dirty="0">
                <a:ea typeface="楷体_GB2312" pitchFamily="49" charset="-122"/>
              </a:rPr>
              <a:t>3</a:t>
            </a:r>
            <a:r>
              <a:rPr lang="en-US" altLang="zh-CN" sz="2500" b="1" dirty="0">
                <a:ea typeface="楷体_GB2312" pitchFamily="49" charset="-122"/>
              </a:rPr>
              <a:t>PO</a:t>
            </a:r>
            <a:r>
              <a:rPr lang="en-US" altLang="zh-CN" sz="2500" b="1" baseline="-25000" dirty="0">
                <a:ea typeface="楷体_GB2312" pitchFamily="49" charset="-122"/>
              </a:rPr>
              <a:t>4</a:t>
            </a:r>
            <a:r>
              <a:rPr lang="en-US" altLang="zh-CN" sz="2500" b="1" dirty="0" smtClean="0">
                <a:ea typeface="楷体_GB2312" pitchFamily="49" charset="-122"/>
              </a:rPr>
              <a:t>.</a:t>
            </a:r>
            <a:r>
              <a:rPr lang="zh-CN" altLang="en-US" sz="2500" b="1" dirty="0" smtClean="0">
                <a:ea typeface="楷体_GB2312" pitchFamily="49" charset="-122"/>
              </a:rPr>
              <a:t>能否实现准确滴定和分步滴定？选用什么指示剂？</a:t>
            </a:r>
            <a:endParaRPr lang="en-US" altLang="zh-CN" sz="2500" b="1" dirty="0">
              <a:ea typeface="楷体_GB2312" pitchFamily="49" charset="-122"/>
            </a:endParaRPr>
          </a:p>
          <a:p>
            <a:r>
              <a:rPr lang="zh-CN" altLang="zh-CN" sz="2500" b="1" dirty="0">
                <a:ea typeface="楷体_GB2312" pitchFamily="49" charset="-122"/>
              </a:rPr>
              <a:t>已知:</a:t>
            </a:r>
            <a:r>
              <a:rPr lang="en-US" altLang="zh-CN" sz="2500" b="1" dirty="0">
                <a:ea typeface="楷体_GB2312" pitchFamily="49" charset="-122"/>
              </a:rPr>
              <a:t>H</a:t>
            </a:r>
            <a:r>
              <a:rPr lang="en-US" altLang="zh-CN" sz="2500" b="1" baseline="-25000" dirty="0">
                <a:ea typeface="楷体_GB2312" pitchFamily="49" charset="-122"/>
              </a:rPr>
              <a:t>3</a:t>
            </a:r>
            <a:r>
              <a:rPr lang="en-US" altLang="zh-CN" sz="2500" b="1" dirty="0">
                <a:ea typeface="楷体_GB2312" pitchFamily="49" charset="-122"/>
              </a:rPr>
              <a:t>PO</a:t>
            </a:r>
            <a:r>
              <a:rPr lang="en-US" altLang="zh-CN" sz="2500" b="1" baseline="-25000" dirty="0">
                <a:ea typeface="楷体_GB2312" pitchFamily="49" charset="-122"/>
              </a:rPr>
              <a:t>4</a:t>
            </a:r>
            <a:r>
              <a:rPr lang="en-US" altLang="zh-CN" sz="2500" b="1" dirty="0">
                <a:ea typeface="楷体_GB2312" pitchFamily="49" charset="-122"/>
              </a:rPr>
              <a:t>  ⇋  H</a:t>
            </a:r>
            <a:r>
              <a:rPr lang="en-US" altLang="zh-CN" sz="2500" b="1" baseline="-25000" dirty="0">
                <a:ea typeface="楷体_GB2312" pitchFamily="49" charset="-122"/>
              </a:rPr>
              <a:t>2</a:t>
            </a:r>
            <a:r>
              <a:rPr lang="en-US" altLang="zh-CN" sz="2500" b="1" dirty="0">
                <a:ea typeface="楷体_GB2312" pitchFamily="49" charset="-122"/>
              </a:rPr>
              <a:t>PO</a:t>
            </a:r>
            <a:r>
              <a:rPr lang="en-US" altLang="zh-CN" sz="2500" b="1" baseline="-25000" dirty="0">
                <a:ea typeface="楷体_GB2312" pitchFamily="49" charset="-122"/>
              </a:rPr>
              <a:t>4</a:t>
            </a:r>
            <a:r>
              <a:rPr lang="en-US" altLang="zh-CN" sz="2500" b="1" baseline="30000" dirty="0">
                <a:ea typeface="楷体_GB2312" pitchFamily="49" charset="-122"/>
              </a:rPr>
              <a:t>-</a:t>
            </a:r>
            <a:r>
              <a:rPr lang="en-US" altLang="zh-CN" sz="2500" b="1" dirty="0">
                <a:ea typeface="楷体_GB2312" pitchFamily="49" charset="-122"/>
              </a:rPr>
              <a:t>  + H</a:t>
            </a:r>
            <a:r>
              <a:rPr lang="en-US" altLang="zh-CN" sz="2500" b="1" baseline="30000" dirty="0">
                <a:ea typeface="楷体_GB2312" pitchFamily="49" charset="-122"/>
              </a:rPr>
              <a:t>+</a:t>
            </a:r>
            <a:r>
              <a:rPr lang="en-US" altLang="zh-CN" sz="2500" b="1" dirty="0">
                <a:ea typeface="楷体_GB2312" pitchFamily="49" charset="-122"/>
              </a:rPr>
              <a:t>, p</a:t>
            </a:r>
            <a:r>
              <a:rPr lang="en-US" altLang="zh-CN" sz="2500" b="1" i="1" dirty="0">
                <a:ea typeface="楷体_GB2312" pitchFamily="49" charset="-122"/>
              </a:rPr>
              <a:t>K</a:t>
            </a:r>
            <a:r>
              <a:rPr lang="en-US" altLang="zh-CN" sz="1600" b="1" baseline="100000" dirty="0"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baseline="-25000" dirty="0">
                <a:ea typeface="楷体_GB2312" pitchFamily="49" charset="-122"/>
                <a:sym typeface="Webdings" pitchFamily="18" charset="2"/>
              </a:rPr>
              <a:t>a1 </a:t>
            </a:r>
            <a:r>
              <a:rPr lang="en-US" altLang="zh-CN" sz="2500" b="1" dirty="0">
                <a:ea typeface="楷体_GB2312" pitchFamily="49" charset="-122"/>
                <a:sym typeface="Webdings" pitchFamily="18" charset="2"/>
              </a:rPr>
              <a:t>= 2.16</a:t>
            </a:r>
            <a:r>
              <a:rPr lang="en-US" altLang="zh-CN" sz="2500" b="1" dirty="0">
                <a:ea typeface="楷体_GB2312" pitchFamily="49" charset="-122"/>
              </a:rPr>
              <a:t> </a:t>
            </a:r>
          </a:p>
          <a:p>
            <a:r>
              <a:rPr lang="en-US" altLang="zh-CN" sz="2500" b="1" dirty="0">
                <a:ea typeface="楷体_GB2312" pitchFamily="49" charset="-122"/>
              </a:rPr>
              <a:t>         H</a:t>
            </a:r>
            <a:r>
              <a:rPr lang="en-US" altLang="zh-CN" sz="2500" b="1" baseline="-25000" dirty="0">
                <a:ea typeface="楷体_GB2312" pitchFamily="49" charset="-122"/>
              </a:rPr>
              <a:t>2</a:t>
            </a:r>
            <a:r>
              <a:rPr lang="en-US" altLang="zh-CN" sz="2500" b="1" dirty="0">
                <a:ea typeface="楷体_GB2312" pitchFamily="49" charset="-122"/>
              </a:rPr>
              <a:t>PO</a:t>
            </a:r>
            <a:r>
              <a:rPr lang="en-US" altLang="zh-CN" sz="2500" b="1" baseline="-25000" dirty="0">
                <a:ea typeface="楷体_GB2312" pitchFamily="49" charset="-122"/>
              </a:rPr>
              <a:t>4</a:t>
            </a:r>
            <a:r>
              <a:rPr lang="en-US" altLang="zh-CN" sz="2500" b="1" baseline="30000" dirty="0">
                <a:ea typeface="楷体_GB2312" pitchFamily="49" charset="-122"/>
              </a:rPr>
              <a:t>-</a:t>
            </a:r>
            <a:r>
              <a:rPr lang="en-US" altLang="zh-CN" sz="2500" b="1" dirty="0">
                <a:ea typeface="楷体_GB2312" pitchFamily="49" charset="-122"/>
              </a:rPr>
              <a:t>  ⇋  HPO</a:t>
            </a:r>
            <a:r>
              <a:rPr lang="en-US" altLang="zh-CN" sz="2500" b="1" baseline="-25000" dirty="0">
                <a:ea typeface="楷体_GB2312" pitchFamily="49" charset="-122"/>
              </a:rPr>
              <a:t>4</a:t>
            </a:r>
            <a:r>
              <a:rPr lang="en-US" altLang="zh-CN" sz="2500" b="1" baseline="30000" dirty="0">
                <a:ea typeface="楷体_GB2312" pitchFamily="49" charset="-122"/>
              </a:rPr>
              <a:t>2-</a:t>
            </a:r>
            <a:r>
              <a:rPr lang="en-US" altLang="zh-CN" sz="2500" b="1" dirty="0">
                <a:ea typeface="楷体_GB2312" pitchFamily="49" charset="-122"/>
              </a:rPr>
              <a:t> + H</a:t>
            </a:r>
            <a:r>
              <a:rPr lang="en-US" altLang="zh-CN" sz="2500" b="1" baseline="30000" dirty="0">
                <a:ea typeface="楷体_GB2312" pitchFamily="49" charset="-122"/>
              </a:rPr>
              <a:t>+</a:t>
            </a:r>
            <a:r>
              <a:rPr lang="en-US" altLang="zh-CN" sz="2500" b="1" dirty="0">
                <a:ea typeface="楷体_GB2312" pitchFamily="49" charset="-122"/>
              </a:rPr>
              <a:t>, p</a:t>
            </a:r>
            <a:r>
              <a:rPr lang="en-US" altLang="zh-CN" sz="2500" b="1" i="1" dirty="0">
                <a:ea typeface="楷体_GB2312" pitchFamily="49" charset="-122"/>
              </a:rPr>
              <a:t>K</a:t>
            </a:r>
            <a:r>
              <a:rPr lang="en-US" altLang="zh-CN" sz="1600" b="1" baseline="100000" dirty="0"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baseline="-25000" dirty="0">
                <a:ea typeface="楷体_GB2312" pitchFamily="49" charset="-122"/>
                <a:sym typeface="Webdings" pitchFamily="18" charset="2"/>
              </a:rPr>
              <a:t>a2 </a:t>
            </a:r>
            <a:r>
              <a:rPr lang="en-US" altLang="zh-CN" sz="2500" b="1" dirty="0">
                <a:ea typeface="楷体_GB2312" pitchFamily="49" charset="-122"/>
                <a:sym typeface="Webdings" pitchFamily="18" charset="2"/>
              </a:rPr>
              <a:t>= 7.21</a:t>
            </a:r>
            <a:r>
              <a:rPr lang="en-US" altLang="zh-CN" sz="2500" b="1" dirty="0">
                <a:ea typeface="楷体_GB2312" pitchFamily="49" charset="-122"/>
              </a:rPr>
              <a:t> </a:t>
            </a:r>
          </a:p>
          <a:p>
            <a:r>
              <a:rPr lang="en-US" altLang="zh-CN" sz="2500" b="1" dirty="0">
                <a:ea typeface="楷体_GB2312" pitchFamily="49" charset="-122"/>
              </a:rPr>
              <a:t>         HPO</a:t>
            </a:r>
            <a:r>
              <a:rPr lang="en-US" altLang="zh-CN" sz="2500" b="1" baseline="-25000" dirty="0">
                <a:ea typeface="楷体_GB2312" pitchFamily="49" charset="-122"/>
              </a:rPr>
              <a:t>4</a:t>
            </a:r>
            <a:r>
              <a:rPr lang="en-US" altLang="zh-CN" sz="2500" b="1" baseline="30000" dirty="0">
                <a:ea typeface="楷体_GB2312" pitchFamily="49" charset="-122"/>
              </a:rPr>
              <a:t>2-</a:t>
            </a:r>
            <a:r>
              <a:rPr lang="en-US" altLang="zh-CN" sz="2500" b="1" dirty="0">
                <a:ea typeface="楷体_GB2312" pitchFamily="49" charset="-122"/>
              </a:rPr>
              <a:t>  ⇋  PO</a:t>
            </a:r>
            <a:r>
              <a:rPr lang="en-US" altLang="zh-CN" sz="2500" b="1" baseline="-25000" dirty="0">
                <a:ea typeface="楷体_GB2312" pitchFamily="49" charset="-122"/>
              </a:rPr>
              <a:t>4</a:t>
            </a:r>
            <a:r>
              <a:rPr lang="en-US" altLang="zh-CN" sz="2500" b="1" baseline="30000" dirty="0">
                <a:ea typeface="楷体_GB2312" pitchFamily="49" charset="-122"/>
              </a:rPr>
              <a:t>3-</a:t>
            </a:r>
            <a:r>
              <a:rPr lang="en-US" altLang="zh-CN" sz="2500" b="1" dirty="0">
                <a:ea typeface="楷体_GB2312" pitchFamily="49" charset="-122"/>
              </a:rPr>
              <a:t> + H</a:t>
            </a:r>
            <a:r>
              <a:rPr lang="en-US" altLang="zh-CN" sz="2500" b="1" baseline="30000" dirty="0">
                <a:ea typeface="楷体_GB2312" pitchFamily="49" charset="-122"/>
              </a:rPr>
              <a:t>+</a:t>
            </a:r>
            <a:r>
              <a:rPr lang="en-US" altLang="zh-CN" sz="2500" b="1" dirty="0">
                <a:ea typeface="楷体_GB2312" pitchFamily="49" charset="-122"/>
              </a:rPr>
              <a:t>, p</a:t>
            </a:r>
            <a:r>
              <a:rPr lang="en-US" altLang="zh-CN" sz="2500" b="1" i="1" dirty="0">
                <a:ea typeface="楷体_GB2312" pitchFamily="49" charset="-122"/>
              </a:rPr>
              <a:t>K</a:t>
            </a:r>
            <a:r>
              <a:rPr lang="en-US" altLang="zh-CN" sz="1600" b="1" baseline="100000" dirty="0"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baseline="-25000" dirty="0">
                <a:ea typeface="楷体_GB2312" pitchFamily="49" charset="-122"/>
                <a:sym typeface="Webdings" pitchFamily="18" charset="2"/>
              </a:rPr>
              <a:t>a3 </a:t>
            </a:r>
            <a:r>
              <a:rPr lang="en-US" altLang="zh-CN" sz="2500" b="1" dirty="0">
                <a:ea typeface="楷体_GB2312" pitchFamily="49" charset="-122"/>
                <a:sym typeface="Webdings" pitchFamily="18" charset="2"/>
              </a:rPr>
              <a:t>= 12.32</a:t>
            </a:r>
            <a:endParaRPr lang="en-US" altLang="zh-CN" sz="2500" b="1" baseline="-25000" dirty="0">
              <a:ea typeface="楷体_GB2312" pitchFamily="49" charset="-122"/>
              <a:sym typeface="Webdings" pitchFamily="18" charset="2"/>
            </a:endParaRPr>
          </a:p>
          <a:p>
            <a:r>
              <a:rPr lang="en-US" altLang="zh-CN" sz="2500" b="1" dirty="0" smtClean="0">
                <a:solidFill>
                  <a:srgbClr val="FF3300"/>
                </a:solidFill>
                <a:ea typeface="楷体_GB2312" pitchFamily="49" charset="-122"/>
              </a:rPr>
              <a:t>(1)</a:t>
            </a:r>
            <a:r>
              <a:rPr lang="zh-CN" altLang="en-US" sz="2500" b="1" dirty="0" smtClean="0">
                <a:solidFill>
                  <a:srgbClr val="FF3300"/>
                </a:solidFill>
                <a:ea typeface="楷体_GB2312" pitchFamily="49" charset="-122"/>
              </a:rPr>
              <a:t>准确滴定和</a:t>
            </a:r>
            <a:r>
              <a:rPr lang="zh-CN" altLang="en-US" sz="2500" b="1" dirty="0" smtClean="0">
                <a:solidFill>
                  <a:srgbClr val="FF3300"/>
                </a:solidFill>
                <a:ea typeface="楷体_GB2312" pitchFamily="49" charset="-122"/>
                <a:hlinkClick r:id="" action="ppaction://hlinkshowjump?jump=nextslide"/>
              </a:rPr>
              <a:t>分步滴定</a:t>
            </a:r>
            <a:r>
              <a:rPr lang="en-US" altLang="zh-CN" sz="2500" b="1" dirty="0" smtClean="0">
                <a:solidFill>
                  <a:srgbClr val="FF3300"/>
                </a:solidFill>
                <a:ea typeface="楷体_GB2312" pitchFamily="49" charset="-122"/>
              </a:rPr>
              <a:t>:</a:t>
            </a:r>
            <a:r>
              <a:rPr lang="en-US" altLang="zh-CN" sz="2500" b="1" dirty="0" smtClean="0">
                <a:ea typeface="楷体_GB2312" pitchFamily="49" charset="-122"/>
              </a:rPr>
              <a:t>          </a:t>
            </a:r>
            <a:endParaRPr lang="en-US" altLang="zh-CN" sz="2500" b="1" dirty="0">
              <a:ea typeface="楷体_GB2312" pitchFamily="49" charset="-122"/>
            </a:endParaRPr>
          </a:p>
        </p:txBody>
      </p:sp>
      <p:sp>
        <p:nvSpPr>
          <p:cNvPr id="15364" name="Rectangle 17"/>
          <p:cNvSpPr>
            <a:spLocks noGrp="1" noChangeArrowheads="1"/>
          </p:cNvSpPr>
          <p:nvPr>
            <p:ph type="title"/>
          </p:nvPr>
        </p:nvSpPr>
        <p:spPr>
          <a:xfrm>
            <a:off x="576263" y="258763"/>
            <a:ext cx="10369550" cy="431800"/>
          </a:xfrm>
        </p:spPr>
        <p:txBody>
          <a:bodyPr/>
          <a:lstStyle/>
          <a:p>
            <a:pPr eaLnBrk="1" hangingPunct="1"/>
            <a:r>
              <a:rPr lang="en-US" altLang="zh-CN" smtClean="0">
                <a:ea typeface="黑体" pitchFamily="49" charset="-122"/>
              </a:rPr>
              <a:t>3.6.3</a:t>
            </a:r>
            <a:r>
              <a:rPr lang="zh-CN" altLang="en-US" smtClean="0">
                <a:ea typeface="黑体" pitchFamily="49" charset="-122"/>
              </a:rPr>
              <a:t>多元酸</a:t>
            </a:r>
            <a:r>
              <a:rPr lang="en-US" altLang="zh-CN" smtClean="0">
                <a:ea typeface="黑体" pitchFamily="49" charset="-122"/>
              </a:rPr>
              <a:t>(</a:t>
            </a:r>
            <a:r>
              <a:rPr lang="zh-CN" altLang="en-US" smtClean="0">
                <a:ea typeface="黑体" pitchFamily="49" charset="-122"/>
              </a:rPr>
              <a:t>碱</a:t>
            </a:r>
            <a:r>
              <a:rPr lang="en-US" altLang="zh-CN" smtClean="0">
                <a:ea typeface="黑体" pitchFamily="49" charset="-122"/>
              </a:rPr>
              <a:t>)</a:t>
            </a:r>
            <a:r>
              <a:rPr lang="zh-CN" altLang="en-US" smtClean="0">
                <a:ea typeface="黑体" pitchFamily="49" charset="-122"/>
              </a:rPr>
              <a:t>、混酸的滴定</a:t>
            </a:r>
            <a:endParaRPr lang="zh-CN" altLang="en-US" sz="1800" smtClean="0">
              <a:ea typeface="黑体" pitchFamily="49" charset="-122"/>
            </a:endParaRPr>
          </a:p>
        </p:txBody>
      </p:sp>
      <p:sp>
        <p:nvSpPr>
          <p:cNvPr id="94210" name="Rectangle 2"/>
          <p:cNvSpPr>
            <a:spLocks noChangeArrowheads="1"/>
          </p:cNvSpPr>
          <p:nvPr/>
        </p:nvSpPr>
        <p:spPr bwMode="auto">
          <a:xfrm>
            <a:off x="906463" y="5154976"/>
            <a:ext cx="9482137" cy="46672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lnSpc>
                <a:spcPct val="105000"/>
              </a:lnSpc>
            </a:pPr>
            <a:r>
              <a:rPr lang="en-US" altLang="zh-CN" sz="2500" b="1" dirty="0">
                <a:ea typeface="楷体_GB2312" pitchFamily="49" charset="-122"/>
                <a:sym typeface="Symbol" pitchFamily="18" charset="2"/>
              </a:rPr>
              <a:t>        </a:t>
            </a:r>
            <a:endParaRPr lang="en-US" altLang="zh-CN" sz="2500" b="1" dirty="0">
              <a:ea typeface="楷体_GB2312" pitchFamily="49" charset="-122"/>
              <a:sym typeface="Monotype Sorts" pitchFamily="2" charset="2"/>
            </a:endParaRPr>
          </a:p>
        </p:txBody>
      </p:sp>
      <p:sp>
        <p:nvSpPr>
          <p:cNvPr id="15367" name="Oval 26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gray">
          <a:xfrm>
            <a:off x="0" y="5597525"/>
            <a:ext cx="360363" cy="360363"/>
          </a:xfrm>
          <a:prstGeom prst="ellipse">
            <a:avLst/>
          </a:prstGeom>
          <a:blipFill dpi="0" rotWithShape="1">
            <a:blip r:embed="rId2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368" name="Oval 27" descr="图片9">
            <a:hlinkClick r:id="rId3" action="ppaction://hlinksldjump"/>
          </p:cNvPr>
          <p:cNvSpPr>
            <a:spLocks noChangeAspect="1" noChangeArrowheads="1"/>
          </p:cNvSpPr>
          <p:nvPr/>
        </p:nvSpPr>
        <p:spPr bwMode="gray">
          <a:xfrm>
            <a:off x="11155363" y="5688013"/>
            <a:ext cx="360362" cy="360362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1152525" y="3351570"/>
            <a:ext cx="1588897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2400" b="1" i="1" u="sng" dirty="0" err="1">
                <a:ea typeface="楷体_GB2312" pitchFamily="49" charset="-122"/>
              </a:rPr>
              <a:t>cK</a:t>
            </a:r>
            <a:r>
              <a:rPr kumimoji="1" lang="en-US" altLang="zh-CN" sz="2400" b="1" u="sng" baseline="100000" dirty="0" err="1">
                <a:ea typeface="楷体_GB2312" pitchFamily="49" charset="-122"/>
                <a:sym typeface="Webdings" pitchFamily="18" charset="2"/>
              </a:rPr>
              <a:t></a:t>
            </a:r>
            <a:r>
              <a:rPr kumimoji="1" lang="en-US" altLang="zh-CN" sz="2400" b="1" u="sng" baseline="-25000" dirty="0" err="1" smtClean="0">
                <a:ea typeface="楷体_GB2312" pitchFamily="49" charset="-122"/>
                <a:sym typeface="Webdings" pitchFamily="18" charset="2"/>
              </a:rPr>
              <a:t>a</a:t>
            </a:r>
            <a:r>
              <a:rPr kumimoji="1" lang="en-US" altLang="zh-CN" sz="2400" b="1" u="sng" dirty="0">
                <a:solidFill>
                  <a:srgbClr val="FF0000"/>
                </a:solidFill>
                <a:ea typeface="楷体_GB2312" pitchFamily="49" charset="-122"/>
              </a:rPr>
              <a:t> </a:t>
            </a:r>
            <a:r>
              <a:rPr kumimoji="1" lang="en-US" altLang="zh-CN" sz="2400" b="1" u="sng" dirty="0">
                <a:ea typeface="楷体_GB2312" pitchFamily="49" charset="-122"/>
              </a:rPr>
              <a:t>≥10</a:t>
            </a:r>
            <a:r>
              <a:rPr kumimoji="1" lang="en-US" altLang="zh-CN" sz="2400" b="1" u="sng" baseline="30000" dirty="0">
                <a:ea typeface="楷体_GB2312" pitchFamily="49" charset="-122"/>
              </a:rPr>
              <a:t>-8</a:t>
            </a:r>
            <a:endParaRPr lang="zh-CN" altLang="en-US" sz="2400" dirty="0"/>
          </a:p>
        </p:txBody>
      </p:sp>
      <p:sp>
        <p:nvSpPr>
          <p:cNvPr id="3" name="矩形 2"/>
          <p:cNvSpPr/>
          <p:nvPr/>
        </p:nvSpPr>
        <p:spPr>
          <a:xfrm>
            <a:off x="1152525" y="3902546"/>
            <a:ext cx="202972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b="1" i="1" u="sng" dirty="0" err="1">
                <a:ea typeface="楷体_GB2312" pitchFamily="49" charset="-122"/>
              </a:rPr>
              <a:t>K</a:t>
            </a:r>
            <a:r>
              <a:rPr kumimoji="1" lang="en-US" altLang="zh-CN" sz="2000" b="1" u="sng" baseline="100000" dirty="0" err="1"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000" b="1" u="sng" baseline="-25000" dirty="0" err="1">
                <a:ea typeface="楷体_GB2312" pitchFamily="49" charset="-122"/>
                <a:sym typeface="Webdings" pitchFamily="18" charset="2"/>
              </a:rPr>
              <a:t>an</a:t>
            </a:r>
            <a:r>
              <a:rPr lang="en-US" altLang="zh-CN" sz="2000" b="1" u="sng" dirty="0">
                <a:ea typeface="楷体_GB2312" pitchFamily="49" charset="-122"/>
              </a:rPr>
              <a:t>/</a:t>
            </a:r>
            <a:r>
              <a:rPr lang="en-US" altLang="zh-CN" sz="2000" b="1" i="1" u="sng" dirty="0">
                <a:ea typeface="楷体_GB2312" pitchFamily="49" charset="-122"/>
              </a:rPr>
              <a:t>K</a:t>
            </a:r>
            <a:r>
              <a:rPr kumimoji="1" lang="en-US" altLang="zh-CN" sz="2000" b="1" u="sng" baseline="100000" dirty="0"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000" b="1" u="sng" baseline="-25000" dirty="0">
                <a:ea typeface="楷体_GB2312" pitchFamily="49" charset="-122"/>
                <a:sym typeface="Webdings" pitchFamily="18" charset="2"/>
              </a:rPr>
              <a:t>an+1</a:t>
            </a:r>
            <a:r>
              <a:rPr lang="en-US" altLang="zh-CN" sz="2000" b="1" u="sng" dirty="0">
                <a:ea typeface="楷体_GB2312" pitchFamily="49" charset="-122"/>
              </a:rPr>
              <a:t>≥10</a:t>
            </a:r>
            <a:r>
              <a:rPr lang="en-US" altLang="zh-CN" sz="2000" b="1" u="sng" baseline="30000" dirty="0">
                <a:ea typeface="楷体_GB2312" pitchFamily="49" charset="-122"/>
              </a:rPr>
              <a:t>4</a:t>
            </a:r>
            <a:r>
              <a:rPr lang="en-US" altLang="zh-CN" sz="2000" b="1" dirty="0">
                <a:ea typeface="楷体_GB2312" pitchFamily="49" charset="-122"/>
              </a:rPr>
              <a:t> </a:t>
            </a:r>
            <a:endParaRPr lang="zh-CN" altLang="en-US" sz="2000" dirty="0"/>
          </a:p>
        </p:txBody>
      </p:sp>
      <p:sp>
        <p:nvSpPr>
          <p:cNvPr id="5" name="矩形 4"/>
          <p:cNvSpPr/>
          <p:nvPr/>
        </p:nvSpPr>
        <p:spPr>
          <a:xfrm>
            <a:off x="4215652" y="3317909"/>
            <a:ext cx="269496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2400" b="1" i="1" dirty="0">
                <a:ea typeface="楷体_GB2312" pitchFamily="49" charset="-122"/>
              </a:rPr>
              <a:t>cK</a:t>
            </a:r>
            <a:r>
              <a:rPr kumimoji="1" lang="en-US" altLang="zh-CN" sz="2400" b="1" baseline="100000" dirty="0">
                <a:ea typeface="楷体_GB2312" pitchFamily="49" charset="-122"/>
                <a:sym typeface="Webdings" pitchFamily="18" charset="2"/>
              </a:rPr>
              <a:t></a:t>
            </a:r>
            <a:r>
              <a:rPr kumimoji="1" lang="en-US" altLang="zh-CN" sz="2400" b="1" baseline="-25000" dirty="0" smtClean="0">
                <a:ea typeface="楷体_GB2312" pitchFamily="49" charset="-122"/>
                <a:sym typeface="Webdings" pitchFamily="18" charset="2"/>
              </a:rPr>
              <a:t>a1</a:t>
            </a:r>
            <a:r>
              <a:rPr kumimoji="1" lang="en-US" altLang="zh-CN" sz="2400" b="1" dirty="0">
                <a:ea typeface="楷体_GB2312" pitchFamily="49" charset="-122"/>
                <a:sym typeface="Webdings" pitchFamily="18" charset="2"/>
              </a:rPr>
              <a:t>=0.1 </a:t>
            </a:r>
            <a:r>
              <a:rPr kumimoji="1" lang="en-US" altLang="zh-CN" sz="2400" b="1" dirty="0" smtClean="0">
                <a:ea typeface="楷体_GB2312" pitchFamily="49" charset="-122"/>
                <a:sym typeface="Webdings" pitchFamily="18" charset="2"/>
              </a:rPr>
              <a:t>×10 </a:t>
            </a:r>
            <a:r>
              <a:rPr kumimoji="1" lang="en-US" altLang="zh-CN" sz="2400" b="1" baseline="30000" dirty="0" smtClean="0">
                <a:ea typeface="楷体_GB2312" pitchFamily="49" charset="-122"/>
                <a:sym typeface="Webdings" pitchFamily="18" charset="2"/>
              </a:rPr>
              <a:t>-2.16</a:t>
            </a:r>
            <a:endParaRPr lang="zh-CN" altLang="en-US" sz="2400" baseline="30000" dirty="0"/>
          </a:p>
        </p:txBody>
      </p:sp>
      <p:sp>
        <p:nvSpPr>
          <p:cNvPr id="13" name="矩形 12"/>
          <p:cNvSpPr/>
          <p:nvPr/>
        </p:nvSpPr>
        <p:spPr>
          <a:xfrm>
            <a:off x="4240751" y="3791607"/>
            <a:ext cx="269496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2400" b="1" i="1" dirty="0">
                <a:ea typeface="楷体_GB2312" pitchFamily="49" charset="-122"/>
              </a:rPr>
              <a:t>cK</a:t>
            </a:r>
            <a:r>
              <a:rPr kumimoji="1" lang="en-US" altLang="zh-CN" sz="2400" b="1" baseline="100000" dirty="0">
                <a:ea typeface="楷体_GB2312" pitchFamily="49" charset="-122"/>
                <a:sym typeface="Webdings" pitchFamily="18" charset="2"/>
              </a:rPr>
              <a:t></a:t>
            </a:r>
            <a:r>
              <a:rPr kumimoji="1" lang="en-US" altLang="zh-CN" sz="2400" b="1" baseline="-25000" dirty="0" smtClean="0">
                <a:ea typeface="楷体_GB2312" pitchFamily="49" charset="-122"/>
                <a:sym typeface="Webdings" pitchFamily="18" charset="2"/>
              </a:rPr>
              <a:t>a2</a:t>
            </a:r>
            <a:r>
              <a:rPr kumimoji="1" lang="en-US" altLang="zh-CN" sz="2400" b="1" dirty="0" smtClean="0">
                <a:ea typeface="楷体_GB2312" pitchFamily="49" charset="-122"/>
                <a:sym typeface="Webdings" pitchFamily="18" charset="2"/>
              </a:rPr>
              <a:t>=0.1 ×10 </a:t>
            </a:r>
            <a:r>
              <a:rPr kumimoji="1" lang="en-US" altLang="zh-CN" sz="2400" b="1" baseline="30000" dirty="0" smtClean="0">
                <a:ea typeface="楷体_GB2312" pitchFamily="49" charset="-122"/>
                <a:sym typeface="Webdings" pitchFamily="18" charset="2"/>
              </a:rPr>
              <a:t>-7.21</a:t>
            </a:r>
            <a:endParaRPr lang="zh-CN" altLang="en-US" sz="2400" baseline="30000" dirty="0"/>
          </a:p>
        </p:txBody>
      </p:sp>
      <p:sp>
        <p:nvSpPr>
          <p:cNvPr id="14" name="矩形 13"/>
          <p:cNvSpPr/>
          <p:nvPr/>
        </p:nvSpPr>
        <p:spPr>
          <a:xfrm>
            <a:off x="4224338" y="4278870"/>
            <a:ext cx="366318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2400" b="1" i="1" dirty="0">
                <a:ea typeface="楷体_GB2312" pitchFamily="49" charset="-122"/>
              </a:rPr>
              <a:t>cK</a:t>
            </a:r>
            <a:r>
              <a:rPr kumimoji="1" lang="en-US" altLang="zh-CN" sz="2400" b="1" baseline="100000" dirty="0">
                <a:ea typeface="楷体_GB2312" pitchFamily="49" charset="-122"/>
                <a:sym typeface="Webdings" pitchFamily="18" charset="2"/>
              </a:rPr>
              <a:t></a:t>
            </a:r>
            <a:r>
              <a:rPr kumimoji="1" lang="en-US" altLang="zh-CN" sz="2400" b="1" baseline="-25000" dirty="0" smtClean="0">
                <a:ea typeface="楷体_GB2312" pitchFamily="49" charset="-122"/>
                <a:sym typeface="Webdings" pitchFamily="18" charset="2"/>
              </a:rPr>
              <a:t>a3</a:t>
            </a:r>
            <a:r>
              <a:rPr kumimoji="1" lang="en-US" altLang="zh-CN" sz="2400" b="1" dirty="0" smtClean="0">
                <a:ea typeface="楷体_GB2312" pitchFamily="49" charset="-122"/>
                <a:sym typeface="Webdings" pitchFamily="18" charset="2"/>
              </a:rPr>
              <a:t>=0.1 ×10 </a:t>
            </a:r>
            <a:r>
              <a:rPr kumimoji="1" lang="en-US" altLang="zh-CN" sz="2400" b="1" baseline="30000" dirty="0" smtClean="0">
                <a:ea typeface="楷体_GB2312" pitchFamily="49" charset="-122"/>
                <a:sym typeface="Webdings" pitchFamily="18" charset="2"/>
              </a:rPr>
              <a:t>-12.32</a:t>
            </a:r>
            <a:r>
              <a:rPr kumimoji="1" lang="zh-CN" altLang="en-US" sz="2400" b="1" dirty="0" smtClean="0">
                <a:ea typeface="楷体_GB2312" pitchFamily="49" charset="-122"/>
                <a:sym typeface="Webdings" pitchFamily="18" charset="2"/>
              </a:rPr>
              <a:t>＜</a:t>
            </a:r>
            <a:r>
              <a:rPr kumimoji="1" lang="en-US" altLang="zh-CN" sz="2400" b="1" dirty="0" smtClean="0">
                <a:ea typeface="楷体_GB2312" pitchFamily="49" charset="-122"/>
                <a:sym typeface="Webdings" pitchFamily="18" charset="2"/>
              </a:rPr>
              <a:t>10 </a:t>
            </a:r>
            <a:r>
              <a:rPr kumimoji="1" lang="en-US" altLang="zh-CN" sz="2400" b="1" baseline="30000" dirty="0" smtClean="0">
                <a:ea typeface="楷体_GB2312" pitchFamily="49" charset="-122"/>
                <a:sym typeface="Webdings" pitchFamily="18" charset="2"/>
              </a:rPr>
              <a:t>-8</a:t>
            </a:r>
            <a:endParaRPr lang="zh-CN" altLang="en-US" sz="2400" baseline="30000" dirty="0"/>
          </a:p>
        </p:txBody>
      </p:sp>
      <p:sp>
        <p:nvSpPr>
          <p:cNvPr id="6" name="文本框 5"/>
          <p:cNvSpPr txBox="1"/>
          <p:nvPr/>
        </p:nvSpPr>
        <p:spPr>
          <a:xfrm>
            <a:off x="4240751" y="4778166"/>
            <a:ext cx="29290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 smtClean="0"/>
              <a:t>∴只能滴定到</a:t>
            </a:r>
            <a:r>
              <a:rPr lang="en-US" altLang="zh-CN" sz="2400" b="1" dirty="0" smtClean="0"/>
              <a:t>HPO</a:t>
            </a:r>
            <a:r>
              <a:rPr lang="en-US" altLang="zh-CN" sz="2400" b="1" baseline="-25000" dirty="0" smtClean="0"/>
              <a:t>4 </a:t>
            </a:r>
            <a:r>
              <a:rPr lang="en-US" altLang="zh-CN" sz="2400" b="1" baseline="30000" dirty="0" smtClean="0"/>
              <a:t>-</a:t>
            </a:r>
            <a:endParaRPr lang="zh-CN" altLang="en-US" sz="2400" b="1" baseline="30000" dirty="0"/>
          </a:p>
        </p:txBody>
      </p:sp>
      <p:sp>
        <p:nvSpPr>
          <p:cNvPr id="16" name="矩形 15"/>
          <p:cNvSpPr/>
          <p:nvPr/>
        </p:nvSpPr>
        <p:spPr>
          <a:xfrm>
            <a:off x="8288345" y="3266715"/>
            <a:ext cx="229742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i="1" dirty="0">
                <a:ea typeface="楷体_GB2312" pitchFamily="49" charset="-122"/>
              </a:rPr>
              <a:t>K</a:t>
            </a:r>
            <a:r>
              <a:rPr kumimoji="1" lang="en-US" altLang="zh-CN" sz="2400" b="1" baseline="100000" dirty="0"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400" b="1" u="sng" baseline="-25000" dirty="0" smtClean="0">
                <a:ea typeface="楷体_GB2312" pitchFamily="49" charset="-122"/>
                <a:sym typeface="Webdings" pitchFamily="18" charset="2"/>
              </a:rPr>
              <a:t>a1</a:t>
            </a:r>
            <a:r>
              <a:rPr lang="en-US" altLang="zh-CN" sz="2400" b="1" u="sng" dirty="0" smtClean="0">
                <a:ea typeface="楷体_GB2312" pitchFamily="49" charset="-122"/>
              </a:rPr>
              <a:t>/</a:t>
            </a:r>
            <a:r>
              <a:rPr lang="en-US" altLang="zh-CN" sz="2400" b="1" i="1" dirty="0" smtClean="0">
                <a:ea typeface="楷体_GB2312" pitchFamily="49" charset="-122"/>
              </a:rPr>
              <a:t>K</a:t>
            </a:r>
            <a:r>
              <a:rPr kumimoji="1" lang="en-US" altLang="zh-CN" sz="2400" b="1" u="sng" baseline="100000" dirty="0"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400" b="1" u="sng" baseline="-25000" dirty="0" smtClean="0">
                <a:ea typeface="楷体_GB2312" pitchFamily="49" charset="-122"/>
                <a:sym typeface="Webdings" pitchFamily="18" charset="2"/>
              </a:rPr>
              <a:t>a2</a:t>
            </a:r>
            <a:r>
              <a:rPr lang="zh-CN" altLang="en-US" sz="2400" b="1" dirty="0">
                <a:ea typeface="楷体_GB2312" pitchFamily="49" charset="-122"/>
              </a:rPr>
              <a:t>＞</a:t>
            </a:r>
            <a:r>
              <a:rPr lang="en-US" altLang="zh-CN" sz="2400" b="1" dirty="0" smtClean="0">
                <a:ea typeface="楷体_GB2312" pitchFamily="49" charset="-122"/>
              </a:rPr>
              <a:t>10</a:t>
            </a:r>
            <a:r>
              <a:rPr lang="en-US" altLang="zh-CN" sz="2400" b="1" baseline="30000" dirty="0" smtClean="0">
                <a:ea typeface="楷体_GB2312" pitchFamily="49" charset="-122"/>
              </a:rPr>
              <a:t>4</a:t>
            </a:r>
            <a:r>
              <a:rPr lang="en-US" altLang="zh-CN" sz="2400" b="1" dirty="0" smtClean="0">
                <a:ea typeface="楷体_GB2312" pitchFamily="49" charset="-122"/>
              </a:rPr>
              <a:t> </a:t>
            </a:r>
            <a:endParaRPr lang="zh-CN" altLang="en-US" sz="2400" b="1" dirty="0"/>
          </a:p>
        </p:txBody>
      </p:sp>
      <p:sp>
        <p:nvSpPr>
          <p:cNvPr id="17" name="文本框 16"/>
          <p:cNvSpPr txBox="1"/>
          <p:nvPr/>
        </p:nvSpPr>
        <p:spPr>
          <a:xfrm>
            <a:off x="8366377" y="3863868"/>
            <a:ext cx="20409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 smtClean="0"/>
              <a:t>∴能分步滴定</a:t>
            </a:r>
            <a:endParaRPr lang="zh-CN" altLang="en-US" sz="2400" b="1" baseline="30000" dirty="0"/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67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675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675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675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675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675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590" grpId="0" autoUpdateAnimBg="0"/>
      <p:bldP spid="67591" grpId="0" build="p" autoUpdateAnimBg="0"/>
      <p:bldP spid="2" grpId="0"/>
      <p:bldP spid="3" grpId="0"/>
      <p:bldP spid="5" grpId="0"/>
      <p:bldP spid="13" grpId="0"/>
      <p:bldP spid="14" grpId="0"/>
      <p:bldP spid="6" grpId="0"/>
      <p:bldP spid="16" grpId="0"/>
      <p:bldP spid="1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8" name="Text Box 6"/>
          <p:cNvSpPr txBox="1">
            <a:spLocks noChangeArrowheads="1"/>
          </p:cNvSpPr>
          <p:nvPr/>
        </p:nvSpPr>
        <p:spPr bwMode="auto">
          <a:xfrm>
            <a:off x="330409" y="3046666"/>
            <a:ext cx="3054364" cy="477837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2500" b="1" dirty="0">
                <a:solidFill>
                  <a:srgbClr val="FF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/>
                <a:sym typeface="Monotype Sorts" pitchFamily="2" charset="2"/>
              </a:rPr>
              <a:t>②</a:t>
            </a:r>
            <a:r>
              <a:rPr lang="zh-CN" altLang="en-US" sz="2500" b="1" dirty="0">
                <a:solidFill>
                  <a:srgbClr val="FF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/>
                <a:sym typeface="Monotype Sorts" pitchFamily="2" charset="2"/>
              </a:rPr>
              <a:t>第二化学计量点</a:t>
            </a:r>
            <a:r>
              <a:rPr lang="en-US" altLang="zh-CN" sz="2500" b="1" dirty="0">
                <a:solidFill>
                  <a:srgbClr val="FF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/>
                <a:sym typeface="Monotype Sorts" pitchFamily="2" charset="2"/>
              </a:rPr>
              <a:t>:</a:t>
            </a:r>
            <a:endParaRPr lang="en-US" altLang="zh-CN" sz="2500" b="1" dirty="0">
              <a:ea typeface="楷体_GB2312"/>
            </a:endParaRPr>
          </a:p>
        </p:txBody>
      </p:sp>
      <p:sp>
        <p:nvSpPr>
          <p:cNvPr id="69639" name="Rectangle 7"/>
          <p:cNvSpPr>
            <a:spLocks noChangeArrowheads="1"/>
          </p:cNvSpPr>
          <p:nvPr/>
        </p:nvSpPr>
        <p:spPr bwMode="auto">
          <a:xfrm>
            <a:off x="-1753" y="3672135"/>
            <a:ext cx="4957764" cy="124618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r>
              <a:rPr lang="en-US" altLang="zh-CN" sz="2500" b="1" dirty="0">
                <a:ea typeface="楷体_GB2312" pitchFamily="49" charset="-122"/>
                <a:sym typeface="Monotype Sorts" pitchFamily="2" charset="2"/>
              </a:rPr>
              <a:t>        </a:t>
            </a:r>
            <a:r>
              <a:rPr lang="en-US" altLang="zh-CN" sz="2500" b="1" dirty="0">
                <a:ea typeface="楷体_GB2312" pitchFamily="49" charset="-122"/>
              </a:rPr>
              <a:t>pH = (p</a:t>
            </a:r>
            <a:r>
              <a:rPr lang="en-US" altLang="zh-CN" sz="2500" b="1" i="1" dirty="0">
                <a:ea typeface="楷体_GB2312" pitchFamily="49" charset="-122"/>
              </a:rPr>
              <a:t>K</a:t>
            </a:r>
            <a:r>
              <a:rPr lang="en-US" altLang="zh-CN" sz="1600" b="1" baseline="100000" dirty="0"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baseline="-25000" dirty="0">
                <a:ea typeface="楷体_GB2312" pitchFamily="49" charset="-122"/>
                <a:sym typeface="Webdings" pitchFamily="18" charset="2"/>
              </a:rPr>
              <a:t>a2 </a:t>
            </a:r>
            <a:r>
              <a:rPr lang="en-US" altLang="zh-CN" sz="2500" b="1" dirty="0">
                <a:ea typeface="楷体_GB2312" pitchFamily="49" charset="-122"/>
              </a:rPr>
              <a:t>+ p</a:t>
            </a:r>
            <a:r>
              <a:rPr lang="en-US" altLang="zh-CN" sz="2500" b="1" i="1" dirty="0">
                <a:ea typeface="楷体_GB2312" pitchFamily="49" charset="-122"/>
              </a:rPr>
              <a:t>K</a:t>
            </a:r>
            <a:r>
              <a:rPr lang="en-US" altLang="zh-CN" sz="1600" b="1" baseline="100000" dirty="0"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baseline="-25000" dirty="0">
                <a:ea typeface="楷体_GB2312" pitchFamily="49" charset="-122"/>
                <a:sym typeface="Webdings" pitchFamily="18" charset="2"/>
              </a:rPr>
              <a:t>a3</a:t>
            </a:r>
            <a:r>
              <a:rPr lang="en-US" altLang="zh-CN" sz="2500" b="1" dirty="0">
                <a:ea typeface="楷体_GB2312" pitchFamily="49" charset="-122"/>
              </a:rPr>
              <a:t>)/2</a:t>
            </a:r>
            <a:r>
              <a:rPr lang="en-US" altLang="zh-CN" sz="2500" b="1" dirty="0">
                <a:ea typeface="楷体_GB2312" pitchFamily="49" charset="-122"/>
                <a:sym typeface="Monotype Sorts" pitchFamily="2" charset="2"/>
              </a:rPr>
              <a:t> = 9.77.</a:t>
            </a:r>
          </a:p>
          <a:p>
            <a:r>
              <a:rPr lang="en-US" altLang="zh-CN" sz="2500" b="1" dirty="0">
                <a:ea typeface="楷体_GB2312" pitchFamily="49" charset="-122"/>
                <a:sym typeface="Monotype Sorts" pitchFamily="2" charset="2"/>
              </a:rPr>
              <a:t>        </a:t>
            </a:r>
            <a:r>
              <a:rPr lang="zh-CN" altLang="en-US" sz="2500" b="1" dirty="0">
                <a:ea typeface="楷体_GB2312" pitchFamily="49" charset="-122"/>
                <a:sym typeface="Monotype Sorts" pitchFamily="2" charset="2"/>
              </a:rPr>
              <a:t>这时</a:t>
            </a:r>
            <a:r>
              <a:rPr lang="zh-CN" altLang="en-US" sz="2500" b="1" i="1" dirty="0">
                <a:ea typeface="楷体_GB2312" pitchFamily="49" charset="-122"/>
                <a:sym typeface="Symbol" pitchFamily="18" charset="2"/>
              </a:rPr>
              <a:t></a:t>
            </a:r>
            <a:r>
              <a:rPr lang="en-US" altLang="zh-CN" sz="2500" b="1" baseline="-25000" dirty="0">
                <a:ea typeface="楷体_GB2312" pitchFamily="49" charset="-122"/>
                <a:sym typeface="Symbol" pitchFamily="18" charset="2"/>
              </a:rPr>
              <a:t>1 </a:t>
            </a:r>
            <a:r>
              <a:rPr lang="en-US" altLang="zh-CN" sz="2500" b="1" dirty="0">
                <a:ea typeface="楷体_GB2312" pitchFamily="49" charset="-122"/>
                <a:sym typeface="Symbol" pitchFamily="18" charset="2"/>
              </a:rPr>
              <a:t>= 0.995.</a:t>
            </a:r>
          </a:p>
          <a:p>
            <a:r>
              <a:rPr lang="en-US" altLang="zh-CN" sz="2500" b="1" dirty="0">
                <a:ea typeface="楷体_GB2312" pitchFamily="49" charset="-122"/>
                <a:sym typeface="Symbol" pitchFamily="18" charset="2"/>
              </a:rPr>
              <a:t>        </a:t>
            </a:r>
            <a:r>
              <a:rPr lang="zh-CN" altLang="en-US" sz="2500" b="1" dirty="0">
                <a:ea typeface="楷体_GB2312" pitchFamily="49" charset="-122"/>
                <a:sym typeface="Symbol" pitchFamily="18" charset="2"/>
              </a:rPr>
              <a:t>一般可选酚酞</a:t>
            </a:r>
            <a:r>
              <a:rPr lang="en-US" altLang="zh-CN" sz="2500" b="1" dirty="0">
                <a:ea typeface="楷体_GB2312" pitchFamily="49" charset="-122"/>
                <a:sym typeface="Symbol" pitchFamily="18" charset="2"/>
              </a:rPr>
              <a:t>.</a:t>
            </a:r>
            <a:endParaRPr lang="zh-CN" altLang="en-US" sz="2500" b="1" dirty="0">
              <a:ea typeface="楷体_GB2312" pitchFamily="49" charset="-122"/>
              <a:sym typeface="Symbol" pitchFamily="18" charset="2"/>
            </a:endParaRPr>
          </a:p>
        </p:txBody>
      </p:sp>
      <p:sp>
        <p:nvSpPr>
          <p:cNvPr id="17412" name="Rectangle 19"/>
          <p:cNvSpPr>
            <a:spLocks noGrp="1" noChangeArrowheads="1"/>
          </p:cNvSpPr>
          <p:nvPr>
            <p:ph type="title"/>
          </p:nvPr>
        </p:nvSpPr>
        <p:spPr>
          <a:xfrm>
            <a:off x="576263" y="258763"/>
            <a:ext cx="10369550" cy="431800"/>
          </a:xfrm>
        </p:spPr>
        <p:txBody>
          <a:bodyPr/>
          <a:lstStyle/>
          <a:p>
            <a:pPr eaLnBrk="1" hangingPunct="1"/>
            <a:r>
              <a:rPr lang="en-US" altLang="zh-CN" smtClean="0">
                <a:ea typeface="黑体" pitchFamily="49" charset="-122"/>
              </a:rPr>
              <a:t>3.6.3</a:t>
            </a:r>
            <a:r>
              <a:rPr lang="zh-CN" altLang="en-US" smtClean="0">
                <a:ea typeface="黑体" pitchFamily="49" charset="-122"/>
              </a:rPr>
              <a:t>多元酸</a:t>
            </a:r>
            <a:r>
              <a:rPr lang="en-US" altLang="zh-CN" smtClean="0">
                <a:ea typeface="黑体" pitchFamily="49" charset="-122"/>
              </a:rPr>
              <a:t>(</a:t>
            </a:r>
            <a:r>
              <a:rPr lang="zh-CN" altLang="en-US" smtClean="0">
                <a:ea typeface="黑体" pitchFamily="49" charset="-122"/>
              </a:rPr>
              <a:t>碱</a:t>
            </a:r>
            <a:r>
              <a:rPr lang="en-US" altLang="zh-CN" smtClean="0">
                <a:ea typeface="黑体" pitchFamily="49" charset="-122"/>
              </a:rPr>
              <a:t>)</a:t>
            </a:r>
            <a:r>
              <a:rPr lang="zh-CN" altLang="en-US" smtClean="0">
                <a:ea typeface="黑体" pitchFamily="49" charset="-122"/>
              </a:rPr>
              <a:t>、混酸的滴定</a:t>
            </a:r>
            <a:endParaRPr lang="zh-CN" altLang="en-US" sz="1800" smtClean="0">
              <a:ea typeface="黑体" pitchFamily="49" charset="-122"/>
            </a:endParaRPr>
          </a:p>
        </p:txBody>
      </p:sp>
      <p:sp>
        <p:nvSpPr>
          <p:cNvPr id="17413" name="Oval 26" descr="图片8">
            <a:hlinkClick r:id="rId3" action="ppaction://hlinksldjump"/>
          </p:cNvPr>
          <p:cNvSpPr>
            <a:spLocks noChangeAspect="1" noChangeArrowheads="1"/>
          </p:cNvSpPr>
          <p:nvPr/>
        </p:nvSpPr>
        <p:spPr bwMode="gray">
          <a:xfrm>
            <a:off x="0" y="5597525"/>
            <a:ext cx="360363" cy="360363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414" name="Oval 27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gray">
          <a:xfrm>
            <a:off x="11155363" y="5688013"/>
            <a:ext cx="360362" cy="360362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" name="Rectangle 0"/>
          <p:cNvSpPr>
            <a:spLocks noChangeArrowheads="1"/>
          </p:cNvSpPr>
          <p:nvPr/>
        </p:nvSpPr>
        <p:spPr bwMode="auto">
          <a:xfrm>
            <a:off x="359910" y="860798"/>
            <a:ext cx="5833176" cy="2516073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/>
            </a:pPr>
            <a:r>
              <a:rPr lang="en-US" altLang="zh-CN" sz="2500" b="1" dirty="0">
                <a:solidFill>
                  <a:srgbClr val="FF3300"/>
                </a:solidFill>
                <a:ea typeface="楷体_GB2312"/>
              </a:rPr>
              <a:t>(2)</a:t>
            </a:r>
            <a:r>
              <a:rPr lang="zh-CN" altLang="en-US" sz="2500" b="1" dirty="0">
                <a:solidFill>
                  <a:srgbClr val="FF3300"/>
                </a:solidFill>
                <a:ea typeface="楷体_GB2312"/>
              </a:rPr>
              <a:t>化学计量点计算</a:t>
            </a:r>
            <a:r>
              <a:rPr lang="en-US" altLang="zh-CN" sz="2500" b="1" dirty="0">
                <a:solidFill>
                  <a:srgbClr val="FF3300"/>
                </a:solidFill>
                <a:ea typeface="楷体_GB2312"/>
              </a:rPr>
              <a:t>:</a:t>
            </a:r>
            <a:endParaRPr lang="en-US" altLang="zh-CN" sz="2500" b="1" dirty="0">
              <a:ea typeface="楷体_GB2312"/>
            </a:endParaRPr>
          </a:p>
          <a:p>
            <a:pPr>
              <a:lnSpc>
                <a:spcPct val="105000"/>
              </a:lnSpc>
              <a:defRPr/>
            </a:pPr>
            <a:r>
              <a:rPr lang="en-US" altLang="zh-CN" sz="2500" b="1" dirty="0">
                <a:solidFill>
                  <a:srgbClr val="FF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/>
                <a:sym typeface="Monotype Sorts" pitchFamily="2" charset="2"/>
              </a:rPr>
              <a:t>①</a:t>
            </a:r>
            <a:r>
              <a:rPr lang="zh-CN" altLang="en-US" sz="2500" b="1" dirty="0">
                <a:solidFill>
                  <a:srgbClr val="FF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/>
                <a:sym typeface="Monotype Sorts" pitchFamily="2" charset="2"/>
              </a:rPr>
              <a:t>第一化学计量点</a:t>
            </a:r>
            <a:r>
              <a:rPr lang="en-US" altLang="zh-CN" sz="2500" b="1" dirty="0">
                <a:solidFill>
                  <a:srgbClr val="FF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/>
                <a:sym typeface="Monotype Sorts" pitchFamily="2" charset="2"/>
              </a:rPr>
              <a:t>:</a:t>
            </a:r>
            <a:endParaRPr lang="en-US" altLang="zh-CN" sz="2500" b="1" dirty="0">
              <a:ea typeface="楷体_GB2312"/>
              <a:sym typeface="Monotype Sorts" pitchFamily="2" charset="2"/>
            </a:endParaRPr>
          </a:p>
          <a:p>
            <a:pPr>
              <a:lnSpc>
                <a:spcPct val="105000"/>
              </a:lnSpc>
              <a:defRPr/>
            </a:pPr>
            <a:r>
              <a:rPr lang="en-US" altLang="zh-CN" sz="2500" b="1" dirty="0">
                <a:ea typeface="楷体_GB2312"/>
                <a:sym typeface="Monotype Sorts" pitchFamily="2" charset="2"/>
              </a:rPr>
              <a:t>        </a:t>
            </a:r>
            <a:r>
              <a:rPr lang="en-US" altLang="zh-CN" sz="2500" b="1" dirty="0">
                <a:ea typeface="楷体_GB2312"/>
              </a:rPr>
              <a:t>pH = (p</a:t>
            </a:r>
            <a:r>
              <a:rPr lang="en-US" altLang="zh-CN" sz="2500" b="1" i="1" dirty="0">
                <a:ea typeface="楷体_GB2312"/>
              </a:rPr>
              <a:t>K</a:t>
            </a:r>
            <a:r>
              <a:rPr lang="en-US" altLang="zh-CN" sz="1600" b="1" baseline="100000" dirty="0">
                <a:ea typeface="楷体_GB2312"/>
                <a:sym typeface="Webdings" pitchFamily="18" charset="2"/>
              </a:rPr>
              <a:t></a:t>
            </a:r>
            <a:r>
              <a:rPr lang="en-US" altLang="zh-CN" sz="2500" b="1" baseline="-25000" dirty="0">
                <a:ea typeface="楷体_GB2312"/>
                <a:sym typeface="Webdings" pitchFamily="18" charset="2"/>
              </a:rPr>
              <a:t>a1 </a:t>
            </a:r>
            <a:r>
              <a:rPr lang="en-US" altLang="zh-CN" sz="2500" b="1" dirty="0">
                <a:ea typeface="楷体_GB2312"/>
              </a:rPr>
              <a:t>+ p</a:t>
            </a:r>
            <a:r>
              <a:rPr lang="en-US" altLang="zh-CN" sz="2500" b="1" i="1" dirty="0">
                <a:ea typeface="楷体_GB2312"/>
              </a:rPr>
              <a:t>K</a:t>
            </a:r>
            <a:r>
              <a:rPr lang="en-US" altLang="zh-CN" sz="1600" b="1" baseline="100000" dirty="0">
                <a:ea typeface="楷体_GB2312"/>
                <a:sym typeface="Webdings" pitchFamily="18" charset="2"/>
              </a:rPr>
              <a:t></a:t>
            </a:r>
            <a:r>
              <a:rPr lang="en-US" altLang="zh-CN" sz="2500" b="1" baseline="-25000" dirty="0">
                <a:ea typeface="楷体_GB2312"/>
                <a:sym typeface="Webdings" pitchFamily="18" charset="2"/>
              </a:rPr>
              <a:t>a2</a:t>
            </a:r>
            <a:r>
              <a:rPr lang="en-US" altLang="zh-CN" sz="2500" b="1" dirty="0">
                <a:ea typeface="楷体_GB2312"/>
              </a:rPr>
              <a:t>)/2</a:t>
            </a:r>
            <a:r>
              <a:rPr lang="en-US" altLang="zh-CN" sz="2500" b="1" dirty="0">
                <a:ea typeface="楷体_GB2312"/>
                <a:sym typeface="Monotype Sorts" pitchFamily="2" charset="2"/>
              </a:rPr>
              <a:t> = 4.69.</a:t>
            </a:r>
          </a:p>
          <a:p>
            <a:pPr>
              <a:lnSpc>
                <a:spcPct val="105000"/>
              </a:lnSpc>
              <a:defRPr/>
            </a:pPr>
            <a:r>
              <a:rPr lang="en-US" altLang="zh-CN" sz="2500" b="1" dirty="0">
                <a:ea typeface="楷体_GB2312"/>
                <a:sym typeface="Monotype Sorts" pitchFamily="2" charset="2"/>
              </a:rPr>
              <a:t>        </a:t>
            </a:r>
            <a:r>
              <a:rPr lang="zh-CN" altLang="en-US" sz="2500" b="1" dirty="0">
                <a:ea typeface="楷体_GB2312"/>
                <a:sym typeface="Monotype Sorts" pitchFamily="2" charset="2"/>
              </a:rPr>
              <a:t>此时</a:t>
            </a:r>
            <a:r>
              <a:rPr lang="zh-CN" altLang="en-US" sz="2500" b="1" i="1" dirty="0">
                <a:ea typeface="楷体_GB2312"/>
                <a:sym typeface="Symbol" pitchFamily="18" charset="2"/>
              </a:rPr>
              <a:t></a:t>
            </a:r>
            <a:r>
              <a:rPr lang="en-US" altLang="zh-CN" sz="2500" b="1" baseline="-25000" dirty="0">
                <a:ea typeface="楷体_GB2312"/>
                <a:sym typeface="Symbol" pitchFamily="18" charset="2"/>
              </a:rPr>
              <a:t>2 </a:t>
            </a:r>
            <a:r>
              <a:rPr lang="en-US" altLang="zh-CN" sz="2500" b="1" dirty="0">
                <a:ea typeface="楷体_GB2312"/>
                <a:sym typeface="Symbol" pitchFamily="18" charset="2"/>
              </a:rPr>
              <a:t>= 0.994;</a:t>
            </a:r>
            <a:r>
              <a:rPr lang="zh-CN" altLang="en-US" sz="2500" b="1" dirty="0">
                <a:ea typeface="楷体_GB2312"/>
                <a:sym typeface="Symbol" pitchFamily="18" charset="2"/>
              </a:rPr>
              <a:t>而</a:t>
            </a:r>
            <a:r>
              <a:rPr lang="zh-CN" altLang="en-US" sz="2500" b="1" i="1" dirty="0">
                <a:ea typeface="楷体_GB2312"/>
                <a:sym typeface="Symbol" pitchFamily="18" charset="2"/>
              </a:rPr>
              <a:t></a:t>
            </a:r>
            <a:r>
              <a:rPr lang="en-US" altLang="zh-CN" sz="2500" b="1" baseline="-25000" dirty="0">
                <a:ea typeface="楷体_GB2312"/>
                <a:sym typeface="Symbol" pitchFamily="18" charset="2"/>
              </a:rPr>
              <a:t>1 </a:t>
            </a:r>
            <a:r>
              <a:rPr lang="en-US" altLang="zh-CN" sz="2500" b="1" dirty="0">
                <a:ea typeface="楷体_GB2312"/>
                <a:sym typeface="Symbol" pitchFamily="18" charset="2"/>
              </a:rPr>
              <a:t>= </a:t>
            </a:r>
            <a:r>
              <a:rPr lang="en-US" altLang="zh-CN" sz="2500" b="1" i="1" dirty="0">
                <a:ea typeface="楷体_GB2312"/>
                <a:sym typeface="Symbol" pitchFamily="18" charset="2"/>
              </a:rPr>
              <a:t></a:t>
            </a:r>
            <a:r>
              <a:rPr lang="en-US" altLang="zh-CN" sz="2500" b="1" baseline="-25000" dirty="0">
                <a:ea typeface="楷体_GB2312"/>
                <a:sym typeface="Symbol" pitchFamily="18" charset="2"/>
              </a:rPr>
              <a:t>3 </a:t>
            </a:r>
            <a:r>
              <a:rPr lang="en-US" altLang="zh-CN" sz="2500" b="1" dirty="0">
                <a:ea typeface="楷体_GB2312"/>
                <a:sym typeface="Symbol" pitchFamily="18" charset="2"/>
              </a:rPr>
              <a:t>= 0.003</a:t>
            </a:r>
            <a:r>
              <a:rPr lang="en-US" altLang="zh-CN" sz="2500" b="1" dirty="0" smtClean="0">
                <a:ea typeface="楷体_GB2312"/>
                <a:sym typeface="Symbol" pitchFamily="18" charset="2"/>
              </a:rPr>
              <a:t>.</a:t>
            </a:r>
          </a:p>
          <a:p>
            <a:pPr lvl="0">
              <a:lnSpc>
                <a:spcPct val="105000"/>
              </a:lnSpc>
            </a:pPr>
            <a:r>
              <a:rPr lang="zh-CN" altLang="en-US" sz="2500" b="1" dirty="0">
                <a:solidFill>
                  <a:srgbClr val="000000"/>
                </a:solidFill>
                <a:ea typeface="楷体_GB2312" pitchFamily="49" charset="-122"/>
                <a:sym typeface="Symbol" pitchFamily="18" charset="2"/>
              </a:rPr>
              <a:t>可选甲基橙</a:t>
            </a:r>
            <a:r>
              <a:rPr lang="en-US" altLang="zh-CN" sz="2500" b="1" dirty="0">
                <a:solidFill>
                  <a:srgbClr val="000000"/>
                </a:solidFill>
                <a:ea typeface="楷体_GB2312" pitchFamily="49" charset="-122"/>
                <a:sym typeface="Symbol" pitchFamily="18" charset="2"/>
              </a:rPr>
              <a:t>(</a:t>
            </a:r>
            <a:r>
              <a:rPr lang="zh-CN" altLang="en-US" sz="2500" b="1" dirty="0">
                <a:solidFill>
                  <a:srgbClr val="000000"/>
                </a:solidFill>
                <a:ea typeface="楷体_GB2312" pitchFamily="49" charset="-122"/>
                <a:sym typeface="Symbol" pitchFamily="18" charset="2"/>
              </a:rPr>
              <a:t>并非真正的化学计量点</a:t>
            </a:r>
            <a:r>
              <a:rPr lang="en-US" altLang="zh-CN" sz="2500" b="1" dirty="0">
                <a:solidFill>
                  <a:srgbClr val="000000"/>
                </a:solidFill>
                <a:ea typeface="楷体_GB2312" pitchFamily="49" charset="-122"/>
                <a:sym typeface="Symbol" pitchFamily="18" charset="2"/>
              </a:rPr>
              <a:t>).</a:t>
            </a:r>
            <a:endParaRPr lang="en-US" altLang="zh-CN" sz="2500" b="1" dirty="0">
              <a:solidFill>
                <a:srgbClr val="000000"/>
              </a:solidFill>
              <a:ea typeface="楷体_GB2312" pitchFamily="49" charset="-122"/>
              <a:sym typeface="Monotype Sorts" pitchFamily="2" charset="2"/>
            </a:endParaRPr>
          </a:p>
          <a:p>
            <a:pPr>
              <a:lnSpc>
                <a:spcPct val="105000"/>
              </a:lnSpc>
              <a:defRPr/>
            </a:pPr>
            <a:endParaRPr lang="en-US" altLang="zh-CN" sz="2500" b="1" dirty="0">
              <a:ea typeface="楷体_GB2312"/>
              <a:sym typeface="Symbol" pitchFamily="18" charset="2"/>
            </a:endParaRPr>
          </a:p>
        </p:txBody>
      </p:sp>
      <p:pic>
        <p:nvPicPr>
          <p:cNvPr id="8" name="Picture 7" descr="未命名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5587016" y="1577975"/>
            <a:ext cx="5754687" cy="4019550"/>
          </a:xfrm>
          <a:prstGeom prst="rect">
            <a:avLst/>
          </a:prstGeom>
          <a:noFill/>
          <a:ln w="19050">
            <a:solidFill>
              <a:srgbClr val="FF00FF"/>
            </a:solidFill>
            <a:miter lim="800000"/>
            <a:headEnd/>
            <a:tailEnd/>
          </a:ln>
        </p:spPr>
      </p:pic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7450138" y="1577975"/>
            <a:ext cx="3495675" cy="477837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  <a:ea typeface="黑体" pitchFamily="2" charset="-122"/>
                <a:cs typeface="+mn-cs"/>
              </a:rPr>
              <a:t>H</a:t>
            </a:r>
            <a:r>
              <a:rPr kumimoji="0" lang="en-US" altLang="zh-CN" sz="2500" b="1" i="0" u="none" strike="noStrike" kern="1200" cap="none" spc="0" normalizeH="0" baseline="-25000" noProof="0" dirty="0">
                <a:ln>
                  <a:noFill/>
                </a:ln>
                <a:solidFill>
                  <a:srgbClr val="FF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  <a:ea typeface="黑体" pitchFamily="2" charset="-122"/>
                <a:cs typeface="+mn-cs"/>
              </a:rPr>
              <a:t>3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  <a:ea typeface="黑体" pitchFamily="2" charset="-122"/>
                <a:cs typeface="+mn-cs"/>
              </a:rPr>
              <a:t>PO</a:t>
            </a:r>
            <a:r>
              <a:rPr kumimoji="0" lang="en-US" altLang="zh-CN" sz="2500" b="1" i="0" u="none" strike="noStrike" kern="1200" cap="none" spc="0" normalizeH="0" baseline="-25000" noProof="0" dirty="0">
                <a:ln>
                  <a:noFill/>
                </a:ln>
                <a:solidFill>
                  <a:srgbClr val="FF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  <a:ea typeface="黑体" pitchFamily="2" charset="-122"/>
                <a:cs typeface="+mn-cs"/>
              </a:rPr>
              <a:t>4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楷体_GB2312"/>
                <a:ea typeface="楷体_GB2312"/>
                <a:cs typeface="+mn-cs"/>
              </a:rPr>
              <a:t>滴定曲线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楷体_GB2312"/>
                <a:ea typeface="楷体_GB2312"/>
                <a:cs typeface="+mn-cs"/>
              </a:rPr>
              <a:t>:</a:t>
            </a: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69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696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696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696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NOTIFY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000"/>
                            </p:stCondLst>
                            <p:childTnLst>
                              <p:par>
                                <p:cTn id="5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638" grpId="0" autoUpdateAnimBg="0"/>
      <p:bldP spid="69639" grpId="0" uiExpand="1" build="p" autoUpdateAnimBg="0"/>
      <p:bldP spid="7" grpId="0" uiExpand="1" build="p" autoUpdateAnimBg="0"/>
      <p:bldP spid="9" grpId="0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10" name="Text Box 6"/>
          <p:cNvSpPr txBox="1">
            <a:spLocks noChangeArrowheads="1"/>
          </p:cNvSpPr>
          <p:nvPr/>
        </p:nvSpPr>
        <p:spPr bwMode="auto">
          <a:xfrm>
            <a:off x="831850" y="954088"/>
            <a:ext cx="5622925" cy="4778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r>
              <a:rPr kumimoji="1" lang="en-US" altLang="zh-CN" sz="2500" b="1" dirty="0">
                <a:solidFill>
                  <a:srgbClr val="FF3300"/>
                </a:solidFill>
                <a:ea typeface="楷体_GB2312" pitchFamily="49" charset="-122"/>
              </a:rPr>
              <a:t>1.</a:t>
            </a:r>
            <a:r>
              <a:rPr kumimoji="1" lang="zh-CN" altLang="en-US" sz="2500" b="1" dirty="0" smtClean="0">
                <a:solidFill>
                  <a:srgbClr val="FF3300"/>
                </a:solidFill>
                <a:ea typeface="楷体_GB2312" pitchFamily="49" charset="-122"/>
              </a:rPr>
              <a:t>直接法</a:t>
            </a:r>
            <a:endParaRPr kumimoji="1" lang="en-US" altLang="zh-CN" sz="2500" b="1" dirty="0">
              <a:ea typeface="楷体_GB2312" pitchFamily="49" charset="-122"/>
            </a:endParaRPr>
          </a:p>
        </p:txBody>
      </p:sp>
      <p:sp>
        <p:nvSpPr>
          <p:cNvPr id="47111" name="Rectangle 7"/>
          <p:cNvSpPr>
            <a:spLocks noChangeArrowheads="1"/>
          </p:cNvSpPr>
          <p:nvPr/>
        </p:nvSpPr>
        <p:spPr bwMode="auto">
          <a:xfrm>
            <a:off x="906463" y="1428750"/>
            <a:ext cx="10207625" cy="8699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lnSpc>
                <a:spcPct val="105000"/>
              </a:lnSpc>
            </a:pPr>
            <a:r>
              <a:rPr lang="en-US" altLang="zh-CN" sz="2500" b="1" dirty="0">
                <a:solidFill>
                  <a:schemeClr val="accent2"/>
                </a:solidFill>
                <a:ea typeface="楷体_GB2312" pitchFamily="49" charset="-122"/>
              </a:rPr>
              <a:t>           </a:t>
            </a:r>
            <a:r>
              <a:rPr lang="zh-CN" altLang="en-US" sz="2500" b="1" dirty="0">
                <a:solidFill>
                  <a:schemeClr val="accent2"/>
                </a:solidFill>
                <a:ea typeface="楷体_GB2312" pitchFamily="49" charset="-122"/>
              </a:rPr>
              <a:t>满足直接滴定条件</a:t>
            </a:r>
            <a:r>
              <a:rPr lang="zh-CN" altLang="en-US" sz="2500" b="1" dirty="0">
                <a:ea typeface="楷体_GB2312" pitchFamily="49" charset="-122"/>
              </a:rPr>
              <a:t>的</a:t>
            </a:r>
            <a:r>
              <a:rPr lang="zh-CN" altLang="en-US" sz="2500" b="1" u="sng" dirty="0">
                <a:ea typeface="楷体_GB2312" pitchFamily="49" charset="-122"/>
              </a:rPr>
              <a:t>强酸</a:t>
            </a:r>
            <a:r>
              <a:rPr lang="en-US" altLang="zh-CN" sz="2500" b="1" u="sng" dirty="0">
                <a:ea typeface="楷体_GB2312" pitchFamily="49" charset="-122"/>
              </a:rPr>
              <a:t>(</a:t>
            </a:r>
            <a:r>
              <a:rPr lang="zh-CN" altLang="en-US" sz="2500" b="1" u="sng" dirty="0">
                <a:ea typeface="楷体_GB2312" pitchFamily="49" charset="-122"/>
              </a:rPr>
              <a:t>碱</a:t>
            </a:r>
            <a:r>
              <a:rPr lang="en-US" altLang="zh-CN" sz="2500" b="1" u="sng" dirty="0">
                <a:ea typeface="楷体_GB2312" pitchFamily="49" charset="-122"/>
              </a:rPr>
              <a:t>)</a:t>
            </a:r>
            <a:r>
              <a:rPr lang="zh-CN" altLang="en-US" sz="2500" b="1" dirty="0">
                <a:ea typeface="楷体_GB2312" pitchFamily="49" charset="-122"/>
              </a:rPr>
              <a:t>、</a:t>
            </a:r>
            <a:r>
              <a:rPr lang="en-US" altLang="zh-CN" sz="2500" b="1" i="1" u="sng" dirty="0" err="1">
                <a:ea typeface="楷体_GB2312" pitchFamily="49" charset="-122"/>
              </a:rPr>
              <a:t>cK</a:t>
            </a:r>
            <a:r>
              <a:rPr lang="en-US" altLang="zh-CN" sz="1600" b="1" u="sng" baseline="100000" dirty="0" err="1"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u="sng" baseline="-25000" dirty="0" err="1">
                <a:ea typeface="楷体_GB2312" pitchFamily="49" charset="-122"/>
                <a:sym typeface="Webdings" pitchFamily="18" charset="2"/>
              </a:rPr>
              <a:t>a</a:t>
            </a:r>
            <a:r>
              <a:rPr lang="en-US" altLang="zh-CN" sz="2500" b="1" u="sng" baseline="-25000" dirty="0">
                <a:ea typeface="楷体_GB2312" pitchFamily="49" charset="-122"/>
                <a:sym typeface="Webdings" pitchFamily="18" charset="2"/>
              </a:rPr>
              <a:t>(n)</a:t>
            </a:r>
            <a:r>
              <a:rPr lang="en-US" altLang="zh-CN" sz="2500" b="1" u="sng" dirty="0">
                <a:ea typeface="楷体_GB2312" pitchFamily="49" charset="-122"/>
              </a:rPr>
              <a:t>≥10</a:t>
            </a:r>
            <a:r>
              <a:rPr lang="en-US" altLang="zh-CN" sz="2500" b="1" u="sng" baseline="30000" dirty="0">
                <a:ea typeface="楷体_GB2312" pitchFamily="49" charset="-122"/>
              </a:rPr>
              <a:t>-8 </a:t>
            </a:r>
            <a:r>
              <a:rPr lang="zh-CN" altLang="en-US" sz="2500" b="1" u="sng" dirty="0">
                <a:ea typeface="楷体_GB2312" pitchFamily="49" charset="-122"/>
              </a:rPr>
              <a:t>的弱酸</a:t>
            </a:r>
            <a:r>
              <a:rPr lang="en-US" altLang="zh-CN" sz="2500" b="1" u="sng" dirty="0">
                <a:ea typeface="楷体_GB2312" pitchFamily="49" charset="-122"/>
              </a:rPr>
              <a:t>(</a:t>
            </a:r>
            <a:r>
              <a:rPr lang="zh-CN" altLang="en-US" sz="2500" b="1" u="sng" dirty="0">
                <a:ea typeface="楷体_GB2312" pitchFamily="49" charset="-122"/>
              </a:rPr>
              <a:t>多元酸</a:t>
            </a:r>
            <a:r>
              <a:rPr lang="en-US" altLang="zh-CN" sz="2500" b="1" u="sng" dirty="0">
                <a:ea typeface="楷体_GB2312" pitchFamily="49" charset="-122"/>
              </a:rPr>
              <a:t>)</a:t>
            </a:r>
            <a:r>
              <a:rPr lang="zh-CN" altLang="en-US" sz="2500" b="1" dirty="0">
                <a:ea typeface="楷体_GB2312" pitchFamily="49" charset="-122"/>
              </a:rPr>
              <a:t>以及</a:t>
            </a:r>
            <a:r>
              <a:rPr lang="en-US" altLang="zh-CN" sz="2500" b="1" i="1" u="sng" dirty="0" err="1">
                <a:ea typeface="楷体_GB2312" pitchFamily="49" charset="-122"/>
              </a:rPr>
              <a:t>cK</a:t>
            </a:r>
            <a:r>
              <a:rPr lang="en-US" altLang="zh-CN" sz="1600" b="1" u="sng" baseline="100000" dirty="0" err="1"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u="sng" baseline="-25000" dirty="0" err="1">
                <a:ea typeface="楷体_GB2312" pitchFamily="49" charset="-122"/>
                <a:sym typeface="Webdings" pitchFamily="18" charset="2"/>
              </a:rPr>
              <a:t>b</a:t>
            </a:r>
            <a:r>
              <a:rPr lang="en-US" altLang="zh-CN" sz="2500" b="1" u="sng" baseline="-25000" dirty="0">
                <a:ea typeface="楷体_GB2312" pitchFamily="49" charset="-122"/>
                <a:sym typeface="Webdings" pitchFamily="18" charset="2"/>
              </a:rPr>
              <a:t>(n) </a:t>
            </a:r>
            <a:r>
              <a:rPr lang="en-US" altLang="zh-CN" sz="2500" b="1" u="sng" dirty="0">
                <a:ea typeface="楷体_GB2312" pitchFamily="49" charset="-122"/>
              </a:rPr>
              <a:t>≥10</a:t>
            </a:r>
            <a:r>
              <a:rPr lang="en-US" altLang="zh-CN" sz="2500" b="1" u="sng" baseline="30000" dirty="0">
                <a:ea typeface="楷体_GB2312" pitchFamily="49" charset="-122"/>
              </a:rPr>
              <a:t>-8 </a:t>
            </a:r>
            <a:r>
              <a:rPr lang="zh-CN" altLang="en-US" sz="2500" b="1" u="sng" dirty="0">
                <a:ea typeface="楷体_GB2312" pitchFamily="49" charset="-122"/>
              </a:rPr>
              <a:t>的弱碱</a:t>
            </a:r>
            <a:r>
              <a:rPr lang="en-US" altLang="zh-CN" sz="2500" b="1" u="sng" dirty="0">
                <a:ea typeface="楷体_GB2312" pitchFamily="49" charset="-122"/>
              </a:rPr>
              <a:t>(</a:t>
            </a:r>
            <a:r>
              <a:rPr lang="zh-CN" altLang="en-US" sz="2500" b="1" u="sng" dirty="0">
                <a:ea typeface="楷体_GB2312" pitchFamily="49" charset="-122"/>
              </a:rPr>
              <a:t>多元碱</a:t>
            </a:r>
            <a:r>
              <a:rPr lang="en-US" altLang="zh-CN" sz="2500" b="1" u="sng" dirty="0">
                <a:ea typeface="楷体_GB2312" pitchFamily="49" charset="-122"/>
              </a:rPr>
              <a:t>)</a:t>
            </a:r>
            <a:r>
              <a:rPr lang="en-US" altLang="zh-CN" sz="2500" b="1" dirty="0">
                <a:ea typeface="楷体_GB2312" pitchFamily="49" charset="-122"/>
              </a:rPr>
              <a:t>.</a:t>
            </a:r>
          </a:p>
        </p:txBody>
      </p:sp>
      <p:sp>
        <p:nvSpPr>
          <p:cNvPr id="47120" name="Rectangle 16"/>
          <p:cNvSpPr>
            <a:spLocks noChangeArrowheads="1"/>
          </p:cNvSpPr>
          <p:nvPr/>
        </p:nvSpPr>
        <p:spPr bwMode="auto">
          <a:xfrm>
            <a:off x="906463" y="1428750"/>
            <a:ext cx="936625" cy="4778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zh-CN" altLang="en-US" sz="2500" b="1">
                <a:ea typeface="楷体_GB2312" pitchFamily="49" charset="-122"/>
              </a:rPr>
              <a:t>对象</a:t>
            </a:r>
            <a:r>
              <a:rPr lang="en-US" altLang="zh-CN" sz="2500" b="1">
                <a:ea typeface="楷体_GB2312" pitchFamily="49" charset="-122"/>
              </a:rPr>
              <a:t>:</a:t>
            </a:r>
          </a:p>
        </p:txBody>
      </p:sp>
      <p:sp>
        <p:nvSpPr>
          <p:cNvPr id="18437" name="Rectangle 18"/>
          <p:cNvSpPr>
            <a:spLocks noGrp="1" noChangeArrowheads="1"/>
          </p:cNvSpPr>
          <p:nvPr>
            <p:ph type="title"/>
          </p:nvPr>
        </p:nvSpPr>
        <p:spPr>
          <a:xfrm>
            <a:off x="576263" y="258763"/>
            <a:ext cx="10369550" cy="431800"/>
          </a:xfrm>
        </p:spPr>
        <p:txBody>
          <a:bodyPr/>
          <a:lstStyle/>
          <a:p>
            <a:pPr eaLnBrk="1" hangingPunct="1"/>
            <a:r>
              <a:rPr lang="en-US" altLang="zh-CN" smtClean="0">
                <a:ea typeface="黑体" pitchFamily="49" charset="-122"/>
              </a:rPr>
              <a:t>3.6.4</a:t>
            </a:r>
            <a:r>
              <a:rPr lang="zh-CN" altLang="en-US" smtClean="0">
                <a:ea typeface="黑体" pitchFamily="49" charset="-122"/>
              </a:rPr>
              <a:t>酸碱滴定法的应用</a:t>
            </a:r>
            <a:endParaRPr lang="zh-CN" altLang="en-US" sz="1800" smtClean="0">
              <a:ea typeface="黑体" pitchFamily="49" charset="-122"/>
            </a:endParaRPr>
          </a:p>
        </p:txBody>
      </p:sp>
      <p:sp>
        <p:nvSpPr>
          <p:cNvPr id="18440" name="矩形 10"/>
          <p:cNvSpPr>
            <a:spLocks noChangeArrowheads="1"/>
          </p:cNvSpPr>
          <p:nvPr/>
        </p:nvSpPr>
        <p:spPr bwMode="auto">
          <a:xfrm>
            <a:off x="903253" y="3559367"/>
            <a:ext cx="506870" cy="466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05000"/>
              </a:lnSpc>
            </a:pPr>
            <a:r>
              <a:rPr lang="zh-CN" altLang="en-US" sz="2500" b="1" dirty="0" smtClean="0">
                <a:ea typeface="楷体_GB2312" pitchFamily="49" charset="-122"/>
                <a:hlinkClick r:id="rId2" action="ppaction://hlinkpres?slideindex=1&amp;slidetitle=幻灯片 1"/>
              </a:rPr>
              <a:t>解</a:t>
            </a:r>
            <a:endParaRPr lang="en-US" altLang="zh-CN" sz="2500" b="1" dirty="0">
              <a:ea typeface="楷体_GB2312" pitchFamily="49" charset="-122"/>
            </a:endParaRPr>
          </a:p>
        </p:txBody>
      </p:sp>
      <p:sp>
        <p:nvSpPr>
          <p:cNvPr id="18441" name="Oval 26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gray">
          <a:xfrm>
            <a:off x="0" y="5597525"/>
            <a:ext cx="360363" cy="360363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42" name="Oval 27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gray">
          <a:xfrm>
            <a:off x="11155363" y="5688013"/>
            <a:ext cx="360362" cy="360362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" name="Rectangle 7"/>
          <p:cNvSpPr>
            <a:spLocks noChangeArrowheads="1"/>
          </p:cNvSpPr>
          <p:nvPr/>
        </p:nvSpPr>
        <p:spPr bwMode="auto">
          <a:xfrm>
            <a:off x="903293" y="2311393"/>
            <a:ext cx="10429908" cy="130420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lang="zh-CN" altLang="en-US" sz="2500" b="1" dirty="0" smtClean="0">
                <a:latin typeface="+mn-lt"/>
                <a:ea typeface="楷体_GB2312" pitchFamily="49" charset="-122"/>
              </a:rPr>
              <a:t>例</a:t>
            </a:r>
            <a:r>
              <a:rPr lang="en-US" altLang="zh-CN" sz="2500" b="1" dirty="0" smtClean="0">
                <a:latin typeface="+mn-lt"/>
                <a:ea typeface="楷体_GB2312" pitchFamily="49" charset="-122"/>
              </a:rPr>
              <a:t>1.</a:t>
            </a:r>
            <a:r>
              <a:rPr lang="zh-CN" altLang="en-US" sz="2500" b="1" dirty="0" smtClean="0">
                <a:latin typeface="+mn-lt"/>
                <a:ea typeface="楷体_GB2312" pitchFamily="49" charset="-122"/>
              </a:rPr>
              <a:t>某</a:t>
            </a:r>
            <a:r>
              <a:rPr lang="zh-CN" altLang="en-US" sz="2500" b="1" dirty="0">
                <a:latin typeface="+mn-lt"/>
                <a:ea typeface="楷体_GB2312" pitchFamily="49" charset="-122"/>
              </a:rPr>
              <a:t>纯碱试样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1.000g,</a:t>
            </a:r>
            <a:r>
              <a:rPr lang="zh-CN" altLang="en-US" sz="2500" b="1" dirty="0">
                <a:latin typeface="+mn-lt"/>
                <a:ea typeface="楷体_GB2312" pitchFamily="49" charset="-122"/>
              </a:rPr>
              <a:t>溶于水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,</a:t>
            </a:r>
            <a:r>
              <a:rPr lang="zh-CN" altLang="en-US" sz="2500" b="1" dirty="0">
                <a:latin typeface="+mn-lt"/>
                <a:ea typeface="楷体_GB2312" pitchFamily="49" charset="-122"/>
              </a:rPr>
              <a:t>以酚酞为指示剂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,</a:t>
            </a:r>
            <a:r>
              <a:rPr lang="zh-CN" altLang="en-US" sz="2500" b="1" dirty="0">
                <a:latin typeface="+mn-lt"/>
                <a:ea typeface="楷体_GB2312" pitchFamily="49" charset="-122"/>
              </a:rPr>
              <a:t>耗用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0.2500 mol·L</a:t>
            </a:r>
            <a:r>
              <a:rPr lang="en-US" altLang="zh-CN" sz="2500" b="1" baseline="30000" dirty="0">
                <a:latin typeface="+mn-lt"/>
                <a:ea typeface="楷体_GB2312" pitchFamily="49" charset="-122"/>
              </a:rPr>
              <a:t>-1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HCl</a:t>
            </a:r>
            <a:r>
              <a:rPr lang="zh-CN" altLang="en-US" sz="2500" b="1" dirty="0">
                <a:latin typeface="+mn-lt"/>
                <a:ea typeface="楷体_GB2312" pitchFamily="49" charset="-122"/>
              </a:rPr>
              <a:t>溶液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20.40mL;</a:t>
            </a:r>
            <a:r>
              <a:rPr lang="zh-CN" altLang="en-US" sz="2500" b="1" dirty="0">
                <a:latin typeface="+mn-lt"/>
                <a:ea typeface="楷体_GB2312" pitchFamily="49" charset="-122"/>
              </a:rPr>
              <a:t>再以甲基橙为指示剂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,</a:t>
            </a:r>
            <a:r>
              <a:rPr lang="zh-CN" altLang="en-US" sz="2500" b="1" dirty="0">
                <a:latin typeface="+mn-lt"/>
                <a:ea typeface="楷体_GB2312" pitchFamily="49" charset="-122"/>
              </a:rPr>
              <a:t>续用上述</a:t>
            </a:r>
            <a:r>
              <a:rPr lang="en-US" altLang="zh-CN" sz="2500" b="1" dirty="0" err="1">
                <a:latin typeface="+mn-lt"/>
                <a:ea typeface="楷体_GB2312" pitchFamily="49" charset="-122"/>
              </a:rPr>
              <a:t>HCl</a:t>
            </a:r>
            <a:r>
              <a:rPr lang="zh-CN" altLang="en-US" sz="2500" b="1" dirty="0">
                <a:latin typeface="+mn-lt"/>
                <a:ea typeface="楷体_GB2312" pitchFamily="49" charset="-122"/>
              </a:rPr>
              <a:t>溶液滴定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,</a:t>
            </a:r>
            <a:r>
              <a:rPr lang="zh-CN" altLang="en-US" sz="2500" b="1" dirty="0">
                <a:latin typeface="+mn-lt"/>
                <a:ea typeface="楷体_GB2312" pitchFamily="49" charset="-122"/>
              </a:rPr>
              <a:t>共耗去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48.86mL.</a:t>
            </a:r>
            <a:r>
              <a:rPr lang="zh-CN" altLang="en-US" sz="2500" b="1" dirty="0">
                <a:latin typeface="+mn-lt"/>
                <a:ea typeface="楷体_GB2312" pitchFamily="49" charset="-122"/>
              </a:rPr>
              <a:t>求试样中各组分的相对含量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.</a:t>
            </a:r>
          </a:p>
        </p:txBody>
      </p:sp>
      <p:sp>
        <p:nvSpPr>
          <p:cNvPr id="2" name="矩形 1"/>
          <p:cNvSpPr/>
          <p:nvPr/>
        </p:nvSpPr>
        <p:spPr>
          <a:xfrm>
            <a:off x="1807821" y="3559367"/>
            <a:ext cx="3557909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 smtClean="0">
                <a:latin typeface="华文新魏" pitchFamily="2" charset="-122"/>
                <a:ea typeface="楷体_GB2312" panose="02010609030101010101"/>
              </a:rPr>
              <a:t>本教材纯碱试样几种可能</a:t>
            </a:r>
            <a:endParaRPr lang="en-US" altLang="zh-CN" sz="2400" b="1" dirty="0" smtClean="0">
              <a:latin typeface="华文新魏" pitchFamily="2" charset="-122"/>
              <a:ea typeface="楷体_GB2312" panose="02010609030101010101"/>
            </a:endParaRPr>
          </a:p>
          <a:p>
            <a:r>
              <a:rPr lang="en-US" altLang="zh-CN" sz="2400" b="1" dirty="0">
                <a:latin typeface="华文新魏" pitchFamily="2" charset="-122"/>
                <a:ea typeface="楷体_GB2312" panose="02010609030101010101"/>
              </a:rPr>
              <a:t> </a:t>
            </a:r>
            <a:r>
              <a:rPr lang="en-US" altLang="zh-CN" sz="2400" b="1" dirty="0" smtClean="0">
                <a:latin typeface="华文新魏" pitchFamily="2" charset="-122"/>
                <a:ea typeface="楷体_GB2312" panose="02010609030101010101"/>
              </a:rPr>
              <a:t>    </a:t>
            </a:r>
            <a:r>
              <a:rPr lang="en-US" altLang="zh-CN" sz="2400" b="1" dirty="0" smtClean="0">
                <a:latin typeface="华文新魏" pitchFamily="2" charset="-122"/>
                <a:ea typeface="华文新魏" pitchFamily="2" charset="-122"/>
              </a:rPr>
              <a:t>Na</a:t>
            </a:r>
            <a:r>
              <a:rPr lang="en-US" altLang="zh-CN" sz="2400" b="1" baseline="-25000" dirty="0" smtClean="0">
                <a:latin typeface="华文新魏" pitchFamily="2" charset="-122"/>
                <a:ea typeface="华文新魏" pitchFamily="2" charset="-122"/>
              </a:rPr>
              <a:t>2</a:t>
            </a:r>
            <a:r>
              <a:rPr lang="en-US" altLang="zh-CN" sz="2400" b="1" dirty="0" smtClean="0">
                <a:latin typeface="华文新魏" pitchFamily="2" charset="-122"/>
                <a:ea typeface="华文新魏" pitchFamily="2" charset="-122"/>
              </a:rPr>
              <a:t>CO</a:t>
            </a:r>
            <a:r>
              <a:rPr lang="en-US" altLang="zh-CN" sz="2400" b="1" baseline="-25000" dirty="0" smtClean="0">
                <a:latin typeface="华文新魏" pitchFamily="2" charset="-122"/>
                <a:ea typeface="华文新魏" pitchFamily="2" charset="-122"/>
              </a:rPr>
              <a:t>3</a:t>
            </a:r>
            <a:r>
              <a:rPr lang="en-US" altLang="zh-CN" sz="2400" b="1" dirty="0" smtClean="0">
                <a:latin typeface="华文新魏" pitchFamily="2" charset="-122"/>
                <a:ea typeface="华文新魏" pitchFamily="2" charset="-122"/>
              </a:rPr>
              <a:t> </a:t>
            </a:r>
            <a:r>
              <a:rPr lang="en-US" altLang="zh-CN" sz="2400" b="1" dirty="0">
                <a:latin typeface="华文新魏" pitchFamily="2" charset="-122"/>
                <a:ea typeface="华文新魏" pitchFamily="2" charset="-122"/>
              </a:rPr>
              <a:t>+ </a:t>
            </a:r>
            <a:r>
              <a:rPr lang="en-US" altLang="zh-CN" sz="2400" b="1" dirty="0" err="1">
                <a:latin typeface="华文新魏" pitchFamily="2" charset="-122"/>
                <a:ea typeface="华文新魏" pitchFamily="2" charset="-122"/>
              </a:rPr>
              <a:t>NaOH</a:t>
            </a:r>
            <a:r>
              <a:rPr lang="en-US" altLang="zh-CN" sz="2400" b="1" dirty="0">
                <a:latin typeface="华文新魏" pitchFamily="2" charset="-122"/>
                <a:ea typeface="华文新魏" pitchFamily="2" charset="-122"/>
              </a:rPr>
              <a:t>;</a:t>
            </a:r>
          </a:p>
          <a:p>
            <a:r>
              <a:rPr lang="en-US" altLang="zh-CN" sz="2400" b="1" dirty="0">
                <a:latin typeface="华文新魏" pitchFamily="2" charset="-122"/>
                <a:ea typeface="华文新魏" pitchFamily="2" charset="-122"/>
              </a:rPr>
              <a:t>    </a:t>
            </a:r>
            <a:r>
              <a:rPr lang="en-US" altLang="zh-CN" sz="2400" b="1" dirty="0" smtClean="0">
                <a:latin typeface="华文新魏" pitchFamily="2" charset="-122"/>
                <a:ea typeface="华文新魏" pitchFamily="2" charset="-122"/>
              </a:rPr>
              <a:t> </a:t>
            </a:r>
          </a:p>
          <a:p>
            <a:r>
              <a:rPr lang="en-US" altLang="zh-CN" sz="2400" b="1" dirty="0">
                <a:latin typeface="华文新魏" pitchFamily="2" charset="-122"/>
                <a:ea typeface="华文新魏" pitchFamily="2" charset="-122"/>
              </a:rPr>
              <a:t> </a:t>
            </a:r>
            <a:r>
              <a:rPr lang="en-US" altLang="zh-CN" sz="2400" b="1" dirty="0" smtClean="0">
                <a:latin typeface="华文新魏" pitchFamily="2" charset="-122"/>
                <a:ea typeface="华文新魏" pitchFamily="2" charset="-122"/>
              </a:rPr>
              <a:t>   Na</a:t>
            </a:r>
            <a:r>
              <a:rPr lang="en-US" altLang="zh-CN" sz="2400" b="1" baseline="-25000" dirty="0" smtClean="0">
                <a:latin typeface="华文新魏" pitchFamily="2" charset="-122"/>
                <a:ea typeface="华文新魏" pitchFamily="2" charset="-122"/>
              </a:rPr>
              <a:t>2</a:t>
            </a:r>
            <a:r>
              <a:rPr lang="en-US" altLang="zh-CN" sz="2400" b="1" dirty="0" smtClean="0">
                <a:latin typeface="华文新魏" pitchFamily="2" charset="-122"/>
                <a:ea typeface="华文新魏" pitchFamily="2" charset="-122"/>
              </a:rPr>
              <a:t>CO</a:t>
            </a:r>
            <a:r>
              <a:rPr lang="en-US" altLang="zh-CN" sz="2400" b="1" baseline="-25000" dirty="0" smtClean="0">
                <a:latin typeface="华文新魏" pitchFamily="2" charset="-122"/>
                <a:ea typeface="华文新魏" pitchFamily="2" charset="-122"/>
              </a:rPr>
              <a:t>3</a:t>
            </a:r>
            <a:r>
              <a:rPr lang="en-US" altLang="zh-CN" sz="2400" b="1" dirty="0" smtClean="0">
                <a:latin typeface="华文新魏" pitchFamily="2" charset="-122"/>
                <a:ea typeface="华文新魏" pitchFamily="2" charset="-122"/>
              </a:rPr>
              <a:t> </a:t>
            </a:r>
            <a:r>
              <a:rPr lang="en-US" altLang="zh-CN" sz="2400" b="1" dirty="0">
                <a:latin typeface="华文新魏" pitchFamily="2" charset="-122"/>
                <a:ea typeface="华文新魏" pitchFamily="2" charset="-122"/>
              </a:rPr>
              <a:t>+ NaHCO</a:t>
            </a:r>
            <a:r>
              <a:rPr lang="en-US" altLang="zh-CN" sz="2400" b="1" baseline="-25000" dirty="0">
                <a:latin typeface="华文新魏" pitchFamily="2" charset="-122"/>
                <a:ea typeface="华文新魏" pitchFamily="2" charset="-122"/>
              </a:rPr>
              <a:t>3</a:t>
            </a:r>
            <a:r>
              <a:rPr lang="en-US" altLang="zh-CN" sz="2400" b="1" dirty="0">
                <a:latin typeface="华文新魏" pitchFamily="2" charset="-122"/>
                <a:ea typeface="华文新魏" pitchFamily="2" charset="-122"/>
              </a:rPr>
              <a:t>;</a:t>
            </a:r>
          </a:p>
          <a:p>
            <a:r>
              <a:rPr lang="en-US" altLang="zh-CN" sz="2400" b="1" dirty="0">
                <a:latin typeface="华文新魏" pitchFamily="2" charset="-122"/>
                <a:ea typeface="华文新魏" pitchFamily="2" charset="-122"/>
              </a:rPr>
              <a:t>    </a:t>
            </a:r>
            <a:endParaRPr lang="en-US" altLang="zh-CN" sz="2400" b="1" dirty="0" smtClean="0">
              <a:latin typeface="华文新魏" pitchFamily="2" charset="-122"/>
              <a:ea typeface="华文新魏" pitchFamily="2" charset="-122"/>
            </a:endParaRPr>
          </a:p>
          <a:p>
            <a:r>
              <a:rPr lang="en-US" altLang="zh-CN" sz="2400" b="1" dirty="0" smtClean="0">
                <a:latin typeface="华文新魏" pitchFamily="2" charset="-122"/>
                <a:ea typeface="华文新魏" pitchFamily="2" charset="-122"/>
              </a:rPr>
              <a:t>    Na</a:t>
            </a:r>
            <a:r>
              <a:rPr lang="en-US" altLang="zh-CN" sz="2400" b="1" baseline="-25000" dirty="0" smtClean="0">
                <a:latin typeface="华文新魏" pitchFamily="2" charset="-122"/>
                <a:ea typeface="华文新魏" pitchFamily="2" charset="-122"/>
              </a:rPr>
              <a:t>2</a:t>
            </a:r>
            <a:r>
              <a:rPr lang="en-US" altLang="zh-CN" sz="2400" b="1" dirty="0" smtClean="0">
                <a:latin typeface="华文新魏" pitchFamily="2" charset="-122"/>
                <a:ea typeface="华文新魏" pitchFamily="2" charset="-122"/>
              </a:rPr>
              <a:t>CO</a:t>
            </a:r>
            <a:r>
              <a:rPr lang="en-US" altLang="zh-CN" sz="2400" b="1" baseline="-25000" dirty="0" smtClean="0">
                <a:latin typeface="华文新魏" pitchFamily="2" charset="-122"/>
                <a:ea typeface="华文新魏" pitchFamily="2" charset="-122"/>
              </a:rPr>
              <a:t>3</a:t>
            </a:r>
            <a:endParaRPr lang="en-US" altLang="zh-CN" sz="2400" b="1" dirty="0"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365730" y="3956348"/>
            <a:ext cx="13976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 smtClean="0"/>
              <a:t>V</a:t>
            </a:r>
            <a:r>
              <a:rPr lang="en-US" altLang="zh-CN" sz="2400" b="1" baseline="-25000" dirty="0" smtClean="0"/>
              <a:t>1    </a:t>
            </a:r>
            <a:r>
              <a:rPr lang="zh-CN" altLang="en-US" sz="2400" b="1" dirty="0" smtClean="0"/>
              <a:t>＞</a:t>
            </a:r>
            <a:r>
              <a:rPr lang="en-US" altLang="zh-CN" sz="2400" b="1" baseline="-25000" dirty="0" smtClean="0"/>
              <a:t> </a:t>
            </a:r>
            <a:r>
              <a:rPr lang="en-US" altLang="zh-CN" sz="2400" b="1" dirty="0" smtClean="0"/>
              <a:t>V</a:t>
            </a:r>
            <a:r>
              <a:rPr lang="en-US" altLang="zh-CN" sz="2400" b="1" baseline="-25000" dirty="0" smtClean="0"/>
              <a:t>2</a:t>
            </a:r>
            <a:endParaRPr lang="zh-CN" altLang="en-US" sz="2400" b="1" baseline="-25000" dirty="0"/>
          </a:p>
        </p:txBody>
      </p:sp>
      <p:sp>
        <p:nvSpPr>
          <p:cNvPr id="15" name="文本框 14"/>
          <p:cNvSpPr txBox="1"/>
          <p:nvPr/>
        </p:nvSpPr>
        <p:spPr>
          <a:xfrm>
            <a:off x="5385479" y="4681186"/>
            <a:ext cx="15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 smtClean="0"/>
              <a:t>V</a:t>
            </a:r>
            <a:r>
              <a:rPr lang="en-US" altLang="zh-CN" sz="2400" b="1" baseline="-25000" dirty="0" smtClean="0"/>
              <a:t>1   </a:t>
            </a:r>
            <a:r>
              <a:rPr lang="zh-CN" altLang="en-US" sz="2400" b="1" dirty="0"/>
              <a:t>＜</a:t>
            </a:r>
            <a:r>
              <a:rPr lang="en-US" altLang="zh-CN" sz="2400" b="1" baseline="-25000" dirty="0" smtClean="0"/>
              <a:t>   </a:t>
            </a:r>
            <a:r>
              <a:rPr lang="en-US" altLang="zh-CN" sz="2400" b="1" dirty="0" smtClean="0"/>
              <a:t>V</a:t>
            </a:r>
            <a:r>
              <a:rPr lang="en-US" altLang="zh-CN" sz="2400" b="1" baseline="-25000" dirty="0" smtClean="0"/>
              <a:t>2</a:t>
            </a:r>
            <a:endParaRPr lang="zh-CN" altLang="en-US" sz="2400" b="1" baseline="-25000" dirty="0"/>
          </a:p>
        </p:txBody>
      </p:sp>
      <p:sp>
        <p:nvSpPr>
          <p:cNvPr id="16" name="文本框 15"/>
          <p:cNvSpPr txBox="1"/>
          <p:nvPr/>
        </p:nvSpPr>
        <p:spPr>
          <a:xfrm>
            <a:off x="5365730" y="5306780"/>
            <a:ext cx="16028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 smtClean="0"/>
              <a:t>V</a:t>
            </a:r>
            <a:r>
              <a:rPr lang="en-US" altLang="zh-CN" sz="2400" b="1" baseline="-25000" dirty="0" smtClean="0"/>
              <a:t>1   </a:t>
            </a:r>
            <a:r>
              <a:rPr lang="zh-CN" altLang="en-US" sz="2400" b="1" dirty="0"/>
              <a:t>＝</a:t>
            </a:r>
            <a:r>
              <a:rPr lang="en-US" altLang="zh-CN" sz="2400" b="1" baseline="-25000" dirty="0" smtClean="0"/>
              <a:t>      </a:t>
            </a:r>
            <a:r>
              <a:rPr lang="en-US" altLang="zh-CN" sz="2400" b="1" dirty="0" smtClean="0"/>
              <a:t>V</a:t>
            </a:r>
            <a:r>
              <a:rPr lang="en-US" altLang="zh-CN" sz="2400" b="1" baseline="-25000" dirty="0" smtClean="0"/>
              <a:t>2</a:t>
            </a:r>
            <a:endParaRPr lang="zh-CN" altLang="en-US" sz="2400" b="1" baseline="-25000" dirty="0"/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47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7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71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84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84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10" grpId="0" autoUpdateAnimBg="0"/>
      <p:bldP spid="47111" grpId="0" build="p" autoUpdateAnimBg="0"/>
      <p:bldP spid="47120" grpId="0" autoUpdateAnimBg="0"/>
      <p:bldP spid="18440" grpId="0"/>
      <p:bldP spid="11" grpId="0" build="p" autoUpdateAnimBg="0"/>
      <p:bldP spid="2" grpId="0"/>
      <p:bldP spid="3" grpId="0"/>
      <p:bldP spid="15" grpId="0"/>
      <p:bldP spid="1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7" name="Rectangle 18"/>
          <p:cNvSpPr>
            <a:spLocks noGrp="1" noChangeArrowheads="1"/>
          </p:cNvSpPr>
          <p:nvPr>
            <p:ph type="title"/>
          </p:nvPr>
        </p:nvSpPr>
        <p:spPr>
          <a:xfrm>
            <a:off x="576263" y="258763"/>
            <a:ext cx="10369550" cy="431800"/>
          </a:xfrm>
        </p:spPr>
        <p:txBody>
          <a:bodyPr/>
          <a:lstStyle/>
          <a:p>
            <a:pPr eaLnBrk="1" hangingPunct="1"/>
            <a:r>
              <a:rPr lang="en-US" altLang="zh-CN" dirty="0" smtClean="0">
                <a:ea typeface="黑体" pitchFamily="49" charset="-122"/>
              </a:rPr>
              <a:t>3.6.4</a:t>
            </a:r>
            <a:r>
              <a:rPr lang="zh-CN" altLang="en-US" dirty="0" smtClean="0">
                <a:ea typeface="黑体" pitchFamily="49" charset="-122"/>
              </a:rPr>
              <a:t>酸碱滴定法的应用</a:t>
            </a:r>
            <a:endParaRPr lang="zh-CN" altLang="en-US" sz="1800" dirty="0" smtClean="0">
              <a:ea typeface="黑体" pitchFamily="49" charset="-122"/>
            </a:endParaRPr>
          </a:p>
        </p:txBody>
      </p:sp>
      <p:sp>
        <p:nvSpPr>
          <p:cNvPr id="12" name="Rectangle 6"/>
          <p:cNvSpPr>
            <a:spLocks noChangeArrowheads="1"/>
          </p:cNvSpPr>
          <p:nvPr/>
        </p:nvSpPr>
        <p:spPr bwMode="auto">
          <a:xfrm>
            <a:off x="1974823" y="4454533"/>
            <a:ext cx="7143800" cy="124649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　　</a:t>
            </a:r>
            <a:r>
              <a:rPr kumimoji="0" lang="zh-CN" altLang="en-US" sz="2500" b="1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不满足直接法测定的物质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.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        NH</a:t>
            </a:r>
            <a:r>
              <a:rPr kumimoji="0" lang="en-US" altLang="zh-CN" sz="25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4</a:t>
            </a:r>
            <a:r>
              <a:rPr kumimoji="0" lang="en-US" altLang="zh-CN" sz="2500" b="1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+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, </a:t>
            </a:r>
            <a:r>
              <a:rPr kumimoji="0" lang="en-US" altLang="zh-CN" sz="25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p</a:t>
            </a:r>
            <a:r>
              <a:rPr kumimoji="0" lang="en-US" altLang="zh-CN" sz="2500" b="1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K</a:t>
            </a:r>
            <a:r>
              <a:rPr kumimoji="0" lang="en-US" altLang="zh-CN" sz="1600" b="1" i="0" u="none" strike="noStrike" kern="1200" cap="none" spc="0" normalizeH="0" baseline="100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  <a:sym typeface="Webdings" pitchFamily="18" charset="2"/>
              </a:rPr>
              <a:t></a:t>
            </a:r>
            <a:r>
              <a:rPr kumimoji="0" lang="en-US" altLang="zh-CN" sz="2500" b="1" i="0" u="none" strike="noStrike" kern="120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  <a:sym typeface="Webdings" pitchFamily="18" charset="2"/>
              </a:rPr>
              <a:t>a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= 9.25.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        NH</a:t>
            </a:r>
            <a:r>
              <a:rPr kumimoji="0" lang="en-US" altLang="zh-CN" sz="2500" b="1" i="0" u="none" strike="noStrike" kern="1200" cap="none" spc="0" normalizeH="0" baseline="-25000" noProof="0" dirty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4</a:t>
            </a:r>
            <a:r>
              <a:rPr kumimoji="0" lang="en-US" altLang="zh-CN" sz="2500" b="1" i="0" u="none" strike="noStrike" kern="1200" cap="none" spc="0" normalizeH="0" baseline="30000" noProof="0" dirty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+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间接测定方法主要有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蒸馏法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以及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甲醛法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.</a:t>
            </a:r>
          </a:p>
        </p:txBody>
      </p:sp>
      <p:sp>
        <p:nvSpPr>
          <p:cNvPr id="13" name="Rectangle 13"/>
          <p:cNvSpPr>
            <a:spLocks noChangeArrowheads="1"/>
          </p:cNvSpPr>
          <p:nvPr/>
        </p:nvSpPr>
        <p:spPr bwMode="auto">
          <a:xfrm>
            <a:off x="903253" y="4025905"/>
            <a:ext cx="3892550" cy="4778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2.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间接法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(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indirect method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):</a:t>
            </a:r>
          </a:p>
        </p:txBody>
      </p:sp>
      <p:sp>
        <p:nvSpPr>
          <p:cNvPr id="18441" name="Oval 26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gray">
          <a:xfrm>
            <a:off x="0" y="5597525"/>
            <a:ext cx="360363" cy="360363"/>
          </a:xfrm>
          <a:prstGeom prst="ellipse">
            <a:avLst/>
          </a:prstGeom>
          <a:blipFill dpi="0" rotWithShape="1">
            <a:blip r:embed="rId2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charset="-122"/>
              <a:cs typeface="+mn-cs"/>
            </a:endParaRPr>
          </a:p>
        </p:txBody>
      </p:sp>
      <p:sp>
        <p:nvSpPr>
          <p:cNvPr id="18442" name="Oval 27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gray">
          <a:xfrm>
            <a:off x="11155363" y="5688013"/>
            <a:ext cx="360362" cy="360362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charset="-122"/>
              <a:cs typeface="+mn-cs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903253" y="4454533"/>
            <a:ext cx="936475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5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对象</a:t>
            </a:r>
            <a:r>
              <a:rPr kumimoji="0" lang="en-US" altLang="zh-CN" sz="25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:</a:t>
            </a:r>
            <a:endParaRPr kumimoji="0" lang="en-US" altLang="zh-CN" sz="25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845479" y="941332"/>
            <a:ext cx="9402488" cy="20159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500" b="1" dirty="0" smtClean="0">
                <a:solidFill>
                  <a:srgbClr val="FF0000"/>
                </a:solidFill>
                <a:latin typeface="新宋体" panose="02010609030101010101" pitchFamily="49" charset="-122"/>
                <a:ea typeface="新宋体" panose="02010609030101010101" pitchFamily="49" charset="-122"/>
                <a:cs typeface="Times New Roman" panose="02020603050405020304" pitchFamily="18" charset="0"/>
              </a:rPr>
              <a:t>练一练：</a:t>
            </a:r>
            <a:r>
              <a:rPr lang="zh-CN" altLang="zh-CN" sz="2500" b="1" dirty="0" smtClean="0">
                <a:latin typeface="新宋体" panose="02010609030101010101" pitchFamily="49" charset="-122"/>
                <a:ea typeface="新宋体" panose="02010609030101010101" pitchFamily="49" charset="-122"/>
                <a:cs typeface="Times New Roman" panose="02020603050405020304" pitchFamily="18" charset="0"/>
              </a:rPr>
              <a:t>称</a:t>
            </a:r>
            <a:r>
              <a:rPr lang="zh-CN" altLang="zh-CN" sz="2500" b="1" dirty="0">
                <a:latin typeface="新宋体" panose="02010609030101010101" pitchFamily="49" charset="-122"/>
                <a:ea typeface="新宋体" panose="02010609030101010101" pitchFamily="49" charset="-122"/>
                <a:cs typeface="Times New Roman" panose="02020603050405020304" pitchFamily="18" charset="0"/>
              </a:rPr>
              <a:t>取混合碱试样</a:t>
            </a:r>
            <a:r>
              <a:rPr lang="en-US" altLang="zh-CN" sz="2500" b="1" dirty="0">
                <a:latin typeface="新宋体" panose="02010609030101010101" pitchFamily="49" charset="-122"/>
                <a:ea typeface="新宋体" panose="02010609030101010101" pitchFamily="49" charset="-122"/>
                <a:cs typeface="Times New Roman" panose="02020603050405020304" pitchFamily="18" charset="0"/>
              </a:rPr>
              <a:t>1.200g</a:t>
            </a:r>
            <a:r>
              <a:rPr lang="zh-CN" altLang="zh-CN" sz="2500" b="1" dirty="0">
                <a:latin typeface="新宋体" panose="02010609030101010101" pitchFamily="49" charset="-122"/>
                <a:ea typeface="新宋体" panose="02010609030101010101" pitchFamily="49" charset="-122"/>
                <a:cs typeface="Times New Roman" panose="02020603050405020304" pitchFamily="18" charset="0"/>
              </a:rPr>
              <a:t>溶于水，用</a:t>
            </a:r>
            <a:r>
              <a:rPr lang="en-US" altLang="zh-CN" sz="2500" b="1" dirty="0">
                <a:latin typeface="新宋体" panose="02010609030101010101" pitchFamily="49" charset="-122"/>
                <a:ea typeface="新宋体" panose="02010609030101010101" pitchFamily="49" charset="-122"/>
                <a:cs typeface="Times New Roman" panose="02020603050405020304" pitchFamily="18" charset="0"/>
              </a:rPr>
              <a:t>0.5000mol/L </a:t>
            </a:r>
            <a:r>
              <a:rPr lang="en-US" altLang="zh-CN" sz="2500" b="1" dirty="0" err="1">
                <a:latin typeface="新宋体" panose="02010609030101010101" pitchFamily="49" charset="-122"/>
                <a:ea typeface="新宋体" panose="02010609030101010101" pitchFamily="49" charset="-122"/>
                <a:cs typeface="Times New Roman" panose="02020603050405020304" pitchFamily="18" charset="0"/>
              </a:rPr>
              <a:t>HCl</a:t>
            </a:r>
            <a:r>
              <a:rPr lang="zh-CN" altLang="zh-CN" sz="2500" b="1" dirty="0">
                <a:latin typeface="新宋体" panose="02010609030101010101" pitchFamily="49" charset="-122"/>
                <a:ea typeface="新宋体" panose="02010609030101010101" pitchFamily="49" charset="-122"/>
                <a:cs typeface="Times New Roman" panose="02020603050405020304" pitchFamily="18" charset="0"/>
              </a:rPr>
              <a:t>溶液滴定至酚酞褪色，用去</a:t>
            </a:r>
            <a:r>
              <a:rPr lang="en-US" altLang="zh-CN" sz="2500" b="1" dirty="0">
                <a:latin typeface="新宋体" panose="02010609030101010101" pitchFamily="49" charset="-122"/>
                <a:ea typeface="新宋体" panose="02010609030101010101" pitchFamily="49" charset="-122"/>
                <a:cs typeface="Times New Roman" panose="02020603050405020304" pitchFamily="18" charset="0"/>
              </a:rPr>
              <a:t>30.00mL</a:t>
            </a:r>
            <a:r>
              <a:rPr lang="zh-CN" altLang="zh-CN" sz="2500" b="1" dirty="0">
                <a:latin typeface="新宋体" panose="02010609030101010101" pitchFamily="49" charset="-122"/>
                <a:ea typeface="新宋体" panose="02010609030101010101" pitchFamily="49" charset="-122"/>
                <a:cs typeface="Times New Roman" panose="02020603050405020304" pitchFamily="18" charset="0"/>
              </a:rPr>
              <a:t>；然后加入甲基橙，继续滴加</a:t>
            </a:r>
            <a:r>
              <a:rPr lang="en-US" altLang="zh-CN" sz="2500" b="1" dirty="0" err="1">
                <a:latin typeface="新宋体" panose="02010609030101010101" pitchFamily="49" charset="-122"/>
                <a:ea typeface="新宋体" panose="02010609030101010101" pitchFamily="49" charset="-122"/>
                <a:cs typeface="Times New Roman" panose="02020603050405020304" pitchFamily="18" charset="0"/>
              </a:rPr>
              <a:t>HCl</a:t>
            </a:r>
            <a:r>
              <a:rPr lang="zh-CN" altLang="zh-CN" sz="2500" b="1" dirty="0">
                <a:latin typeface="新宋体" panose="02010609030101010101" pitchFamily="49" charset="-122"/>
                <a:ea typeface="新宋体" panose="02010609030101010101" pitchFamily="49" charset="-122"/>
                <a:cs typeface="Times New Roman" panose="02020603050405020304" pitchFamily="18" charset="0"/>
              </a:rPr>
              <a:t>溶液至呈现橙色，又用去</a:t>
            </a:r>
            <a:r>
              <a:rPr lang="en-US" altLang="zh-CN" sz="2500" b="1" dirty="0">
                <a:latin typeface="新宋体" panose="02010609030101010101" pitchFamily="49" charset="-122"/>
                <a:ea typeface="新宋体" panose="02010609030101010101" pitchFamily="49" charset="-122"/>
                <a:cs typeface="Times New Roman" panose="02020603050405020304" pitchFamily="18" charset="0"/>
              </a:rPr>
              <a:t>5.00mL</a:t>
            </a:r>
            <a:r>
              <a:rPr lang="zh-CN" altLang="zh-CN" sz="2500" b="1" dirty="0">
                <a:latin typeface="新宋体" panose="02010609030101010101" pitchFamily="49" charset="-122"/>
                <a:ea typeface="新宋体" panose="02010609030101010101" pitchFamily="49" charset="-122"/>
                <a:cs typeface="Times New Roman" panose="02020603050405020304" pitchFamily="18" charset="0"/>
              </a:rPr>
              <a:t>，试样中含有何种组分？其质量分数各是多少？（已知</a:t>
            </a:r>
            <a:r>
              <a:rPr lang="en-US" altLang="zh-CN" sz="2500" b="1" dirty="0">
                <a:latin typeface="新宋体" panose="02010609030101010101" pitchFamily="49" charset="-122"/>
                <a:ea typeface="新宋体" panose="02010609030101010101" pitchFamily="49" charset="-122"/>
                <a:cs typeface="Times New Roman" panose="02020603050405020304" pitchFamily="18" charset="0"/>
              </a:rPr>
              <a:t>Na</a:t>
            </a:r>
            <a:r>
              <a:rPr lang="en-US" altLang="zh-CN" sz="2500" b="1" baseline="-25000" dirty="0">
                <a:latin typeface="新宋体" panose="02010609030101010101" pitchFamily="49" charset="-122"/>
                <a:ea typeface="新宋体" panose="0201060903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sz="2500" b="1" dirty="0">
                <a:latin typeface="新宋体" panose="02010609030101010101" pitchFamily="49" charset="-122"/>
                <a:ea typeface="新宋体" panose="02010609030101010101" pitchFamily="49" charset="-122"/>
                <a:cs typeface="Times New Roman" panose="02020603050405020304" pitchFamily="18" charset="0"/>
              </a:rPr>
              <a:t>CO3 = 106.0, </a:t>
            </a:r>
            <a:r>
              <a:rPr lang="en-US" altLang="zh-CN" sz="2500" b="1" dirty="0" err="1">
                <a:latin typeface="新宋体" panose="02010609030101010101" pitchFamily="49" charset="-122"/>
                <a:ea typeface="新宋体" panose="02010609030101010101" pitchFamily="49" charset="-122"/>
                <a:cs typeface="Times New Roman" panose="02020603050405020304" pitchFamily="18" charset="0"/>
              </a:rPr>
              <a:t>NaOH</a:t>
            </a:r>
            <a:r>
              <a:rPr lang="en-US" altLang="zh-CN" sz="2500" b="1" dirty="0">
                <a:latin typeface="新宋体" panose="02010609030101010101" pitchFamily="49" charset="-122"/>
                <a:ea typeface="新宋体" panose="02010609030101010101" pitchFamily="49" charset="-122"/>
                <a:cs typeface="Times New Roman" panose="02020603050405020304" pitchFamily="18" charset="0"/>
              </a:rPr>
              <a:t> = 40.01, NaHCO</a:t>
            </a:r>
            <a:r>
              <a:rPr lang="en-US" altLang="zh-CN" sz="2500" b="1" baseline="-25000" dirty="0">
                <a:latin typeface="新宋体" panose="02010609030101010101" pitchFamily="49" charset="-122"/>
                <a:ea typeface="新宋体" panose="02010609030101010101" pitchFamily="49" charset="-122"/>
                <a:cs typeface="Times New Roman" panose="02020603050405020304" pitchFamily="18" charset="0"/>
              </a:rPr>
              <a:t>3</a:t>
            </a:r>
            <a:r>
              <a:rPr lang="en-US" altLang="zh-CN" sz="2500" b="1" dirty="0">
                <a:latin typeface="新宋体" panose="02010609030101010101" pitchFamily="49" charset="-122"/>
                <a:ea typeface="新宋体" panose="02010609030101010101" pitchFamily="49" charset="-122"/>
                <a:cs typeface="Times New Roman" panose="02020603050405020304" pitchFamily="18" charset="0"/>
              </a:rPr>
              <a:t> = 84.01</a:t>
            </a:r>
            <a:r>
              <a:rPr lang="zh-CN" altLang="zh-CN" sz="2500" b="1" dirty="0">
                <a:latin typeface="新宋体" panose="02010609030101010101" pitchFamily="49" charset="-122"/>
                <a:ea typeface="新宋体" panose="02010609030101010101" pitchFamily="49" charset="-122"/>
                <a:cs typeface="Times New Roman" panose="02020603050405020304" pitchFamily="18" charset="0"/>
              </a:rPr>
              <a:t>）</a:t>
            </a:r>
            <a:endParaRPr lang="zh-CN" altLang="en-US" sz="2500" b="1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38894056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 autoUpdateAnimBg="0"/>
      <p:bldP spid="13" grpId="0" autoUpdateAnimBg="0"/>
      <p:bldP spid="1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35" name="Rectangle 11"/>
          <p:cNvSpPr>
            <a:spLocks noChangeArrowheads="1"/>
          </p:cNvSpPr>
          <p:nvPr/>
        </p:nvSpPr>
        <p:spPr bwMode="auto">
          <a:xfrm>
            <a:off x="3475043" y="811195"/>
            <a:ext cx="3690937" cy="5715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>
              <a:lnSpc>
                <a:spcPct val="60000"/>
              </a:lnSpc>
            </a:pPr>
            <a:r>
              <a:rPr lang="en-US" altLang="zh-CN" sz="2500" b="1" dirty="0">
                <a:ea typeface="楷体_GB2312" pitchFamily="49" charset="-122"/>
                <a:sym typeface="Symbol" pitchFamily="18" charset="2"/>
              </a:rPr>
              <a:t>                              </a:t>
            </a:r>
          </a:p>
          <a:p>
            <a:pPr>
              <a:lnSpc>
                <a:spcPct val="60000"/>
              </a:lnSpc>
            </a:pPr>
            <a:r>
              <a:rPr lang="en-US" altLang="zh-CN" sz="2500" b="1" dirty="0">
                <a:ea typeface="楷体_GB2312" pitchFamily="49" charset="-122"/>
              </a:rPr>
              <a:t>NH</a:t>
            </a:r>
            <a:r>
              <a:rPr lang="en-US" altLang="zh-CN" sz="2500" b="1" baseline="-25000" dirty="0">
                <a:ea typeface="楷体_GB2312" pitchFamily="49" charset="-122"/>
              </a:rPr>
              <a:t>4</a:t>
            </a:r>
            <a:r>
              <a:rPr lang="en-US" altLang="zh-CN" sz="2500" b="1" baseline="30000" dirty="0">
                <a:ea typeface="楷体_GB2312" pitchFamily="49" charset="-122"/>
              </a:rPr>
              <a:t>+</a:t>
            </a:r>
            <a:r>
              <a:rPr lang="en-US" altLang="zh-CN" sz="2500" b="1" dirty="0">
                <a:ea typeface="楷体_GB2312" pitchFamily="49" charset="-122"/>
              </a:rPr>
              <a:t> + OH</a:t>
            </a:r>
            <a:r>
              <a:rPr lang="en-US" altLang="zh-CN" sz="2500" b="1" baseline="30000" dirty="0">
                <a:ea typeface="楷体_GB2312" pitchFamily="49" charset="-122"/>
              </a:rPr>
              <a:t>-</a:t>
            </a:r>
            <a:r>
              <a:rPr lang="en-US" altLang="zh-CN" sz="2500" b="1" dirty="0">
                <a:ea typeface="楷体_GB2312" pitchFamily="49" charset="-122"/>
              </a:rPr>
              <a:t> = NH</a:t>
            </a:r>
            <a:r>
              <a:rPr lang="en-US" altLang="zh-CN" sz="2500" b="1" baseline="-25000" dirty="0">
                <a:ea typeface="楷体_GB2312" pitchFamily="49" charset="-122"/>
              </a:rPr>
              <a:t>3</a:t>
            </a:r>
            <a:r>
              <a:rPr lang="en-US" altLang="zh-CN" sz="2500" b="1" dirty="0">
                <a:ea typeface="楷体_GB2312" pitchFamily="49" charset="-122"/>
              </a:rPr>
              <a:t> + H</a:t>
            </a:r>
            <a:r>
              <a:rPr lang="en-US" altLang="zh-CN" sz="2500" b="1" baseline="-25000" dirty="0">
                <a:ea typeface="楷体_GB2312" pitchFamily="49" charset="-122"/>
              </a:rPr>
              <a:t>2</a:t>
            </a:r>
            <a:r>
              <a:rPr lang="en-US" altLang="zh-CN" sz="2500" b="1" dirty="0">
                <a:ea typeface="楷体_GB2312" pitchFamily="49" charset="-122"/>
              </a:rPr>
              <a:t>O</a:t>
            </a:r>
          </a:p>
        </p:txBody>
      </p:sp>
      <p:sp>
        <p:nvSpPr>
          <p:cNvPr id="77836" name="Rectangle 12"/>
          <p:cNvSpPr>
            <a:spLocks noChangeArrowheads="1"/>
          </p:cNvSpPr>
          <p:nvPr/>
        </p:nvSpPr>
        <p:spPr bwMode="auto">
          <a:xfrm>
            <a:off x="3475043" y="1285857"/>
            <a:ext cx="4364037" cy="8620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altLang="zh-CN" sz="2500" b="1">
                <a:ea typeface="楷体_GB2312" pitchFamily="49" charset="-122"/>
              </a:rPr>
              <a:t>NH</a:t>
            </a:r>
            <a:r>
              <a:rPr lang="en-US" altLang="zh-CN" sz="2500" b="1" baseline="-25000">
                <a:ea typeface="楷体_GB2312" pitchFamily="49" charset="-122"/>
              </a:rPr>
              <a:t>3 </a:t>
            </a:r>
            <a:r>
              <a:rPr lang="en-US" altLang="zh-CN" sz="2500" b="1">
                <a:ea typeface="楷体_GB2312" pitchFamily="49" charset="-122"/>
              </a:rPr>
              <a:t>+ HCl(</a:t>
            </a:r>
            <a:r>
              <a:rPr lang="zh-CN" altLang="en-US" sz="2500" b="1">
                <a:ea typeface="楷体_GB2312" pitchFamily="49" charset="-122"/>
              </a:rPr>
              <a:t>过量</a:t>
            </a:r>
            <a:r>
              <a:rPr lang="en-US" altLang="zh-CN" sz="2500" b="1">
                <a:ea typeface="楷体_GB2312" pitchFamily="49" charset="-122"/>
              </a:rPr>
              <a:t>) = NH</a:t>
            </a:r>
            <a:r>
              <a:rPr lang="en-US" altLang="zh-CN" sz="2500" b="1" baseline="-25000">
                <a:ea typeface="楷体_GB2312" pitchFamily="49" charset="-122"/>
              </a:rPr>
              <a:t>4</a:t>
            </a:r>
            <a:r>
              <a:rPr lang="en-US" altLang="zh-CN" sz="2500" b="1" baseline="30000">
                <a:ea typeface="楷体_GB2312" pitchFamily="49" charset="-122"/>
              </a:rPr>
              <a:t>+</a:t>
            </a:r>
            <a:r>
              <a:rPr lang="en-US" altLang="zh-CN" sz="2500" b="1">
                <a:ea typeface="楷体_GB2312" pitchFamily="49" charset="-122"/>
              </a:rPr>
              <a:t> + Cl</a:t>
            </a:r>
            <a:r>
              <a:rPr lang="en-US" altLang="zh-CN" sz="2500" b="1" baseline="30000">
                <a:ea typeface="楷体_GB2312" pitchFamily="49" charset="-122"/>
              </a:rPr>
              <a:t>-</a:t>
            </a:r>
            <a:endParaRPr lang="en-US" altLang="zh-CN" sz="2500" b="1">
              <a:ea typeface="楷体_GB2312" pitchFamily="49" charset="-122"/>
            </a:endParaRPr>
          </a:p>
          <a:p>
            <a:r>
              <a:rPr lang="en-US" altLang="zh-CN" sz="2500" b="1">
                <a:ea typeface="楷体_GB2312" pitchFamily="49" charset="-122"/>
              </a:rPr>
              <a:t>OH</a:t>
            </a:r>
            <a:r>
              <a:rPr lang="en-US" altLang="zh-CN" sz="2500" b="1" baseline="30000">
                <a:ea typeface="楷体_GB2312" pitchFamily="49" charset="-122"/>
              </a:rPr>
              <a:t>-</a:t>
            </a:r>
            <a:r>
              <a:rPr lang="en-US" altLang="zh-CN" sz="2500" b="1">
                <a:ea typeface="楷体_GB2312" pitchFamily="49" charset="-122"/>
              </a:rPr>
              <a:t> + HCl(</a:t>
            </a:r>
            <a:r>
              <a:rPr lang="zh-CN" altLang="en-US" sz="2500" b="1">
                <a:ea typeface="楷体_GB2312" pitchFamily="49" charset="-122"/>
              </a:rPr>
              <a:t>剩余</a:t>
            </a:r>
            <a:r>
              <a:rPr lang="en-US" altLang="zh-CN" sz="2500" b="1">
                <a:ea typeface="楷体_GB2312" pitchFamily="49" charset="-122"/>
              </a:rPr>
              <a:t>) = H</a:t>
            </a:r>
            <a:r>
              <a:rPr lang="en-US" altLang="zh-CN" sz="2500" b="1" baseline="-25000">
                <a:ea typeface="楷体_GB2312" pitchFamily="49" charset="-122"/>
              </a:rPr>
              <a:t>2</a:t>
            </a:r>
            <a:r>
              <a:rPr lang="en-US" altLang="zh-CN" sz="2500" b="1">
                <a:ea typeface="楷体_GB2312" pitchFamily="49" charset="-122"/>
              </a:rPr>
              <a:t>O + Cl</a:t>
            </a:r>
            <a:r>
              <a:rPr lang="en-US" altLang="zh-CN" sz="2500" b="1" baseline="30000">
                <a:ea typeface="楷体_GB2312" pitchFamily="49" charset="-122"/>
              </a:rPr>
              <a:t>-</a:t>
            </a:r>
          </a:p>
        </p:txBody>
      </p:sp>
      <p:sp>
        <p:nvSpPr>
          <p:cNvPr id="77838" name="Rectangle 14"/>
          <p:cNvSpPr>
            <a:spLocks noChangeArrowheads="1"/>
          </p:cNvSpPr>
          <p:nvPr/>
        </p:nvSpPr>
        <p:spPr bwMode="auto">
          <a:xfrm>
            <a:off x="546100" y="2170115"/>
            <a:ext cx="10299700" cy="4778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r>
              <a:rPr lang="en-US" altLang="zh-CN" sz="2500" b="1" dirty="0">
                <a:ea typeface="楷体_GB2312" pitchFamily="49" charset="-122"/>
              </a:rPr>
              <a:t>        </a:t>
            </a:r>
            <a:r>
              <a:rPr lang="zh-CN" altLang="en-US" sz="2500" b="1" dirty="0">
                <a:ea typeface="楷体_GB2312" pitchFamily="49" charset="-122"/>
              </a:rPr>
              <a:t>一些含氮有机物</a:t>
            </a:r>
            <a:r>
              <a:rPr lang="en-US" altLang="zh-CN" sz="2500" b="1" dirty="0">
                <a:ea typeface="楷体_GB2312" pitchFamily="49" charset="-122"/>
              </a:rPr>
              <a:t>(</a:t>
            </a:r>
            <a:r>
              <a:rPr lang="zh-CN" altLang="en-US" sz="2500" b="1" dirty="0">
                <a:ea typeface="楷体_GB2312" pitchFamily="49" charset="-122"/>
              </a:rPr>
              <a:t>如含蛋白质食品、饲料、生物碱等</a:t>
            </a:r>
            <a:r>
              <a:rPr lang="en-US" altLang="zh-CN" sz="2500" b="1" dirty="0">
                <a:ea typeface="楷体_GB2312" pitchFamily="49" charset="-122"/>
              </a:rPr>
              <a:t>)</a:t>
            </a:r>
            <a:r>
              <a:rPr lang="zh-CN" altLang="en-US" sz="2500" b="1" dirty="0">
                <a:ea typeface="楷体_GB2312" pitchFamily="49" charset="-122"/>
              </a:rPr>
              <a:t>的测定</a:t>
            </a:r>
            <a:r>
              <a:rPr lang="en-US" altLang="zh-CN" sz="2500" b="1" dirty="0">
                <a:ea typeface="楷体_GB2312" pitchFamily="49" charset="-122"/>
              </a:rPr>
              <a:t>.</a:t>
            </a:r>
          </a:p>
        </p:txBody>
      </p:sp>
      <p:sp>
        <p:nvSpPr>
          <p:cNvPr id="19461" name="Rectangle 20"/>
          <p:cNvSpPr>
            <a:spLocks noGrp="1" noChangeArrowheads="1"/>
          </p:cNvSpPr>
          <p:nvPr>
            <p:ph type="title"/>
          </p:nvPr>
        </p:nvSpPr>
        <p:spPr>
          <a:xfrm>
            <a:off x="576263" y="258763"/>
            <a:ext cx="10369550" cy="431800"/>
          </a:xfrm>
        </p:spPr>
        <p:txBody>
          <a:bodyPr/>
          <a:lstStyle/>
          <a:p>
            <a:pPr eaLnBrk="1" hangingPunct="1"/>
            <a:r>
              <a:rPr lang="en-US" altLang="zh-CN" smtClean="0">
                <a:ea typeface="黑体" pitchFamily="49" charset="-122"/>
              </a:rPr>
              <a:t>3.6.4</a:t>
            </a:r>
            <a:r>
              <a:rPr lang="zh-CN" altLang="en-US" smtClean="0">
                <a:ea typeface="黑体" pitchFamily="49" charset="-122"/>
              </a:rPr>
              <a:t>酸碱滴定法的应用</a:t>
            </a:r>
            <a:endParaRPr lang="zh-CN" altLang="en-US" sz="1800" smtClean="0">
              <a:ea typeface="黑体" pitchFamily="49" charset="-122"/>
            </a:endParaRPr>
          </a:p>
        </p:txBody>
      </p:sp>
      <p:sp>
        <p:nvSpPr>
          <p:cNvPr id="19462" name="矩形 25"/>
          <p:cNvSpPr>
            <a:spLocks noChangeArrowheads="1"/>
          </p:cNvSpPr>
          <p:nvPr/>
        </p:nvSpPr>
        <p:spPr bwMode="auto">
          <a:xfrm>
            <a:off x="5189543" y="739757"/>
            <a:ext cx="325437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b="1" dirty="0">
                <a:ea typeface="楷体_GB2312" pitchFamily="49" charset="-122"/>
                <a:sym typeface="Symbol" pitchFamily="18" charset="2"/>
              </a:rPr>
              <a:t></a:t>
            </a:r>
            <a:endParaRPr lang="zh-CN" altLang="en-US" dirty="0"/>
          </a:p>
        </p:txBody>
      </p:sp>
      <p:sp>
        <p:nvSpPr>
          <p:cNvPr id="19463" name="矩形 10"/>
          <p:cNvSpPr>
            <a:spLocks noChangeArrowheads="1"/>
          </p:cNvSpPr>
          <p:nvPr/>
        </p:nvSpPr>
        <p:spPr bwMode="auto">
          <a:xfrm>
            <a:off x="831850" y="884244"/>
            <a:ext cx="2547938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500" b="1" dirty="0">
                <a:ea typeface="楷体_GB2312" pitchFamily="49" charset="-122"/>
              </a:rPr>
              <a:t>蒸馏法主要反应</a:t>
            </a:r>
            <a:r>
              <a:rPr lang="en-US" altLang="zh-CN" sz="2500" b="1" dirty="0">
                <a:ea typeface="楷体_GB2312" pitchFamily="49" charset="-122"/>
              </a:rPr>
              <a:t>:</a:t>
            </a:r>
          </a:p>
        </p:txBody>
      </p:sp>
      <p:sp>
        <p:nvSpPr>
          <p:cNvPr id="12" name="Rectangle 9"/>
          <p:cNvSpPr>
            <a:spLocks noChangeArrowheads="1"/>
          </p:cNvSpPr>
          <p:nvPr/>
        </p:nvSpPr>
        <p:spPr bwMode="auto">
          <a:xfrm>
            <a:off x="2117725" y="2884490"/>
            <a:ext cx="6189663" cy="78422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>
              <a:lnSpc>
                <a:spcPct val="60000"/>
              </a:lnSpc>
            </a:pPr>
            <a:r>
              <a:rPr lang="en-US" altLang="zh-CN" sz="2500" b="1" dirty="0">
                <a:ea typeface="楷体_GB2312" pitchFamily="49" charset="-122"/>
              </a:rPr>
              <a:t>                  H</a:t>
            </a:r>
            <a:r>
              <a:rPr lang="en-US" altLang="zh-CN" sz="2500" b="1" baseline="-25000" dirty="0">
                <a:ea typeface="楷体_GB2312" pitchFamily="49" charset="-122"/>
              </a:rPr>
              <a:t>2</a:t>
            </a:r>
            <a:r>
              <a:rPr lang="en-US" altLang="zh-CN" sz="2500" b="1" dirty="0">
                <a:ea typeface="楷体_GB2312" pitchFamily="49" charset="-122"/>
              </a:rPr>
              <a:t>SO</a:t>
            </a:r>
            <a:r>
              <a:rPr lang="en-US" altLang="zh-CN" sz="2500" b="1" baseline="-25000" dirty="0">
                <a:ea typeface="楷体_GB2312" pitchFamily="49" charset="-122"/>
              </a:rPr>
              <a:t>4</a:t>
            </a:r>
            <a:r>
              <a:rPr lang="en-US" altLang="zh-CN" sz="2500" b="1" dirty="0">
                <a:ea typeface="楷体_GB2312" pitchFamily="49" charset="-122"/>
              </a:rPr>
              <a:t>,K</a:t>
            </a:r>
            <a:r>
              <a:rPr lang="en-US" altLang="zh-CN" sz="2500" b="1" baseline="-25000" dirty="0">
                <a:ea typeface="楷体_GB2312" pitchFamily="49" charset="-122"/>
              </a:rPr>
              <a:t>2</a:t>
            </a:r>
            <a:r>
              <a:rPr lang="en-US" altLang="zh-CN" sz="2500" b="1" dirty="0">
                <a:ea typeface="楷体_GB2312" pitchFamily="49" charset="-122"/>
              </a:rPr>
              <a:t>SO</a:t>
            </a:r>
            <a:r>
              <a:rPr lang="en-US" altLang="zh-CN" sz="2500" b="1" baseline="-25000" dirty="0">
                <a:ea typeface="楷体_GB2312" pitchFamily="49" charset="-122"/>
              </a:rPr>
              <a:t>4</a:t>
            </a:r>
            <a:endParaRPr lang="en-US" altLang="zh-CN" sz="2500" b="1" dirty="0">
              <a:ea typeface="楷体_GB2312" pitchFamily="49" charset="-122"/>
            </a:endParaRPr>
          </a:p>
          <a:p>
            <a:pPr>
              <a:lnSpc>
                <a:spcPct val="60000"/>
              </a:lnSpc>
            </a:pPr>
            <a:r>
              <a:rPr lang="en-US" altLang="zh-CN" sz="2500" b="1" dirty="0" err="1">
                <a:ea typeface="楷体_GB2312" pitchFamily="49" charset="-122"/>
              </a:rPr>
              <a:t>C</a:t>
            </a:r>
            <a:r>
              <a:rPr lang="en-US" altLang="zh-CN" sz="2500" b="1" baseline="-25000" dirty="0" err="1">
                <a:ea typeface="楷体_GB2312" pitchFamily="49" charset="-122"/>
              </a:rPr>
              <a:t>m</a:t>
            </a:r>
            <a:r>
              <a:rPr lang="en-US" altLang="zh-CN" sz="2500" b="1" dirty="0" err="1">
                <a:ea typeface="楷体_GB2312" pitchFamily="49" charset="-122"/>
              </a:rPr>
              <a:t>H</a:t>
            </a:r>
            <a:r>
              <a:rPr lang="en-US" altLang="zh-CN" sz="2500" b="1" baseline="-25000" dirty="0" err="1">
                <a:ea typeface="楷体_GB2312" pitchFamily="49" charset="-122"/>
              </a:rPr>
              <a:t>n</a:t>
            </a:r>
            <a:r>
              <a:rPr lang="en-US" altLang="zh-CN" sz="2500" b="1" dirty="0" err="1">
                <a:ea typeface="楷体_GB2312" pitchFamily="49" charset="-122"/>
              </a:rPr>
              <a:t>N</a:t>
            </a:r>
            <a:r>
              <a:rPr lang="en-US" altLang="zh-CN" sz="2500" b="1" dirty="0">
                <a:ea typeface="楷体_GB2312" pitchFamily="49" charset="-122"/>
              </a:rPr>
              <a:t>                              CO</a:t>
            </a:r>
            <a:r>
              <a:rPr lang="en-US" altLang="zh-CN" sz="2500" b="1" baseline="-25000" dirty="0">
                <a:ea typeface="楷体_GB2312" pitchFamily="49" charset="-122"/>
              </a:rPr>
              <a:t>2</a:t>
            </a:r>
            <a:r>
              <a:rPr lang="en-US" altLang="zh-CN" sz="2500" b="1" dirty="0">
                <a:ea typeface="楷体_GB2312" pitchFamily="49" charset="-122"/>
              </a:rPr>
              <a:t> + H</a:t>
            </a:r>
            <a:r>
              <a:rPr lang="en-US" altLang="zh-CN" sz="2500" b="1" baseline="-25000" dirty="0">
                <a:ea typeface="楷体_GB2312" pitchFamily="49" charset="-122"/>
              </a:rPr>
              <a:t>2</a:t>
            </a:r>
            <a:r>
              <a:rPr lang="en-US" altLang="zh-CN" sz="2500" b="1" dirty="0">
                <a:ea typeface="楷体_GB2312" pitchFamily="49" charset="-122"/>
              </a:rPr>
              <a:t>O + NH</a:t>
            </a:r>
            <a:r>
              <a:rPr lang="en-US" altLang="zh-CN" sz="2500" b="1" baseline="-25000" dirty="0">
                <a:ea typeface="楷体_GB2312" pitchFamily="49" charset="-122"/>
              </a:rPr>
              <a:t>4</a:t>
            </a:r>
            <a:r>
              <a:rPr lang="en-US" altLang="zh-CN" sz="2500" b="1" baseline="30000" dirty="0">
                <a:ea typeface="楷体_GB2312" pitchFamily="49" charset="-122"/>
              </a:rPr>
              <a:t>+</a:t>
            </a:r>
            <a:endParaRPr lang="en-US" altLang="zh-CN" sz="2500" b="1" dirty="0">
              <a:ea typeface="楷体_GB2312" pitchFamily="49" charset="-122"/>
            </a:endParaRPr>
          </a:p>
          <a:p>
            <a:pPr>
              <a:lnSpc>
                <a:spcPct val="60000"/>
              </a:lnSpc>
            </a:pPr>
            <a:r>
              <a:rPr lang="en-US" altLang="zh-CN" sz="2500" b="1" dirty="0">
                <a:ea typeface="楷体_GB2312" pitchFamily="49" charset="-122"/>
              </a:rPr>
              <a:t>                       CuSO</a:t>
            </a:r>
            <a:r>
              <a:rPr lang="en-US" altLang="zh-CN" sz="2500" b="1" baseline="-25000" dirty="0">
                <a:ea typeface="楷体_GB2312" pitchFamily="49" charset="-122"/>
              </a:rPr>
              <a:t>4</a:t>
            </a:r>
            <a:endParaRPr lang="en-US" altLang="zh-CN" sz="2500" b="1" dirty="0">
              <a:ea typeface="楷体_GB2312" pitchFamily="49" charset="-122"/>
            </a:endParaRPr>
          </a:p>
        </p:txBody>
      </p:sp>
      <p:cxnSp>
        <p:nvCxnSpPr>
          <p:cNvPr id="14" name="直接箭头连接符 13"/>
          <p:cNvCxnSpPr/>
          <p:nvPr/>
        </p:nvCxnSpPr>
        <p:spPr>
          <a:xfrm>
            <a:off x="3403600" y="3241678"/>
            <a:ext cx="2143125" cy="158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468" name="矩形 14"/>
          <p:cNvSpPr>
            <a:spLocks noChangeArrowheads="1"/>
          </p:cNvSpPr>
          <p:nvPr/>
        </p:nvSpPr>
        <p:spPr bwMode="auto">
          <a:xfrm>
            <a:off x="688939" y="5049049"/>
            <a:ext cx="614271" cy="477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500" b="1" dirty="0" smtClean="0">
                <a:latin typeface="+mn-lt"/>
                <a:ea typeface="楷体_GB2312" pitchFamily="49" charset="-122"/>
                <a:hlinkClick r:id="rId3" action="ppaction://hlinkpres?slideindex=5&amp;slidetitle=幻灯片 5"/>
              </a:rPr>
              <a:t>解</a:t>
            </a:r>
            <a:r>
              <a:rPr lang="en-US" altLang="zh-CN" sz="2500" b="1" dirty="0" smtClean="0">
                <a:latin typeface="+mn-lt"/>
                <a:ea typeface="楷体_GB2312" pitchFamily="49" charset="-122"/>
              </a:rPr>
              <a:t>:</a:t>
            </a:r>
            <a:endParaRPr lang="zh-CN" altLang="en-US" sz="2500" b="1" dirty="0">
              <a:latin typeface="+mn-lt"/>
              <a:ea typeface="楷体_GB2312" pitchFamily="49" charset="-122"/>
            </a:endParaRPr>
          </a:p>
        </p:txBody>
      </p:sp>
      <p:sp>
        <p:nvSpPr>
          <p:cNvPr id="19467" name="Oval 26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gray">
          <a:xfrm>
            <a:off x="0" y="5580000"/>
            <a:ext cx="360363" cy="360363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" name="椭圆 62544" descr="图片1">
            <a:hlinkClick r:id="rId5" action="ppaction://hlinkpres?slideindex=1&amp;slidetitle="/>
          </p:cNvPr>
          <p:cNvSpPr>
            <a:spLocks noChangeAspect="1" noChangeArrowheads="1"/>
          </p:cNvSpPr>
          <p:nvPr/>
        </p:nvSpPr>
        <p:spPr bwMode="auto">
          <a:xfrm>
            <a:off x="11155363" y="5580000"/>
            <a:ext cx="360362" cy="360362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zh-CN" altLang="en-US" sz="1200" b="1" dirty="0" smtClean="0">
                <a:solidFill>
                  <a:srgbClr val="000000"/>
                </a:solidFill>
                <a:ea typeface="楷体_GB2312" pitchFamily="49" charset="-122"/>
              </a:rPr>
              <a:t>下章</a:t>
            </a:r>
            <a:endParaRPr lang="zh-CN" altLang="en-US" sz="1200" b="1" dirty="0">
              <a:solidFill>
                <a:srgbClr val="000000"/>
              </a:solidFill>
              <a:ea typeface="楷体_GB2312" pitchFamily="49" charset="-122"/>
            </a:endParaRPr>
          </a:p>
        </p:txBody>
      </p:sp>
      <p:sp>
        <p:nvSpPr>
          <p:cNvPr id="15" name="Rectangle 10"/>
          <p:cNvSpPr>
            <a:spLocks noChangeArrowheads="1"/>
          </p:cNvSpPr>
          <p:nvPr/>
        </p:nvSpPr>
        <p:spPr bwMode="auto">
          <a:xfrm>
            <a:off x="688939" y="3740153"/>
            <a:ext cx="10644222" cy="130420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lang="zh-CN" altLang="en-US" sz="2500" b="1" dirty="0" smtClean="0">
                <a:latin typeface="+mn-lt"/>
                <a:ea typeface="楷体_GB2312" pitchFamily="49" charset="-122"/>
              </a:rPr>
              <a:t>例</a:t>
            </a:r>
            <a:r>
              <a:rPr lang="en-US" altLang="zh-CN" sz="2500" b="1" dirty="0" smtClean="0">
                <a:latin typeface="+mn-lt"/>
                <a:ea typeface="楷体_GB2312" pitchFamily="49" charset="-122"/>
              </a:rPr>
              <a:t>2. 2.000g</a:t>
            </a:r>
            <a:r>
              <a:rPr lang="zh-CN" altLang="en-US" sz="2500" b="1" dirty="0">
                <a:latin typeface="+mn-lt"/>
                <a:ea typeface="楷体_GB2312" pitchFamily="49" charset="-122"/>
              </a:rPr>
              <a:t>黄豆用浓硫酸消化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,</a:t>
            </a:r>
            <a:r>
              <a:rPr lang="zh-CN" altLang="en-US" sz="2500" b="1" dirty="0">
                <a:latin typeface="+mn-lt"/>
                <a:ea typeface="楷体_GB2312" pitchFamily="49" charset="-122"/>
              </a:rPr>
              <a:t>得到试液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.</a:t>
            </a:r>
            <a:r>
              <a:rPr lang="zh-CN" altLang="en-US" sz="2500" b="1" dirty="0">
                <a:latin typeface="+mn-lt"/>
                <a:ea typeface="楷体_GB2312" pitchFamily="49" charset="-122"/>
              </a:rPr>
              <a:t>向其中加入过量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OH</a:t>
            </a:r>
            <a:r>
              <a:rPr lang="en-US" altLang="zh-CN" sz="2500" b="1" baseline="30000" dirty="0">
                <a:latin typeface="+mn-lt"/>
                <a:ea typeface="楷体_GB2312" pitchFamily="49" charset="-122"/>
              </a:rPr>
              <a:t>-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, </a:t>
            </a:r>
            <a:r>
              <a:rPr lang="zh-CN" altLang="en-US" sz="2500" b="1" dirty="0">
                <a:latin typeface="+mn-lt"/>
                <a:ea typeface="楷体_GB2312" pitchFamily="49" charset="-122"/>
              </a:rPr>
              <a:t>释放的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NH</a:t>
            </a:r>
            <a:r>
              <a:rPr lang="en-US" altLang="zh-CN" sz="2500" b="1" baseline="-25000" dirty="0">
                <a:latin typeface="+mn-lt"/>
                <a:ea typeface="楷体_GB2312" pitchFamily="49" charset="-122"/>
              </a:rPr>
              <a:t>3</a:t>
            </a:r>
            <a:r>
              <a:rPr lang="zh-CN" altLang="en-US" sz="2500" b="1" dirty="0">
                <a:latin typeface="+mn-lt"/>
                <a:ea typeface="楷体_GB2312" pitchFamily="49" charset="-122"/>
              </a:rPr>
              <a:t>用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50.00mL 0.6700 mol·L</a:t>
            </a:r>
            <a:r>
              <a:rPr lang="en-US" altLang="zh-CN" sz="2500" b="1" baseline="30000" dirty="0">
                <a:latin typeface="+mn-lt"/>
                <a:ea typeface="楷体_GB2312" pitchFamily="49" charset="-122"/>
              </a:rPr>
              <a:t>-1 </a:t>
            </a:r>
            <a:r>
              <a:rPr lang="en-US" altLang="zh-CN" sz="2500" b="1" dirty="0" err="1">
                <a:latin typeface="+mn-lt"/>
                <a:ea typeface="楷体_GB2312" pitchFamily="49" charset="-122"/>
              </a:rPr>
              <a:t>HCl</a:t>
            </a:r>
            <a:r>
              <a:rPr lang="zh-CN" altLang="en-US" sz="2500" b="1" dirty="0">
                <a:latin typeface="+mn-lt"/>
                <a:ea typeface="楷体_GB2312" pitchFamily="49" charset="-122"/>
              </a:rPr>
              <a:t>吸收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.</a:t>
            </a:r>
            <a:r>
              <a:rPr lang="zh-CN" altLang="en-US" sz="2500" b="1" dirty="0">
                <a:latin typeface="+mn-lt"/>
                <a:ea typeface="楷体_GB2312" pitchFamily="49" charset="-122"/>
              </a:rPr>
              <a:t>剩余</a:t>
            </a:r>
            <a:r>
              <a:rPr lang="en-US" altLang="zh-CN" sz="2500" b="1" dirty="0" err="1">
                <a:latin typeface="+mn-lt"/>
                <a:ea typeface="楷体_GB2312" pitchFamily="49" charset="-122"/>
              </a:rPr>
              <a:t>HCl</a:t>
            </a:r>
            <a:r>
              <a:rPr lang="zh-CN" altLang="en-US" sz="2500" b="1" dirty="0">
                <a:latin typeface="+mn-lt"/>
                <a:ea typeface="楷体_GB2312" pitchFamily="49" charset="-122"/>
              </a:rPr>
              <a:t>以甲基橙指示剂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,0.6520 mol·L</a:t>
            </a:r>
            <a:r>
              <a:rPr lang="en-US" altLang="zh-CN" sz="2500" b="1" baseline="30000" dirty="0">
                <a:latin typeface="+mn-lt"/>
                <a:ea typeface="楷体_GB2312" pitchFamily="49" charset="-122"/>
              </a:rPr>
              <a:t>-1 </a:t>
            </a:r>
            <a:r>
              <a:rPr lang="en-US" altLang="zh-CN" sz="2500" b="1" dirty="0" err="1">
                <a:latin typeface="+mn-lt"/>
                <a:ea typeface="楷体_GB2312" pitchFamily="49" charset="-122"/>
              </a:rPr>
              <a:t>NaOH</a:t>
            </a:r>
            <a:r>
              <a:rPr lang="zh-CN" altLang="en-US" sz="2500" b="1" dirty="0">
                <a:latin typeface="+mn-lt"/>
                <a:ea typeface="楷体_GB2312" pitchFamily="49" charset="-122"/>
              </a:rPr>
              <a:t>滴定至终点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,</a:t>
            </a:r>
            <a:r>
              <a:rPr lang="zh-CN" altLang="en-US" sz="2500" b="1" dirty="0">
                <a:latin typeface="+mn-lt"/>
                <a:ea typeface="楷体_GB2312" pitchFamily="49" charset="-122"/>
              </a:rPr>
              <a:t>耗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30.10mL.</a:t>
            </a:r>
            <a:r>
              <a:rPr lang="zh-CN" altLang="en-US" sz="2500" b="1" dirty="0">
                <a:latin typeface="+mn-lt"/>
                <a:ea typeface="楷体_GB2312" pitchFamily="49" charset="-122"/>
              </a:rPr>
              <a:t>计算黄豆含氮量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.</a:t>
            </a: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9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778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9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778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778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778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94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94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NOTIFY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835" grpId="0" autoUpdateAnimBg="0"/>
      <p:bldP spid="77836" grpId="0" build="p" autoUpdateAnimBg="0"/>
      <p:bldP spid="77838" grpId="0" autoUpdateAnimBg="0"/>
      <p:bldP spid="19462" grpId="0"/>
      <p:bldP spid="19463" grpId="0"/>
      <p:bldP spid="12" grpId="0" autoUpdateAnimBg="0"/>
      <p:bldP spid="19468" grpId="0"/>
      <p:bldP spid="15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2" val="fcd8f116a4e476116ff173b055b4bb4ab0bf461c"/>
</p:tagLst>
</file>

<file path=ppt/theme/theme1.xml><?xml version="1.0" encoding="utf-8"?>
<a:theme xmlns:a="http://schemas.openxmlformats.org/drawingml/2006/main" name="医学研究PPT模板">
  <a:themeElements>
    <a:clrScheme name="医学研究PPT模板 1">
      <a:dk1>
        <a:srgbClr val="000000"/>
      </a:dk1>
      <a:lt1>
        <a:srgbClr val="FFFFFF"/>
      </a:lt1>
      <a:dk2>
        <a:srgbClr val="000000"/>
      </a:dk2>
      <a:lt2>
        <a:srgbClr val="000000"/>
      </a:lt2>
      <a:accent1>
        <a:srgbClr val="000000"/>
      </a:accent1>
      <a:accent2>
        <a:srgbClr val="FF00FF"/>
      </a:accent2>
      <a:accent3>
        <a:srgbClr val="FFFFFF"/>
      </a:accent3>
      <a:accent4>
        <a:srgbClr val="000000"/>
      </a:accent4>
      <a:accent5>
        <a:srgbClr val="AAAAAA"/>
      </a:accent5>
      <a:accent6>
        <a:srgbClr val="E700E7"/>
      </a:accent6>
      <a:hlink>
        <a:srgbClr val="FF9900"/>
      </a:hlink>
      <a:folHlink>
        <a:srgbClr val="6600FF"/>
      </a:folHlink>
    </a:clrScheme>
    <a:fontScheme name="医学研究PPT模板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医学研究PPT模板 1">
        <a:dk1>
          <a:srgbClr val="200B5B"/>
        </a:dk1>
        <a:lt1>
          <a:srgbClr val="EAEAEA"/>
        </a:lt1>
        <a:dk2>
          <a:srgbClr val="6600FF"/>
        </a:dk2>
        <a:lt2>
          <a:srgbClr val="FFCC66"/>
        </a:lt2>
        <a:accent1>
          <a:srgbClr val="EEB00B"/>
        </a:accent1>
        <a:accent2>
          <a:srgbClr val="6600CC"/>
        </a:accent2>
        <a:accent3>
          <a:srgbClr val="B8AAFF"/>
        </a:accent3>
        <a:accent4>
          <a:srgbClr val="C8C8C8"/>
        </a:accent4>
        <a:accent5>
          <a:srgbClr val="F5D4AA"/>
        </a:accent5>
        <a:accent6>
          <a:srgbClr val="5C00B9"/>
        </a:accent6>
        <a:hlink>
          <a:srgbClr val="FF33CC"/>
        </a:hlink>
        <a:folHlink>
          <a:srgbClr val="CC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医学研究PPT模板 2">
        <a:dk1>
          <a:srgbClr val="393939"/>
        </a:dk1>
        <a:lt1>
          <a:srgbClr val="FFFFFF"/>
        </a:lt1>
        <a:dk2>
          <a:srgbClr val="6600CC"/>
        </a:dk2>
        <a:lt2>
          <a:srgbClr val="CCCCFF"/>
        </a:lt2>
        <a:accent1>
          <a:srgbClr val="F9D87E"/>
        </a:accent1>
        <a:accent2>
          <a:srgbClr val="FFCCCC"/>
        </a:accent2>
        <a:accent3>
          <a:srgbClr val="FFFFFF"/>
        </a:accent3>
        <a:accent4>
          <a:srgbClr val="2F2F2F"/>
        </a:accent4>
        <a:accent5>
          <a:srgbClr val="FBE9C0"/>
        </a:accent5>
        <a:accent6>
          <a:srgbClr val="E7B9B9"/>
        </a:accent6>
        <a:hlink>
          <a:srgbClr val="FFCCFF"/>
        </a:hlink>
        <a:folHlink>
          <a:srgbClr val="99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医学研究PPT模板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CBCBCB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555555"/>
        </a:accent6>
        <a:hlink>
          <a:srgbClr val="969696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医学研究PPT模板 4">
        <a:dk1>
          <a:srgbClr val="330000"/>
        </a:dk1>
        <a:lt1>
          <a:srgbClr val="FFFFCC"/>
        </a:lt1>
        <a:dk2>
          <a:srgbClr val="000000"/>
        </a:dk2>
        <a:lt2>
          <a:srgbClr val="FFCC00"/>
        </a:lt2>
        <a:accent1>
          <a:srgbClr val="FF9900"/>
        </a:accent1>
        <a:accent2>
          <a:srgbClr val="330099"/>
        </a:accent2>
        <a:accent3>
          <a:srgbClr val="AAAAAA"/>
        </a:accent3>
        <a:accent4>
          <a:srgbClr val="DADAAE"/>
        </a:accent4>
        <a:accent5>
          <a:srgbClr val="FFCAAA"/>
        </a:accent5>
        <a:accent6>
          <a:srgbClr val="2D008A"/>
        </a:accent6>
        <a:hlink>
          <a:srgbClr val="FF6633"/>
        </a:hlink>
        <a:folHlink>
          <a:srgbClr val="66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医学研究PPT模板 5">
        <a:dk1>
          <a:srgbClr val="333300"/>
        </a:dk1>
        <a:lt1>
          <a:srgbClr val="DDDDDD"/>
        </a:lt1>
        <a:dk2>
          <a:srgbClr val="996600"/>
        </a:dk2>
        <a:lt2>
          <a:srgbClr val="FFCC66"/>
        </a:lt2>
        <a:accent1>
          <a:srgbClr val="EEB00B"/>
        </a:accent1>
        <a:accent2>
          <a:srgbClr val="330099"/>
        </a:accent2>
        <a:accent3>
          <a:srgbClr val="CAB8AA"/>
        </a:accent3>
        <a:accent4>
          <a:srgbClr val="BDBDBD"/>
        </a:accent4>
        <a:accent5>
          <a:srgbClr val="F5D4AA"/>
        </a:accent5>
        <a:accent6>
          <a:srgbClr val="2D008A"/>
        </a:accent6>
        <a:hlink>
          <a:srgbClr val="FF6633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医学研究PPT模板 6">
        <a:dk1>
          <a:srgbClr val="003300"/>
        </a:dk1>
        <a:lt1>
          <a:srgbClr val="FFFFCC"/>
        </a:lt1>
        <a:dk2>
          <a:srgbClr val="999933"/>
        </a:dk2>
        <a:lt2>
          <a:srgbClr val="FFFF66"/>
        </a:lt2>
        <a:accent1>
          <a:srgbClr val="CC9900"/>
        </a:accent1>
        <a:accent2>
          <a:srgbClr val="330099"/>
        </a:accent2>
        <a:accent3>
          <a:srgbClr val="CACAAD"/>
        </a:accent3>
        <a:accent4>
          <a:srgbClr val="DADAAE"/>
        </a:accent4>
        <a:accent5>
          <a:srgbClr val="E2CAAA"/>
        </a:accent5>
        <a:accent6>
          <a:srgbClr val="2D008A"/>
        </a:accent6>
        <a:hlink>
          <a:srgbClr val="FF9900"/>
        </a:hlink>
        <a:folHlink>
          <a:srgbClr val="FF66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医学研究PPT模板 1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CBCBCB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555555"/>
        </a:accent6>
        <a:hlink>
          <a:srgbClr val="969696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医学研究PPT模板 2">
        <a:dk1>
          <a:srgbClr val="000000"/>
        </a:dk1>
        <a:lt1>
          <a:srgbClr val="FFFFFF"/>
        </a:lt1>
        <a:dk2>
          <a:srgbClr val="000000"/>
        </a:dk2>
        <a:lt2>
          <a:srgbClr val="000000"/>
        </a:lt2>
        <a:accent1>
          <a:srgbClr val="FF0000"/>
        </a:accent1>
        <a:accent2>
          <a:srgbClr val="FF00FF"/>
        </a:accent2>
        <a:accent3>
          <a:srgbClr val="FFFFFF"/>
        </a:accent3>
        <a:accent4>
          <a:srgbClr val="000000"/>
        </a:accent4>
        <a:accent5>
          <a:srgbClr val="FFAAAA"/>
        </a:accent5>
        <a:accent6>
          <a:srgbClr val="E700E7"/>
        </a:accent6>
        <a:hlink>
          <a:srgbClr val="FF99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医学研究PPT模板 3">
        <a:dk1>
          <a:srgbClr val="FFFFFF"/>
        </a:dk1>
        <a:lt1>
          <a:srgbClr val="FFFFFF"/>
        </a:lt1>
        <a:dk2>
          <a:srgbClr val="000000"/>
        </a:dk2>
        <a:lt2>
          <a:srgbClr val="000000"/>
        </a:lt2>
        <a:accent1>
          <a:srgbClr val="FF0000"/>
        </a:accent1>
        <a:accent2>
          <a:srgbClr val="FF00FF"/>
        </a:accent2>
        <a:accent3>
          <a:srgbClr val="FFFFFF"/>
        </a:accent3>
        <a:accent4>
          <a:srgbClr val="DADADA"/>
        </a:accent4>
        <a:accent5>
          <a:srgbClr val="FFAAAA"/>
        </a:accent5>
        <a:accent6>
          <a:srgbClr val="E700E7"/>
        </a:accent6>
        <a:hlink>
          <a:srgbClr val="FF99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医学研究PPT模板 1">
        <a:dk1>
          <a:srgbClr val="FFFFFF"/>
        </a:dk1>
        <a:lt1>
          <a:srgbClr val="FFFFFF"/>
        </a:lt1>
        <a:dk2>
          <a:srgbClr val="000000"/>
        </a:dk2>
        <a:lt2>
          <a:srgbClr val="000000"/>
        </a:lt2>
        <a:accent1>
          <a:srgbClr val="000000"/>
        </a:accent1>
        <a:accent2>
          <a:srgbClr val="FF00FF"/>
        </a:accent2>
        <a:accent3>
          <a:srgbClr val="FFFFFF"/>
        </a:accent3>
        <a:accent4>
          <a:srgbClr val="DADADA"/>
        </a:accent4>
        <a:accent5>
          <a:srgbClr val="AAAAAA"/>
        </a:accent5>
        <a:accent6>
          <a:srgbClr val="E700E7"/>
        </a:accent6>
        <a:hlink>
          <a:srgbClr val="FF99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医学研究PPT模板 1">
        <a:dk1>
          <a:srgbClr val="000000"/>
        </a:dk1>
        <a:lt1>
          <a:srgbClr val="FFFFFF"/>
        </a:lt1>
        <a:dk2>
          <a:srgbClr val="000000"/>
        </a:dk2>
        <a:lt2>
          <a:srgbClr val="000000"/>
        </a:lt2>
        <a:accent1>
          <a:srgbClr val="000000"/>
        </a:accent1>
        <a:accent2>
          <a:srgbClr val="FF00FF"/>
        </a:accent2>
        <a:accent3>
          <a:srgbClr val="FFFFFF"/>
        </a:accent3>
        <a:accent4>
          <a:srgbClr val="000000"/>
        </a:accent4>
        <a:accent5>
          <a:srgbClr val="AAAAAA"/>
        </a:accent5>
        <a:accent6>
          <a:srgbClr val="E700E7"/>
        </a:accent6>
        <a:hlink>
          <a:srgbClr val="FF9900"/>
        </a:hlink>
        <a:folHlink>
          <a:srgbClr val="6600F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医学研究PPT模板">
  <a:themeElements>
    <a:clrScheme name="1_医学研究PPT模板 1">
      <a:dk1>
        <a:srgbClr val="200B5B"/>
      </a:dk1>
      <a:lt1>
        <a:srgbClr val="EAEAEA"/>
      </a:lt1>
      <a:dk2>
        <a:srgbClr val="6600FF"/>
      </a:dk2>
      <a:lt2>
        <a:srgbClr val="FFCC66"/>
      </a:lt2>
      <a:accent1>
        <a:srgbClr val="EEB00B"/>
      </a:accent1>
      <a:accent2>
        <a:srgbClr val="6600CC"/>
      </a:accent2>
      <a:accent3>
        <a:srgbClr val="B8AAFF"/>
      </a:accent3>
      <a:accent4>
        <a:srgbClr val="C8C8C8"/>
      </a:accent4>
      <a:accent5>
        <a:srgbClr val="F5D4AA"/>
      </a:accent5>
      <a:accent6>
        <a:srgbClr val="5C00B9"/>
      </a:accent6>
      <a:hlink>
        <a:srgbClr val="FF33CC"/>
      </a:hlink>
      <a:folHlink>
        <a:srgbClr val="CC99FF"/>
      </a:folHlink>
    </a:clrScheme>
    <a:fontScheme name="1_医学研究PPT模板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医学研究PPT模板 1">
        <a:dk1>
          <a:srgbClr val="200B5B"/>
        </a:dk1>
        <a:lt1>
          <a:srgbClr val="EAEAEA"/>
        </a:lt1>
        <a:dk2>
          <a:srgbClr val="6600FF"/>
        </a:dk2>
        <a:lt2>
          <a:srgbClr val="FFCC66"/>
        </a:lt2>
        <a:accent1>
          <a:srgbClr val="EEB00B"/>
        </a:accent1>
        <a:accent2>
          <a:srgbClr val="6600CC"/>
        </a:accent2>
        <a:accent3>
          <a:srgbClr val="B8AAFF"/>
        </a:accent3>
        <a:accent4>
          <a:srgbClr val="C8C8C8"/>
        </a:accent4>
        <a:accent5>
          <a:srgbClr val="F5D4AA"/>
        </a:accent5>
        <a:accent6>
          <a:srgbClr val="5C00B9"/>
        </a:accent6>
        <a:hlink>
          <a:srgbClr val="FF33CC"/>
        </a:hlink>
        <a:folHlink>
          <a:srgbClr val="CC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2">
        <a:dk1>
          <a:srgbClr val="393939"/>
        </a:dk1>
        <a:lt1>
          <a:srgbClr val="FFFFFF"/>
        </a:lt1>
        <a:dk2>
          <a:srgbClr val="6600CC"/>
        </a:dk2>
        <a:lt2>
          <a:srgbClr val="CCCCFF"/>
        </a:lt2>
        <a:accent1>
          <a:srgbClr val="F9D87E"/>
        </a:accent1>
        <a:accent2>
          <a:srgbClr val="FFCCCC"/>
        </a:accent2>
        <a:accent3>
          <a:srgbClr val="FFFFFF"/>
        </a:accent3>
        <a:accent4>
          <a:srgbClr val="2F2F2F"/>
        </a:accent4>
        <a:accent5>
          <a:srgbClr val="FBE9C0"/>
        </a:accent5>
        <a:accent6>
          <a:srgbClr val="E7B9B9"/>
        </a:accent6>
        <a:hlink>
          <a:srgbClr val="FFCCFF"/>
        </a:hlink>
        <a:folHlink>
          <a:srgbClr val="99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医学研究PPT模板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CBCBCB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555555"/>
        </a:accent6>
        <a:hlink>
          <a:srgbClr val="969696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医学研究PPT模板 4">
        <a:dk1>
          <a:srgbClr val="330000"/>
        </a:dk1>
        <a:lt1>
          <a:srgbClr val="FFFFCC"/>
        </a:lt1>
        <a:dk2>
          <a:srgbClr val="000000"/>
        </a:dk2>
        <a:lt2>
          <a:srgbClr val="FFCC00"/>
        </a:lt2>
        <a:accent1>
          <a:srgbClr val="FF9900"/>
        </a:accent1>
        <a:accent2>
          <a:srgbClr val="330099"/>
        </a:accent2>
        <a:accent3>
          <a:srgbClr val="AAAAAA"/>
        </a:accent3>
        <a:accent4>
          <a:srgbClr val="DADAAE"/>
        </a:accent4>
        <a:accent5>
          <a:srgbClr val="FFCAAA"/>
        </a:accent5>
        <a:accent6>
          <a:srgbClr val="2D008A"/>
        </a:accent6>
        <a:hlink>
          <a:srgbClr val="FF6633"/>
        </a:hlink>
        <a:folHlink>
          <a:srgbClr val="66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5">
        <a:dk1>
          <a:srgbClr val="333300"/>
        </a:dk1>
        <a:lt1>
          <a:srgbClr val="DDDDDD"/>
        </a:lt1>
        <a:dk2>
          <a:srgbClr val="996600"/>
        </a:dk2>
        <a:lt2>
          <a:srgbClr val="FFCC66"/>
        </a:lt2>
        <a:accent1>
          <a:srgbClr val="EEB00B"/>
        </a:accent1>
        <a:accent2>
          <a:srgbClr val="330099"/>
        </a:accent2>
        <a:accent3>
          <a:srgbClr val="CAB8AA"/>
        </a:accent3>
        <a:accent4>
          <a:srgbClr val="BDBDBD"/>
        </a:accent4>
        <a:accent5>
          <a:srgbClr val="F5D4AA"/>
        </a:accent5>
        <a:accent6>
          <a:srgbClr val="2D008A"/>
        </a:accent6>
        <a:hlink>
          <a:srgbClr val="FF6633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6">
        <a:dk1>
          <a:srgbClr val="003300"/>
        </a:dk1>
        <a:lt1>
          <a:srgbClr val="FFFFCC"/>
        </a:lt1>
        <a:dk2>
          <a:srgbClr val="999933"/>
        </a:dk2>
        <a:lt2>
          <a:srgbClr val="FFFF66"/>
        </a:lt2>
        <a:accent1>
          <a:srgbClr val="CC9900"/>
        </a:accent1>
        <a:accent2>
          <a:srgbClr val="330099"/>
        </a:accent2>
        <a:accent3>
          <a:srgbClr val="CACAAD"/>
        </a:accent3>
        <a:accent4>
          <a:srgbClr val="DADAAE"/>
        </a:accent4>
        <a:accent5>
          <a:srgbClr val="E2CAAA"/>
        </a:accent5>
        <a:accent6>
          <a:srgbClr val="2D008A"/>
        </a:accent6>
        <a:hlink>
          <a:srgbClr val="FF9900"/>
        </a:hlink>
        <a:folHlink>
          <a:srgbClr val="FF66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1">
        <a:dk1>
          <a:srgbClr val="200B5B"/>
        </a:dk1>
        <a:lt1>
          <a:srgbClr val="EAEAEA"/>
        </a:lt1>
        <a:dk2>
          <a:srgbClr val="6600FF"/>
        </a:dk2>
        <a:lt2>
          <a:srgbClr val="FFCC66"/>
        </a:lt2>
        <a:accent1>
          <a:srgbClr val="EEB00B"/>
        </a:accent1>
        <a:accent2>
          <a:srgbClr val="6600CC"/>
        </a:accent2>
        <a:accent3>
          <a:srgbClr val="B8AAFF"/>
        </a:accent3>
        <a:accent4>
          <a:srgbClr val="C8C8C8"/>
        </a:accent4>
        <a:accent5>
          <a:srgbClr val="F5D4AA"/>
        </a:accent5>
        <a:accent6>
          <a:srgbClr val="5C00B9"/>
        </a:accent6>
        <a:hlink>
          <a:srgbClr val="FF33CC"/>
        </a:hlink>
        <a:folHlink>
          <a:srgbClr val="CC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2">
        <a:dk1>
          <a:srgbClr val="FFFFFF"/>
        </a:dk1>
        <a:lt1>
          <a:srgbClr val="FFFFFF"/>
        </a:lt1>
        <a:dk2>
          <a:srgbClr val="000000"/>
        </a:dk2>
        <a:lt2>
          <a:srgbClr val="000000"/>
        </a:lt2>
        <a:accent1>
          <a:srgbClr val="FF0000"/>
        </a:accent1>
        <a:accent2>
          <a:srgbClr val="FF00FF"/>
        </a:accent2>
        <a:accent3>
          <a:srgbClr val="FFFFFF"/>
        </a:accent3>
        <a:accent4>
          <a:srgbClr val="DADADA"/>
        </a:accent4>
        <a:accent5>
          <a:srgbClr val="FFAAAA"/>
        </a:accent5>
        <a:accent6>
          <a:srgbClr val="E700E7"/>
        </a:accent6>
        <a:hlink>
          <a:srgbClr val="FF99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医学研究PPT模板 1">
        <a:dk1>
          <a:srgbClr val="200B5B"/>
        </a:dk1>
        <a:lt1>
          <a:srgbClr val="EAEAEA"/>
        </a:lt1>
        <a:dk2>
          <a:srgbClr val="6600FF"/>
        </a:dk2>
        <a:lt2>
          <a:srgbClr val="FFCC66"/>
        </a:lt2>
        <a:accent1>
          <a:srgbClr val="EEB00B"/>
        </a:accent1>
        <a:accent2>
          <a:srgbClr val="6600CC"/>
        </a:accent2>
        <a:accent3>
          <a:srgbClr val="B8AAFF"/>
        </a:accent3>
        <a:accent4>
          <a:srgbClr val="C8C8C8"/>
        </a:accent4>
        <a:accent5>
          <a:srgbClr val="F5D4AA"/>
        </a:accent5>
        <a:accent6>
          <a:srgbClr val="5C00B9"/>
        </a:accent6>
        <a:hlink>
          <a:srgbClr val="FF33CC"/>
        </a:hlink>
        <a:folHlink>
          <a:srgbClr val="CC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2">
        <a:dk1>
          <a:srgbClr val="393939"/>
        </a:dk1>
        <a:lt1>
          <a:srgbClr val="FFFFFF"/>
        </a:lt1>
        <a:dk2>
          <a:srgbClr val="6600CC"/>
        </a:dk2>
        <a:lt2>
          <a:srgbClr val="CCCCFF"/>
        </a:lt2>
        <a:accent1>
          <a:srgbClr val="F9D87E"/>
        </a:accent1>
        <a:accent2>
          <a:srgbClr val="FFCCCC"/>
        </a:accent2>
        <a:accent3>
          <a:srgbClr val="FFFFFF"/>
        </a:accent3>
        <a:accent4>
          <a:srgbClr val="2F2F2F"/>
        </a:accent4>
        <a:accent5>
          <a:srgbClr val="FBE9C0"/>
        </a:accent5>
        <a:accent6>
          <a:srgbClr val="E7B9B9"/>
        </a:accent6>
        <a:hlink>
          <a:srgbClr val="FFCCFF"/>
        </a:hlink>
        <a:folHlink>
          <a:srgbClr val="99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医学研究PPT模板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CBCBCB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555555"/>
        </a:accent6>
        <a:hlink>
          <a:srgbClr val="969696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医学研究PPT模板 4">
        <a:dk1>
          <a:srgbClr val="330000"/>
        </a:dk1>
        <a:lt1>
          <a:srgbClr val="FFFFCC"/>
        </a:lt1>
        <a:dk2>
          <a:srgbClr val="000000"/>
        </a:dk2>
        <a:lt2>
          <a:srgbClr val="FFCC00"/>
        </a:lt2>
        <a:accent1>
          <a:srgbClr val="FF9900"/>
        </a:accent1>
        <a:accent2>
          <a:srgbClr val="330099"/>
        </a:accent2>
        <a:accent3>
          <a:srgbClr val="AAAAAA"/>
        </a:accent3>
        <a:accent4>
          <a:srgbClr val="DADAAE"/>
        </a:accent4>
        <a:accent5>
          <a:srgbClr val="FFCAAA"/>
        </a:accent5>
        <a:accent6>
          <a:srgbClr val="2D008A"/>
        </a:accent6>
        <a:hlink>
          <a:srgbClr val="FF6633"/>
        </a:hlink>
        <a:folHlink>
          <a:srgbClr val="66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5">
        <a:dk1>
          <a:srgbClr val="333300"/>
        </a:dk1>
        <a:lt1>
          <a:srgbClr val="DDDDDD"/>
        </a:lt1>
        <a:dk2>
          <a:srgbClr val="996600"/>
        </a:dk2>
        <a:lt2>
          <a:srgbClr val="FFCC66"/>
        </a:lt2>
        <a:accent1>
          <a:srgbClr val="EEB00B"/>
        </a:accent1>
        <a:accent2>
          <a:srgbClr val="330099"/>
        </a:accent2>
        <a:accent3>
          <a:srgbClr val="CAB8AA"/>
        </a:accent3>
        <a:accent4>
          <a:srgbClr val="BDBDBD"/>
        </a:accent4>
        <a:accent5>
          <a:srgbClr val="F5D4AA"/>
        </a:accent5>
        <a:accent6>
          <a:srgbClr val="2D008A"/>
        </a:accent6>
        <a:hlink>
          <a:srgbClr val="FF6633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6">
        <a:dk1>
          <a:srgbClr val="003300"/>
        </a:dk1>
        <a:lt1>
          <a:srgbClr val="FFFFCC"/>
        </a:lt1>
        <a:dk2>
          <a:srgbClr val="999933"/>
        </a:dk2>
        <a:lt2>
          <a:srgbClr val="FFFF66"/>
        </a:lt2>
        <a:accent1>
          <a:srgbClr val="CC9900"/>
        </a:accent1>
        <a:accent2>
          <a:srgbClr val="330099"/>
        </a:accent2>
        <a:accent3>
          <a:srgbClr val="CACAAD"/>
        </a:accent3>
        <a:accent4>
          <a:srgbClr val="DADAAE"/>
        </a:accent4>
        <a:accent5>
          <a:srgbClr val="E2CAAA"/>
        </a:accent5>
        <a:accent6>
          <a:srgbClr val="2D008A"/>
        </a:accent6>
        <a:hlink>
          <a:srgbClr val="FF9900"/>
        </a:hlink>
        <a:folHlink>
          <a:srgbClr val="FF66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7">
        <a:dk1>
          <a:srgbClr val="200B5B"/>
        </a:dk1>
        <a:lt1>
          <a:srgbClr val="EAEAEA"/>
        </a:lt1>
        <a:dk2>
          <a:srgbClr val="6600FF"/>
        </a:dk2>
        <a:lt2>
          <a:srgbClr val="FFCC66"/>
        </a:lt2>
        <a:accent1>
          <a:srgbClr val="EEB00B"/>
        </a:accent1>
        <a:accent2>
          <a:srgbClr val="6600CC"/>
        </a:accent2>
        <a:accent3>
          <a:srgbClr val="B8AAFF"/>
        </a:accent3>
        <a:accent4>
          <a:srgbClr val="C8C8C8"/>
        </a:accent4>
        <a:accent5>
          <a:srgbClr val="F5D4AA"/>
        </a:accent5>
        <a:accent6>
          <a:srgbClr val="5C00B9"/>
        </a:accent6>
        <a:hlink>
          <a:srgbClr val="FF33CC"/>
        </a:hlink>
        <a:folHlink>
          <a:srgbClr val="CC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8">
        <a:dk1>
          <a:srgbClr val="FFFFFF"/>
        </a:dk1>
        <a:lt1>
          <a:srgbClr val="FFFFFF"/>
        </a:lt1>
        <a:dk2>
          <a:srgbClr val="000000"/>
        </a:dk2>
        <a:lt2>
          <a:srgbClr val="000000"/>
        </a:lt2>
        <a:accent1>
          <a:srgbClr val="FF0000"/>
        </a:accent1>
        <a:accent2>
          <a:srgbClr val="FF00FF"/>
        </a:accent2>
        <a:accent3>
          <a:srgbClr val="FFFFFF"/>
        </a:accent3>
        <a:accent4>
          <a:srgbClr val="DADADA"/>
        </a:accent4>
        <a:accent5>
          <a:srgbClr val="FFAAAA"/>
        </a:accent5>
        <a:accent6>
          <a:srgbClr val="E700E7"/>
        </a:accent6>
        <a:hlink>
          <a:srgbClr val="FF99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医学研究PPT模板 9">
        <a:dk1>
          <a:srgbClr val="000000"/>
        </a:dk1>
        <a:lt1>
          <a:srgbClr val="FFFFFF"/>
        </a:lt1>
        <a:dk2>
          <a:srgbClr val="000000"/>
        </a:dk2>
        <a:lt2>
          <a:srgbClr val="000000"/>
        </a:lt2>
        <a:accent1>
          <a:srgbClr val="FF0000"/>
        </a:accent1>
        <a:accent2>
          <a:srgbClr val="FF00FF"/>
        </a:accent2>
        <a:accent3>
          <a:srgbClr val="AAAAAA"/>
        </a:accent3>
        <a:accent4>
          <a:srgbClr val="DADADA"/>
        </a:accent4>
        <a:accent5>
          <a:srgbClr val="FFAAAA"/>
        </a:accent5>
        <a:accent6>
          <a:srgbClr val="E700E7"/>
        </a:accent6>
        <a:hlink>
          <a:srgbClr val="FF9900"/>
        </a:hlink>
        <a:folHlink>
          <a:srgbClr val="3333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10">
        <a:dk1>
          <a:srgbClr val="FFFFFF"/>
        </a:dk1>
        <a:lt1>
          <a:srgbClr val="FFFFFF"/>
        </a:lt1>
        <a:dk2>
          <a:srgbClr val="000000"/>
        </a:dk2>
        <a:lt2>
          <a:srgbClr val="000000"/>
        </a:lt2>
        <a:accent1>
          <a:srgbClr val="000000"/>
        </a:accent1>
        <a:accent2>
          <a:srgbClr val="FF00FF"/>
        </a:accent2>
        <a:accent3>
          <a:srgbClr val="FFFFFF"/>
        </a:accent3>
        <a:accent4>
          <a:srgbClr val="DADADA"/>
        </a:accent4>
        <a:accent5>
          <a:srgbClr val="AAAAAA"/>
        </a:accent5>
        <a:accent6>
          <a:srgbClr val="E700E7"/>
        </a:accent6>
        <a:hlink>
          <a:srgbClr val="FF99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医学研究PPT模板</Template>
  <TotalTime>4801</TotalTime>
  <Pages>0</Pages>
  <Words>1886</Words>
  <Characters>0</Characters>
  <Application>Microsoft Office PowerPoint</Application>
  <DocSecurity>0</DocSecurity>
  <PresentationFormat>自定义</PresentationFormat>
  <Lines>0</Lines>
  <Paragraphs>251</Paragraphs>
  <Slides>23</Slides>
  <Notes>5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8" baseType="lpstr">
      <vt:lpstr>Monotype Sorts</vt:lpstr>
      <vt:lpstr>等线</vt:lpstr>
      <vt:lpstr>黑体</vt:lpstr>
      <vt:lpstr>华文新魏</vt:lpstr>
      <vt:lpstr>楷体_GB2312</vt:lpstr>
      <vt:lpstr>宋体</vt:lpstr>
      <vt:lpstr>新宋体</vt:lpstr>
      <vt:lpstr>Calibri</vt:lpstr>
      <vt:lpstr>Symbol</vt:lpstr>
      <vt:lpstr>Times New Roman</vt:lpstr>
      <vt:lpstr>Webdings</vt:lpstr>
      <vt:lpstr>Wingdings</vt:lpstr>
      <vt:lpstr>医学研究PPT模板</vt:lpstr>
      <vt:lpstr>1_医学研究PPT模板</vt:lpstr>
      <vt:lpstr>BMP 图象</vt:lpstr>
      <vt:lpstr>PowerPoint 演示文稿</vt:lpstr>
      <vt:lpstr>3.6 酸碱滴定法</vt:lpstr>
      <vt:lpstr>3.6 酸碱滴定曲线</vt:lpstr>
      <vt:lpstr>3.6.1强碱(酸)滴定强酸(碱)</vt:lpstr>
      <vt:lpstr>3.6.1强碱(酸)滴定强酸(碱)</vt:lpstr>
      <vt:lpstr>3.6.1强碱(酸)滴定强酸(碱)</vt:lpstr>
      <vt:lpstr>3.6.1强碱(酸)滴定强酸(碱)</vt:lpstr>
      <vt:lpstr>PowerPoint 演示文稿</vt:lpstr>
      <vt:lpstr>3.6.2强碱(酸)滴定一元弱酸(碱)</vt:lpstr>
      <vt:lpstr>3.6.2强碱(酸)滴定一元弱酸(碱)</vt:lpstr>
      <vt:lpstr>3.6.2强碱(酸)滴定一元弱酸(碱) 过程回顾总结</vt:lpstr>
      <vt:lpstr>练一练</vt:lpstr>
      <vt:lpstr>3.6.2强碱(酸)滴定一元弱酸(碱)</vt:lpstr>
      <vt:lpstr>3.6.2强碱(酸)滴定一元弱酸(碱)</vt:lpstr>
      <vt:lpstr>3.6.2强碱(酸)滴定一元弱酸(碱)</vt:lpstr>
      <vt:lpstr>3.6.2强碱(酸)滴定一元弱酸(碱)</vt:lpstr>
      <vt:lpstr>PowerPoint 演示文稿</vt:lpstr>
      <vt:lpstr>3.6.3多元酸(碱) 的滴定</vt:lpstr>
      <vt:lpstr>3.6.3多元酸(碱)、混酸的滴定</vt:lpstr>
      <vt:lpstr>3.6.3多元酸(碱)、混酸的滴定</vt:lpstr>
      <vt:lpstr>3.6.4酸碱滴定法的应用</vt:lpstr>
      <vt:lpstr>3.6.4酸碱滴定法的应用</vt:lpstr>
      <vt:lpstr>3.6.4酸碱滴定法的应用</vt:lpstr>
    </vt:vector>
  </TitlesOfParts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ch03-06</dc:title>
  <dc:creator>江南大学</dc:creator>
  <cp:lastModifiedBy>USER</cp:lastModifiedBy>
  <cp:revision>367</cp:revision>
  <cp:lastPrinted>1601-01-01T00:00:00Z</cp:lastPrinted>
  <dcterms:created xsi:type="dcterms:W3CDTF">2012-06-20T03:37:37Z</dcterms:created>
  <dcterms:modified xsi:type="dcterms:W3CDTF">2021-10-14T02:08:47Z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r8>1</vt:r8>
  </property>
  <property fmtid="{D5CDD505-2E9C-101B-9397-08002B2CF9AE}" pid="3" name="KSOProductBuildVer">
    <vt:lpwstr>2052-8.1.0.3089</vt:lpwstr>
  </property>
</Properties>
</file>