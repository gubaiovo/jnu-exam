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16"/>
  </p:notesMasterIdLst>
  <p:sldIdLst>
    <p:sldId id="256" r:id="rId3"/>
    <p:sldId id="277" r:id="rId4"/>
    <p:sldId id="278" r:id="rId5"/>
    <p:sldId id="287" r:id="rId6"/>
    <p:sldId id="289" r:id="rId7"/>
    <p:sldId id="279" r:id="rId8"/>
    <p:sldId id="288" r:id="rId9"/>
    <p:sldId id="280" r:id="rId10"/>
    <p:sldId id="281" r:id="rId11"/>
    <p:sldId id="283" r:id="rId12"/>
    <p:sldId id="284" r:id="rId13"/>
    <p:sldId id="285" r:id="rId14"/>
    <p:sldId id="286" r:id="rId15"/>
  </p:sldIdLst>
  <p:sldSz cx="11522075" cy="6480175"/>
  <p:notesSz cx="6858000" cy="9144000"/>
  <p:custDataLst>
    <p:tags r:id="rId1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4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FF"/>
    <a:srgbClr val="FF0000"/>
    <a:srgbClr val="FFFFFF"/>
    <a:srgbClr val="F8F8F8"/>
    <a:srgbClr val="0000FF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0" autoAdjust="0"/>
  </p:normalViewPr>
  <p:slideViewPr>
    <p:cSldViewPr>
      <p:cViewPr varScale="1">
        <p:scale>
          <a:sx n="73" d="100"/>
          <a:sy n="73" d="100"/>
        </p:scale>
        <p:origin x="750" y="66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B3D41EFD-1BB3-4DD2-8068-221B15D54431}" type="datetimeFigureOut">
              <a:rPr lang="zh-CN" altLang="en-US"/>
              <a:pPr>
                <a:defRPr/>
              </a:pPr>
              <a:t>2022/2/14</a:t>
            </a:fld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0D4FC2E0-416F-4EE1-AEFE-53CD0B98DB2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2C4E84-88B5-4E6B-96C9-26C8BE914818}" type="slidenum">
              <a:rPr lang="zh-CN" altLang="en-US" smtClean="0">
                <a:ea typeface="宋体" charset="-122"/>
              </a:rPr>
              <a:pPr/>
              <a:t>12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432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469" y="863823"/>
            <a:ext cx="10369550" cy="427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1pPr>
            <a:lvl2pPr marL="4572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2pPr>
            <a:lvl3pPr marL="9144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3pPr>
            <a:lvl4pPr marL="13716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4pPr>
            <a:lvl5pPr marL="18288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52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8" name="Freeform 1027"/>
            <p:cNvSpPr>
              <a:spLocks/>
            </p:cNvSpPr>
            <p:nvPr userDrawn="1"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12781 w 5269"/>
                <a:gd name="T1" fmla="*/ 0 h 2977"/>
                <a:gd name="T2" fmla="*/ 0 w 5269"/>
                <a:gd name="T3" fmla="*/ 0 h 2977"/>
                <a:gd name="T4" fmla="*/ 0 w 5269"/>
                <a:gd name="T5" fmla="*/ 3607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3077" name="Group 1042"/>
            <p:cNvGrpSpPr>
              <a:grpSpLocks/>
            </p:cNvGrpSpPr>
            <p:nvPr userDrawn="1"/>
          </p:nvGrpSpPr>
          <p:grpSpPr bwMode="auto">
            <a:xfrm rot="5400000">
              <a:off x="3597" y="-3112"/>
              <a:ext cx="68" cy="7141"/>
              <a:chOff x="336" y="1103"/>
              <a:chExt cx="97" cy="2785"/>
            </a:xfrm>
          </p:grpSpPr>
          <p:sp>
            <p:nvSpPr>
              <p:cNvPr id="1039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40" name="Freeform 1044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41" name="Freeform 1045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0" name="Freeform 1028"/>
            <p:cNvSpPr>
              <a:spLocks/>
            </p:cNvSpPr>
            <p:nvPr userDrawn="1"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12781 w 5269"/>
                <a:gd name="T1" fmla="*/ 0 h 2977"/>
                <a:gd name="T2" fmla="*/ 12781 w 5269"/>
                <a:gd name="T3" fmla="*/ 3607 h 2977"/>
                <a:gd name="T4" fmla="*/ 0 w 5269"/>
                <a:gd name="T5" fmla="*/ 3607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1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3080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6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37" name="Freeform 1040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38" name="Freeform 1041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3" name="Rectangle 139" descr="深色横线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4" name="AutoShape 143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5" name="Rectangle 146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97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3075" name="Rectangle 14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3-01.pptx" TargetMode="External"/><Relationship Id="rId7" Type="http://schemas.openxmlformats.org/officeDocument/2006/relationships/hyperlink" Target="03-06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hyperlink" Target="03-05.pptx" TargetMode="External"/><Relationship Id="rId5" Type="http://schemas.openxmlformats.org/officeDocument/2006/relationships/hyperlink" Target="03-04.pptx" TargetMode="External"/><Relationship Id="rId4" Type="http://schemas.openxmlformats.org/officeDocument/2006/relationships/hyperlink" Target="03-02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audio" Target="../media/audio2.wav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jpeg"/><Relationship Id="rId5" Type="http://schemas.openxmlformats.org/officeDocument/2006/relationships/image" Target="../media/image4.jpeg"/><Relationship Id="rId4" Type="http://schemas.openxmlformats.org/officeDocument/2006/relationships/audio" Target="../media/audio1.wav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hyperlink" Target="../../03EXAMPLE/ch03/03-03-&#20363;&#39064;.pptx#-1,1,&#24187;&#28783;&#29255; 1" TargetMode="External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4.jpeg"/><Relationship Id="rId4" Type="http://schemas.openxmlformats.org/officeDocument/2006/relationships/audio" Target="../media/audio5.wav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4" Type="http://schemas.openxmlformats.org/officeDocument/2006/relationships/audio" Target="../media/audio3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4.jpeg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4" Type="http://schemas.openxmlformats.org/officeDocument/2006/relationships/audio" Target="../media/audio3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3/03-03-&#20363;&#39064;.pptx#-1,2,&#24187;&#28783;&#29255; 2" TargetMode="External"/><Relationship Id="rId7" Type="http://schemas.openxmlformats.org/officeDocument/2006/relationships/image" Target="../media/image8.jpe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Relationship Id="rId6" Type="http://schemas.openxmlformats.org/officeDocument/2006/relationships/hyperlink" Target="03-04.pptx" TargetMode="External"/><Relationship Id="rId5" Type="http://schemas.openxmlformats.org/officeDocument/2006/relationships/image" Target="../media/image4.jpeg"/><Relationship Id="rId4" Type="http://schemas.openxmlformats.org/officeDocument/2006/relationships/hyperlink" Target="../../03EXAMPLE/ch03/03-03-&#20363;&#39064;.pptx#-1,5,&#24187;&#28783;&#29255; 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117831" y="954071"/>
            <a:ext cx="5643602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defRPr/>
            </a:pPr>
            <a:r>
              <a:rPr 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  <a:hlinkClick r:id="rId3" action="ppaction://hlinkpres?slideindex=1&amp;slidetitle="/>
              </a:rPr>
              <a:t>3.1</a:t>
            </a:r>
            <a:r>
              <a:rPr 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 </a:t>
            </a:r>
            <a:r>
              <a:rPr lang="zh-CN" alt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酸</a:t>
            </a:r>
            <a:r>
              <a:rPr lang="zh-CN" altLang="en-US" sz="2800" b="1" kern="0" dirty="0">
                <a:solidFill>
                  <a:srgbClr val="FFFF00"/>
                </a:solidFill>
                <a:ea typeface="黑体" pitchFamily="49" charset="-122"/>
                <a:cs typeface="+mj-cs"/>
              </a:rPr>
              <a:t>碱质子理论与</a:t>
            </a:r>
            <a:r>
              <a:rPr lang="zh-CN" alt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酸碱平衡</a:t>
            </a:r>
            <a:endParaRPr lang="en-US" altLang="zh-CN" sz="2800" b="1" kern="0" dirty="0" smtClean="0">
              <a:solidFill>
                <a:srgbClr val="FFFF00"/>
              </a:solidFill>
              <a:ea typeface="黑体" pitchFamily="49" charset="-122"/>
              <a:cs typeface="+mj-cs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  <a:hlinkClick r:id="rId4" action="ppaction://hlinkpres?slideindex=1&amp;slidetitle="/>
              </a:rPr>
              <a:t>3.2</a:t>
            </a: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ea typeface="黑体" pitchFamily="49" charset="-122"/>
              </a:rPr>
              <a:t>酸碱平衡的移动</a:t>
            </a:r>
            <a:endParaRPr lang="en-US" altLang="zh-CN" sz="2800" b="1" dirty="0" smtClean="0">
              <a:solidFill>
                <a:srgbClr val="FFFF00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3.3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组分的分布与浓度的计算</a:t>
            </a:r>
            <a:endParaRPr lang="en-US" altLang="zh-CN" sz="2800" b="1" dirty="0" smtClean="0">
              <a:solidFill>
                <a:srgbClr val="FFFFFF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5" action="ppaction://hlinkpres?slideindex=1&amp;slidetitle="/>
              </a:rPr>
              <a:t>3.4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溶液酸度的计算</a:t>
            </a:r>
            <a:endParaRPr lang="en-US" altLang="zh-CN" sz="2800" b="1" dirty="0" smtClean="0">
              <a:solidFill>
                <a:srgbClr val="FFFFFF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6" action="ppaction://hlinkpres?slideindex=1&amp;slidetitle="/>
              </a:rPr>
              <a:t>3.5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溶液酸度的控制与酸碱指示剂</a:t>
            </a:r>
            <a:endParaRPr lang="en-US" altLang="zh-CN" sz="2800" b="1" dirty="0" smtClean="0">
              <a:solidFill>
                <a:srgbClr val="FFFFFF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7" action="ppaction://hlinkpres?slideindex=1&amp;slidetitle="/>
              </a:rPr>
              <a:t>3.6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酸碱滴定法</a:t>
            </a:r>
            <a:endParaRPr lang="en-US" altLang="zh-CN" sz="28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黑体" pitchFamily="49" charset="-122"/>
              <a:cs typeface="+mj-cs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4">
            <a:hlinkClick r:id="rId2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260600" y="2097088"/>
            <a:ext cx="542925" cy="409575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</a:endParaRPr>
          </a:p>
        </p:txBody>
      </p:sp>
      <p:sp>
        <p:nvSpPr>
          <p:cNvPr id="5123" name="AutoShape 5">
            <a:hlinkClick r:id="rId3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260600" y="3311525"/>
            <a:ext cx="542925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</a:endParaRP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2824163" y="1368425"/>
            <a:ext cx="7123112" cy="2433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zh-CN" sz="2800" b="1" dirty="0">
                <a:ea typeface="黑体" pitchFamily="49" charset="-122"/>
              </a:rPr>
              <a:t>3.3.1</a:t>
            </a:r>
            <a:r>
              <a:rPr lang="zh-CN" altLang="en-US" sz="2800" b="1" dirty="0">
                <a:ea typeface="黑体" pitchFamily="49" charset="-122"/>
              </a:rPr>
              <a:t>分布分数与分布曲线</a:t>
            </a:r>
          </a:p>
          <a:p>
            <a:pPr>
              <a:lnSpc>
                <a:spcPct val="300000"/>
              </a:lnSpc>
            </a:pPr>
            <a:r>
              <a:rPr lang="en-US" altLang="zh-CN" sz="2800" b="1" dirty="0">
                <a:ea typeface="黑体" pitchFamily="49" charset="-122"/>
              </a:rPr>
              <a:t>3.3.2</a:t>
            </a:r>
            <a:r>
              <a:rPr lang="zh-CN" altLang="en-US" sz="2800" b="1" dirty="0">
                <a:ea typeface="黑体" pitchFamily="49" charset="-122"/>
              </a:rPr>
              <a:t>组分平衡浓度计算的基本方法</a:t>
            </a:r>
          </a:p>
        </p:txBody>
      </p:sp>
      <p:sp>
        <p:nvSpPr>
          <p:cNvPr id="5125" name="Rectangle 8"/>
          <p:cNvSpPr>
            <a:spLocks noGrp="1" noChangeArrowheads="1"/>
          </p:cNvSpPr>
          <p:nvPr>
            <p:ph type="title"/>
          </p:nvPr>
        </p:nvSpPr>
        <p:spPr>
          <a:xfrm>
            <a:off x="360363" y="215900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3.3</a:t>
            </a:r>
            <a:r>
              <a:rPr lang="zh-CN" altLang="en-US" smtClean="0">
                <a:ea typeface="黑体" pitchFamily="49" charset="-122"/>
              </a:rPr>
              <a:t>酸碱平衡中组分分布及浓度计算</a:t>
            </a:r>
            <a:endParaRPr lang="zh-CN" altLang="en-US" sz="1400" b="0" smtClean="0">
              <a:ea typeface="黑体" pitchFamily="49" charset="-122"/>
            </a:endParaRPr>
          </a:p>
        </p:txBody>
      </p:sp>
      <p:sp>
        <p:nvSpPr>
          <p:cNvPr id="512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</a:endParaRPr>
          </a:p>
        </p:txBody>
      </p:sp>
      <p:sp>
        <p:nvSpPr>
          <p:cNvPr id="512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44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44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719179" y="782638"/>
            <a:ext cx="28956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酸度与酸的浓度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/>
          </p:nvPr>
        </p:nvSpPr>
        <p:spPr>
          <a:xfrm>
            <a:off x="303213" y="215900"/>
            <a:ext cx="7834312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3.3.1</a:t>
            </a:r>
            <a:r>
              <a:rPr lang="zh-CN" altLang="en-US" smtClean="0">
                <a:ea typeface="黑体" pitchFamily="49" charset="-122"/>
              </a:rPr>
              <a:t>分布分数与分布曲线</a:t>
            </a:r>
            <a:endParaRPr lang="zh-CN" altLang="en-US" sz="140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763629" y="1258888"/>
            <a:ext cx="6783358" cy="16319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tabLst>
                <a:tab pos="533400" algn="l"/>
              </a:tabLst>
            </a:pP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酸度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  <a:p>
            <a:pPr>
              <a:tabLst>
                <a:tab pos="533400" algn="l"/>
              </a:tabLst>
            </a:pPr>
            <a:r>
              <a:rPr lang="en-US" altLang="zh-CN" sz="2500" b="1" dirty="0">
                <a:ea typeface="楷体_GB2312" pitchFamily="49" charset="-122"/>
              </a:rPr>
              <a:t>    </a:t>
            </a:r>
            <a:r>
              <a:rPr lang="zh-CN" altLang="zh-CN" sz="2500" b="1" dirty="0">
                <a:ea typeface="楷体_GB2312" pitchFamily="49" charset="-122"/>
              </a:rPr>
              <a:t>一般是指溶液中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zh-CN" altLang="zh-CN" sz="2500" b="1" dirty="0">
                <a:ea typeface="楷体_GB2312" pitchFamily="49" charset="-122"/>
              </a:rPr>
              <a:t>的浓度，常用</a:t>
            </a:r>
            <a:r>
              <a:rPr lang="en-US" altLang="zh-CN" sz="2500" b="1" dirty="0">
                <a:ea typeface="楷体_GB2312" pitchFamily="49" charset="-122"/>
              </a:rPr>
              <a:t>pH</a:t>
            </a:r>
            <a:r>
              <a:rPr lang="zh-CN" altLang="zh-CN" sz="2500" b="1" dirty="0">
                <a:ea typeface="楷体_GB2312" pitchFamily="49" charset="-122"/>
              </a:rPr>
              <a:t>值表示</a:t>
            </a:r>
            <a:r>
              <a:rPr lang="en-US" altLang="zh-CN" sz="2500" b="1" dirty="0">
                <a:ea typeface="楷体_GB2312" pitchFamily="49" charset="-122"/>
              </a:rPr>
              <a:t>. </a:t>
            </a:r>
          </a:p>
          <a:p>
            <a:pPr>
              <a:tabLst>
                <a:tab pos="533400" algn="l"/>
              </a:tabLst>
            </a:pPr>
            <a:r>
              <a:rPr lang="en-US" altLang="zh-CN" sz="2500" b="1" dirty="0">
                <a:ea typeface="楷体_GB2312" pitchFamily="49" charset="-122"/>
              </a:rPr>
              <a:t>                        pH = -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dirty="0"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 .</a:t>
            </a:r>
          </a:p>
          <a:p>
            <a:pPr>
              <a:tabLst>
                <a:tab pos="533400" algn="l"/>
              </a:tabLst>
            </a:pPr>
            <a:r>
              <a:rPr lang="en-US" altLang="zh-CN" sz="2500" b="1" dirty="0">
                <a:ea typeface="楷体_GB2312" pitchFamily="49" charset="-122"/>
              </a:rPr>
              <a:t> (</a:t>
            </a:r>
            <a:r>
              <a:rPr lang="zh-CN" altLang="en-US" sz="2500" b="1" dirty="0" smtClean="0">
                <a:solidFill>
                  <a:srgbClr val="000066"/>
                </a:solidFill>
                <a:ea typeface="楷体_GB2312" pitchFamily="49" charset="-122"/>
              </a:rPr>
              <a:t>碱度</a:t>
            </a:r>
            <a:r>
              <a:rPr lang="en-US" altLang="zh-CN" sz="2500" b="1" dirty="0">
                <a:solidFill>
                  <a:srgbClr val="000066"/>
                </a:solidFill>
                <a:ea typeface="楷体_GB2312" pitchFamily="49" charset="-122"/>
              </a:rPr>
              <a:t>pOH=-</a:t>
            </a:r>
            <a:r>
              <a:rPr lang="en-US" altLang="zh-CN" sz="2500" b="1" dirty="0" err="1" smtClean="0">
                <a:solidFill>
                  <a:srgbClr val="000066"/>
                </a:solidFill>
                <a:ea typeface="楷体_GB2312" pitchFamily="49" charset="-122"/>
              </a:rPr>
              <a:t>lg</a:t>
            </a:r>
            <a:r>
              <a:rPr lang="en-US" altLang="zh-CN" sz="2500" b="1" dirty="0" smtClean="0">
                <a:solidFill>
                  <a:srgbClr val="000066"/>
                </a:solidFill>
                <a:ea typeface="楷体_GB2312" pitchFamily="49" charset="-122"/>
              </a:rPr>
              <a:t>[OH</a:t>
            </a:r>
            <a:r>
              <a:rPr lang="en-US" altLang="zh-CN" sz="3200" b="1" baseline="30000" dirty="0" smtClean="0">
                <a:solidFill>
                  <a:srgbClr val="000066"/>
                </a:solidFill>
                <a:ea typeface="楷体_GB2312" pitchFamily="49" charset="-122"/>
              </a:rPr>
              <a:t>-</a:t>
            </a:r>
            <a:r>
              <a:rPr lang="en-US" altLang="zh-CN" sz="2500" b="1" dirty="0" smtClean="0">
                <a:solidFill>
                  <a:srgbClr val="000066"/>
                </a:solidFill>
                <a:ea typeface="楷体_GB2312" pitchFamily="49" charset="-122"/>
              </a:rPr>
              <a:t>] </a:t>
            </a:r>
            <a:r>
              <a:rPr lang="en-US" altLang="zh-CN" sz="2500" b="1" dirty="0" smtClean="0">
                <a:ea typeface="楷体_GB2312" pitchFamily="49" charset="-122"/>
              </a:rPr>
              <a:t>).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614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0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760454" y="3025775"/>
            <a:ext cx="7715250" cy="12464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tabLst>
                <a:tab pos="533400" algn="l"/>
              </a:tabLst>
            </a:pPr>
            <a:r>
              <a:rPr lang="zh-CN" altLang="en-US" sz="2500" b="1" dirty="0" smtClean="0">
                <a:solidFill>
                  <a:schemeClr val="accent2"/>
                </a:solidFill>
                <a:ea typeface="楷体_GB2312" pitchFamily="49" charset="-122"/>
              </a:rPr>
              <a:t>酸</a:t>
            </a:r>
            <a:r>
              <a:rPr lang="zh-CN" altLang="en-US" sz="2500" b="1" dirty="0">
                <a:solidFill>
                  <a:schemeClr val="accent2"/>
                </a:solidFill>
                <a:ea typeface="楷体_GB2312" pitchFamily="49" charset="-122"/>
              </a:rPr>
              <a:t>的初始浓度</a:t>
            </a:r>
            <a:r>
              <a:rPr lang="zh-CN" altLang="en-US" sz="2500" b="1" dirty="0" smtClean="0">
                <a:ea typeface="楷体_GB2312" pitchFamily="49" charset="-122"/>
              </a:rPr>
              <a:t>包括</a:t>
            </a:r>
            <a:r>
              <a:rPr lang="zh-CN" altLang="en-US" sz="2500" b="1" dirty="0">
                <a:ea typeface="楷体_GB2312" pitchFamily="49" charset="-122"/>
              </a:rPr>
              <a:t>已解离和未解离的酸的浓度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又称为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总浓度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>
              <a:tabLst>
                <a:tab pos="533400" algn="l"/>
              </a:tabLst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一般用</a:t>
            </a:r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baseline="-25000" dirty="0" err="1">
                <a:ea typeface="楷体_GB2312" pitchFamily="49" charset="-122"/>
              </a:rPr>
              <a:t>B</a:t>
            </a:r>
            <a:r>
              <a:rPr lang="zh-CN" altLang="en-US" sz="2500" b="1" dirty="0">
                <a:ea typeface="楷体_GB2312" pitchFamily="49" charset="-122"/>
              </a:rPr>
              <a:t>表示初始浓度或总浓度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5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50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50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450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autoUpdateAnimBg="0"/>
      <p:bldP spid="45064" grpId="0" build="p" autoUpdateAnimBg="0"/>
      <p:bldP spid="20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>
            <a:spLocks noGrp="1" noChangeArrowheads="1"/>
          </p:cNvSpPr>
          <p:nvPr>
            <p:ph type="title"/>
          </p:nvPr>
        </p:nvSpPr>
        <p:spPr>
          <a:xfrm>
            <a:off x="303213" y="215900"/>
            <a:ext cx="7834312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3.3.1</a:t>
            </a:r>
            <a:r>
              <a:rPr lang="zh-CN" altLang="en-US" smtClean="0">
                <a:ea typeface="黑体" pitchFamily="49" charset="-122"/>
              </a:rPr>
              <a:t>分布分数与分布曲线</a:t>
            </a:r>
            <a:endParaRPr lang="zh-CN" altLang="en-US" sz="140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4760913" y="1525588"/>
            <a:ext cx="4357687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tabLst>
                <a:tab pos="533400" algn="l"/>
              </a:tabLst>
            </a:pPr>
            <a:r>
              <a:rPr lang="en-US" altLang="zh-CN" sz="2500" b="1">
                <a:ea typeface="楷体_GB2312" pitchFamily="49" charset="-122"/>
              </a:rPr>
              <a:t>HAc       ⇋       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      +       Ac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797050" y="1927225"/>
            <a:ext cx="2552700" cy="10541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500" b="1">
                <a:ea typeface="楷体_GB2312" pitchFamily="49" charset="-122"/>
              </a:rPr>
              <a:t>初始浓度</a:t>
            </a:r>
            <a:r>
              <a:rPr lang="en-US" altLang="zh-CN" sz="2500" b="1">
                <a:ea typeface="楷体_GB2312" pitchFamily="49" charset="-122"/>
              </a:rPr>
              <a:t>/mol·L</a:t>
            </a:r>
            <a:r>
              <a:rPr lang="en-US" altLang="zh-CN" sz="2500" b="1" baseline="30000">
                <a:ea typeface="楷体_GB2312" pitchFamily="49" charset="-122"/>
              </a:rPr>
              <a:t>-1</a:t>
            </a:r>
            <a:endParaRPr lang="en-US" altLang="zh-CN" sz="2500" b="1"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500" b="1">
                <a:ea typeface="楷体_GB2312" pitchFamily="49" charset="-122"/>
              </a:rPr>
              <a:t>平衡浓度</a:t>
            </a:r>
            <a:r>
              <a:rPr lang="en-US" altLang="zh-CN" sz="2500" b="1">
                <a:ea typeface="楷体_GB2312" pitchFamily="49" charset="-122"/>
              </a:rPr>
              <a:t>/mol·L</a:t>
            </a:r>
            <a:r>
              <a:rPr lang="en-US" altLang="zh-CN" sz="2500" b="1" baseline="30000">
                <a:ea typeface="楷体_GB2312" pitchFamily="49" charset="-122"/>
              </a:rPr>
              <a:t>-1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4117975" y="2025650"/>
            <a:ext cx="5208588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 dirty="0">
                <a:ea typeface="楷体_GB2312" pitchFamily="49" charset="-122"/>
              </a:rPr>
              <a:t>        0.20                  0.0               0.0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4525963" y="2501900"/>
            <a:ext cx="10668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0.198</a:t>
            </a: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6100763" y="2522538"/>
            <a:ext cx="17272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1.88×10</a:t>
            </a:r>
            <a:r>
              <a:rPr lang="en-US" altLang="zh-CN" sz="2500" b="1" baseline="30000" dirty="0">
                <a:ea typeface="楷体_GB2312" pitchFamily="49" charset="-122"/>
                <a:sym typeface="Symbol" pitchFamily="18" charset="2"/>
              </a:rPr>
              <a:t>-3</a:t>
            </a: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7761288" y="2522538"/>
            <a:ext cx="1887537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  1.88×10</a:t>
            </a:r>
            <a:r>
              <a:rPr lang="en-US" altLang="zh-CN" sz="2500" b="1" baseline="30000" dirty="0">
                <a:ea typeface="楷体_GB2312" pitchFamily="49" charset="-122"/>
                <a:sym typeface="Symbol" pitchFamily="18" charset="2"/>
              </a:rPr>
              <a:t>-3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903288" y="3525838"/>
            <a:ext cx="6000750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baseline="-25000" dirty="0" err="1">
                <a:ea typeface="楷体_GB2312" pitchFamily="49" charset="-122"/>
              </a:rPr>
              <a:t>HAc</a:t>
            </a:r>
            <a:r>
              <a:rPr lang="en-US" altLang="zh-CN" sz="2500" b="1" dirty="0">
                <a:ea typeface="楷体_GB2312" pitchFamily="49" charset="-122"/>
              </a:rPr>
              <a:t> = 0.198 + 1.88×10</a:t>
            </a:r>
            <a:r>
              <a:rPr lang="en-US" altLang="zh-CN" sz="2500" b="1" baseline="30000" dirty="0">
                <a:ea typeface="楷体_GB2312" pitchFamily="49" charset="-122"/>
              </a:rPr>
              <a:t>-3 </a:t>
            </a:r>
            <a:r>
              <a:rPr lang="en-US" altLang="zh-CN" sz="2500" b="1" dirty="0">
                <a:ea typeface="楷体_GB2312" pitchFamily="49" charset="-122"/>
              </a:rPr>
              <a:t>= 0.20mol·L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  <a:endParaRPr lang="en-US" altLang="zh-CN" sz="25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903288" y="3097213"/>
            <a:ext cx="292576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baseline="-25000" dirty="0" err="1">
                <a:ea typeface="楷体_GB2312" pitchFamily="49" charset="-122"/>
              </a:rPr>
              <a:t>HAc</a:t>
            </a:r>
            <a:r>
              <a:rPr lang="en-US" altLang="zh-CN" sz="2500" b="1" dirty="0">
                <a:ea typeface="楷体_GB2312" pitchFamily="49" charset="-122"/>
              </a:rPr>
              <a:t> = [</a:t>
            </a:r>
            <a:r>
              <a:rPr lang="en-US" altLang="zh-CN" sz="2500" b="1" dirty="0" err="1">
                <a:ea typeface="楷体_GB2312" pitchFamily="49" charset="-122"/>
              </a:rPr>
              <a:t>HAc</a:t>
            </a:r>
            <a:r>
              <a:rPr lang="en-US" altLang="zh-CN" sz="2500" b="1" dirty="0">
                <a:ea typeface="楷体_GB2312" pitchFamily="49" charset="-122"/>
              </a:rPr>
              <a:t>] + [Ac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474663" y="4097338"/>
            <a:ext cx="10136187" cy="11541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某酸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zh-CN" altLang="en-US" sz="2500" b="1" dirty="0">
                <a:ea typeface="楷体_GB2312" pitchFamily="49" charset="-122"/>
              </a:rPr>
              <a:t>或碱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zh-CN" altLang="en-US" sz="2500" b="1" dirty="0">
                <a:ea typeface="楷体_GB2312" pitchFamily="49" charset="-122"/>
              </a:rPr>
              <a:t>在水中解离达平衡时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其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各种存在形式平衡浓度之和等于该酸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或碱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的总浓度</a:t>
            </a:r>
            <a:r>
              <a:rPr lang="en-US" altLang="zh-CN" sz="2500" b="1" dirty="0">
                <a:ea typeface="楷体_GB2312" pitchFamily="49" charset="-122"/>
              </a:rPr>
              <a:t>——</a:t>
            </a:r>
            <a:r>
              <a:rPr lang="zh-CN" altLang="en-US" sz="2500" b="1" dirty="0">
                <a:solidFill>
                  <a:srgbClr val="0000CC"/>
                </a:solidFill>
                <a:ea typeface="楷体_GB2312" pitchFamily="49" charset="-122"/>
              </a:rPr>
              <a:t>物料平衡</a:t>
            </a:r>
            <a:r>
              <a:rPr lang="en-US" altLang="zh-CN" sz="2500" b="1" dirty="0">
                <a:solidFill>
                  <a:srgbClr val="0000CC"/>
                </a:solidFill>
                <a:ea typeface="楷体_GB2312" pitchFamily="49" charset="-122"/>
              </a:rPr>
              <a:t>.</a:t>
            </a:r>
            <a:endParaRPr lang="zh-CN" altLang="en-US" sz="2500" b="1" dirty="0">
              <a:solidFill>
                <a:srgbClr val="0000CC"/>
              </a:solidFill>
              <a:ea typeface="楷体_GB2312" pitchFamily="49" charset="-122"/>
            </a:endParaRPr>
          </a:p>
          <a:p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        物料等衡式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dirty="0">
                <a:solidFill>
                  <a:schemeClr val="tx2"/>
                </a:solidFill>
                <a:ea typeface="楷体_GB2312" pitchFamily="49" charset="-122"/>
              </a:rPr>
              <a:t>M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aterial </a:t>
            </a:r>
            <a:r>
              <a:rPr lang="en-US" altLang="zh-CN" sz="2500" b="1" dirty="0">
                <a:solidFill>
                  <a:schemeClr val="tx2"/>
                </a:solidFill>
                <a:ea typeface="楷体_GB2312" pitchFamily="49" charset="-122"/>
              </a:rPr>
              <a:t>B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alance </a:t>
            </a:r>
            <a:r>
              <a:rPr lang="en-US" altLang="zh-CN" sz="2500" b="1" dirty="0">
                <a:solidFill>
                  <a:schemeClr val="tx2"/>
                </a:solidFill>
                <a:ea typeface="楷体_GB2312" pitchFamily="49" charset="-122"/>
              </a:rPr>
              <a:t>E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quation</a:t>
            </a:r>
            <a:r>
              <a:rPr lang="en-US" altLang="zh-CN" sz="2500" b="1" dirty="0">
                <a:ea typeface="楷体_GB2312" pitchFamily="49" charset="-122"/>
              </a:rPr>
              <a:t>).</a:t>
            </a:r>
          </a:p>
        </p:txBody>
      </p:sp>
      <p:sp>
        <p:nvSpPr>
          <p:cNvPr id="718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117475" y="5597525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1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974725" y="954088"/>
            <a:ext cx="58578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tabLst>
                <a:tab pos="533400" algn="l"/>
              </a:tabLst>
            </a:pPr>
            <a:r>
              <a:rPr lang="zh-CN" altLang="en-US" sz="2500" b="1" dirty="0">
                <a:ea typeface="楷体_GB2312" pitchFamily="49" charset="-122"/>
              </a:rPr>
              <a:t>如</a:t>
            </a:r>
            <a:r>
              <a:rPr lang="en-US" altLang="zh-CN" sz="2500" b="1" dirty="0">
                <a:ea typeface="楷体_GB2312" pitchFamily="49" charset="-122"/>
              </a:rPr>
              <a:t>0.20 mol·L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HAc,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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=0.94%</a:t>
            </a:r>
            <a:endParaRPr lang="en-US" altLang="zh-CN" sz="2500" b="1" dirty="0"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build="p" autoUpdateAnimBg="0"/>
      <p:bldP spid="12" grpId="0" autoUpdateAnimBg="0"/>
      <p:bldP spid="13" grpId="0" build="p" autoUpdateAnimBg="0"/>
      <p:bldP spid="16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56781" y="1871935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H2CO3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7844138"/>
      </p:ext>
    </p:extLst>
  </p:cSld>
  <p:clrMapOvr>
    <a:masterClrMapping/>
  </p:clrMapOvr>
  <p:transition spd="slow"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Grp="1" noChangeArrowheads="1"/>
          </p:cNvSpPr>
          <p:nvPr>
            <p:ph type="title"/>
          </p:nvPr>
        </p:nvSpPr>
        <p:spPr>
          <a:xfrm>
            <a:off x="260350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3.3.1</a:t>
            </a:r>
            <a:r>
              <a:rPr lang="zh-CN" altLang="en-US" smtClean="0">
                <a:ea typeface="黑体" pitchFamily="49" charset="-122"/>
              </a:rPr>
              <a:t>分布分数与分布曲线</a:t>
            </a:r>
            <a:endParaRPr lang="zh-CN" altLang="en-US" sz="14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46094" name="Rectangle 14"/>
          <p:cNvSpPr>
            <a:spLocks noChangeArrowheads="1"/>
          </p:cNvSpPr>
          <p:nvPr/>
        </p:nvSpPr>
        <p:spPr bwMode="auto">
          <a:xfrm>
            <a:off x="688975" y="882650"/>
            <a:ext cx="3940175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分布分数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与分布曲线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46095" name="Text Box 15"/>
          <p:cNvSpPr txBox="1">
            <a:spLocks noChangeArrowheads="1"/>
          </p:cNvSpPr>
          <p:nvPr/>
        </p:nvSpPr>
        <p:spPr bwMode="auto">
          <a:xfrm>
            <a:off x="760413" y="1454150"/>
            <a:ext cx="3494087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zh-CN" altLang="en-US" sz="2500" b="1" dirty="0" smtClean="0">
                <a:ea typeface="楷体_GB2312" pitchFamily="49" charset="-122"/>
              </a:rPr>
              <a:t>分布分数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r>
              <a:rPr lang="en-US" altLang="zh-CN" sz="2500" b="1" dirty="0" smtClean="0">
                <a:ea typeface="楷体_GB2312" pitchFamily="49" charset="-122"/>
              </a:rPr>
              <a:t>        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46096" name="Text Box 16"/>
          <p:cNvSpPr txBox="1">
            <a:spLocks noChangeArrowheads="1"/>
          </p:cNvSpPr>
          <p:nvPr/>
        </p:nvSpPr>
        <p:spPr bwMode="auto">
          <a:xfrm>
            <a:off x="2945954" y="1880111"/>
            <a:ext cx="1500187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</a:rPr>
              <a:t>δ</a:t>
            </a:r>
            <a:r>
              <a:rPr lang="en-US" altLang="zh-CN" sz="2500" b="1" dirty="0">
                <a:ea typeface="楷体_GB2312" pitchFamily="49" charset="-122"/>
              </a:rPr>
              <a:t>= [B]/</a:t>
            </a:r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baseline="-25000" dirty="0" err="1">
                <a:ea typeface="楷体_GB2312" pitchFamily="49" charset="-122"/>
              </a:rPr>
              <a:t>B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46097" name="Text Box 17"/>
          <p:cNvSpPr txBox="1">
            <a:spLocks noChangeArrowheads="1"/>
          </p:cNvSpPr>
          <p:nvPr/>
        </p:nvSpPr>
        <p:spPr bwMode="auto">
          <a:xfrm>
            <a:off x="1189461" y="4276336"/>
            <a:ext cx="6704608" cy="86177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分布曲线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不同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pH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下组分存在形式的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分布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（以分布分数表示）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46098" name="Rectangle 18"/>
          <p:cNvSpPr>
            <a:spLocks noChangeArrowheads="1"/>
          </p:cNvSpPr>
          <p:nvPr/>
        </p:nvSpPr>
        <p:spPr bwMode="auto">
          <a:xfrm>
            <a:off x="2945954" y="5176643"/>
            <a:ext cx="1293812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B</a:t>
            </a:r>
            <a:r>
              <a:rPr lang="en-US" altLang="zh-CN" sz="2500" b="1" i="1" baseline="-25000" dirty="0"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~ </a:t>
            </a:r>
            <a:r>
              <a:rPr lang="en-US" altLang="zh-CN" sz="2500" b="1" dirty="0" err="1">
                <a:ea typeface="楷体_GB2312" pitchFamily="49" charset="-122"/>
              </a:rPr>
              <a:t>pH.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820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1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273300" y="1453346"/>
            <a:ext cx="59843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平衡时某组分的平衡浓度占总浓度的分数</a:t>
            </a: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1936749" y="2617897"/>
            <a:ext cx="1444626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500" b="1" dirty="0" err="1">
                <a:ea typeface="楷体_GB2312" pitchFamily="49" charset="-122"/>
                <a:sym typeface="Symbol" pitchFamily="18" charset="2"/>
              </a:rPr>
              <a:t>HAc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) </a:t>
            </a:r>
            <a:r>
              <a:rPr lang="en-US" altLang="zh-CN" sz="2500" b="1" dirty="0" smtClean="0">
                <a:ea typeface="楷体_GB2312" pitchFamily="49" charset="-122"/>
                <a:sym typeface="Symbol" pitchFamily="18" charset="2"/>
              </a:rPr>
              <a:t>=</a:t>
            </a:r>
            <a:endParaRPr lang="en-US" altLang="zh-CN" sz="2500" b="1" dirty="0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6555159" y="2402458"/>
            <a:ext cx="84296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Ac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]</a:t>
            </a:r>
          </a:p>
        </p:txBody>
      </p:sp>
      <p:sp>
        <p:nvSpPr>
          <p:cNvPr id="27" name="Rectangle 8"/>
          <p:cNvSpPr>
            <a:spLocks noChangeArrowheads="1"/>
          </p:cNvSpPr>
          <p:nvPr/>
        </p:nvSpPr>
        <p:spPr bwMode="auto">
          <a:xfrm>
            <a:off x="5184599" y="2637527"/>
            <a:ext cx="126509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(Ac</a:t>
            </a:r>
            <a:r>
              <a:rPr lang="en-US" altLang="zh-CN" sz="2500" b="1" baseline="30000" dirty="0">
                <a:ea typeface="楷体_GB2312" pitchFamily="49" charset="-122"/>
                <a:sym typeface="Symbol" pitchFamily="18" charset="2"/>
              </a:rPr>
              <a:t>-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) </a:t>
            </a:r>
            <a:r>
              <a:rPr lang="en-US" altLang="zh-CN" sz="2500" b="1" dirty="0" smtClean="0">
                <a:ea typeface="楷体_GB2312" pitchFamily="49" charset="-122"/>
                <a:sym typeface="Symbol" pitchFamily="18" charset="2"/>
              </a:rPr>
              <a:t>=</a:t>
            </a:r>
            <a:endParaRPr lang="en-US" altLang="zh-CN" sz="2500" b="1" dirty="0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>
            <a:off x="6409109" y="2916808"/>
            <a:ext cx="11350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3455640" y="2737941"/>
            <a:ext cx="822325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 err="1">
                <a:ea typeface="楷体_GB2312" pitchFamily="49" charset="-122"/>
                <a:sym typeface="Symbol" pitchFamily="18" charset="2"/>
              </a:rPr>
              <a:t>c</a:t>
            </a:r>
            <a:r>
              <a:rPr lang="en-US" altLang="zh-CN" sz="2500" b="1" baseline="-25000" dirty="0" err="1">
                <a:ea typeface="楷体_GB2312" pitchFamily="49" charset="-122"/>
                <a:sym typeface="Symbol" pitchFamily="18" charset="2"/>
              </a:rPr>
              <a:t>HAc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</a:t>
            </a:r>
          </a:p>
        </p:txBody>
      </p:sp>
      <p:sp>
        <p:nvSpPr>
          <p:cNvPr id="30" name="Rectangle 11"/>
          <p:cNvSpPr>
            <a:spLocks noChangeArrowheads="1"/>
          </p:cNvSpPr>
          <p:nvPr/>
        </p:nvSpPr>
        <p:spPr bwMode="auto">
          <a:xfrm>
            <a:off x="6632946" y="2834258"/>
            <a:ext cx="7429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c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HAc</a:t>
            </a: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3384203" y="2375991"/>
            <a:ext cx="10223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[</a:t>
            </a:r>
            <a:r>
              <a:rPr lang="en-US" altLang="zh-CN" sz="2500" b="1" dirty="0" err="1">
                <a:ea typeface="楷体_GB2312" pitchFamily="49" charset="-122"/>
              </a:rPr>
              <a:t>HAc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]</a:t>
            </a:r>
          </a:p>
        </p:txBody>
      </p:sp>
      <p:sp>
        <p:nvSpPr>
          <p:cNvPr id="32" name="Line 7"/>
          <p:cNvSpPr>
            <a:spLocks noChangeShapeType="1"/>
          </p:cNvSpPr>
          <p:nvPr/>
        </p:nvSpPr>
        <p:spPr bwMode="auto">
          <a:xfrm>
            <a:off x="3312765" y="2876054"/>
            <a:ext cx="1249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10595" y="3415158"/>
            <a:ext cx="5134739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平衡浓度和总浓度受什么因素影响？</a:t>
            </a:r>
            <a:endParaRPr lang="zh-CN" altLang="en-US" sz="2400" b="1" dirty="0">
              <a:solidFill>
                <a:srgbClr val="FF0000"/>
              </a:solidFill>
              <a:ea typeface="楷体_GB231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02" y="2444799"/>
            <a:ext cx="1060405" cy="173459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789515" y="3378920"/>
            <a:ext cx="8739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smtClean="0">
                <a:solidFill>
                  <a:srgbClr val="FF0000"/>
                </a:solidFill>
              </a:rPr>
              <a:t>pH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grpSp>
        <p:nvGrpSpPr>
          <p:cNvPr id="33" name="Group 18"/>
          <p:cNvGrpSpPr>
            <a:grpSpLocks/>
          </p:cNvGrpSpPr>
          <p:nvPr/>
        </p:nvGrpSpPr>
        <p:grpSpPr bwMode="auto">
          <a:xfrm>
            <a:off x="7722845" y="3390107"/>
            <a:ext cx="3857648" cy="2316162"/>
            <a:chOff x="408" y="634"/>
            <a:chExt cx="2173" cy="1544"/>
          </a:xfrm>
        </p:grpSpPr>
        <p:graphicFrame>
          <p:nvGraphicFramePr>
            <p:cNvPr id="34" name="Object 19"/>
            <p:cNvGraphicFramePr>
              <a:graphicFrameLocks noChangeAspect="1"/>
            </p:cNvGraphicFramePr>
            <p:nvPr/>
          </p:nvGraphicFramePr>
          <p:xfrm>
            <a:off x="408" y="680"/>
            <a:ext cx="2173" cy="1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BMP 图象" r:id="rId8" imgW="2085714" imgH="1438095" progId="PBrush">
                    <p:embed/>
                  </p:oleObj>
                </mc:Choice>
                <mc:Fallback>
                  <p:oleObj name="BMP 图象" r:id="rId8" imgW="2085714" imgH="1438095" progId="PBrush">
                    <p:embed/>
                    <p:pic>
                      <p:nvPicPr>
                        <p:cNvPr id="1026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" y="680"/>
                          <a:ext cx="2173" cy="1498"/>
                        </a:xfrm>
                        <a:prstGeom prst="rect">
                          <a:avLst/>
                        </a:prstGeom>
                        <a:noFill/>
                        <a:ln w="25400">
                          <a:solidFill>
                            <a:srgbClr val="FF00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Rectangle 20"/>
            <p:cNvSpPr>
              <a:spLocks noChangeArrowheads="1"/>
            </p:cNvSpPr>
            <p:nvPr/>
          </p:nvSpPr>
          <p:spPr bwMode="auto">
            <a:xfrm>
              <a:off x="1065" y="634"/>
              <a:ext cx="1209" cy="31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sz="2500" b="1">
                  <a:solidFill>
                    <a:srgbClr val="FF3300"/>
                  </a:solidFill>
                  <a:ea typeface="楷体_GB2312" pitchFamily="49" charset="-122"/>
                </a:rPr>
                <a:t>HAc</a:t>
              </a:r>
              <a:r>
                <a:rPr lang="zh-CN" altLang="en-US" sz="2500" b="1">
                  <a:solidFill>
                    <a:srgbClr val="FF3300"/>
                  </a:solidFill>
                  <a:ea typeface="楷体_GB2312" pitchFamily="49" charset="-122"/>
                </a:rPr>
                <a:t>的分布曲线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6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6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4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4" grpId="0" autoUpdateAnimBg="0"/>
      <p:bldP spid="46095" grpId="0" build="p" autoUpdateAnimBg="0"/>
      <p:bldP spid="46096" grpId="0" build="p" autoUpdateAnimBg="0"/>
      <p:bldP spid="46097" grpId="0"/>
      <p:bldP spid="46098" grpId="0" autoUpdateAnimBg="0"/>
      <p:bldP spid="25" grpId="0" autoUpdateAnimBg="0"/>
      <p:bldP spid="26" grpId="0" autoUpdateAnimBg="0"/>
      <p:bldP spid="27" grpId="0" autoUpdateAnimBg="0"/>
      <p:bldP spid="28" grpId="0" animBg="1"/>
      <p:bldP spid="29" grpId="0" autoUpdateAnimBg="0"/>
      <p:bldP spid="30" grpId="0" autoUpdateAnimBg="0"/>
      <p:bldP spid="31" grpId="0" autoUpdateAnimBg="0"/>
      <p:bldP spid="32" grpId="0" animBg="1"/>
      <p:bldP spid="3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016000" y="4589552"/>
            <a:ext cx="20542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500" b="1" dirty="0" err="1">
                <a:ea typeface="楷体_GB2312" pitchFamily="49" charset="-122"/>
                <a:sym typeface="Symbol" pitchFamily="18" charset="2"/>
              </a:rPr>
              <a:t>HAc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) =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1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=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6761163" y="4346674"/>
            <a:ext cx="84296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Ac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]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4711700" y="4613374"/>
            <a:ext cx="17907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(Ac</a:t>
            </a:r>
            <a:r>
              <a:rPr lang="en-US" altLang="zh-CN" sz="2500" b="1" baseline="30000" dirty="0">
                <a:ea typeface="楷体_GB2312" pitchFamily="49" charset="-122"/>
                <a:sym typeface="Symbol" pitchFamily="18" charset="2"/>
              </a:rPr>
              <a:t>-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) =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 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0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=</a:t>
            </a: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6615113" y="4861024"/>
            <a:ext cx="11350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3260725" y="4761002"/>
            <a:ext cx="822325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 err="1">
                <a:ea typeface="楷体_GB2312" pitchFamily="49" charset="-122"/>
                <a:sym typeface="Symbol" pitchFamily="18" charset="2"/>
              </a:rPr>
              <a:t>c</a:t>
            </a:r>
            <a:r>
              <a:rPr lang="en-US" altLang="zh-CN" sz="2500" b="1" baseline="-25000" dirty="0" err="1">
                <a:ea typeface="楷体_GB2312" pitchFamily="49" charset="-122"/>
                <a:sym typeface="Symbol" pitchFamily="18" charset="2"/>
              </a:rPr>
              <a:t>HAc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</a:t>
            </a: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6838950" y="4778474"/>
            <a:ext cx="7429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c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HAc</a:t>
            </a: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688975" y="3689440"/>
            <a:ext cx="2201863" cy="860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FF3300"/>
                </a:solidFill>
                <a:latin typeface="宋体" charset="-122"/>
              </a:rPr>
              <a:t>①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分布分数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en-US" altLang="zh-CN" sz="2500" b="1" dirty="0" err="1">
                <a:ea typeface="楷体_GB2312" pitchFamily="49" charset="-122"/>
              </a:rPr>
              <a:t>HAc</a:t>
            </a:r>
            <a:r>
              <a:rPr lang="zh-CN" altLang="en-US" sz="2500" b="1" dirty="0">
                <a:ea typeface="楷体_GB2312" pitchFamily="49" charset="-122"/>
              </a:rPr>
              <a:t>溶液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688975" y="3184609"/>
            <a:ext cx="33782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(2.1)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一元弱酸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或弱碱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):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189288" y="4399052"/>
            <a:ext cx="10223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[</a:t>
            </a:r>
            <a:r>
              <a:rPr lang="en-US" altLang="zh-CN" sz="2500" b="1" dirty="0" err="1">
                <a:ea typeface="楷体_GB2312" pitchFamily="49" charset="-122"/>
              </a:rPr>
              <a:t>HAc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]</a:t>
            </a: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>
            <a:off x="3117850" y="4899115"/>
            <a:ext cx="1249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62991" y="791815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ea typeface="楷体_GB2312"/>
              </a:rPr>
              <a:t>作用</a:t>
            </a:r>
            <a:endParaRPr lang="zh-CN" altLang="en-US" sz="28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62991" y="1437271"/>
            <a:ext cx="94066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ea typeface="楷体_GB2312"/>
              </a:rPr>
              <a:t>1.</a:t>
            </a:r>
            <a:r>
              <a:rPr lang="zh-CN" altLang="en-US" sz="2400" b="1" dirty="0" smtClean="0">
                <a:ea typeface="楷体_GB2312"/>
              </a:rPr>
              <a:t>深入了解酸碱滴定过程（滴定是溶液</a:t>
            </a:r>
            <a:r>
              <a:rPr lang="en-US" altLang="zh-CN" sz="2400" b="1" dirty="0" smtClean="0">
                <a:ea typeface="楷体_GB2312"/>
              </a:rPr>
              <a:t>pH</a:t>
            </a:r>
            <a:r>
              <a:rPr lang="zh-CN" altLang="en-US" sz="2400" b="1" dirty="0" smtClean="0">
                <a:ea typeface="楷体_GB2312"/>
              </a:rPr>
              <a:t>与溶液中各物种的量、比例不断变化的过程，判断是否能进行滴定）</a:t>
            </a:r>
            <a:endParaRPr lang="en-US" altLang="zh-CN" sz="2400" b="1" dirty="0" smtClean="0">
              <a:ea typeface="楷体_GB2312"/>
            </a:endParaRPr>
          </a:p>
          <a:p>
            <a:r>
              <a:rPr lang="en-US" altLang="zh-CN" sz="2400" b="1" dirty="0" smtClean="0">
                <a:ea typeface="楷体_GB2312"/>
              </a:rPr>
              <a:t>2. </a:t>
            </a:r>
            <a:r>
              <a:rPr lang="zh-CN" altLang="en-US" sz="2400" b="1" dirty="0" smtClean="0">
                <a:ea typeface="楷体_GB2312"/>
              </a:rPr>
              <a:t>判断多元酸碱分布滴定的可能性</a:t>
            </a:r>
            <a:endParaRPr lang="zh-CN" altLang="en-US" sz="2400" b="1" dirty="0"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24087087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nimBg="1"/>
      <p:bldP spid="8" grpId="0" autoUpdateAnimBg="0"/>
      <p:bldP spid="9" grpId="0" autoUpdateAnimBg="0"/>
      <p:bldP spid="10" grpId="0" build="p" autoUpdateAnimBg="0"/>
      <p:bldP spid="11" grpId="0" autoUpdateAnimBg="0"/>
      <p:bldP spid="12" grpId="0" autoUpdateAnimBg="0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5"/>
          <p:cNvSpPr>
            <a:spLocks noGrp="1" noChangeArrowheads="1"/>
          </p:cNvSpPr>
          <p:nvPr>
            <p:ph type="title"/>
          </p:nvPr>
        </p:nvSpPr>
        <p:spPr>
          <a:xfrm>
            <a:off x="334963" y="287338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3.3.1</a:t>
            </a:r>
            <a:r>
              <a:rPr lang="zh-CN" altLang="en-US" smtClean="0">
                <a:ea typeface="黑体" pitchFamily="49" charset="-122"/>
              </a:rPr>
              <a:t>分布分数与分布曲线</a:t>
            </a:r>
            <a:endParaRPr lang="zh-CN" altLang="en-US" sz="14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47121" name="Rectangle 17"/>
          <p:cNvSpPr>
            <a:spLocks noChangeArrowheads="1"/>
          </p:cNvSpPr>
          <p:nvPr/>
        </p:nvSpPr>
        <p:spPr bwMode="auto">
          <a:xfrm>
            <a:off x="617538" y="1003282"/>
            <a:ext cx="7143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1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=</a:t>
            </a:r>
          </a:p>
        </p:txBody>
      </p:sp>
      <p:sp>
        <p:nvSpPr>
          <p:cNvPr id="47122" name="Rectangle 18"/>
          <p:cNvSpPr>
            <a:spLocks noChangeArrowheads="1"/>
          </p:cNvSpPr>
          <p:nvPr/>
        </p:nvSpPr>
        <p:spPr bwMode="auto">
          <a:xfrm>
            <a:off x="1763713" y="784207"/>
            <a:ext cx="10223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HAc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]</a:t>
            </a:r>
          </a:p>
        </p:txBody>
      </p:sp>
      <p:sp>
        <p:nvSpPr>
          <p:cNvPr id="47123" name="Rectangle 19"/>
          <p:cNvSpPr>
            <a:spLocks noChangeArrowheads="1"/>
          </p:cNvSpPr>
          <p:nvPr/>
        </p:nvSpPr>
        <p:spPr bwMode="auto">
          <a:xfrm>
            <a:off x="1606550" y="1309669"/>
            <a:ext cx="1865313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[HAc]+[Ac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47124" name="Rectangle 20"/>
          <p:cNvSpPr>
            <a:spLocks noChangeArrowheads="1"/>
          </p:cNvSpPr>
          <p:nvPr/>
        </p:nvSpPr>
        <p:spPr bwMode="auto">
          <a:xfrm>
            <a:off x="3692525" y="1000107"/>
            <a:ext cx="3651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=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47125" name="Rectangle 21"/>
          <p:cNvSpPr>
            <a:spLocks noChangeArrowheads="1"/>
          </p:cNvSpPr>
          <p:nvPr/>
        </p:nvSpPr>
        <p:spPr bwMode="auto">
          <a:xfrm>
            <a:off x="6569075" y="987407"/>
            <a:ext cx="366713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</a:t>
            </a:r>
          </a:p>
        </p:txBody>
      </p:sp>
      <p:sp>
        <p:nvSpPr>
          <p:cNvPr id="47126" name="Rectangle 22"/>
          <p:cNvSpPr>
            <a:spLocks noChangeArrowheads="1"/>
          </p:cNvSpPr>
          <p:nvPr/>
        </p:nvSpPr>
        <p:spPr bwMode="auto">
          <a:xfrm>
            <a:off x="7851775" y="739757"/>
            <a:ext cx="3460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1</a:t>
            </a:r>
          </a:p>
        </p:txBody>
      </p:sp>
      <p:sp>
        <p:nvSpPr>
          <p:cNvPr id="47127" name="Rectangle 23"/>
          <p:cNvSpPr>
            <a:spLocks noChangeArrowheads="1"/>
          </p:cNvSpPr>
          <p:nvPr/>
        </p:nvSpPr>
        <p:spPr bwMode="auto">
          <a:xfrm>
            <a:off x="7288213" y="1257282"/>
            <a:ext cx="1741487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1+</a:t>
            </a:r>
            <a:r>
              <a:rPr lang="en-US" altLang="zh-CN" sz="2500" b="1" i="1" dirty="0">
                <a:ea typeface="楷体_GB2312" pitchFamily="49" charset="-122"/>
              </a:rPr>
              <a:t> 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/[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47128" name="Rectangle 24"/>
          <p:cNvSpPr>
            <a:spLocks noChangeArrowheads="1"/>
          </p:cNvSpPr>
          <p:nvPr/>
        </p:nvSpPr>
        <p:spPr bwMode="auto">
          <a:xfrm>
            <a:off x="4332288" y="1289032"/>
            <a:ext cx="2114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1+</a:t>
            </a:r>
            <a:r>
              <a:rPr lang="en-US" altLang="zh-CN" sz="2500" b="1" dirty="0">
                <a:ea typeface="楷体_GB2312" pitchFamily="49" charset="-122"/>
              </a:rPr>
              <a:t>[Ac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]/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[</a:t>
            </a:r>
            <a:r>
              <a:rPr lang="en-US" altLang="zh-CN" sz="2500" b="1" dirty="0" err="1">
                <a:ea typeface="楷体_GB2312" pitchFamily="49" charset="-122"/>
              </a:rPr>
              <a:t>HAc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]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47129" name="Line 25"/>
          <p:cNvSpPr>
            <a:spLocks noChangeShapeType="1"/>
          </p:cNvSpPr>
          <p:nvPr/>
        </p:nvSpPr>
        <p:spPr bwMode="auto">
          <a:xfrm>
            <a:off x="4087813" y="1257282"/>
            <a:ext cx="24939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30" name="Rectangle 26"/>
          <p:cNvSpPr>
            <a:spLocks noChangeArrowheads="1"/>
          </p:cNvSpPr>
          <p:nvPr/>
        </p:nvSpPr>
        <p:spPr bwMode="auto">
          <a:xfrm>
            <a:off x="4908550" y="754044"/>
            <a:ext cx="34448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1</a:t>
            </a:r>
          </a:p>
        </p:txBody>
      </p:sp>
      <p:sp>
        <p:nvSpPr>
          <p:cNvPr id="47131" name="Line 27"/>
          <p:cNvSpPr>
            <a:spLocks noChangeShapeType="1"/>
          </p:cNvSpPr>
          <p:nvPr/>
        </p:nvSpPr>
        <p:spPr bwMode="auto">
          <a:xfrm>
            <a:off x="1377950" y="1289032"/>
            <a:ext cx="2268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32" name="Line 28"/>
          <p:cNvSpPr>
            <a:spLocks noChangeShapeType="1"/>
          </p:cNvSpPr>
          <p:nvPr/>
        </p:nvSpPr>
        <p:spPr bwMode="auto">
          <a:xfrm>
            <a:off x="7008813" y="1263632"/>
            <a:ext cx="22685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33" name="Rectangle 29"/>
          <p:cNvSpPr>
            <a:spLocks noChangeArrowheads="1"/>
          </p:cNvSpPr>
          <p:nvPr/>
        </p:nvSpPr>
        <p:spPr bwMode="auto">
          <a:xfrm>
            <a:off x="1189038" y="2003407"/>
            <a:ext cx="11461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∵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</a:t>
            </a:r>
          </a:p>
        </p:txBody>
      </p:sp>
      <p:sp>
        <p:nvSpPr>
          <p:cNvPr id="47134" name="Line 30"/>
          <p:cNvSpPr>
            <a:spLocks noChangeShapeType="1"/>
          </p:cNvSpPr>
          <p:nvPr/>
        </p:nvSpPr>
        <p:spPr bwMode="auto">
          <a:xfrm>
            <a:off x="2395538" y="2271694"/>
            <a:ext cx="1920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35" name="Rectangle 31"/>
          <p:cNvSpPr>
            <a:spLocks noChangeArrowheads="1"/>
          </p:cNvSpPr>
          <p:nvPr/>
        </p:nvSpPr>
        <p:spPr bwMode="auto">
          <a:xfrm>
            <a:off x="2732088" y="1793857"/>
            <a:ext cx="1430337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</a:t>
            </a:r>
            <a:r>
              <a:rPr lang="en-US" altLang="zh-CN" sz="2500" b="1">
                <a:ea typeface="楷体_GB2312" pitchFamily="49" charset="-122"/>
              </a:rPr>
              <a:t>Ac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47136" name="Rectangle 32"/>
          <p:cNvSpPr>
            <a:spLocks noChangeArrowheads="1"/>
          </p:cNvSpPr>
          <p:nvPr/>
        </p:nvSpPr>
        <p:spPr bwMode="auto">
          <a:xfrm>
            <a:off x="2901950" y="2270107"/>
            <a:ext cx="1027113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HAc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47137" name="Rectangle 33"/>
          <p:cNvSpPr>
            <a:spLocks noChangeArrowheads="1"/>
          </p:cNvSpPr>
          <p:nvPr/>
        </p:nvSpPr>
        <p:spPr bwMode="auto">
          <a:xfrm>
            <a:off x="5260975" y="2066907"/>
            <a:ext cx="33242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[Ac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]/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HAc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 =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/[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  <a:endParaRPr lang="en-US" altLang="zh-CN" sz="2500" b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47138" name="Rectangle 34"/>
          <p:cNvSpPr>
            <a:spLocks noChangeArrowheads="1"/>
          </p:cNvSpPr>
          <p:nvPr/>
        </p:nvSpPr>
        <p:spPr bwMode="auto">
          <a:xfrm>
            <a:off x="1177925" y="2884469"/>
            <a:ext cx="14986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∴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1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=</a:t>
            </a:r>
          </a:p>
        </p:txBody>
      </p:sp>
      <p:sp>
        <p:nvSpPr>
          <p:cNvPr id="47139" name="Line 35"/>
          <p:cNvSpPr>
            <a:spLocks noChangeShapeType="1"/>
          </p:cNvSpPr>
          <p:nvPr/>
        </p:nvSpPr>
        <p:spPr bwMode="auto">
          <a:xfrm>
            <a:off x="2227263" y="3121007"/>
            <a:ext cx="1830387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40" name="Rectangle 36"/>
          <p:cNvSpPr>
            <a:spLocks noChangeArrowheads="1"/>
          </p:cNvSpPr>
          <p:nvPr/>
        </p:nvSpPr>
        <p:spPr bwMode="auto">
          <a:xfrm>
            <a:off x="2540000" y="2646344"/>
            <a:ext cx="7715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47141" name="Rectangle 37"/>
          <p:cNvSpPr>
            <a:spLocks noChangeArrowheads="1"/>
          </p:cNvSpPr>
          <p:nvPr/>
        </p:nvSpPr>
        <p:spPr bwMode="auto">
          <a:xfrm>
            <a:off x="2281238" y="3124182"/>
            <a:ext cx="1411287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]+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47142" name="Rectangle 38"/>
          <p:cNvSpPr>
            <a:spLocks noChangeArrowheads="1"/>
          </p:cNvSpPr>
          <p:nvPr/>
        </p:nvSpPr>
        <p:spPr bwMode="auto">
          <a:xfrm>
            <a:off x="4684713" y="2893994"/>
            <a:ext cx="93503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同理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47143" name="Rectangle 39"/>
          <p:cNvSpPr>
            <a:spLocks noChangeArrowheads="1"/>
          </p:cNvSpPr>
          <p:nvPr/>
        </p:nvSpPr>
        <p:spPr bwMode="auto">
          <a:xfrm>
            <a:off x="5821363" y="2847957"/>
            <a:ext cx="68421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0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=</a:t>
            </a:r>
          </a:p>
        </p:txBody>
      </p:sp>
      <p:sp>
        <p:nvSpPr>
          <p:cNvPr id="47144" name="Line 40"/>
          <p:cNvSpPr>
            <a:spLocks noChangeShapeType="1"/>
          </p:cNvSpPr>
          <p:nvPr/>
        </p:nvSpPr>
        <p:spPr bwMode="auto">
          <a:xfrm>
            <a:off x="6645275" y="3086082"/>
            <a:ext cx="2268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45" name="Rectangle 41"/>
          <p:cNvSpPr>
            <a:spLocks noChangeArrowheads="1"/>
          </p:cNvSpPr>
          <p:nvPr/>
        </p:nvSpPr>
        <p:spPr bwMode="auto">
          <a:xfrm>
            <a:off x="7288213" y="2576494"/>
            <a:ext cx="6413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</a:t>
            </a:r>
            <a:endParaRPr lang="en-US" altLang="zh-CN" sz="2500" b="1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47146" name="Rectangle 42"/>
          <p:cNvSpPr>
            <a:spLocks noChangeArrowheads="1"/>
          </p:cNvSpPr>
          <p:nvPr/>
        </p:nvSpPr>
        <p:spPr bwMode="auto">
          <a:xfrm>
            <a:off x="6935788" y="3105132"/>
            <a:ext cx="1411287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]+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9245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4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Rectangle 4"/>
          <p:cNvSpPr>
            <a:spLocks noChangeArrowheads="1"/>
          </p:cNvSpPr>
          <p:nvPr/>
        </p:nvSpPr>
        <p:spPr bwMode="auto">
          <a:xfrm>
            <a:off x="1490663" y="3914777"/>
            <a:ext cx="12636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1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+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0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=</a:t>
            </a:r>
          </a:p>
        </p:txBody>
      </p:sp>
      <p:sp>
        <p:nvSpPr>
          <p:cNvPr id="44" name="Line 5"/>
          <p:cNvSpPr>
            <a:spLocks noChangeShapeType="1"/>
          </p:cNvSpPr>
          <p:nvPr/>
        </p:nvSpPr>
        <p:spPr bwMode="auto">
          <a:xfrm>
            <a:off x="2938463" y="4154489"/>
            <a:ext cx="1587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auto">
          <a:xfrm>
            <a:off x="2938463" y="4154489"/>
            <a:ext cx="1411287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]+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</a:t>
            </a:r>
            <a:endParaRPr lang="en-US" altLang="zh-CN" sz="2500" b="1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46" name="Rectangle 8"/>
          <p:cNvSpPr>
            <a:spLocks noChangeArrowheads="1"/>
          </p:cNvSpPr>
          <p:nvPr/>
        </p:nvSpPr>
        <p:spPr bwMode="auto">
          <a:xfrm>
            <a:off x="4614863" y="3914777"/>
            <a:ext cx="36671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+</a:t>
            </a:r>
          </a:p>
        </p:txBody>
      </p:sp>
      <p:sp>
        <p:nvSpPr>
          <p:cNvPr id="47" name="Line 9"/>
          <p:cNvSpPr>
            <a:spLocks noChangeShapeType="1"/>
          </p:cNvSpPr>
          <p:nvPr/>
        </p:nvSpPr>
        <p:spPr bwMode="auto">
          <a:xfrm>
            <a:off x="5432425" y="4154489"/>
            <a:ext cx="2016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Rectangle 10"/>
          <p:cNvSpPr>
            <a:spLocks noChangeArrowheads="1"/>
          </p:cNvSpPr>
          <p:nvPr/>
        </p:nvSpPr>
        <p:spPr bwMode="auto">
          <a:xfrm>
            <a:off x="5478463" y="4154489"/>
            <a:ext cx="1411287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]+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</a:t>
            </a:r>
            <a:endParaRPr lang="en-US" altLang="zh-CN" sz="2500" b="1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49" name="Rectangle 12"/>
          <p:cNvSpPr>
            <a:spLocks noChangeArrowheads="1"/>
          </p:cNvSpPr>
          <p:nvPr/>
        </p:nvSpPr>
        <p:spPr bwMode="auto">
          <a:xfrm>
            <a:off x="7758113" y="3949702"/>
            <a:ext cx="1328737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 1</a:t>
            </a:r>
          </a:p>
        </p:txBody>
      </p:sp>
      <p:sp>
        <p:nvSpPr>
          <p:cNvPr id="50" name="Rectangle 13"/>
          <p:cNvSpPr>
            <a:spLocks noChangeArrowheads="1"/>
          </p:cNvSpPr>
          <p:nvPr/>
        </p:nvSpPr>
        <p:spPr bwMode="auto">
          <a:xfrm>
            <a:off x="831850" y="4668847"/>
            <a:ext cx="6837363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        </a:t>
            </a:r>
            <a:r>
              <a:rPr lang="zh-CN" altLang="en-US" sz="2500" b="1" u="sng" dirty="0">
                <a:solidFill>
                  <a:srgbClr val="FF00FF"/>
                </a:solidFill>
                <a:ea typeface="楷体_GB2312" pitchFamily="49" charset="-122"/>
                <a:sym typeface="Webdings" pitchFamily="18" charset="2"/>
              </a:rPr>
              <a:t>某物质各种存在形式的分布分数之和等于</a:t>
            </a:r>
            <a:r>
              <a:rPr lang="en-US" altLang="zh-CN" sz="2500" b="1" u="sng" dirty="0">
                <a:solidFill>
                  <a:srgbClr val="FF00FF"/>
                </a:solidFill>
                <a:ea typeface="楷体_GB2312" pitchFamily="49" charset="-122"/>
                <a:sym typeface="Webdings" pitchFamily="18" charset="2"/>
              </a:rPr>
              <a:t>1</a:t>
            </a:r>
            <a:r>
              <a:rPr lang="en-US" altLang="zh-CN" sz="2500" b="1" dirty="0">
                <a:solidFill>
                  <a:srgbClr val="FF00FF"/>
                </a:solidFill>
                <a:ea typeface="楷体_GB2312" pitchFamily="49" charset="-122"/>
                <a:sym typeface="Webdings" pitchFamily="18" charset="2"/>
              </a:rPr>
              <a:t>.</a:t>
            </a:r>
          </a:p>
        </p:txBody>
      </p:sp>
      <p:sp>
        <p:nvSpPr>
          <p:cNvPr id="51" name="Line 23"/>
          <p:cNvSpPr>
            <a:spLocks noChangeShapeType="1"/>
          </p:cNvSpPr>
          <p:nvPr/>
        </p:nvSpPr>
        <p:spPr bwMode="auto">
          <a:xfrm>
            <a:off x="3440113" y="3778252"/>
            <a:ext cx="3629025" cy="3397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Line 24"/>
          <p:cNvSpPr>
            <a:spLocks noChangeShapeType="1"/>
          </p:cNvSpPr>
          <p:nvPr/>
        </p:nvSpPr>
        <p:spPr bwMode="auto">
          <a:xfrm>
            <a:off x="3346450" y="4254502"/>
            <a:ext cx="3627438" cy="34131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Rectangle 7"/>
          <p:cNvSpPr>
            <a:spLocks noChangeArrowheads="1"/>
          </p:cNvSpPr>
          <p:nvPr/>
        </p:nvSpPr>
        <p:spPr bwMode="auto">
          <a:xfrm>
            <a:off x="3248025" y="3597277"/>
            <a:ext cx="771525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54" name="Rectangle 11"/>
          <p:cNvSpPr>
            <a:spLocks noChangeArrowheads="1"/>
          </p:cNvSpPr>
          <p:nvPr/>
        </p:nvSpPr>
        <p:spPr bwMode="auto">
          <a:xfrm>
            <a:off x="5832475" y="3630614"/>
            <a:ext cx="6413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</a:t>
            </a:r>
            <a:endParaRPr lang="en-US" altLang="zh-CN" sz="2500" b="1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56" name="Rectangle 3"/>
          <p:cNvSpPr>
            <a:spLocks noChangeArrowheads="1"/>
          </p:cNvSpPr>
          <p:nvPr/>
        </p:nvSpPr>
        <p:spPr bwMode="auto">
          <a:xfrm>
            <a:off x="688939" y="5168913"/>
            <a:ext cx="6357982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1.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计算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pH = 5.0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时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Monotype Sorts" pitchFamily="2" charset="2"/>
              </a:rPr>
              <a:t>HAc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和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Ac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Monotype Sorts" pitchFamily="2" charset="2"/>
              </a:rPr>
              <a:t>-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的分布系数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.</a:t>
            </a:r>
            <a:endParaRPr lang="en-US" altLang="zh-CN" sz="2500" b="1" dirty="0">
              <a:solidFill>
                <a:schemeClr val="accent2"/>
              </a:solidFill>
              <a:latin typeface="+mn-lt"/>
              <a:ea typeface="楷体_GB2312" pitchFamily="49" charset="-122"/>
            </a:endParaRPr>
          </a:p>
        </p:txBody>
      </p:sp>
      <p:sp>
        <p:nvSpPr>
          <p:cNvPr id="57" name="Text Box 14"/>
          <p:cNvSpPr txBox="1">
            <a:spLocks noChangeArrowheads="1"/>
          </p:cNvSpPr>
          <p:nvPr/>
        </p:nvSpPr>
        <p:spPr bwMode="auto">
          <a:xfrm>
            <a:off x="10118755" y="5240351"/>
            <a:ext cx="10001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hlinkClick r:id="rId7" action="ppaction://hlinkpres?slideindex=1&amp;slidetitle=幻灯片 1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300"/>
                                        <p:tgtEl>
                                          <p:spTgt spid="4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471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4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47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471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1" dur="500"/>
                                        <p:tgtEl>
                                          <p:spTgt spid="47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5" dur="500"/>
                                        <p:tgtEl>
                                          <p:spTgt spid="47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9" dur="500"/>
                                        <p:tgtEl>
                                          <p:spTgt spid="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3" dur="500"/>
                                        <p:tgtEl>
                                          <p:spTgt spid="47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7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21" grpId="0" autoUpdateAnimBg="0"/>
      <p:bldP spid="47122" grpId="0" autoUpdateAnimBg="0"/>
      <p:bldP spid="47123" grpId="0" autoUpdateAnimBg="0"/>
      <p:bldP spid="47124" grpId="0" autoUpdateAnimBg="0"/>
      <p:bldP spid="47125" grpId="0" autoUpdateAnimBg="0"/>
      <p:bldP spid="47126" grpId="0" autoUpdateAnimBg="0"/>
      <p:bldP spid="47127" grpId="0" autoUpdateAnimBg="0"/>
      <p:bldP spid="47128" grpId="0" autoUpdateAnimBg="0"/>
      <p:bldP spid="47129" grpId="0" animBg="1"/>
      <p:bldP spid="47130" grpId="0" autoUpdateAnimBg="0"/>
      <p:bldP spid="47131" grpId="0" animBg="1"/>
      <p:bldP spid="47132" grpId="0" animBg="1"/>
      <p:bldP spid="47133" grpId="0" autoUpdateAnimBg="0"/>
      <p:bldP spid="47134" grpId="0" animBg="1"/>
      <p:bldP spid="47135" grpId="0" autoUpdateAnimBg="0"/>
      <p:bldP spid="47136" grpId="0" autoUpdateAnimBg="0"/>
      <p:bldP spid="47137" grpId="0" autoUpdateAnimBg="0"/>
      <p:bldP spid="47138" grpId="0" autoUpdateAnimBg="0"/>
      <p:bldP spid="47139" grpId="0" animBg="1"/>
      <p:bldP spid="47140" grpId="0" autoUpdateAnimBg="0"/>
      <p:bldP spid="47141" grpId="0" autoUpdateAnimBg="0"/>
      <p:bldP spid="47142" grpId="0" autoUpdateAnimBg="0"/>
      <p:bldP spid="47143" grpId="0" autoUpdateAnimBg="0"/>
      <p:bldP spid="47144" grpId="0" animBg="1"/>
      <p:bldP spid="47145" grpId="0" autoUpdateAnimBg="0"/>
      <p:bldP spid="47146" grpId="0" autoUpdateAnimBg="0"/>
      <p:bldP spid="43" grpId="0"/>
      <p:bldP spid="44" grpId="0" animBg="1"/>
      <p:bldP spid="45" grpId="0"/>
      <p:bldP spid="46" grpId="0"/>
      <p:bldP spid="47" grpId="0" animBg="1"/>
      <p:bldP spid="48" grpId="0" build="allAtOnce"/>
      <p:bldP spid="49" grpId="0"/>
      <p:bldP spid="50" grpId="0"/>
      <p:bldP spid="51" grpId="0" animBg="1"/>
      <p:bldP spid="52" grpId="0" animBg="1"/>
      <p:bldP spid="53" grpId="0"/>
      <p:bldP spid="54" grpId="0"/>
      <p:bldP spid="56" grpId="0"/>
      <p:bldP spid="5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42" name="Text Box 14"/>
          <p:cNvSpPr txBox="1">
            <a:spLocks noChangeArrowheads="1"/>
          </p:cNvSpPr>
          <p:nvPr/>
        </p:nvSpPr>
        <p:spPr bwMode="auto">
          <a:xfrm>
            <a:off x="617538" y="954088"/>
            <a:ext cx="10231437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3300"/>
                </a:solidFill>
                <a:latin typeface="宋体" charset="-122"/>
              </a:rPr>
              <a:t>②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分布曲线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028" name="Rectangle 16"/>
          <p:cNvSpPr>
            <a:spLocks noGrp="1" noChangeArrowheads="1"/>
          </p:cNvSpPr>
          <p:nvPr>
            <p:ph type="title"/>
          </p:nvPr>
        </p:nvSpPr>
        <p:spPr>
          <a:xfrm>
            <a:off x="215900" y="215900"/>
            <a:ext cx="3605213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3.3.1</a:t>
            </a:r>
            <a:r>
              <a:rPr lang="zh-CN" altLang="en-US" smtClean="0">
                <a:ea typeface="黑体" pitchFamily="49" charset="-122"/>
              </a:rPr>
              <a:t>分布分数与分布曲线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5475289" y="954088"/>
            <a:ext cx="3857648" cy="2316162"/>
            <a:chOff x="408" y="634"/>
            <a:chExt cx="2173" cy="1544"/>
          </a:xfrm>
        </p:grpSpPr>
        <p:graphicFrame>
          <p:nvGraphicFramePr>
            <p:cNvPr id="1026" name="Object 19"/>
            <p:cNvGraphicFramePr>
              <a:graphicFrameLocks noChangeAspect="1"/>
            </p:cNvGraphicFramePr>
            <p:nvPr/>
          </p:nvGraphicFramePr>
          <p:xfrm>
            <a:off x="408" y="680"/>
            <a:ext cx="2173" cy="1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" name="BMP 图象" r:id="rId5" imgW="2085714" imgH="1438095" progId="PBrush">
                    <p:embed/>
                  </p:oleObj>
                </mc:Choice>
                <mc:Fallback>
                  <p:oleObj name="BMP 图象" r:id="rId5" imgW="2085714" imgH="1438095" progId="PBrush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" y="680"/>
                          <a:ext cx="2173" cy="1498"/>
                        </a:xfrm>
                        <a:prstGeom prst="rect">
                          <a:avLst/>
                        </a:prstGeom>
                        <a:noFill/>
                        <a:ln w="25400">
                          <a:solidFill>
                            <a:srgbClr val="FF00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0" name="Rectangle 20"/>
            <p:cNvSpPr>
              <a:spLocks noChangeArrowheads="1"/>
            </p:cNvSpPr>
            <p:nvPr/>
          </p:nvSpPr>
          <p:spPr bwMode="auto">
            <a:xfrm>
              <a:off x="1065" y="634"/>
              <a:ext cx="1209" cy="31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sz="2500" b="1">
                  <a:solidFill>
                    <a:srgbClr val="FF3300"/>
                  </a:solidFill>
                  <a:ea typeface="楷体_GB2312" pitchFamily="49" charset="-122"/>
                </a:rPr>
                <a:t>HAc</a:t>
              </a:r>
              <a:r>
                <a:rPr lang="zh-CN" altLang="en-US" sz="2500" b="1">
                  <a:solidFill>
                    <a:srgbClr val="FF3300"/>
                  </a:solidFill>
                  <a:ea typeface="楷体_GB2312" pitchFamily="49" charset="-122"/>
                </a:rPr>
                <a:t>的分布曲线</a:t>
              </a:r>
            </a:p>
          </p:txBody>
        </p:sp>
      </p:grpSp>
      <p:sp>
        <p:nvSpPr>
          <p:cNvPr id="48149" name="Rectangle 21"/>
          <p:cNvSpPr>
            <a:spLocks noChangeArrowheads="1"/>
          </p:cNvSpPr>
          <p:nvPr/>
        </p:nvSpPr>
        <p:spPr bwMode="auto">
          <a:xfrm>
            <a:off x="760413" y="1454137"/>
            <a:ext cx="4000500" cy="14779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</a:rPr>
              <a:t>pH = p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0</a:t>
            </a:r>
            <a:r>
              <a:rPr lang="en-US" altLang="zh-CN" sz="2500" b="1">
                <a:ea typeface="楷体_GB2312" pitchFamily="49" charset="-122"/>
              </a:rPr>
              <a:t> = 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1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500" b="1">
                <a:ea typeface="楷体_GB2312" pitchFamily="49" charset="-122"/>
              </a:rPr>
              <a:t>= 0.5;</a:t>
            </a:r>
          </a:p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</a:rPr>
              <a:t>pH &lt; p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>
                <a:ea typeface="楷体_GB2312" pitchFamily="49" charset="-122"/>
              </a:rPr>
              <a:t>,  HAc</a:t>
            </a:r>
            <a:r>
              <a:rPr lang="zh-CN" altLang="en-US" sz="2500" b="1">
                <a:ea typeface="楷体_GB2312" pitchFamily="49" charset="-122"/>
              </a:rPr>
              <a:t>为主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</a:rPr>
              <a:t>pH &gt; p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>
                <a:ea typeface="楷体_GB2312" pitchFamily="49" charset="-122"/>
              </a:rPr>
              <a:t>,  Ac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zh-CN" altLang="en-US" sz="2500" b="1">
                <a:ea typeface="楷体_GB2312" pitchFamily="49" charset="-122"/>
              </a:rPr>
              <a:t>为主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48150" name="AutoShape 22"/>
          <p:cNvSpPr>
            <a:spLocks/>
          </p:cNvSpPr>
          <p:nvPr/>
        </p:nvSpPr>
        <p:spPr bwMode="auto">
          <a:xfrm>
            <a:off x="617538" y="1668449"/>
            <a:ext cx="192087" cy="1152525"/>
          </a:xfrm>
          <a:prstGeom prst="leftBrace">
            <a:avLst>
              <a:gd name="adj1" fmla="val 6666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103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7"/>
            <a:ext cx="360363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647736" y="3627437"/>
            <a:ext cx="3113037" cy="862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latin typeface="宋体" charset="-122"/>
              </a:rPr>
              <a:t>①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分布分数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  <a:p>
            <a:r>
              <a:rPr lang="en-US" altLang="zh-CN" sz="2500" b="1" dirty="0">
                <a:ea typeface="楷体_GB2312" pitchFamily="49" charset="-122"/>
              </a:rPr>
              <a:t>       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C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zh-CN" altLang="en-US" sz="2500" b="1" dirty="0">
                <a:ea typeface="楷体_GB2312" pitchFamily="49" charset="-122"/>
              </a:rPr>
              <a:t>溶液</a:t>
            </a:r>
            <a:r>
              <a:rPr lang="zh-CN" altLang="zh-CN" sz="2500" b="1" dirty="0">
                <a:ea typeface="楷体_GB2312" pitchFamily="49" charset="-122"/>
              </a:rPr>
              <a:t>:</a:t>
            </a:r>
            <a:endParaRPr lang="en-US" altLang="zh-CN" sz="2500" b="1" baseline="30000" dirty="0">
              <a:ea typeface="楷体_GB2312" pitchFamily="49" charset="-122"/>
            </a:endParaRP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593761" y="3168649"/>
            <a:ext cx="33782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(2.2)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多元酸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或多元碱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):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3133761" y="4568824"/>
            <a:ext cx="1589087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如</a:t>
            </a:r>
            <a:r>
              <a:rPr lang="zh-CN" altLang="en-US" sz="2500" b="1" i="1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=</a:t>
            </a:r>
          </a:p>
        </p:txBody>
      </p:sp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4268823" y="4310062"/>
            <a:ext cx="1452563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29" name="Line 9"/>
          <p:cNvSpPr>
            <a:spLocks noChangeShapeType="1"/>
          </p:cNvSpPr>
          <p:nvPr/>
        </p:nvSpPr>
        <p:spPr bwMode="auto">
          <a:xfrm>
            <a:off x="4133886" y="4821237"/>
            <a:ext cx="1812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4378361" y="4718049"/>
            <a:ext cx="11366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c</a:t>
            </a:r>
            <a:r>
              <a:rPr lang="en-US" altLang="zh-CN" sz="2500" b="1" baseline="-25000">
                <a:ea typeface="楷体_GB2312" pitchFamily="49" charset="-122"/>
              </a:rPr>
              <a:t>H</a:t>
            </a:r>
            <a:r>
              <a:rPr lang="en-US" altLang="zh-CN" sz="2500" b="1" baseline="-40000">
                <a:ea typeface="楷体_GB2312" pitchFamily="49" charset="-122"/>
              </a:rPr>
              <a:t>2</a:t>
            </a:r>
            <a:r>
              <a:rPr lang="en-US" altLang="zh-CN" sz="2500" b="1" baseline="-25000">
                <a:ea typeface="楷体_GB2312" pitchFamily="49" charset="-122"/>
              </a:rPr>
              <a:t>C</a:t>
            </a:r>
            <a:r>
              <a:rPr lang="en-US" altLang="zh-CN" sz="2500" b="1" baseline="-40000">
                <a:ea typeface="楷体_GB2312" pitchFamily="49" charset="-122"/>
              </a:rPr>
              <a:t>2</a:t>
            </a:r>
            <a:r>
              <a:rPr lang="en-US" altLang="zh-CN" sz="2500" b="1" baseline="-25000">
                <a:ea typeface="楷体_GB2312" pitchFamily="49" charset="-122"/>
              </a:rPr>
              <a:t>O</a:t>
            </a:r>
            <a:r>
              <a:rPr lang="en-US" altLang="zh-CN" sz="2500" b="1" baseline="-40000">
                <a:ea typeface="楷体_GB2312" pitchFamily="49" charset="-122"/>
              </a:rPr>
              <a:t>4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81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2" grpId="0" build="p"/>
      <p:bldP spid="48149" grpId="0" build="p"/>
      <p:bldP spid="48150" grpId="0" animBg="1"/>
      <p:bldP spid="25" grpId="0" build="p" autoUpdateAnimBg="0"/>
      <p:bldP spid="26" grpId="0" autoUpdateAnimBg="0"/>
      <p:bldP spid="27" grpId="0" autoUpdateAnimBg="0"/>
      <p:bldP spid="28" grpId="0" autoUpdateAnimBg="0"/>
      <p:bldP spid="29" grpId="0" animBg="1"/>
      <p:bldP spid="3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1"/>
          <p:cNvSpPr>
            <a:spLocks noGrp="1" noChangeArrowheads="1"/>
          </p:cNvSpPr>
          <p:nvPr>
            <p:ph type="title"/>
          </p:nvPr>
        </p:nvSpPr>
        <p:spPr>
          <a:xfrm>
            <a:off x="260350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3.3.1</a:t>
            </a:r>
            <a:r>
              <a:rPr lang="zh-CN" altLang="en-US" smtClean="0">
                <a:ea typeface="黑体" pitchFamily="49" charset="-122"/>
              </a:rPr>
              <a:t>分布分数与分布曲线</a:t>
            </a:r>
          </a:p>
        </p:txBody>
      </p:sp>
      <p:sp>
        <p:nvSpPr>
          <p:cNvPr id="50189" name="Rectangle 13"/>
          <p:cNvSpPr>
            <a:spLocks noChangeArrowheads="1"/>
          </p:cNvSpPr>
          <p:nvPr/>
        </p:nvSpPr>
        <p:spPr bwMode="auto">
          <a:xfrm>
            <a:off x="1117600" y="954088"/>
            <a:ext cx="5834063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</a:rPr>
              <a:t>c</a:t>
            </a:r>
            <a:r>
              <a:rPr lang="en-US" altLang="zh-CN" sz="2500" b="1" baseline="-25000" dirty="0">
                <a:ea typeface="楷体_GB2312" pitchFamily="49" charset="-122"/>
              </a:rPr>
              <a:t>H</a:t>
            </a:r>
            <a:r>
              <a:rPr lang="en-US" altLang="zh-CN" sz="2500" b="1" baseline="-40000" dirty="0">
                <a:ea typeface="楷体_GB2312" pitchFamily="49" charset="-122"/>
              </a:rPr>
              <a:t>2</a:t>
            </a:r>
            <a:r>
              <a:rPr lang="en-US" altLang="zh-CN" sz="2500" b="1" baseline="-25000" dirty="0">
                <a:ea typeface="楷体_GB2312" pitchFamily="49" charset="-122"/>
              </a:rPr>
              <a:t>C</a:t>
            </a:r>
            <a:r>
              <a:rPr lang="en-US" altLang="zh-CN" sz="2500" b="1" baseline="-40000" dirty="0">
                <a:ea typeface="楷体_GB2312" pitchFamily="49" charset="-122"/>
              </a:rPr>
              <a:t>2</a:t>
            </a:r>
            <a:r>
              <a:rPr lang="en-US" altLang="zh-CN" sz="2500" b="1" baseline="-25000" dirty="0">
                <a:ea typeface="楷体_GB2312" pitchFamily="49" charset="-122"/>
              </a:rPr>
              <a:t>O</a:t>
            </a:r>
            <a:r>
              <a:rPr lang="en-US" altLang="zh-CN" sz="2500" b="1" baseline="-40000" dirty="0">
                <a:ea typeface="楷体_GB2312" pitchFamily="49" charset="-122"/>
              </a:rPr>
              <a:t>4</a:t>
            </a:r>
            <a:r>
              <a:rPr lang="en-US" altLang="zh-CN" sz="2500" b="1" i="1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= [H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C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] + [HC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] + [C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50190" name="Rectangle 14"/>
          <p:cNvSpPr>
            <a:spLocks noChangeArrowheads="1"/>
          </p:cNvSpPr>
          <p:nvPr/>
        </p:nvSpPr>
        <p:spPr bwMode="auto">
          <a:xfrm>
            <a:off x="1354138" y="1663700"/>
            <a:ext cx="7127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=</a:t>
            </a:r>
          </a:p>
        </p:txBody>
      </p:sp>
      <p:sp>
        <p:nvSpPr>
          <p:cNvPr id="50191" name="Line 15"/>
          <p:cNvSpPr>
            <a:spLocks noChangeShapeType="1"/>
          </p:cNvSpPr>
          <p:nvPr/>
        </p:nvSpPr>
        <p:spPr bwMode="auto">
          <a:xfrm>
            <a:off x="2260600" y="1882775"/>
            <a:ext cx="79359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2" name="Rectangle 16"/>
          <p:cNvSpPr>
            <a:spLocks noChangeArrowheads="1"/>
          </p:cNvSpPr>
          <p:nvPr/>
        </p:nvSpPr>
        <p:spPr bwMode="auto">
          <a:xfrm>
            <a:off x="5189538" y="1454150"/>
            <a:ext cx="3444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1</a:t>
            </a:r>
          </a:p>
        </p:txBody>
      </p:sp>
      <p:sp>
        <p:nvSpPr>
          <p:cNvPr id="50193" name="Rectangle 17"/>
          <p:cNvSpPr>
            <a:spLocks noChangeArrowheads="1"/>
          </p:cNvSpPr>
          <p:nvPr/>
        </p:nvSpPr>
        <p:spPr bwMode="auto">
          <a:xfrm>
            <a:off x="2352675" y="1903413"/>
            <a:ext cx="6065838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1 + [HC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]/[H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>
                <a:ea typeface="楷体_GB2312" pitchFamily="49" charset="-122"/>
              </a:rPr>
              <a:t>] + [C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  <a:r>
              <a:rPr lang="en-US" altLang="zh-CN" sz="2500" b="1">
                <a:ea typeface="楷体_GB2312" pitchFamily="49" charset="-122"/>
              </a:rPr>
              <a:t>]/[H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50194" name="Rectangle 18"/>
          <p:cNvSpPr>
            <a:spLocks noChangeArrowheads="1"/>
          </p:cNvSpPr>
          <p:nvPr/>
        </p:nvSpPr>
        <p:spPr bwMode="auto">
          <a:xfrm>
            <a:off x="1111250" y="2624138"/>
            <a:ext cx="9842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a1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</a:t>
            </a:r>
          </a:p>
        </p:txBody>
      </p:sp>
      <p:sp>
        <p:nvSpPr>
          <p:cNvPr id="50195" name="Rectangle 19"/>
          <p:cNvSpPr>
            <a:spLocks noChangeArrowheads="1"/>
          </p:cNvSpPr>
          <p:nvPr/>
        </p:nvSpPr>
        <p:spPr bwMode="auto">
          <a:xfrm>
            <a:off x="2225675" y="2436813"/>
            <a:ext cx="2081213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][H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 </a:t>
            </a:r>
          </a:p>
        </p:txBody>
      </p:sp>
      <p:sp>
        <p:nvSpPr>
          <p:cNvPr id="50196" name="Line 20"/>
          <p:cNvSpPr>
            <a:spLocks noChangeShapeType="1"/>
          </p:cNvSpPr>
          <p:nvPr/>
        </p:nvSpPr>
        <p:spPr bwMode="auto">
          <a:xfrm>
            <a:off x="2111375" y="2909888"/>
            <a:ext cx="2400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7" name="Rectangle 21"/>
          <p:cNvSpPr>
            <a:spLocks noChangeArrowheads="1"/>
          </p:cNvSpPr>
          <p:nvPr/>
        </p:nvSpPr>
        <p:spPr bwMode="auto">
          <a:xfrm>
            <a:off x="2441575" y="2922588"/>
            <a:ext cx="1452563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50198" name="Rectangle 22"/>
          <p:cNvSpPr>
            <a:spLocks noChangeArrowheads="1"/>
          </p:cNvSpPr>
          <p:nvPr/>
        </p:nvSpPr>
        <p:spPr bwMode="auto">
          <a:xfrm>
            <a:off x="1260475" y="3454400"/>
            <a:ext cx="6562725" cy="5349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500" b="1" dirty="0">
                <a:ea typeface="楷体_GB2312" pitchFamily="49" charset="-122"/>
              </a:rPr>
              <a:t>∴[HC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]/[H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C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] = 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/</a:t>
            </a:r>
            <a:r>
              <a:rPr lang="en-US" altLang="zh-CN" sz="2500" b="1" dirty="0"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1025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1143000" y="4284663"/>
            <a:ext cx="13938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又∵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a2</a:t>
            </a:r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2430463" y="4267200"/>
            <a:ext cx="1906587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×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</a:t>
            </a:r>
          </a:p>
        </p:txBody>
      </p:sp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3959225" y="4097338"/>
            <a:ext cx="19399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  <a:r>
              <a:rPr lang="en-US" altLang="zh-CN" sz="2500" b="1">
                <a:ea typeface="楷体_GB2312" pitchFamily="49" charset="-122"/>
              </a:rPr>
              <a:t>][H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 </a:t>
            </a:r>
          </a:p>
        </p:txBody>
      </p:sp>
      <p:sp>
        <p:nvSpPr>
          <p:cNvPr id="26" name="Line 20"/>
          <p:cNvSpPr>
            <a:spLocks noChangeShapeType="1"/>
          </p:cNvSpPr>
          <p:nvPr/>
        </p:nvSpPr>
        <p:spPr bwMode="auto">
          <a:xfrm>
            <a:off x="3878263" y="4586288"/>
            <a:ext cx="22082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Rectangle 21"/>
          <p:cNvSpPr>
            <a:spLocks noChangeArrowheads="1"/>
          </p:cNvSpPr>
          <p:nvPr/>
        </p:nvSpPr>
        <p:spPr bwMode="auto">
          <a:xfrm>
            <a:off x="4179888" y="4568825"/>
            <a:ext cx="14160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6689725" y="4097338"/>
            <a:ext cx="20828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][H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 </a:t>
            </a:r>
          </a:p>
        </p:txBody>
      </p:sp>
      <p:sp>
        <p:nvSpPr>
          <p:cNvPr id="29" name="Line 23"/>
          <p:cNvSpPr>
            <a:spLocks noChangeShapeType="1"/>
          </p:cNvSpPr>
          <p:nvPr/>
        </p:nvSpPr>
        <p:spPr bwMode="auto">
          <a:xfrm>
            <a:off x="6621463" y="4575175"/>
            <a:ext cx="2400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Rectangle 24"/>
          <p:cNvSpPr>
            <a:spLocks noChangeArrowheads="1"/>
          </p:cNvSpPr>
          <p:nvPr/>
        </p:nvSpPr>
        <p:spPr bwMode="auto">
          <a:xfrm>
            <a:off x="7096125" y="4524375"/>
            <a:ext cx="1452563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31" name="Rectangle 25"/>
          <p:cNvSpPr>
            <a:spLocks noChangeArrowheads="1"/>
          </p:cNvSpPr>
          <p:nvPr/>
        </p:nvSpPr>
        <p:spPr bwMode="auto">
          <a:xfrm>
            <a:off x="6102350" y="4368800"/>
            <a:ext cx="5048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×</a:t>
            </a:r>
          </a:p>
        </p:txBody>
      </p:sp>
      <p:sp>
        <p:nvSpPr>
          <p:cNvPr id="32" name="Line 26"/>
          <p:cNvSpPr>
            <a:spLocks noChangeShapeType="1"/>
          </p:cNvSpPr>
          <p:nvPr/>
        </p:nvSpPr>
        <p:spPr bwMode="auto">
          <a:xfrm>
            <a:off x="6818313" y="4291013"/>
            <a:ext cx="1135062" cy="1555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27"/>
          <p:cNvSpPr>
            <a:spLocks noChangeShapeType="1"/>
          </p:cNvSpPr>
          <p:nvPr/>
        </p:nvSpPr>
        <p:spPr bwMode="auto">
          <a:xfrm>
            <a:off x="4097338" y="4703763"/>
            <a:ext cx="1360487" cy="2047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9" grpId="0" autoUpdateAnimBg="0"/>
      <p:bldP spid="50190" grpId="0" autoUpdateAnimBg="0"/>
      <p:bldP spid="50191" grpId="0" animBg="1"/>
      <p:bldP spid="50192" grpId="0" autoUpdateAnimBg="0"/>
      <p:bldP spid="50193" grpId="0" autoUpdateAnimBg="0"/>
      <p:bldP spid="50194" grpId="0" autoUpdateAnimBg="0"/>
      <p:bldP spid="50195" grpId="0" autoUpdateAnimBg="0"/>
      <p:bldP spid="50196" grpId="0" animBg="1"/>
      <p:bldP spid="50197" grpId="0" autoUpdateAnimBg="0"/>
      <p:bldP spid="50198" grpId="0" autoUpdateAnimBg="0"/>
      <p:bldP spid="23" grpId="0" autoUpdateAnimBg="0"/>
      <p:bldP spid="24" grpId="0" autoUpdateAnimBg="0"/>
      <p:bldP spid="25" grpId="0" autoUpdateAnimBg="0"/>
      <p:bldP spid="26" grpId="0" animBg="1"/>
      <p:bldP spid="27" grpId="0" autoUpdateAnimBg="0"/>
      <p:bldP spid="28" grpId="0" autoUpdateAnimBg="0"/>
      <p:bldP spid="29" grpId="0" animBg="1"/>
      <p:bldP spid="30" grpId="0" autoUpdateAnimBg="0"/>
      <p:bldP spid="31" grpId="0" autoUpdateAnimBg="0"/>
      <p:bldP spid="32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974725" y="954088"/>
            <a:ext cx="10328275" cy="5349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500" b="1" dirty="0">
                <a:ea typeface="楷体_GB2312" pitchFamily="49" charset="-122"/>
              </a:rPr>
              <a:t>∴[C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>
                <a:ea typeface="楷体_GB2312" pitchFamily="49" charset="-122"/>
              </a:rPr>
              <a:t>]/[H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C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] =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)/</a:t>
            </a:r>
            <a:r>
              <a:rPr lang="en-US" altLang="zh-CN" sz="2500" b="1" dirty="0"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</a:rPr>
              <a:t>2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3.3.1</a:t>
            </a:r>
            <a:r>
              <a:rPr lang="zh-CN" altLang="en-US" smtClean="0">
                <a:ea typeface="黑体" pitchFamily="49" charset="-122"/>
              </a:rPr>
              <a:t>分布分数与分布曲线</a:t>
            </a:r>
          </a:p>
        </p:txBody>
      </p:sp>
      <p:sp>
        <p:nvSpPr>
          <p:cNvPr id="51209" name="Rectangle 9"/>
          <p:cNvSpPr>
            <a:spLocks noChangeArrowheads="1"/>
          </p:cNvSpPr>
          <p:nvPr/>
        </p:nvSpPr>
        <p:spPr bwMode="auto">
          <a:xfrm>
            <a:off x="1047750" y="2547935"/>
            <a:ext cx="71278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=</a:t>
            </a:r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 flipV="1">
            <a:off x="2090738" y="2736850"/>
            <a:ext cx="431800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3403600" y="2239963"/>
            <a:ext cx="8794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baseline="30000">
                <a:ea typeface="楷体_GB2312" pitchFamily="49" charset="-122"/>
              </a:rPr>
              <a:t>2</a:t>
            </a:r>
          </a:p>
        </p:txBody>
      </p:sp>
      <p:sp>
        <p:nvSpPr>
          <p:cNvPr id="51212" name="Rectangle 12"/>
          <p:cNvSpPr>
            <a:spLocks noChangeArrowheads="1"/>
          </p:cNvSpPr>
          <p:nvPr/>
        </p:nvSpPr>
        <p:spPr bwMode="auto">
          <a:xfrm>
            <a:off x="2046288" y="2740025"/>
            <a:ext cx="378936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baseline="30000">
                <a:ea typeface="楷体_GB2312" pitchFamily="49" charset="-122"/>
              </a:rPr>
              <a:t>2 </a:t>
            </a:r>
            <a:r>
              <a:rPr lang="en-US" altLang="zh-CN" sz="2500" b="1">
                <a:ea typeface="楷体_GB2312" pitchFamily="49" charset="-122"/>
              </a:rPr>
              <a:t>+ 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baseline="-25000">
                <a:ea typeface="楷体_GB2312" pitchFamily="49" charset="-122"/>
              </a:rPr>
              <a:t> </a:t>
            </a:r>
            <a:r>
              <a:rPr lang="en-US" altLang="zh-CN" sz="2500" b="1">
                <a:ea typeface="楷体_GB2312" pitchFamily="49" charset="-122"/>
              </a:rPr>
              <a:t>+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a2</a:t>
            </a:r>
          </a:p>
        </p:txBody>
      </p:sp>
      <p:sp>
        <p:nvSpPr>
          <p:cNvPr id="51213" name="Text Box 13"/>
          <p:cNvSpPr txBox="1">
            <a:spLocks noChangeArrowheads="1"/>
          </p:cNvSpPr>
          <p:nvPr/>
        </p:nvSpPr>
        <p:spPr bwMode="auto">
          <a:xfrm>
            <a:off x="485775" y="3028950"/>
            <a:ext cx="245427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同理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51214" name="Rectangle 14"/>
          <p:cNvSpPr>
            <a:spLocks noChangeArrowheads="1"/>
          </p:cNvSpPr>
          <p:nvPr/>
        </p:nvSpPr>
        <p:spPr bwMode="auto">
          <a:xfrm>
            <a:off x="1119160" y="3576638"/>
            <a:ext cx="712787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1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=</a:t>
            </a:r>
          </a:p>
        </p:txBody>
      </p:sp>
      <p:sp>
        <p:nvSpPr>
          <p:cNvPr id="51215" name="Rectangle 15"/>
          <p:cNvSpPr>
            <a:spLocks noChangeArrowheads="1"/>
          </p:cNvSpPr>
          <p:nvPr/>
        </p:nvSpPr>
        <p:spPr bwMode="auto">
          <a:xfrm>
            <a:off x="3295657" y="3302000"/>
            <a:ext cx="133667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a1</a:t>
            </a:r>
          </a:p>
        </p:txBody>
      </p:sp>
      <p:sp>
        <p:nvSpPr>
          <p:cNvPr id="51216" name="Rectangle 16"/>
          <p:cNvSpPr>
            <a:spLocks noChangeArrowheads="1"/>
          </p:cNvSpPr>
          <p:nvPr/>
        </p:nvSpPr>
        <p:spPr bwMode="auto">
          <a:xfrm>
            <a:off x="2201869" y="3862388"/>
            <a:ext cx="3789363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</a:rPr>
              <a:t>2 </a:t>
            </a:r>
            <a:r>
              <a:rPr lang="en-US" altLang="zh-CN" sz="2500" b="1" dirty="0">
                <a:ea typeface="楷体_GB2312" pitchFamily="49" charset="-122"/>
              </a:rPr>
              <a:t>+ [H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baseline="-25000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+ 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a2</a:t>
            </a:r>
          </a:p>
        </p:txBody>
      </p:sp>
      <p:sp>
        <p:nvSpPr>
          <p:cNvPr id="51217" name="Line 17"/>
          <p:cNvSpPr>
            <a:spLocks noChangeShapeType="1"/>
          </p:cNvSpPr>
          <p:nvPr/>
        </p:nvSpPr>
        <p:spPr bwMode="auto">
          <a:xfrm>
            <a:off x="1773244" y="3790950"/>
            <a:ext cx="4987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8" name="Rectangle 28"/>
          <p:cNvSpPr>
            <a:spLocks noChangeArrowheads="1"/>
          </p:cNvSpPr>
          <p:nvPr/>
        </p:nvSpPr>
        <p:spPr bwMode="auto">
          <a:xfrm>
            <a:off x="1055688" y="1525575"/>
            <a:ext cx="712787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2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=</a:t>
            </a:r>
          </a:p>
        </p:txBody>
      </p:sp>
      <p:sp>
        <p:nvSpPr>
          <p:cNvPr id="51229" name="Line 29"/>
          <p:cNvSpPr>
            <a:spLocks noChangeShapeType="1"/>
          </p:cNvSpPr>
          <p:nvPr/>
        </p:nvSpPr>
        <p:spPr bwMode="auto">
          <a:xfrm>
            <a:off x="1974850" y="1811338"/>
            <a:ext cx="7269163" cy="6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0" name="Rectangle 30"/>
          <p:cNvSpPr>
            <a:spLocks noChangeArrowheads="1"/>
          </p:cNvSpPr>
          <p:nvPr/>
        </p:nvSpPr>
        <p:spPr bwMode="auto">
          <a:xfrm>
            <a:off x="4975225" y="1311275"/>
            <a:ext cx="34448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1</a:t>
            </a:r>
          </a:p>
        </p:txBody>
      </p:sp>
      <p:sp>
        <p:nvSpPr>
          <p:cNvPr id="51231" name="Rectangle 31"/>
          <p:cNvSpPr>
            <a:spLocks noChangeArrowheads="1"/>
          </p:cNvSpPr>
          <p:nvPr/>
        </p:nvSpPr>
        <p:spPr bwMode="auto">
          <a:xfrm>
            <a:off x="2046288" y="1739900"/>
            <a:ext cx="606583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1 + [HC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]/[H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>
                <a:ea typeface="楷体_GB2312" pitchFamily="49" charset="-122"/>
              </a:rPr>
              <a:t>] + [C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  <a:r>
              <a:rPr lang="en-US" altLang="zh-CN" sz="2500" b="1">
                <a:ea typeface="楷体_GB2312" pitchFamily="49" charset="-122"/>
              </a:rPr>
              <a:t>]/[H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C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51232" name="Rectangle 32"/>
          <p:cNvSpPr>
            <a:spLocks noChangeArrowheads="1"/>
          </p:cNvSpPr>
          <p:nvPr/>
        </p:nvSpPr>
        <p:spPr bwMode="auto">
          <a:xfrm>
            <a:off x="4760913" y="1811338"/>
            <a:ext cx="2574925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+ (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)/</a:t>
            </a:r>
            <a:r>
              <a:rPr lang="en-US" altLang="zh-CN" sz="2500" b="1" dirty="0"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</a:rPr>
              <a:t>2</a:t>
            </a:r>
          </a:p>
        </p:txBody>
      </p:sp>
      <p:sp>
        <p:nvSpPr>
          <p:cNvPr id="51233" name="Rectangle 33"/>
          <p:cNvSpPr>
            <a:spLocks noChangeArrowheads="1"/>
          </p:cNvSpPr>
          <p:nvPr/>
        </p:nvSpPr>
        <p:spPr bwMode="auto">
          <a:xfrm>
            <a:off x="2760663" y="1811338"/>
            <a:ext cx="192881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1 +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/</a:t>
            </a:r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1128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1192185" y="4621213"/>
            <a:ext cx="7112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0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=</a:t>
            </a:r>
          </a:p>
        </p:txBody>
      </p:sp>
      <p:sp>
        <p:nvSpPr>
          <p:cNvPr id="35" name="Rectangle 6"/>
          <p:cNvSpPr>
            <a:spLocks noChangeArrowheads="1"/>
          </p:cNvSpPr>
          <p:nvPr/>
        </p:nvSpPr>
        <p:spPr bwMode="auto">
          <a:xfrm>
            <a:off x="2154242" y="4862513"/>
            <a:ext cx="37909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baseline="30000">
                <a:ea typeface="楷体_GB2312" pitchFamily="49" charset="-122"/>
              </a:rPr>
              <a:t>2 </a:t>
            </a:r>
            <a:r>
              <a:rPr lang="en-US" altLang="zh-CN" sz="2500" b="1">
                <a:ea typeface="楷体_GB2312" pitchFamily="49" charset="-122"/>
              </a:rPr>
              <a:t>+ 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baseline="-25000">
                <a:ea typeface="楷体_GB2312" pitchFamily="49" charset="-122"/>
              </a:rPr>
              <a:t> </a:t>
            </a:r>
            <a:r>
              <a:rPr lang="en-US" altLang="zh-CN" sz="2500" b="1">
                <a:ea typeface="楷体_GB2312" pitchFamily="49" charset="-122"/>
              </a:rPr>
              <a:t>+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a2</a:t>
            </a:r>
          </a:p>
        </p:txBody>
      </p:sp>
      <p:sp>
        <p:nvSpPr>
          <p:cNvPr id="36" name="Line 7"/>
          <p:cNvSpPr>
            <a:spLocks noChangeShapeType="1"/>
          </p:cNvSpPr>
          <p:nvPr/>
        </p:nvSpPr>
        <p:spPr bwMode="auto">
          <a:xfrm flipV="1">
            <a:off x="2154242" y="4851400"/>
            <a:ext cx="4249737" cy="11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3368679" y="4362450"/>
            <a:ext cx="1312863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a2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5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1000"/>
                                        <p:tgtEl>
                                          <p:spTgt spid="512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51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512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 autoUpdateAnimBg="0"/>
      <p:bldP spid="51209" grpId="0" autoUpdateAnimBg="0"/>
      <p:bldP spid="51210" grpId="0" animBg="1"/>
      <p:bldP spid="51211" grpId="0" autoUpdateAnimBg="0"/>
      <p:bldP spid="51212" grpId="0" autoUpdateAnimBg="0"/>
      <p:bldP spid="51213" grpId="0" autoUpdateAnimBg="0"/>
      <p:bldP spid="51214" grpId="0" autoUpdateAnimBg="0"/>
      <p:bldP spid="51215" grpId="0" autoUpdateAnimBg="0"/>
      <p:bldP spid="51216" grpId="0" autoUpdateAnimBg="0"/>
      <p:bldP spid="51217" grpId="0" animBg="1"/>
      <p:bldP spid="51228" grpId="0" autoUpdateAnimBg="0"/>
      <p:bldP spid="51229" grpId="0" animBg="1"/>
      <p:bldP spid="51230" grpId="0" autoUpdateAnimBg="0"/>
      <p:bldP spid="51231" grpId="0" autoUpdateAnimBg="0"/>
      <p:bldP spid="51232" grpId="0" autoUpdateAnimBg="0"/>
      <p:bldP spid="51233" grpId="0" autoUpdateAnimBg="0"/>
      <p:bldP spid="34" grpId="0"/>
      <p:bldP spid="35" grpId="0"/>
      <p:bldP spid="36" grpId="0" animBg="1"/>
      <p:bldP spid="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760413" y="882650"/>
            <a:ext cx="1903412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FF3300"/>
                </a:solidFill>
                <a:latin typeface="宋体"/>
                <a:ea typeface="楷体_GB2312" pitchFamily="49" charset="-122"/>
              </a:rPr>
              <a:t>②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分布曲线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/>
          </p:nvPr>
        </p:nvSpPr>
        <p:spPr>
          <a:xfrm>
            <a:off x="166688" y="296863"/>
            <a:ext cx="10369550" cy="477837"/>
          </a:xfrm>
        </p:spPr>
        <p:txBody>
          <a:bodyPr/>
          <a:lstStyle/>
          <a:p>
            <a:r>
              <a:rPr lang="en-US" altLang="zh-CN" sz="2500" smtClean="0">
                <a:ea typeface="楷体_GB2312" pitchFamily="49" charset="-122"/>
              </a:rPr>
              <a:t>3.3.1</a:t>
            </a:r>
            <a:r>
              <a:rPr lang="zh-CN" altLang="en-US" sz="2500" smtClean="0">
                <a:ea typeface="楷体_GB2312" pitchFamily="49" charset="-122"/>
              </a:rPr>
              <a:t>分布分数与分布曲线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88975" y="1454150"/>
            <a:ext cx="4535488" cy="2711450"/>
            <a:chOff x="408" y="624"/>
            <a:chExt cx="2267" cy="1808"/>
          </a:xfrm>
        </p:grpSpPr>
        <p:graphicFrame>
          <p:nvGraphicFramePr>
            <p:cNvPr id="2050" name="Object 13"/>
            <p:cNvGraphicFramePr>
              <a:graphicFrameLocks noChangeAspect="1"/>
            </p:cNvGraphicFramePr>
            <p:nvPr/>
          </p:nvGraphicFramePr>
          <p:xfrm>
            <a:off x="408" y="624"/>
            <a:ext cx="2267" cy="18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name="BMP 图象" r:id="rId5" imgW="3209524" imgH="2561905" progId="PBrush">
                    <p:embed/>
                  </p:oleObj>
                </mc:Choice>
                <mc:Fallback>
                  <p:oleObj name="BMP 图象" r:id="rId5" imgW="3209524" imgH="2561905" progId="PBrush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" y="624"/>
                          <a:ext cx="2267" cy="1808"/>
                        </a:xfrm>
                        <a:prstGeom prst="rect">
                          <a:avLst/>
                        </a:prstGeom>
                        <a:noFill/>
                        <a:ln w="25400">
                          <a:solidFill>
                            <a:srgbClr val="FF00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9" name="Rectangle 14"/>
            <p:cNvSpPr>
              <a:spLocks noChangeArrowheads="1"/>
            </p:cNvSpPr>
            <p:nvPr/>
          </p:nvSpPr>
          <p:spPr bwMode="auto">
            <a:xfrm>
              <a:off x="944" y="624"/>
              <a:ext cx="1265" cy="28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sz="2200" b="1">
                  <a:solidFill>
                    <a:srgbClr val="FF3300"/>
                  </a:solidFill>
                  <a:ea typeface="楷体_GB2312" pitchFamily="49" charset="-122"/>
                </a:rPr>
                <a:t>H</a:t>
              </a:r>
              <a:r>
                <a:rPr lang="en-US" altLang="zh-CN" sz="2200" b="1" baseline="-25000">
                  <a:solidFill>
                    <a:srgbClr val="FF3300"/>
                  </a:solidFill>
                  <a:ea typeface="楷体_GB2312" pitchFamily="49" charset="-122"/>
                </a:rPr>
                <a:t>2</a:t>
              </a:r>
              <a:r>
                <a:rPr lang="en-US" altLang="zh-CN" sz="2200" b="1">
                  <a:solidFill>
                    <a:srgbClr val="FF3300"/>
                  </a:solidFill>
                  <a:ea typeface="楷体_GB2312" pitchFamily="49" charset="-122"/>
                </a:rPr>
                <a:t>C</a:t>
              </a:r>
              <a:r>
                <a:rPr lang="en-US" altLang="zh-CN" sz="2200" b="1" baseline="-25000">
                  <a:solidFill>
                    <a:srgbClr val="FF3300"/>
                  </a:solidFill>
                  <a:ea typeface="楷体_GB2312" pitchFamily="49" charset="-122"/>
                </a:rPr>
                <a:t>2</a:t>
              </a:r>
              <a:r>
                <a:rPr lang="en-US" altLang="zh-CN" sz="2200" b="1">
                  <a:solidFill>
                    <a:srgbClr val="FF3300"/>
                  </a:solidFill>
                  <a:ea typeface="楷体_GB2312" pitchFamily="49" charset="-122"/>
                </a:rPr>
                <a:t>O</a:t>
              </a:r>
              <a:r>
                <a:rPr lang="en-US" altLang="zh-CN" sz="2200" b="1" baseline="-25000">
                  <a:solidFill>
                    <a:srgbClr val="FF3300"/>
                  </a:solidFill>
                  <a:ea typeface="楷体_GB2312" pitchFamily="49" charset="-122"/>
                </a:rPr>
                <a:t>4</a:t>
              </a:r>
              <a:r>
                <a:rPr lang="zh-CN" altLang="en-US" sz="2200" b="1">
                  <a:solidFill>
                    <a:srgbClr val="FF3300"/>
                  </a:solidFill>
                  <a:ea typeface="楷体_GB2312" pitchFamily="49" charset="-122"/>
                </a:rPr>
                <a:t>的分布曲线</a:t>
              </a:r>
            </a:p>
          </p:txBody>
        </p:sp>
      </p:grpSp>
      <p:sp>
        <p:nvSpPr>
          <p:cNvPr id="52239" name="Rectangle 15"/>
          <p:cNvSpPr>
            <a:spLocks noChangeArrowheads="1"/>
          </p:cNvSpPr>
          <p:nvPr/>
        </p:nvSpPr>
        <p:spPr bwMode="auto">
          <a:xfrm>
            <a:off x="5761038" y="1382713"/>
            <a:ext cx="5567362" cy="14779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pH &lt; p</a:t>
            </a:r>
            <a:r>
              <a:rPr lang="en-US" altLang="zh-CN" sz="2500" b="1" i="1" dirty="0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,H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</a:rPr>
              <a:t>4</a:t>
            </a:r>
            <a:r>
              <a:rPr lang="zh-CN" altLang="zh-CN" sz="2500" b="1" dirty="0">
                <a:solidFill>
                  <a:srgbClr val="FF0000"/>
                </a:solidFill>
                <a:ea typeface="楷体_GB2312" pitchFamily="49" charset="-122"/>
              </a:rPr>
              <a:t>为主;</a:t>
            </a:r>
          </a:p>
          <a:p>
            <a:pPr>
              <a:lnSpc>
                <a:spcPct val="120000"/>
              </a:lnSpc>
            </a:pP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p</a:t>
            </a:r>
            <a:r>
              <a:rPr lang="en-US" altLang="zh-CN" sz="2500" b="1" i="1" dirty="0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a1 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&lt; pH &lt; p</a:t>
            </a:r>
            <a:r>
              <a:rPr lang="en-US" altLang="zh-CN" sz="2500" b="1" i="1" dirty="0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,   HC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solidFill>
                  <a:srgbClr val="FF0000"/>
                </a:solidFill>
                <a:ea typeface="楷体_GB2312" pitchFamily="49" charset="-122"/>
              </a:rPr>
              <a:t>-</a:t>
            </a:r>
            <a:r>
              <a:rPr lang="zh-CN" altLang="zh-CN" sz="2500" b="1" dirty="0">
                <a:solidFill>
                  <a:srgbClr val="FF0000"/>
                </a:solidFill>
                <a:ea typeface="楷体_GB2312" pitchFamily="49" charset="-122"/>
              </a:rPr>
              <a:t>为主;</a:t>
            </a:r>
          </a:p>
          <a:p>
            <a:pPr>
              <a:lnSpc>
                <a:spcPct val="120000"/>
              </a:lnSpc>
            </a:pP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pH &gt; p</a:t>
            </a:r>
            <a:r>
              <a:rPr lang="en-US" altLang="zh-CN" sz="2500" b="1" i="1" dirty="0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, C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</a:rPr>
              <a:t>4 </a:t>
            </a:r>
            <a:r>
              <a:rPr lang="en-US" altLang="zh-CN" sz="2500" b="1" baseline="30000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500" b="1" baseline="30000" dirty="0">
                <a:solidFill>
                  <a:srgbClr val="FF0000"/>
                </a:solidFill>
                <a:ea typeface="楷体_GB2312" pitchFamily="49" charset="-122"/>
              </a:rPr>
              <a:t>-</a:t>
            </a:r>
            <a:r>
              <a:rPr lang="zh-CN" altLang="zh-CN" sz="2500" b="1" dirty="0">
                <a:solidFill>
                  <a:srgbClr val="FF0000"/>
                </a:solidFill>
                <a:ea typeface="楷体_GB2312" pitchFamily="49" charset="-122"/>
              </a:rPr>
              <a:t>为主;</a:t>
            </a:r>
          </a:p>
        </p:txBody>
      </p:sp>
      <p:sp>
        <p:nvSpPr>
          <p:cNvPr id="52240" name="Text Box 16"/>
          <p:cNvSpPr txBox="1">
            <a:spLocks noChangeArrowheads="1"/>
          </p:cNvSpPr>
          <p:nvPr/>
        </p:nvSpPr>
        <p:spPr bwMode="auto">
          <a:xfrm>
            <a:off x="5761038" y="2882900"/>
            <a:ext cx="5567362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b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pH = 2.75</a:t>
            </a:r>
            <a:r>
              <a:rPr lang="zh-CN" altLang="zh-CN" sz="2500" b="1" dirty="0">
                <a:ea typeface="楷体_GB2312" pitchFamily="49" charset="-122"/>
              </a:rPr>
              <a:t>时,</a:t>
            </a:r>
            <a:r>
              <a:rPr lang="zh-CN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zh-CN" altLang="zh-CN" sz="2500" b="1" baseline="-25000" dirty="0">
                <a:ea typeface="楷体_GB2312" pitchFamily="49" charset="-122"/>
                <a:sym typeface="Symbol" pitchFamily="18" charset="2"/>
              </a:rPr>
              <a:t>1 </a:t>
            </a:r>
            <a:r>
              <a:rPr lang="zh-CN" altLang="zh-CN" sz="2500" b="1" dirty="0">
                <a:ea typeface="楷体_GB2312" pitchFamily="49" charset="-122"/>
                <a:sym typeface="Symbol" pitchFamily="18" charset="2"/>
              </a:rPr>
              <a:t>= 0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  <a:r>
              <a:rPr lang="zh-CN" altLang="zh-CN" sz="2500" b="1" dirty="0">
                <a:ea typeface="楷体_GB2312" pitchFamily="49" charset="-122"/>
                <a:sym typeface="Symbol" pitchFamily="18" charset="2"/>
              </a:rPr>
              <a:t>938;</a:t>
            </a:r>
          </a:p>
          <a:p>
            <a:r>
              <a:rPr lang="zh-CN" altLang="zh-CN" sz="2500" b="1" dirty="0">
                <a:ea typeface="楷体_GB2312" pitchFamily="49" charset="-122"/>
                <a:sym typeface="Symbol" pitchFamily="18" charset="2"/>
              </a:rPr>
              <a:t>                      </a:t>
            </a:r>
            <a:r>
              <a:rPr lang="zh-CN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zh-CN" altLang="zh-CN" sz="2500" b="1" baseline="-25000" dirty="0">
                <a:ea typeface="楷体_GB2312" pitchFamily="49" charset="-122"/>
                <a:sym typeface="Symbol" pitchFamily="18" charset="2"/>
              </a:rPr>
              <a:t>2 </a:t>
            </a:r>
            <a:r>
              <a:rPr lang="zh-CN" altLang="zh-CN" sz="2500" b="1" dirty="0">
                <a:ea typeface="楷体_GB2312" pitchFamily="49" charset="-122"/>
                <a:sym typeface="Symbol" pitchFamily="18" charset="2"/>
              </a:rPr>
              <a:t>=</a:t>
            </a:r>
            <a:r>
              <a:rPr lang="zh-CN" altLang="zh-CN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zh-CN" altLang="zh-CN" sz="2500" b="1" baseline="-25000" dirty="0">
                <a:ea typeface="楷体_GB2312" pitchFamily="49" charset="-122"/>
                <a:sym typeface="Symbol" pitchFamily="18" charset="2"/>
              </a:rPr>
              <a:t>0 </a:t>
            </a:r>
            <a:r>
              <a:rPr lang="zh-CN" altLang="zh-CN" sz="2500" b="1" dirty="0">
                <a:ea typeface="楷体_GB2312" pitchFamily="49" charset="-122"/>
                <a:sym typeface="Symbol" pitchFamily="18" charset="2"/>
              </a:rPr>
              <a:t>= 0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  <a:r>
              <a:rPr lang="zh-CN" altLang="zh-CN" sz="2500" b="1" dirty="0">
                <a:ea typeface="楷体_GB2312" pitchFamily="49" charset="-122"/>
                <a:sym typeface="Symbol" pitchFamily="18" charset="2"/>
              </a:rPr>
              <a:t>031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  <a:endParaRPr lang="zh-CN" altLang="zh-CN" sz="2500" b="1" dirty="0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52241" name="AutoShape 17"/>
          <p:cNvSpPr>
            <a:spLocks/>
          </p:cNvSpPr>
          <p:nvPr/>
        </p:nvSpPr>
        <p:spPr bwMode="auto">
          <a:xfrm>
            <a:off x="5546725" y="1597025"/>
            <a:ext cx="214312" cy="1643062"/>
          </a:xfrm>
          <a:prstGeom prst="leftBrace">
            <a:avLst>
              <a:gd name="adj1" fmla="val 112488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205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632710" y="4660384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i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</a:t>
            </a:r>
            <a:r>
              <a:rPr lang="zh-CN" altLang="zh-CN" b="1" baseline="-2500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2 </a:t>
            </a:r>
            <a:r>
              <a:rPr lang="zh-CN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=</a:t>
            </a:r>
            <a:r>
              <a:rPr lang="zh-CN" altLang="zh-CN" b="1" i="1" dirty="0" smtClean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b="1" baseline="-25000" dirty="0" smtClean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1</a:t>
            </a:r>
            <a:r>
              <a:rPr lang="en-US" altLang="zh-CN" b="1" dirty="0" smtClean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  pKa1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2" grpId="0"/>
      <p:bldP spid="52239" grpId="0" build="p"/>
      <p:bldP spid="52240" grpId="0"/>
      <p:bldP spid="5224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601697" y="942975"/>
            <a:ext cx="258757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平衡分析法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2291" name="Rectangle 8"/>
          <p:cNvSpPr>
            <a:spLocks noGrp="1" noChangeArrowheads="1"/>
          </p:cNvSpPr>
          <p:nvPr>
            <p:ph type="title"/>
          </p:nvPr>
        </p:nvSpPr>
        <p:spPr>
          <a:xfrm>
            <a:off x="331788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3.3.2</a:t>
            </a:r>
            <a:r>
              <a:rPr lang="zh-CN" altLang="en-US" smtClean="0">
                <a:ea typeface="黑体" pitchFamily="49" charset="-122"/>
              </a:rPr>
              <a:t>组分平衡浓度计算的基本方法</a:t>
            </a:r>
          </a:p>
        </p:txBody>
      </p:sp>
      <p:sp>
        <p:nvSpPr>
          <p:cNvPr id="12292" name="矩形 25"/>
          <p:cNvSpPr>
            <a:spLocks noChangeArrowheads="1"/>
          </p:cNvSpPr>
          <p:nvPr/>
        </p:nvSpPr>
        <p:spPr bwMode="auto">
          <a:xfrm>
            <a:off x="688939" y="2525707"/>
            <a:ext cx="61427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  <a:hlinkClick r:id="rId3" action="ppaction://hlinkpres?slideindex=2&amp;slidetitle=幻灯片 2"/>
              </a:rPr>
              <a:t>解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:</a:t>
            </a:r>
            <a:endParaRPr lang="zh-CN" altLang="en-US" sz="2500" b="1" dirty="0">
              <a:latin typeface="+mn-lt"/>
              <a:ea typeface="楷体_GB2312" pitchFamily="49" charset="-122"/>
            </a:endParaRPr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696892" y="3048001"/>
            <a:ext cx="2278063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分布分数法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688939" y="4740285"/>
            <a:ext cx="17145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hlinkClick r:id="rId4" action="ppaction://hlinkpres?slideindex=5&amp;slidetitle=幻灯片 5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2295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椭圆 62544" descr="图片1">
            <a:hlinkClick r:id="rId6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下节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617501" y="1382699"/>
            <a:ext cx="10328112" cy="163121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2.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常温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、常压下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S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在水中的饱和溶解度为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0.10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</a:p>
          <a:p>
            <a:pPr>
              <a:defRPr/>
            </a:pPr>
            <a:r>
              <a:rPr lang="zh-CN" altLang="en-US" sz="2500" b="1" dirty="0" smtClean="0">
                <a:latin typeface="+mn-lt"/>
                <a:ea typeface="楷体_GB2312" pitchFamily="49" charset="-122"/>
              </a:rPr>
              <a:t>       求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①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S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饱和溶液中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[HS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], [S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2-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];</a:t>
            </a:r>
          </a:p>
          <a:p>
            <a:pPr>
              <a:defRPr/>
            </a:pPr>
            <a:r>
              <a:rPr lang="en-US" altLang="zh-CN" sz="2500" b="1" dirty="0" smtClean="0">
                <a:latin typeface="+mn-lt"/>
                <a:ea typeface="楷体_GB2312" pitchFamily="49" charset="-122"/>
                <a:sym typeface="Monotype Sorts" pitchFamily="2" charset="2"/>
              </a:rPr>
              <a:t>           ②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找出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[S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2-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] 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与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+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]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关系   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.</a:t>
            </a:r>
            <a:r>
              <a:rPr lang="en-US" altLang="zh-CN" sz="2500" b="1" i="1" dirty="0">
                <a:ea typeface="楷体_GB2312" pitchFamily="49" charset="-122"/>
              </a:rPr>
              <a:t> 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smtClean="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=</a:t>
            </a:r>
            <a:r>
              <a:rPr lang="en-US" altLang="zh-CN" sz="2500" b="1" dirty="0" smtClean="0">
                <a:ea typeface="华文新魏" pitchFamily="2" charset="-122"/>
                <a:sym typeface="Webdings" pitchFamily="18" charset="2"/>
              </a:rPr>
              <a:t>1.3×10</a:t>
            </a:r>
            <a:r>
              <a:rPr lang="en-US" altLang="zh-CN" sz="2500" b="1" baseline="30000" dirty="0" smtClean="0">
                <a:ea typeface="华文新魏" pitchFamily="2" charset="-122"/>
                <a:sym typeface="Webdings" pitchFamily="18" charset="2"/>
              </a:rPr>
              <a:t>-7</a:t>
            </a:r>
            <a:r>
              <a:rPr lang="en-US" altLang="zh-CN" sz="2500" b="1" i="1" dirty="0">
                <a:ea typeface="楷体_GB2312" pitchFamily="49" charset="-122"/>
              </a:rPr>
              <a:t> 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smtClean="0"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=</a:t>
            </a:r>
            <a:r>
              <a:rPr lang="en-US" altLang="zh-CN" sz="2500" b="1" dirty="0" smtClean="0">
                <a:ea typeface="华文新魏" pitchFamily="2" charset="-122"/>
                <a:sym typeface="Webdings" pitchFamily="18" charset="2"/>
              </a:rPr>
              <a:t>7.1×10</a:t>
            </a:r>
            <a:r>
              <a:rPr lang="en-US" altLang="zh-CN" sz="2500" b="1" baseline="30000" dirty="0" smtClean="0">
                <a:ea typeface="华文新魏" pitchFamily="2" charset="-122"/>
                <a:sym typeface="Webdings" pitchFamily="18" charset="2"/>
              </a:rPr>
              <a:t>-15</a:t>
            </a:r>
            <a:endParaRPr lang="en-US" altLang="zh-CN" sz="2500" b="1" dirty="0">
              <a:ea typeface="华文新魏" pitchFamily="2" charset="-122"/>
              <a:sym typeface="Webdings" pitchFamily="18" charset="2"/>
            </a:endParaRPr>
          </a:p>
          <a:p>
            <a:pPr>
              <a:defRPr/>
            </a:pPr>
            <a:endParaRPr lang="en-US" altLang="zh-CN" sz="2500" b="1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_GB2312" pitchFamily="49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88939" y="3493790"/>
            <a:ext cx="8429684" cy="12464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3.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常温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、常压下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,CO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饱和水溶液中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en-US" altLang="zh-CN" sz="2500" b="1" i="1" dirty="0">
                <a:latin typeface="+mn-lt"/>
                <a:ea typeface="楷体_GB2312" pitchFamily="49" charset="-122"/>
              </a:rPr>
              <a:t>c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H</a:t>
            </a:r>
            <a:r>
              <a:rPr lang="en-US" altLang="zh-CN" sz="2500" b="1" baseline="-40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CO</a:t>
            </a:r>
            <a:r>
              <a:rPr lang="en-US" altLang="zh-CN" sz="2500" b="1" baseline="-40000" dirty="0"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 = 0.04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</a:p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       求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①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pH = 5.0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时溶液中各种存在形式的平衡浓度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;</a:t>
            </a:r>
          </a:p>
          <a:p>
            <a:r>
              <a:rPr lang="en-US" altLang="zh-CN" sz="2500" b="1" dirty="0" smtClean="0">
                <a:latin typeface="+mn-lt"/>
                <a:ea typeface="楷体_GB2312" pitchFamily="49" charset="-122"/>
                <a:sym typeface="Monotype Sorts" pitchFamily="2" charset="2"/>
              </a:rPr>
              <a:t>           ②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若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pH = 8.0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主要存在形式为何组分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?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autoUpdateAnimBg="0"/>
      <p:bldP spid="12292" grpId="0"/>
      <p:bldP spid="29" grpId="0" autoUpdateAnimBg="0"/>
      <p:bldP spid="30" grpId="0" autoUpdateAnimBg="0"/>
      <p:bldP spid="10" grpId="0" autoUpdateAnimBg="0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e286e51712d7d2ea9cb341664a504f9c4981406a"/>
</p:tagLst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3664</TotalTime>
  <Pages>0</Pages>
  <Words>1049</Words>
  <Characters>0</Characters>
  <Application>Microsoft Office PowerPoint</Application>
  <DocSecurity>0</DocSecurity>
  <PresentationFormat>自定义</PresentationFormat>
  <Lines>0</Lines>
  <Paragraphs>157</Paragraphs>
  <Slides>13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Monotype Sorts</vt:lpstr>
      <vt:lpstr>黑体</vt:lpstr>
      <vt:lpstr>华文新魏</vt:lpstr>
      <vt:lpstr>楷体_GB2312</vt:lpstr>
      <vt:lpstr>宋体</vt:lpstr>
      <vt:lpstr>Calibri</vt:lpstr>
      <vt:lpstr>Symbol</vt:lpstr>
      <vt:lpstr>Times New Roman</vt:lpstr>
      <vt:lpstr>Webdings</vt:lpstr>
      <vt:lpstr>Wingdings</vt:lpstr>
      <vt:lpstr>医学研究PPT模板</vt:lpstr>
      <vt:lpstr>1_医学研究PPT模板</vt:lpstr>
      <vt:lpstr>BMP 图象</vt:lpstr>
      <vt:lpstr>PowerPoint 演示文稿</vt:lpstr>
      <vt:lpstr>3.3酸碱平衡中组分分布及浓度计算</vt:lpstr>
      <vt:lpstr>3.3.1分布分数与分布曲线</vt:lpstr>
      <vt:lpstr>3.3.1分布分数与分布曲线</vt:lpstr>
      <vt:lpstr>PowerPoint 演示文稿</vt:lpstr>
      <vt:lpstr>3.3.1分布分数与分布曲线</vt:lpstr>
      <vt:lpstr>PowerPoint 演示文稿</vt:lpstr>
      <vt:lpstr>3.3.1分布分数与分布曲线</vt:lpstr>
      <vt:lpstr>3.3.1分布分数与分布曲线</vt:lpstr>
      <vt:lpstr>3.3.1分布分数与分布曲线</vt:lpstr>
      <vt:lpstr>3.3.1分布分数与分布曲线</vt:lpstr>
      <vt:lpstr>3.3.1分布分数与分布曲线</vt:lpstr>
      <vt:lpstr>3.3.2组分平衡浓度计算的基本方法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ch03-03</dc:title>
  <dc:creator>江南大学</dc:creator>
  <cp:lastModifiedBy>USER</cp:lastModifiedBy>
  <cp:revision>330</cp:revision>
  <cp:lastPrinted>1601-01-01T00:00:00Z</cp:lastPrinted>
  <dcterms:created xsi:type="dcterms:W3CDTF">2012-06-20T03:37:37Z</dcterms:created>
  <dcterms:modified xsi:type="dcterms:W3CDTF">2022-02-14T01:03:48Z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