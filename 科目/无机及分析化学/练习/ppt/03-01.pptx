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2"/>
  </p:notesMasterIdLst>
  <p:sldIdLst>
    <p:sldId id="256" r:id="rId3"/>
    <p:sldId id="298" r:id="rId4"/>
    <p:sldId id="277" r:id="rId5"/>
    <p:sldId id="279" r:id="rId6"/>
    <p:sldId id="280" r:id="rId7"/>
    <p:sldId id="281" r:id="rId8"/>
    <p:sldId id="282" r:id="rId9"/>
    <p:sldId id="283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11522075" cy="6480175"/>
  <p:notesSz cx="6858000" cy="9144000"/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0000FF"/>
    <a:srgbClr val="FFFFFF"/>
    <a:srgbClr val="F8F8F8"/>
    <a:srgbClr val="FF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60E75313-D7C4-468F-A8C6-E23A0E509D2E}" type="datetimeFigureOut">
              <a:rPr lang="zh-CN" altLang="en-US"/>
              <a:pPr>
                <a:defRPr/>
              </a:pPr>
              <a:t>2021/9/15</a:t>
            </a:fld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77905EB-1639-42A2-B638-16C734CBBC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F8B323E-2540-4F57-B67C-7AF40CEDB2F0}" type="datetime1">
              <a:rPr lang="zh-CN" altLang="en-US" smtClean="0">
                <a:ea typeface="宋体" charset="-122"/>
              </a:rPr>
              <a:pPr/>
              <a:t>2021/9/15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7424AA-E56F-4E0A-AFC4-6CA975AE8F8F}" type="slidenum">
              <a:rPr lang="en-US" altLang="zh-CN" smtClean="0">
                <a:ea typeface="宋体" charset="-122"/>
              </a:rPr>
              <a:pPr/>
              <a:t>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>
                <a:solidFill>
                  <a:srgbClr val="0000FF"/>
                </a:solidFill>
              </a:rPr>
              <a:t>本章开始</a:t>
            </a:r>
            <a:r>
              <a:rPr lang="en-US" altLang="zh-CN" smtClean="0">
                <a:solidFill>
                  <a:srgbClr val="0000FF"/>
                </a:solidFill>
              </a:rPr>
              <a:t>,</a:t>
            </a:r>
            <a:r>
              <a:rPr lang="zh-CN" altLang="en-US" smtClean="0">
                <a:solidFill>
                  <a:srgbClr val="0000FF"/>
                </a:solidFill>
              </a:rPr>
              <a:t>所讨论的大多是水溶液中的平衡</a:t>
            </a:r>
            <a:r>
              <a:rPr lang="en-US" altLang="zh-CN" smtClean="0">
                <a:solidFill>
                  <a:srgbClr val="0000FF"/>
                </a:solidFill>
              </a:rPr>
              <a:t>,</a:t>
            </a:r>
            <a:r>
              <a:rPr lang="zh-CN" altLang="en-US" smtClean="0">
                <a:solidFill>
                  <a:srgbClr val="0000FF"/>
                </a:solidFill>
              </a:rPr>
              <a:t>为简便均略去反应式中的物态</a:t>
            </a:r>
            <a:r>
              <a:rPr lang="en-US" altLang="zh-CN" smtClean="0">
                <a:solidFill>
                  <a:srgbClr val="0000FF"/>
                </a:solidFill>
              </a:rPr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9E44B5F9-ADE6-4B29-A03D-9FBC5D8217F4}" type="datetime1">
              <a:rPr lang="zh-CN" altLang="en-US" smtClean="0">
                <a:ea typeface="宋体" charset="-122"/>
              </a:rPr>
              <a:pPr/>
              <a:t>2021/9/15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76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763EE4-1481-48DD-8AFF-193D8F434534}" type="slidenum">
              <a:rPr lang="en-US" altLang="zh-CN" smtClean="0">
                <a:ea typeface="宋体" charset="-122"/>
              </a:rPr>
              <a:pPr/>
              <a:t>9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76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0 w 5269"/>
                <a:gd name="T3" fmla="*/ 0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2053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9512 w 5269"/>
                <a:gd name="T3" fmla="*/ 3383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2056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2051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ch02/02-0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hyperlink" Target="../ch04/04-01.pptx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03-03.pptx" TargetMode="External"/><Relationship Id="rId2" Type="http://schemas.openxmlformats.org/officeDocument/2006/relationships/hyperlink" Target="03-02.pptx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03-06.pptx" TargetMode="External"/><Relationship Id="rId5" Type="http://schemas.openxmlformats.org/officeDocument/2006/relationships/hyperlink" Target="03-05.pptx" TargetMode="External"/><Relationship Id="rId4" Type="http://schemas.openxmlformats.org/officeDocument/2006/relationships/hyperlink" Target="03-04.ppt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2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4.wav"/><Relationship Id="rId5" Type="http://schemas.openxmlformats.org/officeDocument/2006/relationships/audio" Target="../media/audio1.wav"/><Relationship Id="rId4" Type="http://schemas.openxmlformats.org/officeDocument/2006/relationships/audio" Target="../media/audio5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3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hyperlink" Target="../../03EXAMPLE/ch03/03-01-&#20363;&#39064;.pptx#-1,1,&#24187;&#28783;&#29255; 1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3/03-01-&#20363;&#39064;.pptx#-1,2,&#24187;&#28783;&#29255; 2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03-02.pptx" TargetMode="Externa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Rectangle 4"/>
          <p:cNvSpPr>
            <a:spLocks noChangeArrowheads="1"/>
          </p:cNvSpPr>
          <p:nvPr/>
        </p:nvSpPr>
        <p:spPr bwMode="auto">
          <a:xfrm>
            <a:off x="1546225" y="1454150"/>
            <a:ext cx="8424863" cy="1016000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000000"/>
            </a:outerShdw>
          </a:effectLst>
          <a:extLst/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黑体" pitchFamily="49" charset="-122"/>
              </a:rPr>
              <a:t>第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黑体" pitchFamily="49" charset="-122"/>
              </a:rPr>
              <a:t>3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黑体" pitchFamily="49" charset="-122"/>
              </a:rPr>
              <a:t>章 酸、碱与酸碱平衡</a:t>
            </a:r>
            <a:r>
              <a:rPr lang="zh-CN" altLang="en-US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itchFamily="2" charset="-122"/>
              </a:rPr>
              <a:t/>
            </a:r>
            <a:br>
              <a:rPr lang="zh-CN" altLang="en-US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itchFamily="2" charset="-122"/>
              </a:rPr>
            </a:b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itchFamily="2" charset="-122"/>
              </a:rPr>
              <a:t>Acid-Base &amp; Acid-Base Equilibrium</a:t>
            </a:r>
            <a:endParaRPr kumimoji="1" lang="en-US" altLang="zh-CN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黑体" pitchFamily="2" charset="-122"/>
            </a:endParaRPr>
          </a:p>
        </p:txBody>
      </p:sp>
      <p:sp>
        <p:nvSpPr>
          <p:cNvPr id="4" name="椭圆 62544" descr="图片1">
            <a:hlinkClick r:id="rId3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上章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5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6000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117831" y="954071"/>
            <a:ext cx="564360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lang="en-US" sz="2800" b="1" kern="0" dirty="0" smtClean="0">
                <a:solidFill>
                  <a:srgbClr val="FFFFFF"/>
                </a:solidFill>
                <a:ea typeface="黑体" pitchFamily="49" charset="-122"/>
                <a:cs typeface="+mj-cs"/>
              </a:rPr>
              <a:t>3.1 </a:t>
            </a:r>
            <a:r>
              <a:rPr lang="zh-CN" altLang="en-US" sz="2800" b="1" kern="0" dirty="0" smtClean="0">
                <a:solidFill>
                  <a:srgbClr val="FFFFFF"/>
                </a:solidFill>
                <a:ea typeface="黑体" pitchFamily="49" charset="-122"/>
                <a:cs typeface="+mj-cs"/>
              </a:rPr>
              <a:t>酸</a:t>
            </a:r>
            <a:r>
              <a:rPr lang="zh-CN" altLang="en-US" sz="2800" b="1" kern="0" dirty="0">
                <a:solidFill>
                  <a:srgbClr val="FFFFFF"/>
                </a:solidFill>
                <a:ea typeface="黑体" pitchFamily="49" charset="-122"/>
                <a:cs typeface="+mj-cs"/>
              </a:rPr>
              <a:t>碱质子理论与</a:t>
            </a:r>
            <a:r>
              <a:rPr lang="zh-CN" altLang="en-US" sz="2800" b="1" kern="0" dirty="0" smtClean="0">
                <a:solidFill>
                  <a:srgbClr val="FFFFFF"/>
                </a:solidFill>
                <a:ea typeface="黑体" pitchFamily="49" charset="-122"/>
                <a:cs typeface="+mj-cs"/>
              </a:rPr>
              <a:t>酸碱平衡</a:t>
            </a:r>
            <a:endParaRPr lang="en-US" altLang="zh-CN" sz="2800" b="1" kern="0" dirty="0" smtClean="0">
              <a:solidFill>
                <a:srgbClr val="FFFFFF"/>
              </a:solidFill>
              <a:ea typeface="黑体" pitchFamily="49" charset="-122"/>
              <a:cs typeface="+mj-cs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2" action="ppaction://hlinkpres?slideindex=1&amp;slidetitle="/>
              </a:rPr>
              <a:t>3.2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酸碱平衡的移动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3" action="ppaction://hlinkpres?slideindex=1&amp;slidetitle="/>
              </a:rPr>
              <a:t>3.3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组分的分布与浓度的计算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4" action="ppaction://hlinkpres?slideindex=1&amp;slidetitle="/>
              </a:rPr>
              <a:t>3.4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溶液酸度的计算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5" action="ppaction://hlinkpres?slideindex=1&amp;slidetitle="/>
              </a:rPr>
              <a:t>3.5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溶液酸度的控制与酸碱指示剂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6" action="ppaction://hlinkpres?slideindex=1&amp;slidetitle="/>
              </a:rPr>
              <a:t>3.6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酸碱滴定法</a:t>
            </a:r>
            <a:endParaRPr lang="en-US" altLang="zh-CN" sz="2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1117600" y="1382713"/>
            <a:ext cx="6818313" cy="20161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①(</a:t>
            </a:r>
            <a:r>
              <a:rPr lang="zh-CN" altLang="en-US" sz="2500" b="1" dirty="0">
                <a:ea typeface="楷体_GB2312" pitchFamily="49" charset="-122"/>
              </a:rPr>
              <a:t>阿仑尼乌斯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电离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②(</a:t>
            </a:r>
            <a:r>
              <a:rPr lang="zh-CN" altLang="en-US" sz="2500" b="1" dirty="0">
                <a:ea typeface="楷体_GB2312" pitchFamily="49" charset="-122"/>
              </a:rPr>
              <a:t>富兰克林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溶剂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③(</a:t>
            </a:r>
            <a:r>
              <a:rPr lang="zh-CN" altLang="en-US" sz="2500" b="1" dirty="0">
                <a:ea typeface="楷体_GB2312" pitchFamily="49" charset="-122"/>
              </a:rPr>
              <a:t>布朗斯特德和劳莱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质子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④(</a:t>
            </a:r>
            <a:r>
              <a:rPr lang="zh-CN" altLang="en-US" sz="2500" b="1" dirty="0">
                <a:ea typeface="楷体_GB2312" pitchFamily="49" charset="-122"/>
              </a:rPr>
              <a:t>路易斯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电子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⑤</a:t>
            </a:r>
            <a:r>
              <a:rPr lang="zh-CN" altLang="en-US" sz="2500" b="1" dirty="0">
                <a:ea typeface="楷体_GB2312" pitchFamily="49" charset="-122"/>
              </a:rPr>
              <a:t>软硬酸碱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857250" y="882650"/>
            <a:ext cx="292417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较重要的酸碱理论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25606" name="AutoShape 6"/>
          <p:cNvSpPr>
            <a:spLocks/>
          </p:cNvSpPr>
          <p:nvPr/>
        </p:nvSpPr>
        <p:spPr bwMode="auto">
          <a:xfrm>
            <a:off x="974725" y="1525588"/>
            <a:ext cx="287338" cy="1727200"/>
          </a:xfrm>
          <a:prstGeom prst="leftBrace">
            <a:avLst>
              <a:gd name="adj1" fmla="val 667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688975" y="3382963"/>
            <a:ext cx="10561638" cy="9387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500" b="1" dirty="0">
                <a:ea typeface="楷体_GB2312" pitchFamily="49" charset="-122"/>
              </a:rPr>
              <a:t>电离</a:t>
            </a:r>
            <a:r>
              <a:rPr lang="zh-CN" altLang="en-US" sz="2500" b="1" dirty="0" smtClean="0">
                <a:ea typeface="楷体_GB2312" pitchFamily="49" charset="-122"/>
              </a:rPr>
              <a:t>理论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</a:rPr>
              <a:t>acid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1546225" y="3833820"/>
            <a:ext cx="93599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电离时所产生的</a:t>
            </a:r>
            <a:r>
              <a:rPr lang="zh-CN" altLang="en-US" sz="2500" b="1" dirty="0" smtClean="0">
                <a:ea typeface="楷体_GB2312" pitchFamily="49" charset="-122"/>
              </a:rPr>
              <a:t>阳离子全部</a:t>
            </a:r>
            <a:r>
              <a:rPr lang="zh-CN" altLang="en-US" sz="2500" b="1" dirty="0">
                <a:ea typeface="楷体_GB2312" pitchFamily="49" charset="-122"/>
              </a:rPr>
              <a:t>是氢</a:t>
            </a:r>
            <a:r>
              <a:rPr lang="zh-CN" altLang="en-US" sz="2500" b="1" dirty="0" smtClean="0">
                <a:ea typeface="楷体_GB2312" pitchFamily="49" charset="-122"/>
              </a:rPr>
              <a:t>离子的</a:t>
            </a:r>
            <a:r>
              <a:rPr lang="zh-CN" altLang="en-US" sz="2500" b="1" dirty="0">
                <a:ea typeface="楷体_GB2312" pitchFamily="49" charset="-122"/>
              </a:rPr>
              <a:t>物质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688975" y="4333885"/>
            <a:ext cx="85407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chemeClr val="bg2"/>
                </a:solidFill>
                <a:ea typeface="楷体_GB2312"/>
              </a:rPr>
              <a:t>base</a:t>
            </a:r>
            <a:r>
              <a:rPr lang="en-US" altLang="zh-CN" sz="2500" b="1" dirty="0">
                <a:solidFill>
                  <a:schemeClr val="tx2"/>
                </a:solidFill>
                <a:ea typeface="楷体_GB2312"/>
              </a:rPr>
              <a:t>:</a:t>
            </a:r>
            <a:endParaRPr lang="en-US" altLang="zh-CN" sz="25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1546225" y="4338000"/>
            <a:ext cx="9456738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电离时所产生的</a:t>
            </a:r>
            <a:r>
              <a:rPr lang="zh-CN" altLang="en-US" sz="2500" b="1" dirty="0" smtClean="0">
                <a:ea typeface="楷体_GB2312" pitchFamily="49" charset="-122"/>
              </a:rPr>
              <a:t>阴离子全部</a:t>
            </a:r>
            <a:r>
              <a:rPr lang="zh-CN" altLang="en-US" sz="2500" b="1" dirty="0">
                <a:ea typeface="楷体_GB2312" pitchFamily="49" charset="-122"/>
              </a:rPr>
              <a:t>是</a:t>
            </a:r>
            <a:r>
              <a:rPr lang="zh-CN" altLang="en-US" sz="2500" b="1" dirty="0" smtClean="0">
                <a:ea typeface="楷体_GB2312" pitchFamily="49" charset="-122"/>
              </a:rPr>
              <a:t>氢氧根的</a:t>
            </a:r>
            <a:r>
              <a:rPr lang="zh-CN" altLang="en-US" sz="2500" b="1" dirty="0">
                <a:ea typeface="楷体_GB2312" pitchFamily="49" charset="-122"/>
              </a:rPr>
              <a:t>物质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331788" y="239713"/>
            <a:ext cx="9748837" cy="40005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sz="2200" b="1" kern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3.1</a:t>
            </a:r>
            <a:r>
              <a:rPr lang="en-US" sz="2200" b="1" ker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 </a:t>
            </a:r>
            <a:r>
              <a:rPr lang="zh-CN" altLang="en-US" sz="2200" b="1" ker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酸碱质子理论与酸碱平衡</a:t>
            </a:r>
            <a:endParaRPr lang="en-US" altLang="zh-CN" sz="2200" b="1" kern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5130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1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24733" y="4896271"/>
            <a:ext cx="252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/>
              <a:t>Na</a:t>
            </a:r>
            <a:r>
              <a:rPr lang="en-US" altLang="zh-CN" sz="4000" b="1" baseline="-25000" dirty="0" smtClean="0"/>
              <a:t>2</a:t>
            </a:r>
            <a:r>
              <a:rPr lang="en-US" altLang="zh-CN" sz="4000" b="1" dirty="0" smtClean="0"/>
              <a:t>CO</a:t>
            </a:r>
            <a:r>
              <a:rPr lang="en-US" altLang="zh-CN" sz="4000" b="1" baseline="-25000" dirty="0" smtClean="0"/>
              <a:t>3</a:t>
            </a:r>
            <a:endParaRPr lang="zh-CN" altLang="en-US" sz="4000" b="1" baseline="-25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701" y="4746639"/>
            <a:ext cx="1125032" cy="1125032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 autoUpdateAnimBg="0"/>
      <p:bldP spid="25605" grpId="0" autoUpdateAnimBg="0"/>
      <p:bldP spid="25606" grpId="0" animBg="1"/>
      <p:bldP spid="25607" grpId="0" build="p" autoUpdateAnimBg="0"/>
      <p:bldP spid="25608" grpId="0" autoUpdateAnimBg="0"/>
      <p:bldP spid="25609" grpId="0" autoUpdateAnimBg="0"/>
      <p:bldP spid="25610" grpId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913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solidFill>
                  <a:srgbClr val="FF3300"/>
                </a:solidFill>
                <a:ea typeface="黑体" pitchFamily="49" charset="-122"/>
              </a:rPr>
              <a:t>3.1</a:t>
            </a:r>
            <a:r>
              <a:rPr lang="zh-CN" altLang="en-US" smtClean="0">
                <a:solidFill>
                  <a:srgbClr val="FF3300"/>
                </a:solidFill>
                <a:ea typeface="黑体" pitchFamily="49" charset="-122"/>
              </a:rPr>
              <a:t>酸碱质子理论与酸碱平衡</a:t>
            </a:r>
          </a:p>
        </p:txBody>
      </p:sp>
      <p:sp>
        <p:nvSpPr>
          <p:cNvPr id="7171" name="AutoShape 6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117725" y="2025650"/>
            <a:ext cx="544513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>
              <a:ea typeface="黑体" pitchFamily="49" charset="-122"/>
            </a:endParaRPr>
          </a:p>
        </p:txBody>
      </p:sp>
      <p:sp>
        <p:nvSpPr>
          <p:cNvPr id="7172" name="AutoShape 7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117725" y="3382963"/>
            <a:ext cx="544513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>
              <a:ea typeface="黑体" pitchFamily="49" charset="-122"/>
            </a:endParaRP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2617788" y="1382713"/>
            <a:ext cx="7078662" cy="2433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sz="2800" b="1">
                <a:ea typeface="黑体" pitchFamily="49" charset="-122"/>
              </a:rPr>
              <a:t>3.1.1</a:t>
            </a:r>
            <a:r>
              <a:rPr lang="zh-CN" altLang="en-US" sz="2800" b="1">
                <a:ea typeface="黑体" pitchFamily="49" charset="-122"/>
              </a:rPr>
              <a:t>酸、碱与酸碱反应的实质</a:t>
            </a:r>
          </a:p>
          <a:p>
            <a:pPr>
              <a:lnSpc>
                <a:spcPct val="300000"/>
              </a:lnSpc>
            </a:pPr>
            <a:r>
              <a:rPr lang="en-US" altLang="zh-CN" sz="2800" b="1">
                <a:ea typeface="黑体" pitchFamily="49" charset="-122"/>
              </a:rPr>
              <a:t>3.1.2</a:t>
            </a:r>
            <a:r>
              <a:rPr lang="zh-CN" altLang="en-US" sz="2800" b="1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7174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7175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7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7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744573" y="1811338"/>
            <a:ext cx="10231438" cy="16779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一种物质给</a:t>
            </a:r>
            <a:r>
              <a:rPr lang="zh-CN" altLang="en-US" sz="2500" b="1" dirty="0" smtClean="0">
                <a:ea typeface="楷体_GB2312" pitchFamily="49" charset="-122"/>
              </a:rPr>
              <a:t>出</a:t>
            </a:r>
            <a:r>
              <a:rPr lang="zh-CN" altLang="en-US" sz="2500" b="1" dirty="0">
                <a:ea typeface="楷体_GB2312" pitchFamily="49" charset="-122"/>
              </a:rPr>
              <a:t>质子</a:t>
            </a:r>
            <a:r>
              <a:rPr lang="zh-CN" altLang="en-US" sz="2500" b="1" dirty="0" smtClean="0">
                <a:ea typeface="楷体_GB2312" pitchFamily="49" charset="-122"/>
              </a:rPr>
              <a:t>之后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其剩余部分</a:t>
            </a:r>
            <a:r>
              <a:rPr lang="zh-CN" altLang="en-US" sz="2500" b="1" dirty="0" smtClean="0">
                <a:ea typeface="楷体_GB2312" pitchFamily="49" charset="-122"/>
              </a:rPr>
              <a:t>就是</a:t>
            </a:r>
            <a:r>
              <a:rPr lang="zh-CN" altLang="en-US" sz="2500" b="1" dirty="0">
                <a:ea typeface="楷体_GB2312" pitchFamily="49" charset="-122"/>
              </a:rPr>
              <a:t>碱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酸碱的共轭关系与酸碱半反应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如醋酸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                         </a:t>
            </a:r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</a:rPr>
              <a:t>  </a:t>
            </a:r>
            <a:r>
              <a:rPr lang="zh-CN" altLang="en-US" sz="2500" b="1" dirty="0">
                <a:ea typeface="楷体_GB2312" pitchFamily="49" charset="-122"/>
                <a:cs typeface="Arial Unicode MS" pitchFamily="34" charset="-122"/>
              </a:rPr>
              <a:t>⇌</a:t>
            </a:r>
            <a:r>
              <a:rPr lang="en-US" altLang="zh-CN" sz="2500" b="1" dirty="0">
                <a:ea typeface="楷体_GB2312" pitchFamily="49" charset="-122"/>
              </a:rPr>
              <a:t>   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Ac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1689100" y="882650"/>
            <a:ext cx="350929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能给出质子</a:t>
            </a:r>
            <a:r>
              <a:rPr lang="en-US" altLang="zh-CN" sz="2500" b="1" dirty="0" smtClean="0">
                <a:ea typeface="楷体_GB2312" pitchFamily="49" charset="-122"/>
              </a:rPr>
              <a:t>(H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的物质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760413" y="882650"/>
            <a:ext cx="862012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>
                <a:solidFill>
                  <a:schemeClr val="bg2"/>
                </a:solidFill>
                <a:ea typeface="楷体_GB2312"/>
              </a:rPr>
              <a:t>acid:</a:t>
            </a:r>
            <a:endParaRPr lang="en-US" altLang="zh-CN" sz="2500" b="1">
              <a:solidFill>
                <a:schemeClr val="bg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760413" y="1311275"/>
            <a:ext cx="911225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>
                <a:solidFill>
                  <a:schemeClr val="bg2"/>
                </a:solidFill>
                <a:ea typeface="楷体_GB2312"/>
              </a:rPr>
              <a:t>base:</a:t>
            </a:r>
            <a:endParaRPr lang="en-US" altLang="zh-CN" sz="2500" b="1">
              <a:solidFill>
                <a:schemeClr val="bg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760413" y="4554110"/>
            <a:ext cx="80232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共轭酸碱对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1689100" y="1311275"/>
            <a:ext cx="256381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能接受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zh-CN" altLang="en-US" sz="2500" b="1">
                <a:ea typeface="楷体_GB2312" pitchFamily="49" charset="-122"/>
              </a:rPr>
              <a:t>的物质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035" name="Rectangle 18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10369550" cy="431800"/>
          </a:xfrm>
        </p:spPr>
        <p:txBody>
          <a:bodyPr/>
          <a:lstStyle/>
          <a:p>
            <a:pPr>
              <a:defRPr/>
            </a:pPr>
            <a:r>
              <a:rPr lang="en-US" altLang="zh-CN" smtClean="0">
                <a:latin typeface="+mn-ea"/>
                <a:ea typeface="+mn-ea"/>
              </a:rPr>
              <a:t>3.1.1 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酸、碱与酸碱反应的实质</a:t>
            </a:r>
          </a:p>
        </p:txBody>
      </p:sp>
      <p:sp>
        <p:nvSpPr>
          <p:cNvPr id="67584" name="Text Box 0"/>
          <p:cNvSpPr txBox="1">
            <a:spLocks noChangeArrowheads="1"/>
          </p:cNvSpPr>
          <p:nvPr/>
        </p:nvSpPr>
        <p:spPr bwMode="auto">
          <a:xfrm>
            <a:off x="1046163" y="3954463"/>
            <a:ext cx="20875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共轭关系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67585" name="Line 1"/>
          <p:cNvSpPr>
            <a:spLocks noChangeShapeType="1"/>
          </p:cNvSpPr>
          <p:nvPr/>
        </p:nvSpPr>
        <p:spPr bwMode="auto">
          <a:xfrm flipV="1">
            <a:off x="3332163" y="3311525"/>
            <a:ext cx="0" cy="7493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3079115" y="4001293"/>
            <a:ext cx="611210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0066"/>
                </a:solidFill>
                <a:ea typeface="楷体_GB2312"/>
              </a:rPr>
              <a:t>酸</a:t>
            </a:r>
            <a:endParaRPr lang="en-US" altLang="zh-CN" sz="2500" b="1" dirty="0">
              <a:solidFill>
                <a:srgbClr val="FF0066"/>
              </a:solidFill>
              <a:ea typeface="楷体_GB2312"/>
            </a:endParaRP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5359423" y="4001294"/>
            <a:ext cx="571502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500" b="1" dirty="0" smtClean="0">
                <a:ea typeface="楷体_GB2312"/>
              </a:rPr>
              <a:t>碱</a:t>
            </a:r>
            <a:endParaRPr lang="en-US" altLang="zh-CN" sz="2500" b="1" dirty="0">
              <a:ea typeface="楷体_GB2312"/>
            </a:endParaRPr>
          </a:p>
        </p:txBody>
      </p:sp>
      <p:sp>
        <p:nvSpPr>
          <p:cNvPr id="67588" name="Line 4"/>
          <p:cNvSpPr>
            <a:spLocks noChangeShapeType="1"/>
          </p:cNvSpPr>
          <p:nvPr/>
        </p:nvSpPr>
        <p:spPr bwMode="auto">
          <a:xfrm flipV="1">
            <a:off x="5618163" y="3311525"/>
            <a:ext cx="0" cy="749300"/>
          </a:xfrm>
          <a:prstGeom prst="line">
            <a:avLst/>
          </a:prstGeom>
          <a:noFill/>
          <a:ln w="31750">
            <a:solidFill>
              <a:srgbClr val="00008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5975350" y="3960000"/>
            <a:ext cx="137731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共轭碱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)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4400550" y="4181475"/>
            <a:ext cx="50641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</a:t>
            </a: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7397092" y="3977005"/>
            <a:ext cx="8191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+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2592685" y="4592891"/>
            <a:ext cx="648072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</a:rPr>
              <a:t>因</a:t>
            </a:r>
            <a:r>
              <a:rPr lang="zh-CN" altLang="en-US" sz="2500" b="1" dirty="0">
                <a:ea typeface="楷体_GB2312" pitchFamily="49" charset="-122"/>
              </a:rPr>
              <a:t>一个质子的得失而相互转变的</a:t>
            </a:r>
            <a:r>
              <a:rPr lang="zh-CN" altLang="en-US" sz="2500" b="1" dirty="0" smtClean="0">
                <a:ea typeface="楷体_GB2312" pitchFamily="49" charset="-122"/>
              </a:rPr>
              <a:t>每一对</a:t>
            </a:r>
            <a:r>
              <a:rPr lang="zh-CN" altLang="en-US" sz="2500" b="1" dirty="0">
                <a:ea typeface="楷体_GB2312" pitchFamily="49" charset="-122"/>
              </a:rPr>
              <a:t>酸碱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026" name="Object 25"/>
          <p:cNvGraphicFramePr>
            <a:graphicFrameLocks noChangeAspect="1"/>
          </p:cNvGraphicFramePr>
          <p:nvPr/>
        </p:nvGraphicFramePr>
        <p:xfrm>
          <a:off x="5703888" y="31305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公式" r:id="rId5" imgW="114120" imgH="215640" progId="Equation.3">
                  <p:embed/>
                </p:oleObj>
              </mc:Choice>
              <mc:Fallback>
                <p:oleObj name="公式" r:id="rId5" imgW="114120" imgH="2156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3888" y="31305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75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7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build="p" autoUpdateAnimBg="0"/>
      <p:bldP spid="28679" grpId="0" autoUpdateAnimBg="0"/>
      <p:bldP spid="28680" grpId="0" autoUpdateAnimBg="0"/>
      <p:bldP spid="28682" grpId="0" autoUpdateAnimBg="0"/>
      <p:bldP spid="28683" grpId="0" autoUpdateAnimBg="0"/>
      <p:bldP spid="28684" grpId="0" autoUpdateAnimBg="0"/>
      <p:bldP spid="67584" grpId="0" build="allAtOnce"/>
      <p:bldP spid="67585" grpId="0" animBg="1"/>
      <p:bldP spid="67586" grpId="0" build="p" autoUpdateAnimBg="0"/>
      <p:bldP spid="67587" grpId="0" build="p" autoUpdateAnimBg="0"/>
      <p:bldP spid="67588" grpId="0" animBg="1"/>
      <p:bldP spid="67589" grpId="0" autoUpdateAnimBg="0"/>
      <p:bldP spid="67590" grpId="0"/>
      <p:bldP spid="67591" grpId="0"/>
      <p:bldP spid="67592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474663" y="882650"/>
            <a:ext cx="178276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</a:t>
            </a:r>
            <a:r>
              <a:rPr lang="zh-CN" altLang="en-US" sz="2500" b="1">
                <a:ea typeface="楷体_GB2312" pitchFamily="49" charset="-122"/>
              </a:rPr>
              <a:t>再如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zh-CN" altLang="en-US" sz="2500" b="1">
                <a:ea typeface="楷体_GB2312" pitchFamily="49" charset="-122"/>
              </a:rPr>
              <a:t>：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603234" y="2382838"/>
            <a:ext cx="30146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en-US" sz="2500" b="1" dirty="0">
                <a:ea typeface="楷体_GB2312" pitchFamily="49" charset="-122"/>
              </a:rPr>
              <a:t>如以下酸碱半反应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2690844" y="1882775"/>
            <a:ext cx="76422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acid</a:t>
            </a:r>
            <a:r>
              <a:rPr lang="zh-CN" altLang="en-US" sz="2500" b="1" dirty="0">
                <a:ea typeface="楷体_GB2312" pitchFamily="49" charset="-122"/>
              </a:rPr>
              <a:t>及其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共轭碱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 smtClean="0">
                <a:ea typeface="楷体_GB2312" pitchFamily="49" charset="-122"/>
              </a:rPr>
              <a:t>或</a:t>
            </a:r>
            <a:r>
              <a:rPr lang="zh-CN" altLang="en-US" sz="2500" b="1" dirty="0">
                <a:ea typeface="楷体_GB2312" pitchFamily="49" charset="-122"/>
              </a:rPr>
              <a:t>碱</a:t>
            </a:r>
            <a:r>
              <a:rPr lang="zh-CN" altLang="en-US" sz="2500" b="1" dirty="0" smtClean="0">
                <a:ea typeface="楷体_GB2312" pitchFamily="49" charset="-122"/>
              </a:rPr>
              <a:t>及其</a:t>
            </a:r>
            <a:r>
              <a:rPr lang="zh-CN" altLang="en-US" sz="2500" b="1" dirty="0">
                <a:solidFill>
                  <a:srgbClr val="FF0066"/>
                </a:solidFill>
                <a:ea typeface="楷体_GB2312" pitchFamily="49" charset="-122"/>
              </a:rPr>
              <a:t>共轭酸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相互转变的反应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690594" y="1882775"/>
            <a:ext cx="1903413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酸碱半反应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974725" y="2740025"/>
            <a:ext cx="9559925" cy="2400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en-US" altLang="zh-CN" sz="2500" b="1" dirty="0">
                <a:ea typeface="楷体_GB2312" pitchFamily="49" charset="-122"/>
              </a:rPr>
              <a:t> </a:t>
            </a:r>
            <a:r>
              <a:rPr lang="zh-CN" altLang="en-US" sz="2500" b="1" dirty="0">
                <a:ea typeface="楷体_GB2312" pitchFamily="49" charset="-122"/>
                <a:cs typeface="Arial Unicode MS" pitchFamily="34" charset="-122"/>
              </a:rPr>
              <a:t> ⇌ </a:t>
            </a:r>
            <a:r>
              <a:rPr lang="en-US" altLang="zh-CN" sz="2500" b="1" dirty="0">
                <a:ea typeface="楷体_GB2312" pitchFamily="49" charset="-122"/>
              </a:rPr>
              <a:t>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 Ac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</a:p>
          <a:p>
            <a:pPr algn="ctr"/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</a:t>
            </a:r>
            <a:r>
              <a:rPr lang="zh-CN" altLang="en-US" sz="2500" b="1" dirty="0">
                <a:ea typeface="楷体_GB2312" pitchFamily="49" charset="-122"/>
              </a:rPr>
              <a:t> ⇌</a:t>
            </a:r>
            <a:r>
              <a:rPr lang="en-US" altLang="zh-CN" sz="2500" b="1" dirty="0">
                <a:ea typeface="楷体_GB2312" pitchFamily="49" charset="-122"/>
              </a:rPr>
              <a:t>  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</a:p>
          <a:p>
            <a:pPr algn="ctr"/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 </a:t>
            </a:r>
            <a:r>
              <a:rPr lang="zh-CN" altLang="en-US" sz="2500" b="1" dirty="0">
                <a:ea typeface="楷体_GB2312" pitchFamily="49" charset="-122"/>
              </a:rPr>
              <a:t>⇌  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HCO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endParaRPr lang="en-US" altLang="zh-CN" sz="2500" b="1" dirty="0">
              <a:ea typeface="楷体_GB2312" pitchFamily="49" charset="-122"/>
            </a:endParaRPr>
          </a:p>
          <a:p>
            <a:pPr algn="ctr"/>
            <a:r>
              <a:rPr lang="en-US" altLang="zh-CN" sz="2500" b="1" dirty="0">
                <a:ea typeface="楷体_GB2312" pitchFamily="49" charset="-122"/>
              </a:rPr>
              <a:t>HCO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</a:t>
            </a:r>
            <a:r>
              <a:rPr lang="zh-CN" altLang="en-US" sz="2500" b="1" dirty="0">
                <a:ea typeface="楷体_GB2312" pitchFamily="49" charset="-122"/>
              </a:rPr>
              <a:t>⇌ </a:t>
            </a:r>
            <a:r>
              <a:rPr lang="en-US" altLang="zh-CN" sz="2500" b="1" dirty="0">
                <a:ea typeface="楷体_GB2312" pitchFamily="49" charset="-122"/>
              </a:rPr>
              <a:t>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</a:p>
          <a:p>
            <a:pPr algn="ctr"/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</a:t>
            </a:r>
            <a:r>
              <a:rPr lang="zh-CN" altLang="en-US" sz="2500" b="1" dirty="0">
                <a:ea typeface="楷体_GB2312" pitchFamily="49" charset="-122"/>
              </a:rPr>
              <a:t> ⇌</a:t>
            </a:r>
            <a:r>
              <a:rPr lang="en-US" altLang="zh-CN" sz="2500" b="1" dirty="0">
                <a:ea typeface="楷体_GB2312" pitchFamily="49" charset="-122"/>
              </a:rPr>
              <a:t> 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HPO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endParaRPr lang="en-US" altLang="zh-CN" sz="2500" b="1" dirty="0">
              <a:ea typeface="楷体_GB2312" pitchFamily="49" charset="-122"/>
            </a:endParaRPr>
          </a:p>
          <a:p>
            <a:pPr algn="ctr"/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CH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</a:t>
            </a:r>
            <a:r>
              <a:rPr lang="zh-CN" altLang="en-US" sz="2500" b="1" dirty="0">
                <a:ea typeface="楷体_GB2312" pitchFamily="49" charset="-122"/>
              </a:rPr>
              <a:t> ⇌ </a:t>
            </a:r>
            <a:r>
              <a:rPr lang="en-US" altLang="zh-CN" sz="2500" b="1" dirty="0">
                <a:ea typeface="楷体_GB2312" pitchFamily="49" charset="-122"/>
              </a:rPr>
              <a:t> H</a:t>
            </a:r>
            <a:r>
              <a:rPr lang="en-US" altLang="zh-CN" sz="2500" b="1" baseline="30000" dirty="0">
                <a:ea typeface="楷体_GB2312" pitchFamily="49" charset="-122"/>
              </a:rPr>
              <a:t>+ 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CH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</a:p>
        </p:txBody>
      </p:sp>
      <p:sp>
        <p:nvSpPr>
          <p:cNvPr id="66560" name="Rectangle 0"/>
          <p:cNvSpPr>
            <a:spLocks noChangeArrowheads="1"/>
          </p:cNvSpPr>
          <p:nvPr/>
        </p:nvSpPr>
        <p:spPr bwMode="auto">
          <a:xfrm>
            <a:off x="5403850" y="828000"/>
            <a:ext cx="3267075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0066"/>
                </a:solidFill>
                <a:ea typeface="楷体_GB2312"/>
              </a:rPr>
              <a:t>conjugated acid</a:t>
            </a:r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3689350" y="1239838"/>
            <a:ext cx="457200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 </a:t>
            </a:r>
            <a:r>
              <a:rPr lang="en-US" altLang="zh-CN" sz="2500" b="1">
                <a:ea typeface="楷体_GB2312" pitchFamily="49" charset="-122"/>
              </a:rPr>
              <a:t>+ 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  </a:t>
            </a:r>
            <a:r>
              <a:rPr lang="zh-CN" altLang="en-US" sz="2500" b="1">
                <a:ea typeface="楷体_GB2312" pitchFamily="49" charset="-122"/>
                <a:cs typeface="Arial Unicode MS" pitchFamily="34" charset="-122"/>
              </a:rPr>
              <a:t> ⇌</a:t>
            </a:r>
            <a:r>
              <a:rPr lang="en-US" altLang="zh-CN" sz="2500" b="1">
                <a:ea typeface="楷体_GB2312" pitchFamily="49" charset="-122"/>
              </a:rPr>
              <a:t>    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689350" y="828000"/>
            <a:ext cx="79057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ea typeface="楷体_GB2312"/>
              </a:rPr>
              <a:t>base</a:t>
            </a:r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4260850" y="3168650"/>
            <a:ext cx="815975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6618288" y="3525838"/>
            <a:ext cx="815975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66" name="Line 6"/>
          <p:cNvSpPr>
            <a:spLocks noChangeShapeType="1"/>
          </p:cNvSpPr>
          <p:nvPr/>
        </p:nvSpPr>
        <p:spPr bwMode="auto">
          <a:xfrm>
            <a:off x="4117975" y="3954463"/>
            <a:ext cx="817563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67" name="Line 7"/>
          <p:cNvSpPr>
            <a:spLocks noChangeShapeType="1"/>
          </p:cNvSpPr>
          <p:nvPr/>
        </p:nvSpPr>
        <p:spPr bwMode="auto">
          <a:xfrm>
            <a:off x="2046288" y="5097463"/>
            <a:ext cx="3175000" cy="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4260850" y="3525838"/>
            <a:ext cx="815975" cy="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69" name="Line 9"/>
          <p:cNvSpPr>
            <a:spLocks noChangeShapeType="1"/>
          </p:cNvSpPr>
          <p:nvPr/>
        </p:nvSpPr>
        <p:spPr bwMode="auto">
          <a:xfrm>
            <a:off x="6546850" y="3168650"/>
            <a:ext cx="815975" cy="0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70" name="Line 10"/>
          <p:cNvSpPr>
            <a:spLocks noChangeShapeType="1"/>
          </p:cNvSpPr>
          <p:nvPr/>
        </p:nvSpPr>
        <p:spPr bwMode="auto">
          <a:xfrm>
            <a:off x="4117975" y="4311650"/>
            <a:ext cx="817563" cy="0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71" name="Line 11"/>
          <p:cNvSpPr>
            <a:spLocks noChangeShapeType="1"/>
          </p:cNvSpPr>
          <p:nvPr/>
        </p:nvSpPr>
        <p:spPr bwMode="auto">
          <a:xfrm>
            <a:off x="4117975" y="4668838"/>
            <a:ext cx="815975" cy="0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72" name="Line 12"/>
          <p:cNvSpPr>
            <a:spLocks noChangeShapeType="1"/>
          </p:cNvSpPr>
          <p:nvPr/>
        </p:nvSpPr>
        <p:spPr bwMode="auto">
          <a:xfrm>
            <a:off x="6546850" y="3883025"/>
            <a:ext cx="815975" cy="0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73" name="Line 13"/>
          <p:cNvSpPr>
            <a:spLocks noChangeShapeType="1"/>
          </p:cNvSpPr>
          <p:nvPr/>
        </p:nvSpPr>
        <p:spPr bwMode="auto">
          <a:xfrm>
            <a:off x="6546850" y="4311650"/>
            <a:ext cx="815975" cy="0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74" name="Line 14"/>
          <p:cNvSpPr>
            <a:spLocks noChangeShapeType="1"/>
          </p:cNvSpPr>
          <p:nvPr/>
        </p:nvSpPr>
        <p:spPr bwMode="auto">
          <a:xfrm>
            <a:off x="6546850" y="4668838"/>
            <a:ext cx="815975" cy="0"/>
          </a:xfrm>
          <a:prstGeom prst="line">
            <a:avLst/>
          </a:prstGeom>
          <a:noFill/>
          <a:ln w="3175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75" name="Line 15"/>
          <p:cNvSpPr>
            <a:spLocks noChangeShapeType="1"/>
          </p:cNvSpPr>
          <p:nvPr/>
        </p:nvSpPr>
        <p:spPr bwMode="auto">
          <a:xfrm>
            <a:off x="6618288" y="5097463"/>
            <a:ext cx="3175000" cy="0"/>
          </a:xfrm>
          <a:prstGeom prst="line">
            <a:avLst/>
          </a:prstGeom>
          <a:noFill/>
          <a:ln w="31750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18"/>
          <p:cNvSpPr txBox="1">
            <a:spLocks noChangeArrowheads="1"/>
          </p:cNvSpPr>
          <p:nvPr/>
        </p:nvSpPr>
        <p:spPr bwMode="auto">
          <a:xfrm>
            <a:off x="260350" y="311150"/>
            <a:ext cx="103695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3.1.1 </a:t>
            </a:r>
            <a:r>
              <a:rPr lang="zh-CN" altLang="en-US" sz="2200" b="1" ker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酸、碱与酸碱反应的实质</a:t>
            </a:r>
          </a:p>
        </p:txBody>
      </p:sp>
      <p:sp>
        <p:nvSpPr>
          <p:cNvPr id="8215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6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autoUpdateAnimBg="0"/>
      <p:bldP spid="29707" grpId="0" autoUpdateAnimBg="0"/>
      <p:bldP spid="29708" grpId="0" autoUpdateAnimBg="0"/>
      <p:bldP spid="29709" grpId="0" autoUpdateAnimBg="0"/>
      <p:bldP spid="29715" grpId="0" autoUpdateAnimBg="0"/>
      <p:bldP spid="66560" grpId="0" autoUpdateAnimBg="0"/>
      <p:bldP spid="66562" grpId="0"/>
      <p:bldP spid="66563" grpId="0"/>
      <p:bldP spid="66564" grpId="0" animBg="1"/>
      <p:bldP spid="66565" grpId="0" animBg="1"/>
      <p:bldP spid="66566" grpId="0" animBg="1"/>
      <p:bldP spid="66567" grpId="0" animBg="1"/>
      <p:bldP spid="66568" grpId="0" animBg="1"/>
      <p:bldP spid="66569" grpId="0" animBg="1"/>
      <p:bldP spid="66570" grpId="0" animBg="1"/>
      <p:bldP spid="66571" grpId="0" animBg="1"/>
      <p:bldP spid="66572" grpId="0" animBg="1"/>
      <p:bldP spid="66573" grpId="0" animBg="1"/>
      <p:bldP spid="66574" grpId="0" animBg="1"/>
      <p:bldP spid="665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1546225" y="882650"/>
            <a:ext cx="268214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 smtClean="0">
                <a:latin typeface="+mn-ea"/>
                <a:ea typeface="+mn-ea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chemeClr val="accent2"/>
                </a:solidFill>
                <a:latin typeface="+mn-ea"/>
                <a:ea typeface="+mn-ea"/>
                <a:sym typeface="Monotype Sorts" pitchFamily="2" charset="2"/>
              </a:rPr>
              <a:t>酸</a:t>
            </a:r>
            <a:r>
              <a:rPr lang="en-US" altLang="zh-CN" sz="2500" b="1" dirty="0" smtClean="0">
                <a:solidFill>
                  <a:srgbClr val="FF3300"/>
                </a:solidFill>
                <a:latin typeface="+mn-ea"/>
                <a:ea typeface="+mn-ea"/>
                <a:sym typeface="Monotype Sorts" pitchFamily="2" charset="2"/>
              </a:rPr>
              <a:t>,</a:t>
            </a:r>
            <a:r>
              <a:rPr lang="zh-CN" altLang="en-US" sz="2500" b="1" dirty="0">
                <a:solidFill>
                  <a:schemeClr val="accent2"/>
                </a:solidFill>
                <a:latin typeface="+mn-ea"/>
                <a:ea typeface="+mn-ea"/>
                <a:sym typeface="Monotype Sorts" pitchFamily="2" charset="2"/>
              </a:rPr>
              <a:t>碱</a:t>
            </a:r>
            <a:r>
              <a:rPr lang="zh-CN" altLang="en-US" sz="2500" b="1" dirty="0" smtClean="0">
                <a:solidFill>
                  <a:srgbClr val="FF3300"/>
                </a:solidFill>
                <a:latin typeface="楷体_GB2312"/>
                <a:ea typeface="楷体_GB2312"/>
                <a:sym typeface="Monotype Sorts" pitchFamily="2" charset="2"/>
              </a:rPr>
              <a:t>是</a:t>
            </a:r>
            <a:r>
              <a:rPr lang="zh-CN" altLang="en-US" sz="2500" b="1" dirty="0">
                <a:solidFill>
                  <a:srgbClr val="FF3300"/>
                </a:solidFill>
                <a:latin typeface="楷体_GB2312"/>
                <a:ea typeface="楷体_GB2312"/>
                <a:sym typeface="Monotype Sorts" pitchFamily="2" charset="2"/>
              </a:rPr>
              <a:t>相对的</a:t>
            </a:r>
            <a:r>
              <a:rPr lang="en-US" altLang="zh-CN" sz="2500" b="1" dirty="0">
                <a:latin typeface="楷体_GB2312"/>
                <a:ea typeface="楷体_GB2312"/>
                <a:sym typeface="Monotype Sorts" pitchFamily="2" charset="2"/>
              </a:rPr>
              <a:t>;</a:t>
            </a:r>
          </a:p>
        </p:txBody>
      </p:sp>
      <p:sp>
        <p:nvSpPr>
          <p:cNvPr id="30735" name="Rectangle 15"/>
          <p:cNvSpPr>
            <a:spLocks noChangeArrowheads="1"/>
          </p:cNvSpPr>
          <p:nvPr/>
        </p:nvSpPr>
        <p:spPr bwMode="auto">
          <a:xfrm>
            <a:off x="688975" y="882633"/>
            <a:ext cx="93662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/>
                <a:ea typeface="楷体_GB2312"/>
              </a:rPr>
              <a:t>注意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/>
                <a:ea typeface="楷体_GB2312"/>
              </a:rPr>
              <a:t>:</a:t>
            </a:r>
            <a:endParaRPr lang="en-US" altLang="zh-CN" sz="2500" b="1" dirty="0">
              <a:solidFill>
                <a:srgbClr val="FF3300"/>
              </a:solidFill>
              <a:latin typeface="楷体_GB2312"/>
              <a:ea typeface="楷体_GB2312"/>
            </a:endParaRPr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903288" y="1382713"/>
            <a:ext cx="10231437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>
                <a:latin typeface="楷体_GB2312" pitchFamily="49" charset="-122"/>
                <a:ea typeface="楷体" pitchFamily="49" charset="-122"/>
                <a:sym typeface="Monotype Sorts" pitchFamily="2" charset="2"/>
              </a:rPr>
              <a:t>    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如</a:t>
            </a:r>
            <a:r>
              <a:rPr lang="en-US" altLang="zh-CN" sz="2500" b="1">
                <a:ea typeface="宋体" pitchFamily="2" charset="-122"/>
                <a:sym typeface="Monotype Sorts" pitchFamily="2" charset="2"/>
              </a:rPr>
              <a:t>HCO</a:t>
            </a:r>
            <a:r>
              <a:rPr lang="en-US" altLang="zh-CN" sz="2500" b="1" baseline="-25000">
                <a:ea typeface="宋体" pitchFamily="2" charset="-122"/>
                <a:sym typeface="Monotype Sorts" pitchFamily="2" charset="2"/>
              </a:rPr>
              <a:t>3</a:t>
            </a:r>
            <a:r>
              <a:rPr lang="en-US" altLang="zh-CN" sz="2500" b="1" baseline="30000">
                <a:ea typeface="宋体" pitchFamily="2" charset="-122"/>
                <a:sym typeface="Monotype Sorts" pitchFamily="2" charset="2"/>
              </a:rPr>
              <a:t>-</a:t>
            </a:r>
            <a:r>
              <a:rPr lang="en-US" altLang="zh-CN" sz="2500" b="1">
                <a:ea typeface="宋体" pitchFamily="2" charset="-122"/>
                <a:sym typeface="Monotype Sorts" pitchFamily="2" charset="2"/>
              </a:rPr>
              <a:t>,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水为溶剂</a:t>
            </a:r>
            <a:r>
              <a:rPr lang="en-US" altLang="zh-CN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,</a:t>
            </a:r>
          </a:p>
          <a:p>
            <a:pPr>
              <a:defRPr/>
            </a:pPr>
            <a:r>
              <a:rPr lang="en-US" altLang="zh-CN" sz="2500" b="1">
                <a:ea typeface="宋体" pitchFamily="2" charset="-122"/>
              </a:rPr>
              <a:t>HCO</a:t>
            </a:r>
            <a:r>
              <a:rPr lang="en-US" altLang="zh-CN" sz="2500" b="1" baseline="-25000">
                <a:ea typeface="宋体" pitchFamily="2" charset="-122"/>
              </a:rPr>
              <a:t>3</a:t>
            </a:r>
            <a:r>
              <a:rPr lang="en-US" altLang="zh-CN" sz="2500" b="1" baseline="30000">
                <a:ea typeface="宋体" pitchFamily="2" charset="-122"/>
              </a:rPr>
              <a:t>-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 ⇌ </a:t>
            </a:r>
            <a:r>
              <a:rPr lang="en-US" altLang="zh-CN" sz="2500" b="1">
                <a:ea typeface="宋体" pitchFamily="2" charset="-122"/>
              </a:rPr>
              <a:t>H</a:t>
            </a:r>
            <a:r>
              <a:rPr lang="en-US" altLang="zh-CN" sz="2500" b="1" baseline="30000">
                <a:ea typeface="宋体" pitchFamily="2" charset="-122"/>
              </a:rPr>
              <a:t>+</a:t>
            </a:r>
            <a:r>
              <a:rPr lang="en-US" altLang="zh-CN" sz="2500" b="1">
                <a:ea typeface="宋体" pitchFamily="2" charset="-122"/>
              </a:rPr>
              <a:t> + CO</a:t>
            </a:r>
            <a:r>
              <a:rPr lang="en-US" altLang="zh-CN" sz="2500" b="1" baseline="-25000">
                <a:ea typeface="宋体" pitchFamily="2" charset="-122"/>
              </a:rPr>
              <a:t>3</a:t>
            </a:r>
            <a:r>
              <a:rPr lang="en-US" altLang="zh-CN" sz="2500" b="1" baseline="30000">
                <a:ea typeface="宋体" pitchFamily="2" charset="-122"/>
              </a:rPr>
              <a:t>2-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半反应</a:t>
            </a:r>
            <a:r>
              <a:rPr lang="en-US" altLang="zh-CN" sz="2500" b="1">
                <a:latin typeface="+mn-ea"/>
                <a:ea typeface="+mn-ea"/>
                <a:sym typeface="Monotype Sorts" pitchFamily="2" charset="2"/>
              </a:rPr>
              <a:t>;</a:t>
            </a:r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1617663" y="2311400"/>
            <a:ext cx="50355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latin typeface="楷体_GB2312" pitchFamily="49" charset="-122"/>
                <a:ea typeface="楷体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共轭酸碱对是不能独立存在的</a:t>
            </a:r>
            <a:r>
              <a:rPr lang="en-US" altLang="zh-CN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30740" name="Rectangle 20"/>
          <p:cNvSpPr>
            <a:spLocks noChangeArrowheads="1"/>
          </p:cNvSpPr>
          <p:nvPr/>
        </p:nvSpPr>
        <p:spPr bwMode="auto">
          <a:xfrm>
            <a:off x="5546725" y="1377943"/>
            <a:ext cx="4465638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     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同样水为溶剂</a:t>
            </a:r>
            <a:r>
              <a:rPr lang="en-US" altLang="zh-CN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,</a:t>
            </a:r>
          </a:p>
          <a:p>
            <a:r>
              <a:rPr lang="en-US" altLang="zh-CN" sz="2500" b="1"/>
              <a:t>HCO</a:t>
            </a:r>
            <a:r>
              <a:rPr lang="en-US" altLang="zh-CN" sz="2500" b="1" baseline="-25000"/>
              <a:t>3</a:t>
            </a:r>
            <a:r>
              <a:rPr lang="en-US" altLang="zh-CN" sz="2500" b="1" baseline="30000"/>
              <a:t>-</a:t>
            </a:r>
            <a:r>
              <a:rPr lang="en-US" altLang="zh-CN" sz="2500" b="1"/>
              <a:t> + H</a:t>
            </a:r>
            <a:r>
              <a:rPr lang="en-US" altLang="zh-CN" sz="2500" b="1" baseline="30000"/>
              <a:t>+</a:t>
            </a:r>
            <a:r>
              <a:rPr lang="en-US" altLang="zh-CN" sz="2500" b="1"/>
              <a:t>  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⇌ </a:t>
            </a:r>
            <a:r>
              <a:rPr lang="en-US" altLang="zh-CN" sz="2500" b="1"/>
              <a:t> H</a:t>
            </a:r>
            <a:r>
              <a:rPr lang="en-US" altLang="zh-CN" sz="2500" b="1" baseline="-25000"/>
              <a:t>2</a:t>
            </a:r>
            <a:r>
              <a:rPr lang="en-US" altLang="zh-CN" sz="2500" b="1"/>
              <a:t>CO</a:t>
            </a:r>
            <a:r>
              <a:rPr lang="en-US" altLang="zh-CN" sz="2500" b="1" baseline="-25000"/>
              <a:t>3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半反应</a:t>
            </a:r>
            <a:r>
              <a:rPr lang="en-US" altLang="zh-CN" sz="2500" b="1">
                <a:latin typeface="楷体_GB2312" pitchFamily="49" charset="-122"/>
                <a:ea typeface="楷体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68608" name="Rectangle 0"/>
          <p:cNvSpPr>
            <a:spLocks noChangeArrowheads="1"/>
          </p:cNvSpPr>
          <p:nvPr/>
        </p:nvSpPr>
        <p:spPr bwMode="auto">
          <a:xfrm>
            <a:off x="2005013" y="2870200"/>
            <a:ext cx="35290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latin typeface="楷体_GB2312" pitchFamily="49" charset="-122"/>
                <a:ea typeface="楷体" pitchFamily="49" charset="-122"/>
                <a:sym typeface="Monotype Sorts" pitchFamily="2" charset="2"/>
              </a:rPr>
              <a:t>如</a:t>
            </a:r>
            <a:r>
              <a:rPr lang="en-US" altLang="zh-CN" sz="2500" b="1">
                <a:latin typeface="楷体_GB2312" pitchFamily="49" charset="-122"/>
                <a:ea typeface="楷体" pitchFamily="49" charset="-122"/>
                <a:sym typeface="Monotype Sorts" pitchFamily="2" charset="2"/>
              </a:rPr>
              <a:t>:</a:t>
            </a:r>
            <a:r>
              <a:rPr lang="en-US" altLang="zh-CN" sz="2500" b="1">
                <a:latin typeface="楷体_GB2312" pitchFamily="49" charset="-122"/>
                <a:ea typeface="楷体" pitchFamily="49" charset="-122"/>
              </a:rPr>
              <a:t>    </a:t>
            </a:r>
            <a:r>
              <a:rPr lang="en-US" altLang="zh-CN" sz="2500" b="1"/>
              <a:t>HAc   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⇌ </a:t>
            </a:r>
            <a:r>
              <a:rPr lang="en-US" altLang="zh-CN" sz="2500" b="1"/>
              <a:t> H</a:t>
            </a:r>
            <a:r>
              <a:rPr lang="en-US" altLang="zh-CN" sz="2500" b="1" baseline="30000"/>
              <a:t>+</a:t>
            </a:r>
            <a:r>
              <a:rPr lang="en-US" altLang="zh-CN" sz="2500" b="1"/>
              <a:t> + Ac</a:t>
            </a:r>
            <a:r>
              <a:rPr lang="en-US" altLang="zh-CN" sz="2500" b="1" baseline="30000"/>
              <a:t>-</a:t>
            </a:r>
            <a:r>
              <a:rPr lang="en-US" altLang="zh-CN" sz="2500" b="1"/>
              <a:t> </a:t>
            </a:r>
          </a:p>
        </p:txBody>
      </p:sp>
      <p:sp>
        <p:nvSpPr>
          <p:cNvPr id="68609" name="Rectangle 1"/>
          <p:cNvSpPr>
            <a:spLocks noChangeArrowheads="1"/>
          </p:cNvSpPr>
          <p:nvPr/>
        </p:nvSpPr>
        <p:spPr bwMode="auto">
          <a:xfrm>
            <a:off x="2832100" y="3311525"/>
            <a:ext cx="41306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/>
              <a:t>H</a:t>
            </a:r>
            <a:r>
              <a:rPr lang="en-US" altLang="zh-CN" sz="2500" b="1" baseline="-25000"/>
              <a:t>2</a:t>
            </a:r>
            <a:r>
              <a:rPr lang="en-US" altLang="zh-CN" sz="2500" b="1"/>
              <a:t>O + H</a:t>
            </a:r>
            <a:r>
              <a:rPr lang="en-US" altLang="zh-CN" sz="2500" b="1" baseline="30000"/>
              <a:t>+</a:t>
            </a:r>
            <a:r>
              <a:rPr lang="en-US" altLang="zh-CN" sz="2500" b="1"/>
              <a:t> 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⇌ </a:t>
            </a:r>
            <a:r>
              <a:rPr lang="en-US" altLang="zh-CN" sz="2500" b="1"/>
              <a:t> H</a:t>
            </a:r>
            <a:r>
              <a:rPr lang="en-US" altLang="zh-CN" sz="2500" b="1" baseline="-25000"/>
              <a:t>3</a:t>
            </a:r>
            <a:r>
              <a:rPr lang="en-US" altLang="zh-CN" sz="2500" b="1"/>
              <a:t>O</a:t>
            </a:r>
            <a:r>
              <a:rPr lang="en-US" altLang="zh-CN" sz="2500" b="1" baseline="30000"/>
              <a:t>+</a:t>
            </a:r>
          </a:p>
        </p:txBody>
      </p:sp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2005013" y="3311525"/>
            <a:ext cx="4746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>
                <a:latin typeface="+mn-ea"/>
                <a:ea typeface="+mn-ea"/>
              </a:rPr>
              <a:t>+)</a:t>
            </a:r>
          </a:p>
        </p:txBody>
      </p:sp>
      <p:sp>
        <p:nvSpPr>
          <p:cNvPr id="68611" name="Line 3"/>
          <p:cNvSpPr>
            <a:spLocks noChangeShapeType="1"/>
          </p:cNvSpPr>
          <p:nvPr/>
        </p:nvSpPr>
        <p:spPr bwMode="auto">
          <a:xfrm>
            <a:off x="1004888" y="3860800"/>
            <a:ext cx="5440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1974850" y="3954463"/>
            <a:ext cx="58102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/>
              <a:t>HAc +  H</a:t>
            </a:r>
            <a:r>
              <a:rPr lang="en-US" altLang="zh-CN" sz="2500" b="1" baseline="-25000"/>
              <a:t>2</a:t>
            </a:r>
            <a:r>
              <a:rPr lang="en-US" altLang="zh-CN" sz="2500" b="1"/>
              <a:t>O 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 ⇌</a:t>
            </a:r>
            <a:r>
              <a:rPr lang="en-US" altLang="zh-CN" sz="2500" b="1"/>
              <a:t>    H</a:t>
            </a:r>
            <a:r>
              <a:rPr lang="en-US" altLang="zh-CN" sz="2500" b="1" baseline="-25000"/>
              <a:t>3</a:t>
            </a:r>
            <a:r>
              <a:rPr lang="en-US" altLang="zh-CN" sz="2500" b="1"/>
              <a:t>O</a:t>
            </a:r>
            <a:r>
              <a:rPr lang="en-US" altLang="zh-CN" sz="2500" b="1" baseline="30000"/>
              <a:t>+</a:t>
            </a:r>
            <a:r>
              <a:rPr lang="en-US" altLang="zh-CN" sz="2500" b="1"/>
              <a:t>  +  Ac</a:t>
            </a:r>
            <a:r>
              <a:rPr lang="en-US" altLang="zh-CN" sz="2500" b="1" baseline="30000"/>
              <a:t>-</a:t>
            </a: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1820863" y="4300538"/>
            <a:ext cx="6667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latin typeface="楷体_GB2312"/>
                <a:ea typeface="楷体" pitchFamily="49" charset="-122"/>
              </a:rPr>
              <a:t>酸</a:t>
            </a:r>
            <a:r>
              <a:rPr lang="en-US" altLang="zh-CN" sz="2500" b="1">
                <a:latin typeface="+mn-ea"/>
                <a:ea typeface="+mn-ea"/>
              </a:rPr>
              <a:t>1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3044825" y="4300538"/>
            <a:ext cx="6794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latin typeface="楷体_GB2312"/>
                <a:ea typeface="楷体" pitchFamily="49" charset="-122"/>
              </a:rPr>
              <a:t>碱</a:t>
            </a:r>
            <a:r>
              <a:rPr lang="en-US" altLang="zh-CN" sz="2500" b="1">
                <a:latin typeface="+mn-ea"/>
                <a:ea typeface="+mn-ea"/>
              </a:rPr>
              <a:t>2</a:t>
            </a: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4633913" y="4300538"/>
            <a:ext cx="6794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latin typeface="楷体_GB2312"/>
                <a:ea typeface="楷体" pitchFamily="49" charset="-122"/>
              </a:rPr>
              <a:t>酸</a:t>
            </a:r>
            <a:r>
              <a:rPr lang="en-US" altLang="zh-CN" sz="2500" b="1">
                <a:latin typeface="+mn-ea"/>
                <a:ea typeface="+mn-ea"/>
              </a:rPr>
              <a:t>2</a:t>
            </a:r>
          </a:p>
        </p:txBody>
      </p:sp>
      <p:sp>
        <p:nvSpPr>
          <p:cNvPr id="68616" name="Rectangle 8"/>
          <p:cNvSpPr>
            <a:spLocks noChangeArrowheads="1"/>
          </p:cNvSpPr>
          <p:nvPr/>
        </p:nvSpPr>
        <p:spPr bwMode="auto">
          <a:xfrm>
            <a:off x="5832475" y="4311650"/>
            <a:ext cx="6667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latin typeface="楷体_GB2312"/>
                <a:ea typeface="楷体" pitchFamily="49" charset="-122"/>
              </a:rPr>
              <a:t>碱</a:t>
            </a:r>
            <a:r>
              <a:rPr lang="en-US" altLang="zh-CN" sz="2500" b="1">
                <a:latin typeface="+mn-ea"/>
                <a:ea typeface="+mn-ea"/>
              </a:rPr>
              <a:t>1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228850" y="4743450"/>
            <a:ext cx="4129088" cy="360363"/>
            <a:chOff x="1065" y="2448"/>
            <a:chExt cx="2064" cy="240"/>
          </a:xfrm>
        </p:grpSpPr>
        <p:sp>
          <p:nvSpPr>
            <p:cNvPr id="9243" name="Line 10"/>
            <p:cNvSpPr>
              <a:spLocks noChangeShapeType="1"/>
            </p:cNvSpPr>
            <p:nvPr/>
          </p:nvSpPr>
          <p:spPr bwMode="auto">
            <a:xfrm>
              <a:off x="1065" y="2448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Line 11"/>
            <p:cNvSpPr>
              <a:spLocks noChangeShapeType="1"/>
            </p:cNvSpPr>
            <p:nvPr/>
          </p:nvSpPr>
          <p:spPr bwMode="auto">
            <a:xfrm flipV="1">
              <a:off x="3128" y="2448"/>
              <a:ext cx="0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12"/>
            <p:cNvSpPr>
              <a:spLocks noChangeShapeType="1"/>
            </p:cNvSpPr>
            <p:nvPr/>
          </p:nvSpPr>
          <p:spPr bwMode="auto">
            <a:xfrm>
              <a:off x="1065" y="2675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332163" y="4668838"/>
            <a:ext cx="1727200" cy="238125"/>
            <a:chOff x="1632" y="2448"/>
            <a:chExt cx="864" cy="159"/>
          </a:xfrm>
        </p:grpSpPr>
        <p:sp>
          <p:nvSpPr>
            <p:cNvPr id="9240" name="Line 14"/>
            <p:cNvSpPr>
              <a:spLocks noChangeShapeType="1"/>
            </p:cNvSpPr>
            <p:nvPr/>
          </p:nvSpPr>
          <p:spPr bwMode="auto">
            <a:xfrm>
              <a:off x="1632" y="244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1" name="Line 15"/>
            <p:cNvSpPr>
              <a:spLocks noChangeShapeType="1"/>
            </p:cNvSpPr>
            <p:nvPr/>
          </p:nvSpPr>
          <p:spPr bwMode="auto">
            <a:xfrm flipV="1">
              <a:off x="2493" y="2448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2" name="Line 16"/>
            <p:cNvSpPr>
              <a:spLocks noChangeShapeType="1"/>
            </p:cNvSpPr>
            <p:nvPr/>
          </p:nvSpPr>
          <p:spPr bwMode="auto">
            <a:xfrm>
              <a:off x="1632" y="2607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626" name="Text Box 18"/>
          <p:cNvSpPr txBox="1">
            <a:spLocks noChangeArrowheads="1"/>
          </p:cNvSpPr>
          <p:nvPr/>
        </p:nvSpPr>
        <p:spPr bwMode="auto">
          <a:xfrm>
            <a:off x="7118350" y="2740025"/>
            <a:ext cx="3176588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500" b="1" dirty="0">
                <a:solidFill>
                  <a:srgbClr val="FF3300"/>
                </a:solidFill>
                <a:latin typeface="楷体_GB2312"/>
                <a:ea typeface="楷体_GB2312"/>
              </a:rPr>
              <a:t>水合</a:t>
            </a:r>
            <a:r>
              <a:rPr lang="zh-CN" altLang="en-US" sz="2500" b="1" dirty="0" smtClean="0">
                <a:solidFill>
                  <a:srgbClr val="FF3300"/>
                </a:solidFill>
                <a:latin typeface="楷体_GB2312"/>
                <a:ea typeface="楷体_GB2312"/>
              </a:rPr>
              <a:t>质子</a:t>
            </a:r>
            <a:endParaRPr lang="en-US" altLang="zh-CN" sz="2500" b="1" dirty="0">
              <a:latin typeface="+mn-ea"/>
              <a:ea typeface="+mn-ea"/>
            </a:endParaRPr>
          </a:p>
        </p:txBody>
      </p:sp>
      <p:sp>
        <p:nvSpPr>
          <p:cNvPr id="68627" name="Line 19"/>
          <p:cNvSpPr>
            <a:spLocks noChangeShapeType="1"/>
          </p:cNvSpPr>
          <p:nvPr/>
        </p:nvSpPr>
        <p:spPr bwMode="auto">
          <a:xfrm flipH="1">
            <a:off x="5046663" y="3168650"/>
            <a:ext cx="3214687" cy="8937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628" name="Rectangle 20"/>
          <p:cNvSpPr>
            <a:spLocks noChangeArrowheads="1"/>
          </p:cNvSpPr>
          <p:nvPr/>
        </p:nvSpPr>
        <p:spPr bwMode="auto">
          <a:xfrm>
            <a:off x="7118350" y="4097338"/>
            <a:ext cx="35433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/>
              <a:t>HAc  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⇌ </a:t>
            </a:r>
            <a:r>
              <a:rPr lang="en-US" altLang="zh-CN" sz="2500" b="1"/>
              <a:t>H</a:t>
            </a:r>
            <a:r>
              <a:rPr lang="en-US" altLang="zh-CN" sz="2500" b="1" baseline="30000"/>
              <a:t>+</a:t>
            </a:r>
            <a:r>
              <a:rPr lang="en-US" altLang="zh-CN" sz="2500" b="1"/>
              <a:t> + Ac</a:t>
            </a:r>
            <a:r>
              <a:rPr lang="en-US" altLang="zh-CN" sz="2500" b="1" baseline="30000"/>
              <a:t>-</a:t>
            </a:r>
          </a:p>
        </p:txBody>
      </p:sp>
      <p:sp>
        <p:nvSpPr>
          <p:cNvPr id="31" name="Rectangle 18"/>
          <p:cNvSpPr txBox="1">
            <a:spLocks noChangeArrowheads="1"/>
          </p:cNvSpPr>
          <p:nvPr/>
        </p:nvSpPr>
        <p:spPr bwMode="auto">
          <a:xfrm>
            <a:off x="260350" y="311150"/>
            <a:ext cx="103695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3.1.1</a:t>
            </a:r>
            <a:r>
              <a:rPr lang="zh-CN" altLang="en-US" sz="2200" b="1" ker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酸、碱与酸碱反应的实质</a:t>
            </a:r>
          </a:p>
        </p:txBody>
      </p:sp>
      <p:sp>
        <p:nvSpPr>
          <p:cNvPr id="9238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9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75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86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0" dur="5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9" grpId="0" autoUpdateAnimBg="0"/>
      <p:bldP spid="30735" grpId="0" autoUpdateAnimBg="0"/>
      <p:bldP spid="30736" grpId="0" autoUpdateAnimBg="0"/>
      <p:bldP spid="30737" grpId="0" autoUpdateAnimBg="0"/>
      <p:bldP spid="30740" grpId="0" autoUpdateAnimBg="0"/>
      <p:bldP spid="68608" grpId="0"/>
      <p:bldP spid="68609" grpId="0"/>
      <p:bldP spid="68610" grpId="0"/>
      <p:bldP spid="68611" grpId="0" animBg="1"/>
      <p:bldP spid="68612" grpId="0"/>
      <p:bldP spid="68613" grpId="0"/>
      <p:bldP spid="68614" grpId="0"/>
      <p:bldP spid="68615" grpId="0"/>
      <p:bldP spid="68616" grpId="0"/>
      <p:bldP spid="68626" grpId="0" autoUpdateAnimBg="0"/>
      <p:bldP spid="68627" grpId="0" animBg="1"/>
      <p:bldP spid="6862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3189288" y="3883025"/>
            <a:ext cx="1247775" cy="271463"/>
            <a:chOff x="1776" y="2592"/>
            <a:chExt cx="624" cy="181"/>
          </a:xfrm>
        </p:grpSpPr>
        <p:sp>
          <p:nvSpPr>
            <p:cNvPr id="10267" name="Line 7"/>
            <p:cNvSpPr>
              <a:spLocks noChangeShapeType="1"/>
            </p:cNvSpPr>
            <p:nvPr/>
          </p:nvSpPr>
          <p:spPr bwMode="auto">
            <a:xfrm flipV="1">
              <a:off x="2400" y="259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Line 8"/>
            <p:cNvSpPr>
              <a:spLocks noChangeShapeType="1"/>
            </p:cNvSpPr>
            <p:nvPr/>
          </p:nvSpPr>
          <p:spPr bwMode="auto">
            <a:xfrm flipH="1">
              <a:off x="1776" y="2592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9" name="Line 9"/>
            <p:cNvSpPr>
              <a:spLocks noChangeShapeType="1"/>
            </p:cNvSpPr>
            <p:nvPr/>
          </p:nvSpPr>
          <p:spPr bwMode="auto">
            <a:xfrm>
              <a:off x="1776" y="2592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474663" y="3168650"/>
            <a:ext cx="24717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zh-CN" altLang="en-US" sz="2500" b="1" dirty="0">
                <a:ea typeface="楷体_GB2312" pitchFamily="49" charset="-122"/>
              </a:rPr>
              <a:t>水</a:t>
            </a:r>
            <a:r>
              <a:rPr lang="zh-CN" altLang="en-US" sz="2500" b="1" dirty="0" smtClean="0">
                <a:ea typeface="楷体_GB2312" pitchFamily="49" charset="-122"/>
              </a:rPr>
              <a:t>中</a:t>
            </a:r>
            <a:r>
              <a:rPr lang="zh-CN" altLang="en-US" sz="2500" b="1" dirty="0">
                <a:ea typeface="楷体_GB2312" pitchFamily="49" charset="-122"/>
              </a:rPr>
              <a:t>解离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2992438" y="4079875"/>
            <a:ext cx="59451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</a:t>
            </a:r>
            <a:r>
              <a:rPr lang="zh-CN" altLang="en-US" sz="2500" b="1" dirty="0">
                <a:ea typeface="楷体_GB2312" pitchFamily="49" charset="-122"/>
                <a:cs typeface="Arial Unicode MS" pitchFamily="34" charset="-122"/>
              </a:rPr>
              <a:t> ⇌     </a:t>
            </a:r>
            <a:r>
              <a:rPr lang="en-US" altLang="zh-CN" sz="2500" b="1" dirty="0">
                <a:ea typeface="楷体_GB2312" pitchFamily="49" charset="-122"/>
              </a:rPr>
              <a:t> 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+ NH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3546475" y="3454400"/>
            <a:ext cx="5588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3975100" y="4500000"/>
            <a:ext cx="6794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酸</a:t>
            </a:r>
            <a:r>
              <a:rPr lang="en-US" altLang="zh-CN" sz="2500" b="1">
                <a:ea typeface="楷体_GB2312" pitchFamily="49" charset="-122"/>
              </a:rPr>
              <a:t>2</a:t>
            </a:r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3036888" y="4500000"/>
            <a:ext cx="6667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碱</a:t>
            </a:r>
            <a:r>
              <a:rPr lang="en-US" altLang="zh-CN" sz="2500" b="1" dirty="0">
                <a:ea typeface="楷体_GB2312" pitchFamily="49" charset="-122"/>
              </a:rPr>
              <a:t>1</a:t>
            </a:r>
          </a:p>
        </p:txBody>
      </p:sp>
      <p:sp>
        <p:nvSpPr>
          <p:cNvPr id="33808" name="Rectangle 16"/>
          <p:cNvSpPr>
            <a:spLocks noChangeArrowheads="1"/>
          </p:cNvSpPr>
          <p:nvPr/>
        </p:nvSpPr>
        <p:spPr bwMode="auto">
          <a:xfrm>
            <a:off x="5689600" y="4500000"/>
            <a:ext cx="6794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碱</a:t>
            </a:r>
            <a:r>
              <a:rPr lang="en-US" altLang="zh-CN" sz="2500" b="1" dirty="0">
                <a:ea typeface="楷体_GB2312" pitchFamily="49" charset="-122"/>
              </a:rPr>
              <a:t>2</a:t>
            </a:r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6761163" y="4500000"/>
            <a:ext cx="6667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酸</a:t>
            </a:r>
            <a:r>
              <a:rPr lang="en-US" altLang="zh-CN" sz="2500" b="1" dirty="0">
                <a:ea typeface="楷体_GB2312" pitchFamily="49" charset="-122"/>
              </a:rPr>
              <a:t>1</a:t>
            </a:r>
          </a:p>
        </p:txBody>
      </p:sp>
      <p:sp>
        <p:nvSpPr>
          <p:cNvPr id="33810" name="Rectangle 18"/>
          <p:cNvSpPr>
            <a:spLocks noChangeArrowheads="1"/>
          </p:cNvSpPr>
          <p:nvPr/>
        </p:nvSpPr>
        <p:spPr bwMode="auto">
          <a:xfrm>
            <a:off x="4260850" y="4954588"/>
            <a:ext cx="2198038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质子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转移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反应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33812" name="Rectangle 20"/>
          <p:cNvSpPr>
            <a:spLocks noChangeArrowheads="1"/>
          </p:cNvSpPr>
          <p:nvPr/>
        </p:nvSpPr>
        <p:spPr bwMode="auto">
          <a:xfrm>
            <a:off x="572133" y="1337459"/>
            <a:ext cx="2600392" cy="4770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酸碱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/>
              </a:rPr>
              <a:t>解离反应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33813" name="Rectangle 21"/>
          <p:cNvSpPr>
            <a:spLocks noChangeArrowheads="1"/>
          </p:cNvSpPr>
          <p:nvPr/>
        </p:nvSpPr>
        <p:spPr bwMode="auto">
          <a:xfrm>
            <a:off x="3546475" y="2311400"/>
            <a:ext cx="55816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HAc +     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 </a:t>
            </a:r>
            <a:r>
              <a:rPr lang="zh-CN" altLang="en-US" sz="2500" b="1">
                <a:ea typeface="楷体_GB2312" pitchFamily="49" charset="-122"/>
                <a:cs typeface="Arial Unicode MS" pitchFamily="34" charset="-122"/>
              </a:rPr>
              <a:t> ⇌    </a:t>
            </a:r>
            <a:r>
              <a:rPr lang="en-US" altLang="zh-CN" sz="2500" b="1">
                <a:ea typeface="楷体_GB2312" pitchFamily="49" charset="-122"/>
              </a:rPr>
              <a:t> 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 + 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3975100" y="2168525"/>
            <a:ext cx="1247775" cy="271463"/>
            <a:chOff x="1776" y="1428"/>
            <a:chExt cx="624" cy="181"/>
          </a:xfrm>
        </p:grpSpPr>
        <p:sp>
          <p:nvSpPr>
            <p:cNvPr id="10264" name="Line 22"/>
            <p:cNvSpPr>
              <a:spLocks noChangeShapeType="1"/>
            </p:cNvSpPr>
            <p:nvPr/>
          </p:nvSpPr>
          <p:spPr bwMode="auto">
            <a:xfrm flipV="1">
              <a:off x="1776" y="1428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Line 23"/>
            <p:cNvSpPr>
              <a:spLocks noChangeShapeType="1"/>
            </p:cNvSpPr>
            <p:nvPr/>
          </p:nvSpPr>
          <p:spPr bwMode="auto">
            <a:xfrm flipH="1">
              <a:off x="1776" y="1428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Line 24"/>
            <p:cNvSpPr>
              <a:spLocks noChangeShapeType="1"/>
            </p:cNvSpPr>
            <p:nvPr/>
          </p:nvSpPr>
          <p:spPr bwMode="auto">
            <a:xfrm>
              <a:off x="2400" y="1428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17" name="Rectangle 25"/>
          <p:cNvSpPr>
            <a:spLocks noChangeArrowheads="1"/>
          </p:cNvSpPr>
          <p:nvPr/>
        </p:nvSpPr>
        <p:spPr bwMode="auto">
          <a:xfrm>
            <a:off x="4260850" y="1739900"/>
            <a:ext cx="55880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</a:p>
        </p:txBody>
      </p:sp>
      <p:sp>
        <p:nvSpPr>
          <p:cNvPr id="33818" name="Rectangle 26"/>
          <p:cNvSpPr>
            <a:spLocks noChangeArrowheads="1"/>
          </p:cNvSpPr>
          <p:nvPr/>
        </p:nvSpPr>
        <p:spPr bwMode="auto">
          <a:xfrm>
            <a:off x="3636963" y="2772000"/>
            <a:ext cx="6667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酸</a:t>
            </a:r>
            <a:r>
              <a:rPr lang="en-US" altLang="zh-CN" sz="2500" b="1" dirty="0">
                <a:ea typeface="楷体_GB2312" pitchFamily="49" charset="-122"/>
              </a:rPr>
              <a:t>1</a:t>
            </a:r>
          </a:p>
        </p:txBody>
      </p:sp>
      <p:sp>
        <p:nvSpPr>
          <p:cNvPr id="33819" name="Rectangle 27"/>
          <p:cNvSpPr>
            <a:spLocks noChangeArrowheads="1"/>
          </p:cNvSpPr>
          <p:nvPr/>
        </p:nvSpPr>
        <p:spPr bwMode="auto">
          <a:xfrm>
            <a:off x="4903788" y="2772000"/>
            <a:ext cx="6794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碱</a:t>
            </a:r>
            <a:r>
              <a:rPr lang="en-US" altLang="zh-CN" sz="2500" b="1" dirty="0">
                <a:ea typeface="楷体_GB2312" pitchFamily="49" charset="-122"/>
              </a:rPr>
              <a:t>2</a:t>
            </a:r>
          </a:p>
        </p:txBody>
      </p:sp>
      <p:sp>
        <p:nvSpPr>
          <p:cNvPr id="33820" name="Rectangle 28"/>
          <p:cNvSpPr>
            <a:spLocks noChangeArrowheads="1"/>
          </p:cNvSpPr>
          <p:nvPr/>
        </p:nvSpPr>
        <p:spPr bwMode="auto">
          <a:xfrm>
            <a:off x="6403975" y="2772000"/>
            <a:ext cx="8588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  酸</a:t>
            </a:r>
            <a:r>
              <a:rPr lang="en-US" altLang="zh-CN" sz="2500" b="1">
                <a:ea typeface="楷体_GB2312" pitchFamily="49" charset="-122"/>
              </a:rPr>
              <a:t>2</a:t>
            </a:r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7546975" y="2772000"/>
            <a:ext cx="6667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碱</a:t>
            </a:r>
            <a:r>
              <a:rPr lang="en-US" altLang="zh-CN" sz="2500" b="1">
                <a:ea typeface="楷体_GB2312" pitchFamily="49" charset="-122"/>
              </a:rPr>
              <a:t>1</a:t>
            </a:r>
          </a:p>
        </p:txBody>
      </p:sp>
      <p:sp>
        <p:nvSpPr>
          <p:cNvPr id="33822" name="Rectangle 30"/>
          <p:cNvSpPr>
            <a:spLocks noChangeArrowheads="1"/>
          </p:cNvSpPr>
          <p:nvPr/>
        </p:nvSpPr>
        <p:spPr bwMode="auto">
          <a:xfrm>
            <a:off x="688975" y="2025650"/>
            <a:ext cx="220445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zh-CN" altLang="en-US" sz="2500" b="1" dirty="0">
                <a:ea typeface="楷体_GB2312" pitchFamily="49" charset="-122"/>
              </a:rPr>
              <a:t>水</a:t>
            </a:r>
            <a:r>
              <a:rPr lang="zh-CN" altLang="en-US" sz="2500" b="1" dirty="0" smtClean="0">
                <a:ea typeface="楷体_GB2312" pitchFamily="49" charset="-122"/>
              </a:rPr>
              <a:t>中</a:t>
            </a:r>
            <a:r>
              <a:rPr lang="zh-CN" altLang="en-US" sz="2500" b="1" dirty="0">
                <a:solidFill>
                  <a:schemeClr val="bg2"/>
                </a:solidFill>
                <a:ea typeface="楷体_GB2312" pitchFamily="49" charset="-122"/>
              </a:rPr>
              <a:t>解离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3828" name="Rectangle 36"/>
          <p:cNvSpPr>
            <a:spLocks noChangeArrowheads="1"/>
          </p:cNvSpPr>
          <p:nvPr/>
        </p:nvSpPr>
        <p:spPr bwMode="auto">
          <a:xfrm>
            <a:off x="598345" y="810410"/>
            <a:ext cx="27876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酸碱反应的实质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31" name="Rectangle 18"/>
          <p:cNvSpPr txBox="1">
            <a:spLocks noChangeArrowheads="1"/>
          </p:cNvSpPr>
          <p:nvPr/>
        </p:nvSpPr>
        <p:spPr bwMode="auto">
          <a:xfrm>
            <a:off x="403225" y="239713"/>
            <a:ext cx="103695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altLang="zh-CN" sz="2200" b="1" kern="0">
                <a:solidFill>
                  <a:srgbClr val="FF0000"/>
                </a:solidFill>
                <a:latin typeface="+mn-ea"/>
                <a:ea typeface="+mn-ea"/>
                <a:cs typeface="+mj-cs"/>
              </a:rPr>
              <a:t>3.1.1</a:t>
            </a:r>
            <a:r>
              <a:rPr lang="zh-CN" altLang="en-US" sz="2200" b="1" ker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+mj-cs"/>
              </a:rPr>
              <a:t>酸、碱与酸碱反应的实质</a:t>
            </a:r>
          </a:p>
        </p:txBody>
      </p:sp>
      <p:sp>
        <p:nvSpPr>
          <p:cNvPr id="10262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3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3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2" grpId="0" build="p" autoUpdateAnimBg="0"/>
      <p:bldP spid="33804" grpId="0" autoUpdateAnimBg="0"/>
      <p:bldP spid="33805" grpId="0" autoUpdateAnimBg="0"/>
      <p:bldP spid="33806" grpId="0" autoUpdateAnimBg="0"/>
      <p:bldP spid="33807" grpId="0" autoUpdateAnimBg="0"/>
      <p:bldP spid="33808" grpId="0" autoUpdateAnimBg="0"/>
      <p:bldP spid="33809" grpId="0" autoUpdateAnimBg="0"/>
      <p:bldP spid="33810" grpId="0" autoUpdateAnimBg="0"/>
      <p:bldP spid="33812" grpId="0" autoUpdateAnimBg="0"/>
      <p:bldP spid="33813" grpId="0" autoUpdateAnimBg="0"/>
      <p:bldP spid="33817" grpId="0" autoUpdateAnimBg="0"/>
      <p:bldP spid="33818" grpId="0" autoUpdateAnimBg="0"/>
      <p:bldP spid="33819" grpId="0" autoUpdateAnimBg="0"/>
      <p:bldP spid="33820" grpId="0" autoUpdateAnimBg="0"/>
      <p:bldP spid="33821" grpId="0" autoUpdateAnimBg="0"/>
      <p:bldP spid="33822" grpId="0" autoUpdateAnimBg="0"/>
      <p:bldP spid="3382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590234" y="1575861"/>
            <a:ext cx="2232025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dirty="0" err="1">
                <a:ea typeface="楷体_GB2312" pitchFamily="49" charset="-122"/>
              </a:rPr>
              <a:t>NaOH</a:t>
            </a:r>
            <a:r>
              <a:rPr lang="zh-CN" altLang="en-US" sz="2500" b="1" dirty="0">
                <a:ea typeface="楷体_GB2312" pitchFamily="49" charset="-122"/>
              </a:rPr>
              <a:t>与</a:t>
            </a:r>
            <a:r>
              <a:rPr lang="en-US" altLang="zh-CN" sz="2500" b="1" dirty="0" err="1">
                <a:ea typeface="楷体_GB2312" pitchFamily="49" charset="-122"/>
              </a:rPr>
              <a:t>HCl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540818" y="615099"/>
            <a:ext cx="2680542" cy="4770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 smtClean="0">
                <a:solidFill>
                  <a:srgbClr val="FF3300"/>
                </a:solidFill>
                <a:ea typeface="楷体_GB2312"/>
              </a:rPr>
              <a:t>(2) 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酸碱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/>
              </a:rPr>
              <a:t>中和反应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3024510" y="1477168"/>
            <a:ext cx="47259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 </a:t>
            </a:r>
            <a:r>
              <a:rPr lang="zh-CN" altLang="en-US" sz="2500" b="1" dirty="0">
                <a:ea typeface="楷体_GB2312" pitchFamily="49" charset="-122"/>
                <a:cs typeface="Arial Unicode MS" pitchFamily="34" charset="-122"/>
              </a:rPr>
              <a:t>⇌     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221360" y="1293018"/>
            <a:ext cx="1344612" cy="238125"/>
            <a:chOff x="1768" y="1382"/>
            <a:chExt cx="672" cy="159"/>
          </a:xfrm>
        </p:grpSpPr>
        <p:sp>
          <p:nvSpPr>
            <p:cNvPr id="12314" name="Line 10"/>
            <p:cNvSpPr>
              <a:spLocks noChangeShapeType="1"/>
            </p:cNvSpPr>
            <p:nvPr/>
          </p:nvSpPr>
          <p:spPr bwMode="auto">
            <a:xfrm flipV="1">
              <a:off x="1768" y="1382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5" name="Line 11"/>
            <p:cNvSpPr>
              <a:spLocks noChangeShapeType="1"/>
            </p:cNvSpPr>
            <p:nvPr/>
          </p:nvSpPr>
          <p:spPr bwMode="auto">
            <a:xfrm>
              <a:off x="1768" y="138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6" name="Line 12"/>
            <p:cNvSpPr>
              <a:spLocks noChangeShapeType="1"/>
            </p:cNvSpPr>
            <p:nvPr/>
          </p:nvSpPr>
          <p:spPr bwMode="auto">
            <a:xfrm>
              <a:off x="2425" y="1382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29" name="Rectangle 13"/>
          <p:cNvSpPr>
            <a:spLocks noChangeArrowheads="1"/>
          </p:cNvSpPr>
          <p:nvPr/>
        </p:nvSpPr>
        <p:spPr bwMode="auto">
          <a:xfrm>
            <a:off x="3578547" y="935831"/>
            <a:ext cx="55721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3114997" y="1895368"/>
            <a:ext cx="6667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酸</a:t>
            </a:r>
            <a:r>
              <a:rPr lang="en-US" altLang="zh-CN" sz="2500" b="1" dirty="0">
                <a:ea typeface="楷体_GB2312" pitchFamily="49" charset="-122"/>
              </a:rPr>
              <a:t>1</a:t>
            </a:r>
          </a:p>
        </p:txBody>
      </p:sp>
      <p:sp>
        <p:nvSpPr>
          <p:cNvPr id="34831" name="Rectangle 15"/>
          <p:cNvSpPr>
            <a:spLocks noChangeArrowheads="1"/>
          </p:cNvSpPr>
          <p:nvPr/>
        </p:nvSpPr>
        <p:spPr bwMode="auto">
          <a:xfrm>
            <a:off x="6793235" y="1895368"/>
            <a:ext cx="6667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碱</a:t>
            </a:r>
            <a:r>
              <a:rPr lang="en-US" altLang="zh-CN" sz="2500" b="1">
                <a:ea typeface="楷体_GB2312" pitchFamily="49" charset="-122"/>
              </a:rPr>
              <a:t>1</a:t>
            </a:r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4150047" y="1895368"/>
            <a:ext cx="6794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碱</a:t>
            </a:r>
            <a:r>
              <a:rPr lang="en-US" altLang="zh-CN" sz="2500" b="1">
                <a:ea typeface="楷体_GB2312" pitchFamily="49" charset="-122"/>
              </a:rPr>
              <a:t>2</a:t>
            </a:r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5864547" y="1895368"/>
            <a:ext cx="6794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酸</a:t>
            </a:r>
            <a:r>
              <a:rPr lang="en-US" altLang="zh-CN" sz="2500" b="1" dirty="0">
                <a:ea typeface="楷体_GB2312" pitchFamily="49" charset="-122"/>
              </a:rPr>
              <a:t>2</a:t>
            </a:r>
          </a:p>
        </p:txBody>
      </p:sp>
      <p:sp>
        <p:nvSpPr>
          <p:cNvPr id="34836" name="Rectangle 20"/>
          <p:cNvSpPr>
            <a:spLocks noChangeArrowheads="1"/>
          </p:cNvSpPr>
          <p:nvPr/>
        </p:nvSpPr>
        <p:spPr bwMode="auto">
          <a:xfrm>
            <a:off x="707164" y="2972880"/>
            <a:ext cx="1826141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zh-CN" altLang="en-US" sz="2500" b="1" dirty="0">
                <a:ea typeface="楷体_GB2312" pitchFamily="49" charset="-122"/>
              </a:rPr>
              <a:t>与</a:t>
            </a:r>
            <a:r>
              <a:rPr lang="en-US" altLang="zh-CN" sz="2500" b="1" dirty="0" smtClean="0">
                <a:ea typeface="楷体_GB2312" pitchFamily="49" charset="-122"/>
              </a:rPr>
              <a:t>NH</a:t>
            </a:r>
            <a:r>
              <a:rPr lang="en-US" altLang="zh-CN" sz="2500" b="1" baseline="-25000" dirty="0" smtClean="0">
                <a:ea typeface="楷体_GB2312" pitchFamily="49" charset="-122"/>
              </a:rPr>
              <a:t>3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4837" name="Rectangle 21"/>
          <p:cNvSpPr>
            <a:spLocks noChangeArrowheads="1"/>
          </p:cNvSpPr>
          <p:nvPr/>
        </p:nvSpPr>
        <p:spPr bwMode="auto">
          <a:xfrm>
            <a:off x="2977806" y="2972880"/>
            <a:ext cx="56737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HAc  +   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  </a:t>
            </a:r>
            <a:r>
              <a:rPr lang="zh-CN" altLang="en-US" sz="2500" b="1">
                <a:ea typeface="楷体_GB2312" pitchFamily="49" charset="-122"/>
                <a:cs typeface="Arial Unicode MS" pitchFamily="34" charset="-122"/>
              </a:rPr>
              <a:t>⇌     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   +   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3317531" y="2803017"/>
            <a:ext cx="1344612" cy="239713"/>
            <a:chOff x="1768" y="2516"/>
            <a:chExt cx="672" cy="159"/>
          </a:xfrm>
        </p:grpSpPr>
        <p:sp>
          <p:nvSpPr>
            <p:cNvPr id="12311" name="Line 22"/>
            <p:cNvSpPr>
              <a:spLocks noChangeShapeType="1"/>
            </p:cNvSpPr>
            <p:nvPr/>
          </p:nvSpPr>
          <p:spPr bwMode="auto">
            <a:xfrm flipV="1">
              <a:off x="1768" y="251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2" name="Line 23"/>
            <p:cNvSpPr>
              <a:spLocks noChangeShapeType="1"/>
            </p:cNvSpPr>
            <p:nvPr/>
          </p:nvSpPr>
          <p:spPr bwMode="auto">
            <a:xfrm>
              <a:off x="1768" y="2516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3" name="Line 24"/>
            <p:cNvSpPr>
              <a:spLocks noChangeShapeType="1"/>
            </p:cNvSpPr>
            <p:nvPr/>
          </p:nvSpPr>
          <p:spPr bwMode="auto">
            <a:xfrm>
              <a:off x="2425" y="251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1" name="Rectangle 25"/>
          <p:cNvSpPr>
            <a:spLocks noChangeArrowheads="1"/>
          </p:cNvSpPr>
          <p:nvPr/>
        </p:nvSpPr>
        <p:spPr bwMode="auto">
          <a:xfrm>
            <a:off x="3746156" y="2374392"/>
            <a:ext cx="5572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</a:p>
        </p:txBody>
      </p:sp>
      <p:sp>
        <p:nvSpPr>
          <p:cNvPr id="34842" name="Rectangle 26"/>
          <p:cNvSpPr>
            <a:spLocks noChangeArrowheads="1"/>
          </p:cNvSpPr>
          <p:nvPr/>
        </p:nvSpPr>
        <p:spPr bwMode="auto">
          <a:xfrm>
            <a:off x="3068293" y="3382867"/>
            <a:ext cx="6667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酸</a:t>
            </a:r>
            <a:r>
              <a:rPr lang="en-US" altLang="zh-CN" sz="2500" b="1" dirty="0">
                <a:ea typeface="楷体_GB2312" pitchFamily="49" charset="-122"/>
              </a:rPr>
              <a:t>1</a:t>
            </a:r>
          </a:p>
        </p:txBody>
      </p:sp>
      <p:sp>
        <p:nvSpPr>
          <p:cNvPr id="34843" name="Rectangle 27"/>
          <p:cNvSpPr>
            <a:spLocks noChangeArrowheads="1"/>
          </p:cNvSpPr>
          <p:nvPr/>
        </p:nvSpPr>
        <p:spPr bwMode="auto">
          <a:xfrm>
            <a:off x="4174781" y="3382867"/>
            <a:ext cx="6794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碱</a:t>
            </a:r>
            <a:r>
              <a:rPr lang="en-US" altLang="zh-CN" sz="2500" b="1">
                <a:ea typeface="楷体_GB2312" pitchFamily="49" charset="-122"/>
              </a:rPr>
              <a:t>2</a:t>
            </a:r>
          </a:p>
        </p:txBody>
      </p:sp>
      <p:sp>
        <p:nvSpPr>
          <p:cNvPr id="34844" name="Rectangle 28"/>
          <p:cNvSpPr>
            <a:spLocks noChangeArrowheads="1"/>
          </p:cNvSpPr>
          <p:nvPr/>
        </p:nvSpPr>
        <p:spPr bwMode="auto">
          <a:xfrm>
            <a:off x="5960718" y="3382867"/>
            <a:ext cx="6794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酸</a:t>
            </a:r>
            <a:r>
              <a:rPr lang="en-US" altLang="zh-CN" sz="2500" b="1">
                <a:ea typeface="楷体_GB2312" pitchFamily="49" charset="-122"/>
              </a:rPr>
              <a:t>2</a:t>
            </a:r>
          </a:p>
        </p:txBody>
      </p:sp>
      <p:sp>
        <p:nvSpPr>
          <p:cNvPr id="34845" name="Rectangle 29"/>
          <p:cNvSpPr>
            <a:spLocks noChangeArrowheads="1"/>
          </p:cNvSpPr>
          <p:nvPr/>
        </p:nvSpPr>
        <p:spPr bwMode="auto">
          <a:xfrm>
            <a:off x="7175156" y="3382867"/>
            <a:ext cx="6667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碱</a:t>
            </a:r>
            <a:r>
              <a:rPr lang="en-US" altLang="zh-CN" sz="2500" b="1">
                <a:ea typeface="楷体_GB2312" pitchFamily="49" charset="-122"/>
              </a:rPr>
              <a:t>1</a:t>
            </a:r>
          </a:p>
        </p:txBody>
      </p:sp>
      <p:sp>
        <p:nvSpPr>
          <p:cNvPr id="34846" name="Rectangle 30"/>
          <p:cNvSpPr>
            <a:spLocks noChangeArrowheads="1"/>
          </p:cNvSpPr>
          <p:nvPr/>
        </p:nvSpPr>
        <p:spPr bwMode="auto">
          <a:xfrm>
            <a:off x="590234" y="4049708"/>
            <a:ext cx="95011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酸碱反应的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实质</a:t>
            </a:r>
            <a:r>
              <a:rPr lang="zh-CN" altLang="en-US" sz="2500" b="1" dirty="0" smtClean="0">
                <a:ea typeface="楷体_GB2312" pitchFamily="49" charset="-122"/>
              </a:rPr>
              <a:t>就是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质子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转移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      </a:t>
            </a:r>
            <a:r>
              <a:rPr lang="zh-CN" altLang="en-US" sz="2500" b="1" dirty="0">
                <a:ea typeface="楷体_GB2312" pitchFamily="49" charset="-122"/>
              </a:rPr>
              <a:t>质子理论中无盐的概念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2308" name="Rectangle 39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3.1.1</a:t>
            </a:r>
            <a:r>
              <a:rPr lang="zh-CN" altLang="en-US" smtClean="0">
                <a:ea typeface="黑体" pitchFamily="49" charset="-122"/>
              </a:rPr>
              <a:t>酸、碱与酸碱反应的实质</a:t>
            </a:r>
          </a:p>
        </p:txBody>
      </p:sp>
      <p:sp>
        <p:nvSpPr>
          <p:cNvPr id="12309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10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1274566" y="5289234"/>
            <a:ext cx="8230887" cy="111825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对</a:t>
            </a:r>
            <a:r>
              <a:rPr lang="zh-CN" altLang="en-US" sz="2500" b="1" dirty="0" smtClean="0">
                <a:ea typeface="楷体_GB2312" pitchFamily="49" charset="-122"/>
              </a:rPr>
              <a:t>水分子（溶剂）</a:t>
            </a:r>
            <a:r>
              <a:rPr lang="en-US" altLang="zh-CN" sz="2500" b="1" dirty="0" smtClean="0">
                <a:ea typeface="楷体_GB2312" pitchFamily="49" charset="-122"/>
              </a:rPr>
              <a:t>: 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</a:t>
            </a:r>
            <a:r>
              <a:rPr lang="en-US" altLang="zh-CN" sz="1600" b="1" dirty="0"/>
              <a:t></a:t>
            </a:r>
            <a:r>
              <a:rPr lang="en-US" altLang="zh-CN" sz="1600" b="1" dirty="0">
                <a:ea typeface="楷体_GB2312" pitchFamily="49" charset="-122"/>
              </a:rPr>
              <a:t> </a:t>
            </a:r>
            <a:r>
              <a:rPr lang="zh-CN" altLang="en-US" sz="2500" b="1" dirty="0">
                <a:ea typeface="Arial Unicode MS" pitchFamily="34" charset="-122"/>
                <a:cs typeface="Arial Unicode MS" pitchFamily="34" charset="-122"/>
              </a:rPr>
              <a:t>⇌   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</a:p>
          <a:p>
            <a:endParaRPr lang="en-US" altLang="zh-CN" sz="2500" b="1" baseline="30000" dirty="0">
              <a:ea typeface="楷体_GB2312" pitchFamily="49" charset="-122"/>
            </a:endParaRPr>
          </a:p>
          <a:p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grpSp>
        <p:nvGrpSpPr>
          <p:cNvPr id="30" name="Group 38"/>
          <p:cNvGrpSpPr>
            <a:grpSpLocks/>
          </p:cNvGrpSpPr>
          <p:nvPr/>
        </p:nvGrpSpPr>
        <p:grpSpPr bwMode="auto">
          <a:xfrm>
            <a:off x="4825737" y="5133832"/>
            <a:ext cx="1344612" cy="239713"/>
            <a:chOff x="1768" y="2516"/>
            <a:chExt cx="672" cy="159"/>
          </a:xfrm>
        </p:grpSpPr>
        <p:sp>
          <p:nvSpPr>
            <p:cNvPr id="31" name="Line 22"/>
            <p:cNvSpPr>
              <a:spLocks noChangeShapeType="1"/>
            </p:cNvSpPr>
            <p:nvPr/>
          </p:nvSpPr>
          <p:spPr bwMode="auto">
            <a:xfrm flipV="1">
              <a:off x="1768" y="251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auto">
            <a:xfrm>
              <a:off x="1768" y="2516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auto">
            <a:xfrm>
              <a:off x="2425" y="2516"/>
              <a:ext cx="0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Rectangle 25"/>
          <p:cNvSpPr>
            <a:spLocks noChangeArrowheads="1"/>
          </p:cNvSpPr>
          <p:nvPr/>
        </p:nvSpPr>
        <p:spPr bwMode="auto">
          <a:xfrm>
            <a:off x="5329199" y="4682947"/>
            <a:ext cx="5572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75"/>
                                        <p:tgtEl>
                                          <p:spTgt spid="34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 build="p" autoUpdateAnimBg="0"/>
      <p:bldP spid="34823" grpId="0" autoUpdateAnimBg="0"/>
      <p:bldP spid="34825" grpId="0" autoUpdateAnimBg="0"/>
      <p:bldP spid="34829" grpId="0" autoUpdateAnimBg="0"/>
      <p:bldP spid="34830" grpId="0" autoUpdateAnimBg="0"/>
      <p:bldP spid="34831" grpId="0" autoUpdateAnimBg="0"/>
      <p:bldP spid="34832" grpId="0" autoUpdateAnimBg="0"/>
      <p:bldP spid="34833" grpId="0" autoUpdateAnimBg="0"/>
      <p:bldP spid="34836" grpId="0" autoUpdateAnimBg="0"/>
      <p:bldP spid="34837" grpId="0" autoUpdateAnimBg="0"/>
      <p:bldP spid="34841" grpId="0" autoUpdateAnimBg="0"/>
      <p:bldP spid="34842" grpId="0" autoUpdateAnimBg="0"/>
      <p:bldP spid="34843" grpId="0" autoUpdateAnimBg="0"/>
      <p:bldP spid="34844" grpId="0" autoUpdateAnimBg="0"/>
      <p:bldP spid="34845" grpId="0" autoUpdateAnimBg="0"/>
      <p:bldP spid="34846" grpId="0" autoUpdateAnimBg="0"/>
      <p:bldP spid="29" grpId="0" build="p" autoUpdateAnimBg="0"/>
      <p:bldP spid="3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903315" y="1382713"/>
            <a:ext cx="1028701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</a:rPr>
              <a:t>        一</a:t>
            </a:r>
            <a:r>
              <a:rPr lang="zh-CN" altLang="en-US" sz="2500" b="1" dirty="0">
                <a:ea typeface="楷体_GB2312" pitchFamily="49" charset="-122"/>
              </a:rPr>
              <a:t>个水分子可从另一个水分子中</a:t>
            </a:r>
            <a:r>
              <a:rPr lang="zh-CN" altLang="en-US" sz="2500" b="1" dirty="0" smtClean="0">
                <a:ea typeface="楷体_GB2312" pitchFamily="49" charset="-122"/>
              </a:rPr>
              <a:t>夺取质子</a:t>
            </a:r>
            <a:r>
              <a:rPr lang="en-US" altLang="zh-CN" sz="2500" b="1" dirty="0" smtClean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形成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zh-CN" altLang="en-US" sz="2500" b="1" dirty="0">
                <a:ea typeface="楷体_GB2312" pitchFamily="49" charset="-122"/>
              </a:rPr>
              <a:t>和</a:t>
            </a:r>
            <a:r>
              <a:rPr lang="en-US" altLang="zh-CN" sz="2500" b="1" dirty="0">
                <a:ea typeface="楷体_GB2312" pitchFamily="49" charset="-122"/>
              </a:rPr>
              <a:t>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.</a:t>
            </a:r>
            <a:endParaRPr lang="en-US" altLang="zh-CN" sz="2500" b="1" baseline="30000" dirty="0">
              <a:ea typeface="楷体_GB2312" pitchFamily="49" charset="-122"/>
            </a:endParaRP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831850" y="882650"/>
            <a:ext cx="536575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3.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溶剂的质子自递反应与水的离子积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903300" y="3003544"/>
            <a:ext cx="6715125" cy="15033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对水分子</a:t>
            </a:r>
            <a:r>
              <a:rPr lang="en-US" altLang="zh-CN" sz="2500" b="1" dirty="0">
                <a:ea typeface="楷体_GB2312" pitchFamily="49" charset="-122"/>
              </a:rPr>
              <a:t>: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</a:t>
            </a:r>
            <a:r>
              <a:rPr lang="en-US" altLang="zh-CN" sz="1600" b="1" dirty="0"/>
              <a:t></a:t>
            </a:r>
            <a:r>
              <a:rPr lang="en-US" altLang="zh-CN" sz="1600" b="1" dirty="0">
                <a:ea typeface="楷体_GB2312" pitchFamily="49" charset="-122"/>
              </a:rPr>
              <a:t> </a:t>
            </a:r>
            <a:r>
              <a:rPr lang="zh-CN" altLang="en-US" sz="2500" b="1" dirty="0">
                <a:ea typeface="Arial Unicode MS" pitchFamily="34" charset="-122"/>
                <a:cs typeface="Arial Unicode MS" pitchFamily="34" charset="-122"/>
              </a:rPr>
              <a:t>⇌   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</a:p>
          <a:p>
            <a:endParaRPr lang="en-US" altLang="zh-CN" sz="2500" b="1" baseline="30000" dirty="0">
              <a:ea typeface="楷体_GB2312" pitchFamily="49" charset="-122"/>
            </a:endParaRPr>
          </a:p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水的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自递常数</a:t>
            </a:r>
            <a:r>
              <a:rPr lang="en-US" altLang="zh-CN" sz="2500" b="1" dirty="0" smtClean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用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表示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  <a:p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3617946" y="1833560"/>
            <a:ext cx="68580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仅仅</a:t>
            </a:r>
            <a:r>
              <a:rPr lang="zh-CN" altLang="en-US" sz="2500" b="1" dirty="0" smtClean="0">
                <a:ea typeface="楷体_GB2312" pitchFamily="49" charset="-122"/>
              </a:rPr>
              <a:t>在溶质分子间</a:t>
            </a:r>
            <a:r>
              <a:rPr lang="zh-CN" altLang="en-US" sz="2500" b="1" dirty="0">
                <a:ea typeface="楷体_GB2312" pitchFamily="49" charset="-122"/>
              </a:rPr>
              <a:t>发生</a:t>
            </a:r>
            <a:r>
              <a:rPr lang="zh-CN" altLang="en-US" sz="2500" b="1" dirty="0" smtClean="0">
                <a:ea typeface="楷体_GB2312" pitchFamily="49" charset="-122"/>
              </a:rPr>
              <a:t>的</a:t>
            </a:r>
            <a:r>
              <a:rPr lang="zh-CN" altLang="en-US" sz="2500" b="1" dirty="0">
                <a:ea typeface="楷体_GB2312" pitchFamily="49" charset="-122"/>
              </a:rPr>
              <a:t>质子</a:t>
            </a:r>
            <a:r>
              <a:rPr lang="zh-CN" altLang="en-US" sz="2500" b="1" dirty="0" smtClean="0">
                <a:ea typeface="楷体_GB2312" pitchFamily="49" charset="-122"/>
              </a:rPr>
              <a:t>传递作用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831883" y="1833560"/>
            <a:ext cx="2870200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chemeClr val="accent2"/>
                </a:solidFill>
                <a:ea typeface="楷体_GB2312"/>
              </a:rPr>
              <a:t>溶剂</a:t>
            </a:r>
            <a:r>
              <a:rPr lang="zh-CN" altLang="en-US" sz="2500" b="1">
                <a:solidFill>
                  <a:srgbClr val="FF3300"/>
                </a:solidFill>
                <a:ea typeface="楷体_GB2312"/>
              </a:rPr>
              <a:t>质子自递反应</a:t>
            </a:r>
            <a:r>
              <a:rPr lang="en-US" altLang="zh-CN" sz="2500" b="1">
                <a:solidFill>
                  <a:srgbClr val="FF3300"/>
                </a:solidFill>
                <a:ea typeface="楷体_GB2312"/>
              </a:rPr>
              <a:t>:</a:t>
            </a:r>
            <a:endParaRPr lang="en-US" altLang="zh-CN" sz="2500" b="1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830252" y="2454269"/>
            <a:ext cx="350202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chemeClr val="accent2"/>
                </a:solidFill>
                <a:ea typeface="楷体_GB2312"/>
              </a:rPr>
              <a:t>溶剂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</a:rPr>
              <a:t>质子自递常数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(</a:t>
            </a:r>
            <a:r>
              <a:rPr lang="en-US" altLang="zh-CN" sz="2500" b="1" i="1" dirty="0">
                <a:solidFill>
                  <a:srgbClr val="FF3300"/>
                </a:solidFill>
                <a:ea typeface="+mn-ea"/>
              </a:rPr>
              <a:t>K</a:t>
            </a:r>
            <a:r>
              <a:rPr lang="en-US" altLang="zh-CN" sz="1400" b="1" baseline="100000" dirty="0">
                <a:solidFill>
                  <a:srgbClr val="FF3300"/>
                </a:solidFill>
                <a:ea typeface="+mn-ea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+mn-ea"/>
                <a:sym typeface="Webdings" pitchFamily="18" charset="2"/>
              </a:rPr>
              <a:t>s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</a:rPr>
              <a:t>):</a:t>
            </a:r>
            <a:endParaRPr lang="en-US" altLang="zh-CN" sz="25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5618163" y="4597408"/>
            <a:ext cx="36417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25℃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时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1.0×10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-14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13322" name="Rectangle 21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3.1.1</a:t>
            </a:r>
            <a:r>
              <a:rPr lang="zh-CN" altLang="en-US" smtClean="0">
                <a:ea typeface="黑体" pitchFamily="49" charset="-122"/>
              </a:rPr>
              <a:t>酸、碱与酸碱反应的实质</a:t>
            </a:r>
          </a:p>
        </p:txBody>
      </p:sp>
      <p:sp>
        <p:nvSpPr>
          <p:cNvPr id="13325" name="矩形 18"/>
          <p:cNvSpPr>
            <a:spLocks noChangeArrowheads="1"/>
          </p:cNvSpPr>
          <p:nvPr/>
        </p:nvSpPr>
        <p:spPr bwMode="auto">
          <a:xfrm>
            <a:off x="903288" y="4217981"/>
            <a:ext cx="575945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可简写为 </a:t>
            </a:r>
            <a:r>
              <a:rPr lang="en-US" altLang="zh-CN" sz="2500" b="1" dirty="0">
                <a:ea typeface="楷体_GB2312" pitchFamily="49" charset="-122"/>
              </a:rPr>
              <a:t>: 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[</a:t>
            </a:r>
            <a:r>
              <a:rPr lang="en-US" altLang="zh-CN" sz="2500" b="1" dirty="0"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 dirty="0">
                <a:ea typeface="楷体_GB2312" pitchFamily="49" charset="-122"/>
              </a:rPr>
              <a:t>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</a:t>
            </a:r>
          </a:p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          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  </a:t>
            </a: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</a:rPr>
              <a:t>或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 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  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= [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</a:rPr>
              <a:t>+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OH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</a:rPr>
              <a:t>-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13324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 build="p" autoUpdateAnimBg="0"/>
      <p:bldP spid="35847" grpId="0" autoUpdateAnimBg="0"/>
      <p:bldP spid="35848" grpId="0" build="p" autoUpdateAnimBg="0"/>
      <p:bldP spid="35849" grpId="0" autoUpdateAnimBg="0"/>
      <p:bldP spid="35850" grpId="0" autoUpdateAnimBg="0"/>
      <p:bldP spid="35852" grpId="0" autoUpdateAnimBg="0"/>
      <p:bldP spid="35859" grpId="0" autoUpdateAnimBg="0"/>
      <p:bldP spid="133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542925" y="1454954"/>
            <a:ext cx="1083310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        水溶液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中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酸或碱给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出或接受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能力的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大小用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解离平衡常数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衡量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3689350" y="4097338"/>
            <a:ext cx="80803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>
                <a:latin typeface="+mn-lt"/>
                <a:ea typeface="楷体_GB2312" pitchFamily="49" charset="-122"/>
                <a:sym typeface="Webdings" pitchFamily="18" charset="2"/>
              </a:rPr>
              <a:t> =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4689475" y="3883025"/>
            <a:ext cx="14302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latin typeface="+mn-lt"/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30000"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>
                <a:latin typeface="+mn-lt"/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latin typeface="+mn-lt"/>
                <a:ea typeface="楷体_GB2312" pitchFamily="49" charset="-122"/>
              </a:rPr>
              <a:t>Ac</a:t>
            </a:r>
            <a:r>
              <a:rPr lang="en-US" altLang="zh-CN" sz="2500" b="1" baseline="30000">
                <a:latin typeface="+mn-lt"/>
                <a:ea typeface="楷体_GB2312" pitchFamily="49" charset="-122"/>
              </a:rPr>
              <a:t>-</a:t>
            </a:r>
            <a:r>
              <a:rPr lang="en-US" altLang="zh-CN" sz="2500" b="1">
                <a:latin typeface="+mn-lt"/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4832350" y="4311650"/>
            <a:ext cx="140176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latin typeface="+mn-lt"/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latin typeface="+mn-lt"/>
                <a:ea typeface="楷体_GB2312" pitchFamily="49" charset="-122"/>
              </a:rPr>
              <a:t>HAc</a:t>
            </a:r>
            <a:r>
              <a:rPr lang="en-US" altLang="zh-CN" sz="2500" b="1">
                <a:latin typeface="+mn-lt"/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4475163" y="4311650"/>
            <a:ext cx="1920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>
              <a:latin typeface="+mn-lt"/>
              <a:ea typeface="楷体_GB2312" pitchFamily="49" charset="-122"/>
            </a:endParaRPr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603047" y="941378"/>
            <a:ext cx="10144159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        质子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理论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酸或碱强弱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取决于物质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给出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或接受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30000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+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的能力大小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617538" y="3097213"/>
            <a:ext cx="5857875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醋酸在水中的解离平衡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                     </a:t>
            </a:r>
            <a:r>
              <a:rPr lang="en-US" altLang="zh-CN" sz="2500" b="1" dirty="0" err="1" smtClean="0">
                <a:latin typeface="+mn-lt"/>
                <a:ea typeface="楷体_GB2312" pitchFamily="49" charset="-122"/>
              </a:rPr>
              <a:t>HAc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  </a:t>
            </a:r>
            <a:r>
              <a:rPr lang="zh-CN" altLang="en-US" sz="2500" b="1" dirty="0">
                <a:latin typeface="+mn-lt"/>
                <a:ea typeface="楷体_GB2312" pitchFamily="49" charset="-122"/>
                <a:cs typeface="Arial Unicode MS" pitchFamily="34" charset="-122"/>
              </a:rPr>
              <a:t>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 H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+ Ac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平衡常数为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37902" name="Rectangle 14"/>
          <p:cNvSpPr>
            <a:spLocks noChangeArrowheads="1"/>
          </p:cNvSpPr>
          <p:nvPr/>
        </p:nvSpPr>
        <p:spPr bwMode="auto">
          <a:xfrm>
            <a:off x="542925" y="2065030"/>
            <a:ext cx="5181227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酸、碱解离平衡与解离平衡常数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:</a:t>
            </a:r>
          </a:p>
        </p:txBody>
      </p:sp>
      <p:sp>
        <p:nvSpPr>
          <p:cNvPr id="37908" name="Rectangle 20"/>
          <p:cNvSpPr>
            <a:spLocks noChangeArrowheads="1"/>
          </p:cNvSpPr>
          <p:nvPr/>
        </p:nvSpPr>
        <p:spPr bwMode="auto">
          <a:xfrm>
            <a:off x="542925" y="2525713"/>
            <a:ext cx="297549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(1) 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一元</a:t>
            </a:r>
            <a:r>
              <a:rPr lang="zh-CN" altLang="en-US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弱酸</a:t>
            </a:r>
            <a:r>
              <a:rPr lang="en-US" altLang="zh-CN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(</a:t>
            </a:r>
            <a:r>
              <a:rPr lang="zh-CN" altLang="en-US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弱碱</a:t>
            </a:r>
            <a:r>
              <a:rPr lang="en-US" altLang="zh-CN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):</a:t>
            </a:r>
            <a:endParaRPr lang="en-US" altLang="zh-CN" sz="2500" b="1" dirty="0">
              <a:solidFill>
                <a:srgbClr val="FF3300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14347" name="Rectangle 21"/>
          <p:cNvSpPr>
            <a:spLocks noGrp="1" noChangeArrowheads="1"/>
          </p:cNvSpPr>
          <p:nvPr>
            <p:ph type="title"/>
          </p:nvPr>
        </p:nvSpPr>
        <p:spPr>
          <a:xfrm>
            <a:off x="331788" y="311150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71680" name="Rectangle 0"/>
          <p:cNvSpPr>
            <a:spLocks noChangeArrowheads="1"/>
          </p:cNvSpPr>
          <p:nvPr/>
        </p:nvSpPr>
        <p:spPr bwMode="auto">
          <a:xfrm>
            <a:off x="6475413" y="4097338"/>
            <a:ext cx="17430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= 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sp>
        <p:nvSpPr>
          <p:cNvPr id="14349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760413" y="4954588"/>
            <a:ext cx="615275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　　</a:t>
            </a:r>
            <a:r>
              <a:rPr lang="en-US" altLang="zh-CN" sz="2500" b="1" i="1" dirty="0" err="1">
                <a:solidFill>
                  <a:srgbClr val="FF3300"/>
                </a:solidFill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a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越大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弱酸</a:t>
            </a:r>
            <a:r>
              <a:rPr lang="zh-CN" altLang="en-US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给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出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H</a:t>
            </a:r>
            <a:r>
              <a:rPr lang="en-US" altLang="zh-CN" sz="2500" b="1" baseline="30000" dirty="0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+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  <a:sym typeface="Webdings" pitchFamily="18" charset="2"/>
              </a:rPr>
              <a:t>的能力越强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218488" y="4097338"/>
            <a:ext cx="156966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解离平衡常数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3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utoUpdateAnimBg="0"/>
      <p:bldP spid="37895" grpId="0" autoUpdateAnimBg="0"/>
      <p:bldP spid="37896" grpId="0" autoUpdateAnimBg="0"/>
      <p:bldP spid="37897" grpId="0" autoUpdateAnimBg="0"/>
      <p:bldP spid="37898" grpId="0" animBg="1"/>
      <p:bldP spid="37899" grpId="0" autoUpdateAnimBg="0"/>
      <p:bldP spid="37901" grpId="0" build="p" autoUpdateAnimBg="0"/>
      <p:bldP spid="37902" grpId="0" autoUpdateAnimBg="0"/>
      <p:bldP spid="37908" grpId="0" autoUpdateAnimBg="0"/>
      <p:bldP spid="71680" grpId="0" autoUpdateAnimBg="0"/>
      <p:bldP spid="15" grpId="0" autoUpdateAnimBg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617538" y="1025525"/>
            <a:ext cx="1061561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　　</a:t>
            </a:r>
            <a:r>
              <a:rPr lang="zh-CN" altLang="en-US" sz="2500" b="1" dirty="0">
                <a:solidFill>
                  <a:schemeClr val="accent2"/>
                </a:solidFill>
                <a:ea typeface="楷体_GB2312" pitchFamily="49" charset="-122"/>
                <a:sym typeface="Webdings" pitchFamily="18" charset="2"/>
              </a:rPr>
              <a:t>注意：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酸的浓度</a:t>
            </a:r>
            <a:r>
              <a:rPr lang="en-US" altLang="zh-CN" sz="2500" b="1" dirty="0" err="1" smtClean="0">
                <a:ea typeface="楷体_GB2312" pitchFamily="49" charset="-122"/>
                <a:sym typeface="Webdings" pitchFamily="18" charset="2"/>
              </a:rPr>
              <a:t>c</a:t>
            </a:r>
            <a:r>
              <a:rPr lang="en-US" altLang="zh-CN" sz="2500" b="1" baseline="-25000" dirty="0" err="1" smtClean="0"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baseline="-25000" dirty="0" smtClean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≠ </a:t>
            </a: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</a:rPr>
              <a:t>酸度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HAc</a:t>
            </a:r>
            <a:endParaRPr lang="en-US" altLang="zh-CN" sz="2500" b="1" baseline="-25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903288" y="1597013"/>
            <a:ext cx="10328275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氨</a:t>
            </a:r>
            <a:r>
              <a:rPr lang="en-US" altLang="zh-CN" sz="2500" b="1">
                <a:ea typeface="楷体_GB2312" pitchFamily="49" charset="-122"/>
              </a:rPr>
              <a:t>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在水中的解离平衡为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  <a:p>
            <a:pPr algn="ctr"/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 + 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  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⇌</a:t>
            </a:r>
            <a:r>
              <a:rPr lang="en-US" altLang="zh-CN" sz="2500" b="1"/>
              <a:t> </a:t>
            </a:r>
            <a:r>
              <a:rPr lang="en-US" altLang="zh-CN" sz="2500" b="1">
                <a:ea typeface="楷体_GB2312" pitchFamily="49" charset="-122"/>
              </a:rPr>
              <a:t> 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 + 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4332288" y="2954325"/>
            <a:ext cx="7969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</a:t>
            </a:r>
          </a:p>
        </p:txBody>
      </p:sp>
      <p:sp>
        <p:nvSpPr>
          <p:cNvPr id="63496" name="Line 8"/>
          <p:cNvSpPr>
            <a:spLocks noChangeShapeType="1"/>
          </p:cNvSpPr>
          <p:nvPr/>
        </p:nvSpPr>
        <p:spPr bwMode="auto">
          <a:xfrm>
            <a:off x="5214938" y="3168638"/>
            <a:ext cx="22685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5332413" y="2668575"/>
            <a:ext cx="26289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 dirty="0">
                <a:ea typeface="楷体_GB2312" pitchFamily="49" charset="-122"/>
              </a:rPr>
              <a:t>OH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5667375" y="3168638"/>
            <a:ext cx="16319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63499" name="Rectangle 11"/>
          <p:cNvSpPr>
            <a:spLocks noChangeArrowheads="1"/>
          </p:cNvSpPr>
          <p:nvPr/>
        </p:nvSpPr>
        <p:spPr bwMode="auto">
          <a:xfrm>
            <a:off x="906463" y="3716338"/>
            <a:ext cx="101361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b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越大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弱碱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接受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H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+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的能力越强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906463" y="4192588"/>
            <a:ext cx="10231437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　　一般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中强酸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的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在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10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-2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~ 10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-3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;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弱酸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的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在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10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-4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~ 10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-7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;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若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 &lt; 10</a:t>
            </a:r>
            <a:r>
              <a:rPr lang="en-US" altLang="zh-CN" sz="2500" b="1" baseline="3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-7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则称为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极弱酸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)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5370" name="Rectangle 15"/>
          <p:cNvSpPr>
            <a:spLocks noGrp="1" noChangeArrowheads="1"/>
          </p:cNvSpPr>
          <p:nvPr>
            <p:ph type="title"/>
          </p:nvPr>
        </p:nvSpPr>
        <p:spPr>
          <a:xfrm>
            <a:off x="403225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72704" name="Rectangle 0"/>
          <p:cNvSpPr>
            <a:spLocks noChangeArrowheads="1"/>
          </p:cNvSpPr>
          <p:nvPr/>
        </p:nvSpPr>
        <p:spPr bwMode="auto">
          <a:xfrm>
            <a:off x="7575550" y="2897175"/>
            <a:ext cx="171926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>
                <a:ea typeface="楷体_GB2312" pitchFamily="49" charset="-122"/>
              </a:rPr>
              <a:t>NH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sp>
        <p:nvSpPr>
          <p:cNvPr id="15372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73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591799" y="957602"/>
            <a:ext cx="3236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C</a:t>
            </a:r>
            <a:r>
              <a:rPr lang="en-US" altLang="zh-CN" sz="2800" b="1" baseline="-25000" dirty="0" smtClean="0"/>
              <a:t>HAC</a:t>
            </a:r>
            <a:r>
              <a:rPr lang="en-US" altLang="zh-CN" sz="2800" b="1" dirty="0" smtClean="0"/>
              <a:t>=[HAC]+[AC</a:t>
            </a:r>
            <a:r>
              <a:rPr lang="en-US" altLang="zh-CN" sz="2800" b="1" baseline="30000" dirty="0" smtClean="0"/>
              <a:t>-</a:t>
            </a:r>
            <a:r>
              <a:rPr lang="en-US" altLang="zh-CN" sz="2800" b="1" dirty="0" smtClean="0"/>
              <a:t>]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2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75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autoUpdateAnimBg="0"/>
      <p:bldP spid="63494" grpId="0" autoUpdateAnimBg="0"/>
      <p:bldP spid="63495" grpId="0" autoUpdateAnimBg="0"/>
      <p:bldP spid="63496" grpId="0" animBg="1"/>
      <p:bldP spid="63497" grpId="0" autoUpdateAnimBg="0"/>
      <p:bldP spid="63498" grpId="0" autoUpdateAnimBg="0"/>
      <p:bldP spid="63499" grpId="0" autoUpdateAnimBg="0"/>
      <p:bldP spid="63500" grpId="0" autoUpdateAnimBg="0"/>
      <p:bldP spid="72704" grpId="0" autoUpdateAnimBg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906464" y="1020763"/>
            <a:ext cx="642621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25℃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时，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的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 = 1.76×10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-5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.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38938" name="Rectangle 26"/>
          <p:cNvSpPr>
            <a:spLocks noChangeArrowheads="1"/>
          </p:cNvSpPr>
          <p:nvPr/>
        </p:nvSpPr>
        <p:spPr bwMode="auto">
          <a:xfrm>
            <a:off x="977901" y="1868488"/>
            <a:ext cx="7712094" cy="25161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ea typeface="楷体_GB2312"/>
              </a:rPr>
              <a:t>                </a:t>
            </a:r>
            <a:r>
              <a:rPr lang="en-US" altLang="zh-CN" sz="2500" b="1" dirty="0" smtClean="0">
                <a:ea typeface="楷体_GB2312"/>
              </a:rPr>
              <a:t>NH</a:t>
            </a:r>
            <a:r>
              <a:rPr lang="en-US" altLang="zh-CN" sz="2500" b="1" baseline="-25000" dirty="0" smtClean="0">
                <a:ea typeface="楷体_GB2312"/>
              </a:rPr>
              <a:t>3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的</a:t>
            </a:r>
            <a:r>
              <a:rPr lang="en-US" altLang="zh-CN" sz="2500" b="1" i="1" dirty="0" err="1">
                <a:ea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/>
                <a:sym typeface="Webdings" pitchFamily="18" charset="2"/>
              </a:rPr>
              <a:t>b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(</a:t>
            </a:r>
            <a:r>
              <a:rPr lang="en-US" altLang="zh-CN" sz="2500" b="1" dirty="0">
                <a:ea typeface="楷体_GB2312"/>
              </a:rPr>
              <a:t>NH</a:t>
            </a:r>
            <a:r>
              <a:rPr lang="en-US" altLang="zh-CN" sz="2500" b="1" baseline="-25000" dirty="0">
                <a:ea typeface="楷体_GB2312"/>
              </a:rPr>
              <a:t>3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) = 1.79×10</a:t>
            </a:r>
            <a:r>
              <a:rPr lang="en-US" altLang="zh-CN" sz="2500" b="1" baseline="30000" dirty="0">
                <a:ea typeface="楷体_GB2312"/>
                <a:sym typeface="Webdings" pitchFamily="18" charset="2"/>
              </a:rPr>
              <a:t>-5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.</a:t>
            </a:r>
            <a:endParaRPr lang="en-US" altLang="zh-CN" sz="2500" b="1" baseline="30000" dirty="0">
              <a:ea typeface="楷体_GB2312"/>
              <a:sym typeface="Webdings" pitchFamily="18" charset="2"/>
            </a:endParaRPr>
          </a:p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ea typeface="楷体_GB2312"/>
              </a:rPr>
              <a:t>               </a:t>
            </a:r>
            <a:r>
              <a:rPr lang="en-US" altLang="zh-CN" sz="2500" b="1" dirty="0" smtClean="0">
                <a:ea typeface="楷体_GB2312"/>
              </a:rPr>
              <a:t> </a:t>
            </a:r>
            <a:r>
              <a:rPr lang="zh-CN" altLang="en-US" sz="2500" b="1" dirty="0" smtClean="0">
                <a:ea typeface="楷体_GB2312"/>
              </a:rPr>
              <a:t>苯胺 </a:t>
            </a:r>
            <a:r>
              <a:rPr lang="en-US" altLang="zh-CN" sz="2500" b="1" i="1" dirty="0" err="1">
                <a:ea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/>
                <a:sym typeface="Webdings" pitchFamily="18" charset="2"/>
              </a:rPr>
              <a:t>b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(</a:t>
            </a:r>
            <a:r>
              <a:rPr lang="en-US" altLang="zh-CN" sz="2500" b="1" dirty="0">
                <a:ea typeface="楷体_GB2312"/>
              </a:rPr>
              <a:t>C</a:t>
            </a:r>
            <a:r>
              <a:rPr lang="en-US" altLang="zh-CN" sz="2500" b="1" baseline="-25000" dirty="0">
                <a:ea typeface="楷体_GB2312"/>
              </a:rPr>
              <a:t>6</a:t>
            </a:r>
            <a:r>
              <a:rPr lang="en-US" altLang="zh-CN" sz="2500" b="1" dirty="0">
                <a:ea typeface="楷体_GB2312"/>
              </a:rPr>
              <a:t>H</a:t>
            </a:r>
            <a:r>
              <a:rPr lang="en-US" altLang="zh-CN" sz="2500" b="1" baseline="-25000" dirty="0">
                <a:ea typeface="楷体_GB2312"/>
              </a:rPr>
              <a:t>5</a:t>
            </a:r>
            <a:r>
              <a:rPr lang="en-US" altLang="zh-CN" sz="2500" b="1" dirty="0">
                <a:ea typeface="楷体_GB2312"/>
              </a:rPr>
              <a:t>NH</a:t>
            </a:r>
            <a:r>
              <a:rPr lang="en-US" altLang="zh-CN" sz="2500" b="1" baseline="-25000" dirty="0">
                <a:ea typeface="楷体_GB2312"/>
              </a:rPr>
              <a:t>2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) = 4.67×10</a:t>
            </a:r>
            <a:r>
              <a:rPr lang="en-US" altLang="zh-CN" sz="2500" b="1" baseline="30000" dirty="0">
                <a:ea typeface="楷体_GB2312"/>
                <a:sym typeface="Webdings" pitchFamily="18" charset="2"/>
              </a:rPr>
              <a:t>-10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.</a:t>
            </a:r>
          </a:p>
          <a:p>
            <a:pPr>
              <a:lnSpc>
                <a:spcPct val="105000"/>
              </a:lnSpc>
              <a:defRPr/>
            </a:pPr>
            <a:r>
              <a:rPr lang="zh-CN" altLang="en-US" sz="2500" b="1" dirty="0">
                <a:solidFill>
                  <a:srgbClr val="FF00FF"/>
                </a:solidFill>
                <a:ea typeface="楷体_GB2312"/>
                <a:sym typeface="Webdings" pitchFamily="18" charset="2"/>
              </a:rPr>
              <a:t>注意</a:t>
            </a:r>
            <a:r>
              <a:rPr lang="en-US" altLang="zh-CN" sz="2500" b="1" dirty="0">
                <a:solidFill>
                  <a:srgbClr val="FF00FF"/>
                </a:solidFill>
                <a:ea typeface="楷体_GB2312"/>
                <a:sym typeface="Webdings" pitchFamily="18" charset="2"/>
              </a:rPr>
              <a:t>:</a:t>
            </a:r>
            <a:r>
              <a:rPr lang="en-US" altLang="zh-CN" sz="2500" b="1" dirty="0">
                <a:ea typeface="楷体_GB2312"/>
              </a:rPr>
              <a:t> </a:t>
            </a:r>
          </a:p>
          <a:p>
            <a:pPr>
              <a:lnSpc>
                <a:spcPct val="105000"/>
              </a:lnSpc>
              <a:defRPr/>
            </a:pPr>
            <a:r>
              <a:rPr lang="zh-CN" altLang="en-US" sz="2500" b="1" dirty="0">
                <a:solidFill>
                  <a:srgbClr val="0000FF"/>
                </a:solidFill>
                <a:ea typeface="楷体_GB2312"/>
              </a:rPr>
              <a:t>　　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/>
              </a:rPr>
              <a:t>解离常数</a:t>
            </a:r>
            <a:r>
              <a:rPr lang="zh-CN" altLang="en-US" sz="2500" b="1" dirty="0" smtClean="0">
                <a:ea typeface="楷体_GB2312"/>
              </a:rPr>
              <a:t>具</a:t>
            </a:r>
            <a:r>
              <a:rPr lang="zh-CN" altLang="en-US" sz="2500" b="1" dirty="0">
                <a:ea typeface="楷体_GB2312"/>
              </a:rPr>
              <a:t>平衡常数的一般属性</a:t>
            </a:r>
            <a:r>
              <a:rPr lang="en-US" altLang="zh-CN" sz="2500" b="1" dirty="0">
                <a:ea typeface="楷体_GB2312"/>
              </a:rPr>
              <a:t>.</a:t>
            </a:r>
          </a:p>
          <a:p>
            <a:pPr>
              <a:lnSpc>
                <a:spcPct val="105000"/>
              </a:lnSpc>
              <a:defRPr/>
            </a:pP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(2)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/>
                <a:sym typeface="Webdings" pitchFamily="18" charset="2"/>
              </a:rPr>
              <a:t>多元酸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/>
                <a:sym typeface="Webdings" pitchFamily="18" charset="2"/>
              </a:rPr>
              <a:t>(</a:t>
            </a:r>
            <a:r>
              <a:rPr lang="zh-CN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多元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/>
                <a:sym typeface="Webdings" pitchFamily="18" charset="2"/>
              </a:rPr>
              <a:t>碱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/>
                <a:sym typeface="Webdings" pitchFamily="18" charset="2"/>
              </a:rPr>
              <a:t>):</a:t>
            </a:r>
            <a:endParaRPr lang="en-US" altLang="zh-CN" sz="2500" b="1" dirty="0">
              <a:solidFill>
                <a:srgbClr val="FF3300"/>
              </a:solidFill>
              <a:ea typeface="楷体_GB2312"/>
              <a:sym typeface="Webdings" pitchFamily="18" charset="2"/>
            </a:endParaRPr>
          </a:p>
          <a:p>
            <a:pPr>
              <a:lnSpc>
                <a:spcPct val="105000"/>
              </a:lnSpc>
              <a:defRPr/>
            </a:pPr>
            <a:r>
              <a:rPr lang="zh-CN" altLang="en-US" sz="2500" b="1" dirty="0">
                <a:ea typeface="楷体_GB2312"/>
                <a:sym typeface="Webdings" pitchFamily="18" charset="2"/>
              </a:rPr>
              <a:t>　　</a:t>
            </a:r>
            <a:r>
              <a:rPr lang="zh-CN" altLang="en-US" sz="2500" b="1" dirty="0">
                <a:solidFill>
                  <a:schemeClr val="tx2"/>
                </a:solidFill>
                <a:ea typeface="楷体_GB2312"/>
                <a:sym typeface="Webdings" pitchFamily="18" charset="2"/>
              </a:rPr>
              <a:t>多元酸</a:t>
            </a:r>
            <a:r>
              <a:rPr lang="en-US" altLang="zh-CN" sz="2500" b="1" dirty="0">
                <a:solidFill>
                  <a:schemeClr val="tx2"/>
                </a:solidFill>
                <a:ea typeface="楷体_GB2312"/>
                <a:sym typeface="Webdings" pitchFamily="18" charset="2"/>
              </a:rPr>
              <a:t>(</a:t>
            </a:r>
            <a:r>
              <a:rPr lang="zh-CN" altLang="en-US" sz="2500" b="1" dirty="0">
                <a:solidFill>
                  <a:schemeClr val="tx2"/>
                </a:solidFill>
                <a:ea typeface="楷体_GB2312"/>
                <a:sym typeface="Webdings" pitchFamily="18" charset="2"/>
              </a:rPr>
              <a:t>碱</a:t>
            </a:r>
            <a:r>
              <a:rPr lang="en-US" altLang="zh-CN" sz="2500" b="1" dirty="0">
                <a:solidFill>
                  <a:schemeClr val="tx2"/>
                </a:solidFill>
                <a:ea typeface="楷体_GB2312"/>
                <a:sym typeface="Webdings" pitchFamily="18" charset="2"/>
              </a:rPr>
              <a:t>)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在水中的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解离是逐级进行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的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.</a:t>
            </a:r>
          </a:p>
        </p:txBody>
      </p:sp>
      <p:sp>
        <p:nvSpPr>
          <p:cNvPr id="16388" name="Rectangle 28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73728" name="Rectangle 0"/>
          <p:cNvSpPr>
            <a:spLocks noChangeArrowheads="1"/>
          </p:cNvSpPr>
          <p:nvPr/>
        </p:nvSpPr>
        <p:spPr bwMode="auto">
          <a:xfrm>
            <a:off x="1089027" y="4383088"/>
            <a:ext cx="510063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      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如，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H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在水溶液中的解离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6390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1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2260575" y="1454137"/>
            <a:ext cx="485778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HCN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的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(HCN) = 4.93×10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-10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6" grpId="0" autoUpdateAnimBg="0"/>
      <p:bldP spid="38938" grpId="0" build="p" autoUpdateAnimBg="0"/>
      <p:bldP spid="73728" grpId="0" autoUpdateAnimBg="0"/>
      <p:bldP spid="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60" name="Rectangle 16"/>
          <p:cNvSpPr>
            <a:spLocks noChangeArrowheads="1"/>
          </p:cNvSpPr>
          <p:nvPr/>
        </p:nvSpPr>
        <p:spPr bwMode="auto">
          <a:xfrm>
            <a:off x="906463" y="1020763"/>
            <a:ext cx="58578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第一级解离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:  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⇌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H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+ 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57361" name="Rectangle 17"/>
          <p:cNvSpPr>
            <a:spLocks noChangeArrowheads="1"/>
          </p:cNvSpPr>
          <p:nvPr/>
        </p:nvSpPr>
        <p:spPr bwMode="auto">
          <a:xfrm>
            <a:off x="1617663" y="1739900"/>
            <a:ext cx="2249487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57362" name="Line 18"/>
          <p:cNvSpPr>
            <a:spLocks noChangeShapeType="1"/>
          </p:cNvSpPr>
          <p:nvPr/>
        </p:nvSpPr>
        <p:spPr bwMode="auto">
          <a:xfrm>
            <a:off x="3832225" y="2025650"/>
            <a:ext cx="2268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3" name="Rectangle 19"/>
          <p:cNvSpPr>
            <a:spLocks noChangeArrowheads="1"/>
          </p:cNvSpPr>
          <p:nvPr/>
        </p:nvSpPr>
        <p:spPr bwMode="auto">
          <a:xfrm>
            <a:off x="4046538" y="1525588"/>
            <a:ext cx="19748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]</a:t>
            </a:r>
          </a:p>
        </p:txBody>
      </p:sp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4117975" y="2025650"/>
            <a:ext cx="14287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57365" name="Rectangle 21"/>
          <p:cNvSpPr>
            <a:spLocks noChangeArrowheads="1"/>
          </p:cNvSpPr>
          <p:nvPr/>
        </p:nvSpPr>
        <p:spPr bwMode="auto">
          <a:xfrm>
            <a:off x="906463" y="2447925"/>
            <a:ext cx="56784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第二级解离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:  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</a:t>
            </a:r>
            <a:r>
              <a:rPr lang="zh-CN" altLang="en-US" sz="2500" b="1">
                <a:ea typeface="Arial Unicode MS" pitchFamily="34" charset="-122"/>
                <a:cs typeface="Arial Unicode MS" pitchFamily="34" charset="-122"/>
              </a:rPr>
              <a:t> ⇌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H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+ 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57366" name="Rectangle 22"/>
          <p:cNvSpPr>
            <a:spLocks noChangeArrowheads="1"/>
          </p:cNvSpPr>
          <p:nvPr/>
        </p:nvSpPr>
        <p:spPr bwMode="auto">
          <a:xfrm>
            <a:off x="1858963" y="3162300"/>
            <a:ext cx="22494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57367" name="Rectangle 23"/>
          <p:cNvSpPr>
            <a:spLocks noChangeArrowheads="1"/>
          </p:cNvSpPr>
          <p:nvPr/>
        </p:nvSpPr>
        <p:spPr bwMode="auto">
          <a:xfrm>
            <a:off x="4189413" y="2954338"/>
            <a:ext cx="19288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57368" name="Line 24"/>
          <p:cNvSpPr>
            <a:spLocks noChangeShapeType="1"/>
          </p:cNvSpPr>
          <p:nvPr/>
        </p:nvSpPr>
        <p:spPr bwMode="auto">
          <a:xfrm>
            <a:off x="3975100" y="3454400"/>
            <a:ext cx="2268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9" name="Rectangle 25"/>
          <p:cNvSpPr>
            <a:spLocks noChangeArrowheads="1"/>
          </p:cNvSpPr>
          <p:nvPr/>
        </p:nvSpPr>
        <p:spPr bwMode="auto">
          <a:xfrm>
            <a:off x="4260850" y="3454400"/>
            <a:ext cx="135731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57372" name="Rectangle 28"/>
          <p:cNvSpPr>
            <a:spLocks noChangeArrowheads="1"/>
          </p:cNvSpPr>
          <p:nvPr/>
        </p:nvSpPr>
        <p:spPr bwMode="auto">
          <a:xfrm>
            <a:off x="906463" y="3921125"/>
            <a:ext cx="9985375" cy="1246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ea typeface="楷体_GB2312"/>
                <a:sym typeface="Webdings" pitchFamily="18" charset="2"/>
              </a:rPr>
              <a:t>        </a:t>
            </a:r>
            <a:r>
              <a:rPr lang="zh-CN" altLang="en-US" sz="25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/>
                <a:sym typeface="Webdings" pitchFamily="18" charset="2"/>
              </a:rPr>
              <a:t>注意</a:t>
            </a:r>
            <a:r>
              <a:rPr lang="zh-CN" altLang="en-US" sz="2500" b="1" dirty="0">
                <a:solidFill>
                  <a:schemeClr val="tx2"/>
                </a:solidFill>
                <a:latin typeface="+mn-ea"/>
                <a:ea typeface="+mn-ea"/>
                <a:sym typeface="Webdings" pitchFamily="18" charset="2"/>
              </a:rPr>
              <a:t>：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[H</a:t>
            </a:r>
            <a:r>
              <a:rPr lang="en-US" altLang="zh-CN" sz="2500" b="1" baseline="30000" dirty="0">
                <a:ea typeface="楷体_GB2312"/>
                <a:sym typeface="Webdings" pitchFamily="18" charset="2"/>
              </a:rPr>
              <a:t>+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]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为总浓度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.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　　</a:t>
            </a:r>
          </a:p>
          <a:p>
            <a:pPr>
              <a:defRPr/>
            </a:pPr>
            <a:r>
              <a:rPr lang="zh-CN" altLang="en-US" sz="2500" b="1" dirty="0">
                <a:ea typeface="楷体_GB2312"/>
                <a:sym typeface="Webdings" pitchFamily="18" charset="2"/>
              </a:rPr>
              <a:t>        因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CO</a:t>
            </a:r>
            <a:r>
              <a:rPr lang="en-US" altLang="zh-CN" sz="2500" b="1" baseline="-25000" dirty="0">
                <a:ea typeface="楷体_GB2312"/>
                <a:sym typeface="Webdings" pitchFamily="18" charset="2"/>
              </a:rPr>
              <a:t>3</a:t>
            </a:r>
            <a:r>
              <a:rPr lang="en-US" altLang="zh-CN" sz="2500" b="1" baseline="30000" dirty="0">
                <a:ea typeface="楷体_GB2312"/>
                <a:sym typeface="Webdings" pitchFamily="18" charset="2"/>
              </a:rPr>
              <a:t>2-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对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H</a:t>
            </a:r>
            <a:r>
              <a:rPr lang="en-US" altLang="zh-CN" sz="2500" b="1" baseline="30000" dirty="0">
                <a:ea typeface="楷体_GB2312"/>
                <a:sym typeface="Webdings" pitchFamily="18" charset="2"/>
              </a:rPr>
              <a:t>+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的吸引力强于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HCO</a:t>
            </a:r>
            <a:r>
              <a:rPr lang="en-US" altLang="zh-CN" sz="2500" b="1" baseline="-25000" dirty="0">
                <a:ea typeface="楷体_GB2312"/>
                <a:sym typeface="Webdings" pitchFamily="18" charset="2"/>
              </a:rPr>
              <a:t>3</a:t>
            </a:r>
            <a:r>
              <a:rPr lang="en-US" altLang="zh-CN" sz="2500" b="1" baseline="30000" dirty="0">
                <a:ea typeface="楷体_GB2312"/>
                <a:sym typeface="Webdings" pitchFamily="18" charset="2"/>
              </a:rPr>
              <a:t>-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对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H</a:t>
            </a:r>
            <a:r>
              <a:rPr lang="en-US" altLang="zh-CN" sz="2500" b="1" baseline="30000" dirty="0">
                <a:ea typeface="楷体_GB2312"/>
                <a:sym typeface="Webdings" pitchFamily="18" charset="2"/>
              </a:rPr>
              <a:t>+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的吸引力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再加上一级解离对二级解离的抑制作用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/>
                <a:sym typeface="Webdings" pitchFamily="18" charset="2"/>
              </a:rPr>
              <a:t>故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一般对多元酸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碱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), </a:t>
            </a:r>
            <a:r>
              <a:rPr lang="en-US" altLang="zh-CN" sz="2500" b="1" i="1" dirty="0">
                <a:solidFill>
                  <a:srgbClr val="FF3300"/>
                </a:solidFill>
                <a:ea typeface="楷体_GB231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1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&gt;</a:t>
            </a:r>
            <a:r>
              <a:rPr lang="en-US" altLang="zh-CN" sz="2500" b="1" i="1" dirty="0">
                <a:solidFill>
                  <a:srgbClr val="FF3300"/>
                </a:solidFill>
                <a:ea typeface="楷体_GB231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2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&gt;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Symbol" pitchFamily="18" charset="2"/>
              </a:rPr>
              <a:t></a:t>
            </a:r>
            <a:endParaRPr lang="en-US" altLang="zh-CN" sz="2500" b="1" dirty="0">
              <a:ea typeface="楷体_GB2312"/>
              <a:sym typeface="Webdings" pitchFamily="18" charset="2"/>
            </a:endParaRPr>
          </a:p>
        </p:txBody>
      </p:sp>
      <p:sp>
        <p:nvSpPr>
          <p:cNvPr id="17421" name="Rectangle 35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17422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6224587" y="3216265"/>
            <a:ext cx="1924951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4.68×10</a:t>
            </a:r>
            <a:r>
              <a:rPr lang="en-US" altLang="zh-CN" sz="2500" b="1" baseline="30000" dirty="0" smtClean="0">
                <a:ea typeface="楷体_GB2312" pitchFamily="49" charset="-122"/>
                <a:sym typeface="Webdings" pitchFamily="18" charset="2"/>
              </a:rPr>
              <a:t>-11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396038" y="1954969"/>
            <a:ext cx="1829347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4.47×10</a:t>
            </a:r>
            <a:r>
              <a:rPr lang="en-US" altLang="zh-CN" sz="2500" b="1" baseline="30000" dirty="0" smtClean="0">
                <a:ea typeface="楷体_GB2312" pitchFamily="49" charset="-122"/>
                <a:sym typeface="Webdings" pitchFamily="18" charset="2"/>
              </a:rPr>
              <a:t>-7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7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7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0" grpId="0" build="p" autoUpdateAnimBg="0"/>
      <p:bldP spid="57361" grpId="0" autoUpdateAnimBg="0"/>
      <p:bldP spid="57362" grpId="0" animBg="1"/>
      <p:bldP spid="57363" grpId="0" autoUpdateAnimBg="0"/>
      <p:bldP spid="57364" grpId="0" autoUpdateAnimBg="0"/>
      <p:bldP spid="57365" grpId="0" autoUpdateAnimBg="0"/>
      <p:bldP spid="57366" grpId="0" autoUpdateAnimBg="0"/>
      <p:bldP spid="57367" grpId="0" autoUpdateAnimBg="0"/>
      <p:bldP spid="57368" grpId="0" animBg="1"/>
      <p:bldP spid="57369" grpId="0" autoUpdateAnimBg="0"/>
      <p:bldP spid="57372" grpId="0" uiExpand="1" build="p" autoUpdateAnimBg="0"/>
      <p:bldP spid="17" grpId="0" autoUpdateAnimBg="0"/>
      <p:bldP spid="1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831850" y="882650"/>
            <a:ext cx="459740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Na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CO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zh-CN" altLang="en-US" sz="2500" b="1">
                <a:ea typeface="楷体_GB2312" pitchFamily="49" charset="-122"/>
              </a:rPr>
              <a:t>在水中的解离反应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906463" y="1428750"/>
            <a:ext cx="102314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/>
            <a:r>
              <a:rPr lang="zh-CN" altLang="zh-CN" sz="2500" b="1">
                <a:ea typeface="楷体_GB2312" pitchFamily="49" charset="-122"/>
                <a:sym typeface="Webdings" pitchFamily="18" charset="2"/>
              </a:rPr>
              <a:t>        第一级解离: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+ 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O</a:t>
            </a:r>
            <a:r>
              <a:rPr lang="en-US" altLang="zh-CN" sz="2500" b="1">
                <a:ea typeface="楷体_GB2312" pitchFamily="49" charset="-122"/>
              </a:rPr>
              <a:t>  </a:t>
            </a:r>
            <a:r>
              <a:rPr lang="zh-CN" altLang="en-US" sz="2500" b="1">
                <a:ea typeface="楷体_GB2312" pitchFamily="49" charset="-122"/>
                <a:cs typeface="Arial Unicode MS" pitchFamily="34" charset="-122"/>
              </a:rPr>
              <a:t>⇌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OH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+ 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2260600" y="2025650"/>
            <a:ext cx="20034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4260850" y="2311400"/>
            <a:ext cx="2720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4403725" y="1811338"/>
            <a:ext cx="2173288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[O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]</a:t>
            </a:r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4832350" y="2239963"/>
            <a:ext cx="21129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59405" name="Rectangle 13"/>
          <p:cNvSpPr>
            <a:spLocks noChangeArrowheads="1"/>
          </p:cNvSpPr>
          <p:nvPr/>
        </p:nvSpPr>
        <p:spPr bwMode="auto">
          <a:xfrm>
            <a:off x="906463" y="2652713"/>
            <a:ext cx="70072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第二级解离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:  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+ 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O  </a:t>
            </a:r>
            <a:r>
              <a:rPr lang="zh-CN" altLang="en-US" sz="2500" b="1">
                <a:ea typeface="楷体_GB2312" pitchFamily="49" charset="-122"/>
                <a:cs typeface="Arial Unicode MS" pitchFamily="34" charset="-122"/>
              </a:rPr>
              <a:t>⇌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OH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+ 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endParaRPr lang="en-US" altLang="zh-CN" sz="2500" b="1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59406" name="Rectangle 14"/>
          <p:cNvSpPr>
            <a:spLocks noChangeArrowheads="1"/>
          </p:cNvSpPr>
          <p:nvPr/>
        </p:nvSpPr>
        <p:spPr bwMode="auto">
          <a:xfrm>
            <a:off x="2176463" y="3263900"/>
            <a:ext cx="20812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59407" name="Line 15"/>
          <p:cNvSpPr>
            <a:spLocks noChangeShapeType="1"/>
          </p:cNvSpPr>
          <p:nvPr/>
        </p:nvSpPr>
        <p:spPr bwMode="auto">
          <a:xfrm>
            <a:off x="4117975" y="3597275"/>
            <a:ext cx="2719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8" name="Rectangle 16"/>
          <p:cNvSpPr>
            <a:spLocks noChangeArrowheads="1"/>
          </p:cNvSpPr>
          <p:nvPr/>
        </p:nvSpPr>
        <p:spPr bwMode="auto">
          <a:xfrm>
            <a:off x="4260850" y="3097213"/>
            <a:ext cx="21304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[O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59409" name="Rectangle 17"/>
          <p:cNvSpPr>
            <a:spLocks noChangeArrowheads="1"/>
          </p:cNvSpPr>
          <p:nvPr/>
        </p:nvSpPr>
        <p:spPr bwMode="auto">
          <a:xfrm>
            <a:off x="4618038" y="3525838"/>
            <a:ext cx="21129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]</a:t>
            </a:r>
          </a:p>
        </p:txBody>
      </p:sp>
      <p:sp>
        <p:nvSpPr>
          <p:cNvPr id="59411" name="Rectangle 19"/>
          <p:cNvSpPr>
            <a:spLocks noChangeArrowheads="1"/>
          </p:cNvSpPr>
          <p:nvPr/>
        </p:nvSpPr>
        <p:spPr bwMode="auto">
          <a:xfrm>
            <a:off x="903288" y="4525963"/>
            <a:ext cx="9944100" cy="8620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ea typeface="楷体_GB2312"/>
                <a:sym typeface="Webdings" pitchFamily="18" charset="2"/>
              </a:rPr>
              <a:t>　　据多重平衡原理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,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多元酸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碱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)</a:t>
            </a:r>
            <a:r>
              <a:rPr lang="zh-CN" altLang="en-US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总解离平衡的平衡常数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:</a:t>
            </a:r>
          </a:p>
          <a:p>
            <a:pPr algn="ctr">
              <a:defRPr/>
            </a:pPr>
            <a:r>
              <a:rPr lang="en-US" altLang="zh-CN" sz="2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Webdings" pitchFamily="18" charset="2"/>
              </a:rPr>
              <a:t> </a:t>
            </a:r>
            <a:r>
              <a:rPr lang="en-US" altLang="zh-CN" sz="2500" b="1" i="1" dirty="0">
                <a:solidFill>
                  <a:srgbClr val="FF3300"/>
                </a:solidFill>
                <a:ea typeface="楷体_GB231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= </a:t>
            </a:r>
            <a:r>
              <a:rPr lang="en-US" altLang="zh-CN" sz="2500" b="1" i="1" dirty="0">
                <a:solidFill>
                  <a:srgbClr val="FF0000"/>
                </a:solidFill>
                <a:ea typeface="楷体_GB231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1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×</a:t>
            </a:r>
            <a:r>
              <a:rPr lang="en-US" altLang="zh-CN" sz="2500" b="1" i="1" dirty="0">
                <a:solidFill>
                  <a:srgbClr val="FF0000"/>
                </a:solidFill>
                <a:ea typeface="楷体_GB2312"/>
              </a:rPr>
              <a:t>K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/>
              </a:rPr>
              <a:t>2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dirty="0">
                <a:solidFill>
                  <a:srgbClr val="FF3300"/>
                </a:solidFill>
                <a:ea typeface="楷体_GB2312"/>
                <a:sym typeface="Webdings" pitchFamily="18" charset="2"/>
              </a:rPr>
              <a:t>×……</a:t>
            </a:r>
            <a:r>
              <a:rPr lang="en-US" altLang="zh-CN" sz="2500" b="1" dirty="0">
                <a:ea typeface="楷体_GB2312"/>
                <a:sym typeface="Webdings" pitchFamily="18" charset="2"/>
              </a:rPr>
              <a:t>.</a:t>
            </a:r>
          </a:p>
        </p:txBody>
      </p:sp>
      <p:sp>
        <p:nvSpPr>
          <p:cNvPr id="59412" name="Rectangle 20"/>
          <p:cNvSpPr>
            <a:spLocks noChangeArrowheads="1"/>
          </p:cNvSpPr>
          <p:nvPr/>
        </p:nvSpPr>
        <p:spPr bwMode="auto">
          <a:xfrm>
            <a:off x="1046163" y="3954463"/>
            <a:ext cx="69992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总解离平衡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  CO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2-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+ 2H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O  </a:t>
            </a:r>
            <a:r>
              <a:rPr lang="zh-CN" altLang="en-US" sz="2500" b="1" dirty="0">
                <a:ea typeface="楷体_GB2312" pitchFamily="49" charset="-122"/>
                <a:cs typeface="Arial Unicode MS" pitchFamily="34" charset="-122"/>
              </a:rPr>
              <a:t>⇌ 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2OH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+ H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</a:p>
        </p:txBody>
      </p:sp>
      <p:sp>
        <p:nvSpPr>
          <p:cNvPr id="18447" name="Rectangle 26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18448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9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9" grpId="0" autoUpdateAnimBg="0"/>
      <p:bldP spid="59400" grpId="0" build="p" autoUpdateAnimBg="0"/>
      <p:bldP spid="59401" grpId="0" autoUpdateAnimBg="0"/>
      <p:bldP spid="59402" grpId="0" animBg="1"/>
      <p:bldP spid="59403" grpId="0" autoUpdateAnimBg="0"/>
      <p:bldP spid="59404" grpId="0" autoUpdateAnimBg="0"/>
      <p:bldP spid="59405" grpId="0" autoUpdateAnimBg="0"/>
      <p:bldP spid="59406" grpId="0" autoUpdateAnimBg="0"/>
      <p:bldP spid="59407" grpId="0" animBg="1"/>
      <p:bldP spid="59408" grpId="0" autoUpdateAnimBg="0"/>
      <p:bldP spid="59409" grpId="0" autoUpdateAnimBg="0"/>
      <p:bldP spid="59411" grpId="0" autoUpdateAnimBg="0"/>
      <p:bldP spid="5941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862050" y="882650"/>
            <a:ext cx="4827549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共轭酸碱对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与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b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的关系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: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39954" name="Rectangle 18"/>
          <p:cNvSpPr>
            <a:spLocks noChangeArrowheads="1"/>
          </p:cNvSpPr>
          <p:nvPr/>
        </p:nvSpPr>
        <p:spPr bwMode="auto">
          <a:xfrm>
            <a:off x="760377" y="1311275"/>
            <a:ext cx="6408738" cy="1246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一元弱酸及其共轭碱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dirty="0" err="1">
                <a:ea typeface="楷体_GB2312" pitchFamily="49" charset="-122"/>
              </a:rPr>
              <a:t>HAc</a:t>
            </a:r>
            <a:r>
              <a:rPr lang="zh-CN" altLang="en-US" sz="2500" b="1" dirty="0">
                <a:ea typeface="楷体_GB2312" pitchFamily="49" charset="-122"/>
              </a:rPr>
              <a:t>与</a:t>
            </a:r>
            <a:r>
              <a:rPr lang="en-US" altLang="zh-CN" sz="2500" b="1" dirty="0">
                <a:ea typeface="楷体_GB2312" pitchFamily="49" charset="-122"/>
              </a:rPr>
              <a:t>Ac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zh-CN" altLang="en-US" sz="2500" b="1" dirty="0">
                <a:ea typeface="楷体_GB2312" pitchFamily="49" charset="-122"/>
              </a:rPr>
              <a:t>的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与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>
                <a:ea typeface="楷体_GB2312" pitchFamily="49" charset="-122"/>
              </a:rPr>
              <a:t>Ac</a:t>
            </a:r>
            <a:r>
              <a:rPr lang="en-US" altLang="zh-CN" sz="2500" b="1" baseline="30000" dirty="0">
                <a:ea typeface="楷体_GB2312" pitchFamily="49" charset="-122"/>
              </a:rPr>
              <a:t>-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的关系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将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与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>
                <a:ea typeface="楷体_GB2312" pitchFamily="49" charset="-122"/>
              </a:rPr>
              <a:t>Ac</a:t>
            </a:r>
            <a:r>
              <a:rPr lang="en-US" altLang="zh-CN" sz="2500" b="1" baseline="30000" dirty="0">
                <a:ea typeface="楷体_GB2312" pitchFamily="49" charset="-122"/>
              </a:rPr>
              <a:t>-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的表达式相乘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</a:t>
            </a:r>
          </a:p>
        </p:txBody>
      </p:sp>
      <p:sp>
        <p:nvSpPr>
          <p:cNvPr id="39961" name="Rectangle 25"/>
          <p:cNvSpPr>
            <a:spLocks noChangeArrowheads="1"/>
          </p:cNvSpPr>
          <p:nvPr/>
        </p:nvSpPr>
        <p:spPr bwMode="auto">
          <a:xfrm>
            <a:off x="1155736" y="2882900"/>
            <a:ext cx="32210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(HAc)×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>
                <a:ea typeface="楷体_GB2312" pitchFamily="49" charset="-122"/>
              </a:rPr>
              <a:t>Ac</a:t>
            </a:r>
            <a:r>
              <a:rPr lang="en-US" altLang="zh-CN" sz="2500" b="1" baseline="30000">
                <a:ea typeface="楷体_GB2312" pitchFamily="49" charset="-122"/>
              </a:rPr>
              <a:t>-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39962" name="Rectangle 26"/>
          <p:cNvSpPr>
            <a:spLocks noChangeArrowheads="1"/>
          </p:cNvSpPr>
          <p:nvPr/>
        </p:nvSpPr>
        <p:spPr bwMode="auto">
          <a:xfrm>
            <a:off x="4584736" y="2668588"/>
            <a:ext cx="143033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Ac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63" name="Line 27"/>
          <p:cNvSpPr>
            <a:spLocks noChangeShapeType="1"/>
          </p:cNvSpPr>
          <p:nvPr/>
        </p:nvSpPr>
        <p:spPr bwMode="auto">
          <a:xfrm>
            <a:off x="4513298" y="3168650"/>
            <a:ext cx="1920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4" name="Rectangle 28"/>
          <p:cNvSpPr>
            <a:spLocks noChangeArrowheads="1"/>
          </p:cNvSpPr>
          <p:nvPr/>
        </p:nvSpPr>
        <p:spPr bwMode="auto">
          <a:xfrm>
            <a:off x="4727611" y="3168650"/>
            <a:ext cx="14017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HAc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65" name="Rectangle 29"/>
          <p:cNvSpPr>
            <a:spLocks noChangeArrowheads="1"/>
          </p:cNvSpPr>
          <p:nvPr/>
        </p:nvSpPr>
        <p:spPr bwMode="auto">
          <a:xfrm>
            <a:off x="6370673" y="2954338"/>
            <a:ext cx="4032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×</a:t>
            </a:r>
          </a:p>
        </p:txBody>
      </p:sp>
      <p:sp>
        <p:nvSpPr>
          <p:cNvPr id="39966" name="Rectangle 30"/>
          <p:cNvSpPr>
            <a:spLocks noChangeArrowheads="1"/>
          </p:cNvSpPr>
          <p:nvPr/>
        </p:nvSpPr>
        <p:spPr bwMode="auto">
          <a:xfrm>
            <a:off x="6942173" y="2668588"/>
            <a:ext cx="186213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HAc</a:t>
            </a:r>
            <a:r>
              <a:rPr lang="en-US" altLang="zh-CN" sz="2500" b="1" baseline="-25000"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67" name="Line 31"/>
          <p:cNvSpPr>
            <a:spLocks noChangeShapeType="1"/>
          </p:cNvSpPr>
          <p:nvPr/>
        </p:nvSpPr>
        <p:spPr bwMode="auto">
          <a:xfrm>
            <a:off x="6799298" y="3168650"/>
            <a:ext cx="2268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68" name="Rectangle 32"/>
          <p:cNvSpPr>
            <a:spLocks noChangeArrowheads="1"/>
          </p:cNvSpPr>
          <p:nvPr/>
        </p:nvSpPr>
        <p:spPr bwMode="auto">
          <a:xfrm>
            <a:off x="7156486" y="3168650"/>
            <a:ext cx="13446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Ac</a:t>
            </a:r>
            <a:r>
              <a:rPr lang="en-US" altLang="zh-CN" sz="2500" b="1" baseline="30000">
                <a:ea typeface="楷体_GB2312" pitchFamily="49" charset="-122"/>
              </a:rPr>
              <a:t>-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69" name="Line 33"/>
          <p:cNvSpPr>
            <a:spLocks noChangeShapeType="1"/>
          </p:cNvSpPr>
          <p:nvPr/>
        </p:nvSpPr>
        <p:spPr bwMode="auto">
          <a:xfrm rot="2700000">
            <a:off x="5367373" y="2921001"/>
            <a:ext cx="511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0" name="Line 34"/>
          <p:cNvSpPr>
            <a:spLocks noChangeShapeType="1"/>
          </p:cNvSpPr>
          <p:nvPr/>
        </p:nvSpPr>
        <p:spPr bwMode="auto">
          <a:xfrm rot="2700000">
            <a:off x="7224748" y="2921001"/>
            <a:ext cx="511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1" name="Line 35"/>
          <p:cNvSpPr>
            <a:spLocks noChangeShapeType="1"/>
          </p:cNvSpPr>
          <p:nvPr/>
        </p:nvSpPr>
        <p:spPr bwMode="auto">
          <a:xfrm rot="2700000">
            <a:off x="5010185" y="3421063"/>
            <a:ext cx="511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2" name="Line 36"/>
          <p:cNvSpPr>
            <a:spLocks noChangeShapeType="1"/>
          </p:cNvSpPr>
          <p:nvPr/>
        </p:nvSpPr>
        <p:spPr bwMode="auto">
          <a:xfrm rot="2700000">
            <a:off x="7367623" y="3421063"/>
            <a:ext cx="511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3" name="Rectangle 37"/>
          <p:cNvSpPr>
            <a:spLocks noChangeArrowheads="1"/>
          </p:cNvSpPr>
          <p:nvPr/>
        </p:nvSpPr>
        <p:spPr bwMode="auto">
          <a:xfrm>
            <a:off x="9085298" y="2882900"/>
            <a:ext cx="18192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39974" name="Text Box 38"/>
          <p:cNvSpPr txBox="1">
            <a:spLocks noChangeArrowheads="1"/>
          </p:cNvSpPr>
          <p:nvPr/>
        </p:nvSpPr>
        <p:spPr bwMode="auto">
          <a:xfrm>
            <a:off x="831850" y="3668713"/>
            <a:ext cx="1023143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baseline="30000"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与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的关系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:</a:t>
            </a:r>
          </a:p>
        </p:txBody>
      </p:sp>
      <p:sp>
        <p:nvSpPr>
          <p:cNvPr id="39975" name="Rectangle 39"/>
          <p:cNvSpPr>
            <a:spLocks noChangeArrowheads="1"/>
          </p:cNvSpPr>
          <p:nvPr/>
        </p:nvSpPr>
        <p:spPr bwMode="auto">
          <a:xfrm>
            <a:off x="1012862" y="4454525"/>
            <a:ext cx="36083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baseline="30000"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)×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39976" name="Rectangle 40"/>
          <p:cNvSpPr>
            <a:spLocks noChangeArrowheads="1"/>
          </p:cNvSpPr>
          <p:nvPr/>
        </p:nvSpPr>
        <p:spPr bwMode="auto">
          <a:xfrm>
            <a:off x="4799049" y="4240213"/>
            <a:ext cx="18954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77" name="Rectangle 41"/>
          <p:cNvSpPr>
            <a:spLocks noChangeArrowheads="1"/>
          </p:cNvSpPr>
          <p:nvPr/>
        </p:nvSpPr>
        <p:spPr bwMode="auto">
          <a:xfrm>
            <a:off x="5311812" y="4714875"/>
            <a:ext cx="16335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>
            <a:off x="4857787" y="4749800"/>
            <a:ext cx="22685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9" name="Rectangle 43"/>
          <p:cNvSpPr>
            <a:spLocks noChangeArrowheads="1"/>
          </p:cNvSpPr>
          <p:nvPr/>
        </p:nvSpPr>
        <p:spPr bwMode="auto">
          <a:xfrm>
            <a:off x="7442237" y="4240213"/>
            <a:ext cx="15748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80" name="Rectangle 44"/>
          <p:cNvSpPr>
            <a:spLocks noChangeArrowheads="1"/>
          </p:cNvSpPr>
          <p:nvPr/>
        </p:nvSpPr>
        <p:spPr bwMode="auto">
          <a:xfrm>
            <a:off x="6945349" y="4511675"/>
            <a:ext cx="4032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×</a:t>
            </a:r>
          </a:p>
        </p:txBody>
      </p:sp>
      <p:sp>
        <p:nvSpPr>
          <p:cNvPr id="39981" name="Line 45"/>
          <p:cNvSpPr>
            <a:spLocks noChangeShapeType="1"/>
          </p:cNvSpPr>
          <p:nvPr/>
        </p:nvSpPr>
        <p:spPr bwMode="auto">
          <a:xfrm>
            <a:off x="7370799" y="4740275"/>
            <a:ext cx="1920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2" name="Rectangle 46"/>
          <p:cNvSpPr>
            <a:spLocks noChangeArrowheads="1"/>
          </p:cNvSpPr>
          <p:nvPr/>
        </p:nvSpPr>
        <p:spPr bwMode="auto">
          <a:xfrm>
            <a:off x="7761324" y="4714875"/>
            <a:ext cx="16319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 rot="2700000">
            <a:off x="5214974" y="4511676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4" name="Line 48"/>
          <p:cNvSpPr>
            <a:spLocks noChangeShapeType="1"/>
          </p:cNvSpPr>
          <p:nvPr/>
        </p:nvSpPr>
        <p:spPr bwMode="auto">
          <a:xfrm rot="2700000">
            <a:off x="8224874" y="4564063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5" name="Line 49"/>
          <p:cNvSpPr>
            <a:spLocks noChangeShapeType="1"/>
          </p:cNvSpPr>
          <p:nvPr/>
        </p:nvSpPr>
        <p:spPr bwMode="auto">
          <a:xfrm rot="2700000">
            <a:off x="5580893" y="4991894"/>
            <a:ext cx="50958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rot="2700000">
            <a:off x="8081205" y="4991894"/>
            <a:ext cx="50958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7" name="Rectangle 51"/>
          <p:cNvSpPr>
            <a:spLocks noChangeArrowheads="1"/>
          </p:cNvSpPr>
          <p:nvPr/>
        </p:nvSpPr>
        <p:spPr bwMode="auto">
          <a:xfrm>
            <a:off x="9299612" y="4454525"/>
            <a:ext cx="18192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9487" name="Rectangle 52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19488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9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399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39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 autoUpdateAnimBg="0"/>
      <p:bldP spid="39954" grpId="0" build="p" autoUpdateAnimBg="0"/>
      <p:bldP spid="39961" grpId="0" autoUpdateAnimBg="0"/>
      <p:bldP spid="39962" grpId="0" autoUpdateAnimBg="0"/>
      <p:bldP spid="39963" grpId="0" animBg="1"/>
      <p:bldP spid="39964" grpId="0" autoUpdateAnimBg="0"/>
      <p:bldP spid="39965" grpId="0" autoUpdateAnimBg="0"/>
      <p:bldP spid="39966" grpId="0" autoUpdateAnimBg="0"/>
      <p:bldP spid="39967" grpId="0" animBg="1"/>
      <p:bldP spid="39968" grpId="0" autoUpdateAnimBg="0"/>
      <p:bldP spid="39969" grpId="0" animBg="1"/>
      <p:bldP spid="39970" grpId="0" animBg="1"/>
      <p:bldP spid="39971" grpId="0" animBg="1"/>
      <p:bldP spid="39972" grpId="0" animBg="1"/>
      <p:bldP spid="39973" grpId="0" autoUpdateAnimBg="0"/>
      <p:bldP spid="39974" grpId="0" autoUpdateAnimBg="0"/>
      <p:bldP spid="39975" grpId="0" autoUpdateAnimBg="0"/>
      <p:bldP spid="39976" grpId="0" autoUpdateAnimBg="0"/>
      <p:bldP spid="39977" grpId="0" autoUpdateAnimBg="0"/>
      <p:bldP spid="39978" grpId="0" animBg="1"/>
      <p:bldP spid="39979" grpId="0" autoUpdateAnimBg="0"/>
      <p:bldP spid="39980" grpId="0" autoUpdateAnimBg="0"/>
      <p:bldP spid="39981" grpId="0" animBg="1"/>
      <p:bldP spid="39982" grpId="0" autoUpdateAnimBg="0"/>
      <p:bldP spid="39983" grpId="0" animBg="1"/>
      <p:bldP spid="39984" grpId="0" animBg="1"/>
      <p:bldP spid="39985" grpId="0" animBg="1"/>
      <p:bldP spid="39986" grpId="0" animBg="1"/>
      <p:bldP spid="3998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7" name="Rectangle 37"/>
          <p:cNvSpPr>
            <a:spLocks noChangeArrowheads="1"/>
          </p:cNvSpPr>
          <p:nvPr/>
        </p:nvSpPr>
        <p:spPr bwMode="auto">
          <a:xfrm>
            <a:off x="798548" y="954088"/>
            <a:ext cx="10177463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一元弱酸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弱碱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及其共轭碱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),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与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之间具以下关系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</a:t>
            </a:r>
          </a:p>
          <a:p>
            <a:pPr algn="ctr"/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×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= 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1.0×10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-14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  <a:endParaRPr lang="en-US" altLang="zh-CN" sz="2500" b="1" baseline="30000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41004" name="Rectangle 44"/>
          <p:cNvSpPr>
            <a:spLocks noChangeArrowheads="1"/>
          </p:cNvSpPr>
          <p:nvPr/>
        </p:nvSpPr>
        <p:spPr bwMode="auto">
          <a:xfrm>
            <a:off x="862050" y="2025650"/>
            <a:ext cx="10328275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    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共轭酸碱对中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若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酸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越易给质子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酸性越强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其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共轭碱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接受质子能力就越弱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碱性也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就越弱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41005" name="Rectangle 45"/>
          <p:cNvSpPr>
            <a:spLocks noChangeArrowheads="1"/>
          </p:cNvSpPr>
          <p:nvPr/>
        </p:nvSpPr>
        <p:spPr bwMode="auto">
          <a:xfrm>
            <a:off x="903260" y="3454401"/>
            <a:ext cx="10001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sym typeface="Webdings" pitchFamily="18" charset="2"/>
                <a:hlinkClick r:id="rId4" action="ppaction://hlinkpres?slideindex=1&amp;slidetitle=幻灯片 1"/>
              </a:rPr>
              <a:t>解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: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0485" name="Rectangle 48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0212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20486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7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831815" y="2954335"/>
            <a:ext cx="8001056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dirty="0" err="1" smtClean="0">
                <a:latin typeface="+mn-lt"/>
                <a:ea typeface="楷体_GB2312" pitchFamily="49" charset="-122"/>
              </a:rPr>
              <a:t>HAc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i="1" dirty="0" err="1" smtClean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= 1.76×10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-5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求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Ac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的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Ac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 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41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7" grpId="0" autoUpdateAnimBg="0"/>
      <p:bldP spid="41004" grpId="0" autoUpdateAnimBg="0"/>
      <p:bldP spid="41005" grpId="0" autoUpdateAnimBg="0"/>
      <p:bldP spid="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760413" y="1239838"/>
            <a:ext cx="10136187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      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以及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各级解离常数之间的关系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: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将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与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两表达式相乘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; </a:t>
            </a:r>
          </a:p>
        </p:txBody>
      </p:sp>
      <p:sp>
        <p:nvSpPr>
          <p:cNvPr id="42020" name="Rectangle 36"/>
          <p:cNvSpPr>
            <a:spLocks noChangeArrowheads="1"/>
          </p:cNvSpPr>
          <p:nvPr/>
        </p:nvSpPr>
        <p:spPr bwMode="auto">
          <a:xfrm>
            <a:off x="617538" y="811213"/>
            <a:ext cx="217011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多元酸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碱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):</a:t>
            </a:r>
          </a:p>
        </p:txBody>
      </p:sp>
      <p:sp>
        <p:nvSpPr>
          <p:cNvPr id="42021" name="Rectangle 37"/>
          <p:cNvSpPr>
            <a:spLocks noChangeArrowheads="1"/>
          </p:cNvSpPr>
          <p:nvPr/>
        </p:nvSpPr>
        <p:spPr bwMode="auto">
          <a:xfrm>
            <a:off x="633451" y="2516188"/>
            <a:ext cx="42608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)×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 = </a:t>
            </a:r>
          </a:p>
        </p:txBody>
      </p:sp>
      <p:sp>
        <p:nvSpPr>
          <p:cNvPr id="42022" name="Rectangle 38"/>
          <p:cNvSpPr>
            <a:spLocks noChangeArrowheads="1"/>
          </p:cNvSpPr>
          <p:nvPr/>
        </p:nvSpPr>
        <p:spPr bwMode="auto">
          <a:xfrm>
            <a:off x="4708563" y="2311400"/>
            <a:ext cx="19748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]</a:t>
            </a:r>
          </a:p>
        </p:txBody>
      </p:sp>
      <p:sp>
        <p:nvSpPr>
          <p:cNvPr id="42023" name="Rectangle 39"/>
          <p:cNvSpPr>
            <a:spLocks noChangeArrowheads="1"/>
          </p:cNvSpPr>
          <p:nvPr/>
        </p:nvSpPr>
        <p:spPr bwMode="auto">
          <a:xfrm>
            <a:off x="1331881" y="3311525"/>
            <a:ext cx="598646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 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与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b1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(CO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两表达式相乘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</a:t>
            </a:r>
          </a:p>
        </p:txBody>
      </p:sp>
      <p:sp>
        <p:nvSpPr>
          <p:cNvPr id="42024" name="Rectangle 40"/>
          <p:cNvSpPr>
            <a:spLocks noChangeArrowheads="1"/>
          </p:cNvSpPr>
          <p:nvPr/>
        </p:nvSpPr>
        <p:spPr bwMode="auto">
          <a:xfrm>
            <a:off x="5013363" y="2740025"/>
            <a:ext cx="211296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2025" name="Line 41"/>
          <p:cNvSpPr>
            <a:spLocks noChangeShapeType="1"/>
          </p:cNvSpPr>
          <p:nvPr/>
        </p:nvSpPr>
        <p:spPr bwMode="auto">
          <a:xfrm>
            <a:off x="4799051" y="2811463"/>
            <a:ext cx="1920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6" name="Rectangle 42"/>
          <p:cNvSpPr>
            <a:spLocks noChangeArrowheads="1"/>
          </p:cNvSpPr>
          <p:nvPr/>
        </p:nvSpPr>
        <p:spPr bwMode="auto">
          <a:xfrm>
            <a:off x="6799301" y="2597150"/>
            <a:ext cx="6842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×</a:t>
            </a:r>
          </a:p>
        </p:txBody>
      </p:sp>
      <p:sp>
        <p:nvSpPr>
          <p:cNvPr id="42027" name="Rectangle 43"/>
          <p:cNvSpPr>
            <a:spLocks noChangeArrowheads="1"/>
          </p:cNvSpPr>
          <p:nvPr/>
        </p:nvSpPr>
        <p:spPr bwMode="auto">
          <a:xfrm>
            <a:off x="7156488" y="2311400"/>
            <a:ext cx="21304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[O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2028" name="Rectangle 44"/>
          <p:cNvSpPr>
            <a:spLocks noChangeArrowheads="1"/>
          </p:cNvSpPr>
          <p:nvPr/>
        </p:nvSpPr>
        <p:spPr bwMode="auto">
          <a:xfrm>
            <a:off x="7608926" y="2854325"/>
            <a:ext cx="21129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]</a:t>
            </a:r>
          </a:p>
        </p:txBody>
      </p:sp>
      <p:sp>
        <p:nvSpPr>
          <p:cNvPr id="42029" name="Line 45"/>
          <p:cNvSpPr>
            <a:spLocks noChangeShapeType="1"/>
          </p:cNvSpPr>
          <p:nvPr/>
        </p:nvSpPr>
        <p:spPr bwMode="auto">
          <a:xfrm>
            <a:off x="7227926" y="2882900"/>
            <a:ext cx="22685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0" name="Line 46"/>
          <p:cNvSpPr>
            <a:spLocks noChangeShapeType="1"/>
          </p:cNvSpPr>
          <p:nvPr/>
        </p:nvSpPr>
        <p:spPr bwMode="auto">
          <a:xfrm rot="2700000">
            <a:off x="5867438" y="2563813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1" name="Line 47"/>
          <p:cNvSpPr>
            <a:spLocks noChangeShapeType="1"/>
          </p:cNvSpPr>
          <p:nvPr/>
        </p:nvSpPr>
        <p:spPr bwMode="auto">
          <a:xfrm rot="2700000">
            <a:off x="8153438" y="2563813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2" name="Line 48"/>
          <p:cNvSpPr>
            <a:spLocks noChangeShapeType="1"/>
          </p:cNvSpPr>
          <p:nvPr/>
        </p:nvSpPr>
        <p:spPr bwMode="auto">
          <a:xfrm rot="2700000">
            <a:off x="5438019" y="3063082"/>
            <a:ext cx="50958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3" name="Line 49"/>
          <p:cNvSpPr>
            <a:spLocks noChangeShapeType="1"/>
          </p:cNvSpPr>
          <p:nvPr/>
        </p:nvSpPr>
        <p:spPr bwMode="auto">
          <a:xfrm rot="2700000">
            <a:off x="8082794" y="3134519"/>
            <a:ext cx="50958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4" name="Rectangle 50"/>
          <p:cNvSpPr>
            <a:spLocks noChangeArrowheads="1"/>
          </p:cNvSpPr>
          <p:nvPr/>
        </p:nvSpPr>
        <p:spPr bwMode="auto">
          <a:xfrm>
            <a:off x="9513926" y="2597150"/>
            <a:ext cx="18192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42035" name="Rectangle 51"/>
          <p:cNvSpPr>
            <a:spLocks noChangeArrowheads="1"/>
          </p:cNvSpPr>
          <p:nvPr/>
        </p:nvSpPr>
        <p:spPr bwMode="auto">
          <a:xfrm>
            <a:off x="704889" y="4243392"/>
            <a:ext cx="41005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)×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b1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42036" name="Rectangle 52"/>
          <p:cNvSpPr>
            <a:spLocks noChangeArrowheads="1"/>
          </p:cNvSpPr>
          <p:nvPr/>
        </p:nvSpPr>
        <p:spPr bwMode="auto">
          <a:xfrm>
            <a:off x="4657764" y="3954467"/>
            <a:ext cx="17526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2037" name="Rectangle 53"/>
          <p:cNvSpPr>
            <a:spLocks noChangeArrowheads="1"/>
          </p:cNvSpPr>
          <p:nvPr/>
        </p:nvSpPr>
        <p:spPr bwMode="auto">
          <a:xfrm>
            <a:off x="7013614" y="3954467"/>
            <a:ext cx="21732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[O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]</a:t>
            </a:r>
          </a:p>
        </p:txBody>
      </p:sp>
      <p:sp>
        <p:nvSpPr>
          <p:cNvPr id="42038" name="Line 54"/>
          <p:cNvSpPr>
            <a:spLocks noChangeShapeType="1"/>
          </p:cNvSpPr>
          <p:nvPr/>
        </p:nvSpPr>
        <p:spPr bwMode="auto">
          <a:xfrm>
            <a:off x="4838739" y="4497392"/>
            <a:ext cx="19192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9" name="Rectangle 55"/>
          <p:cNvSpPr>
            <a:spLocks noChangeArrowheads="1"/>
          </p:cNvSpPr>
          <p:nvPr/>
        </p:nvSpPr>
        <p:spPr bwMode="auto">
          <a:xfrm>
            <a:off x="5019714" y="4497392"/>
            <a:ext cx="21129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[HCO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2040" name="Rectangle 56"/>
          <p:cNvSpPr>
            <a:spLocks noChangeArrowheads="1"/>
          </p:cNvSpPr>
          <p:nvPr/>
        </p:nvSpPr>
        <p:spPr bwMode="auto">
          <a:xfrm>
            <a:off x="7513676" y="4525967"/>
            <a:ext cx="21129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[CO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3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2-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</a:p>
        </p:txBody>
      </p:sp>
      <p:sp>
        <p:nvSpPr>
          <p:cNvPr id="42041" name="Line 57"/>
          <p:cNvSpPr>
            <a:spLocks noChangeShapeType="1"/>
          </p:cNvSpPr>
          <p:nvPr/>
        </p:nvSpPr>
        <p:spPr bwMode="auto">
          <a:xfrm>
            <a:off x="7085051" y="4525967"/>
            <a:ext cx="2268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2" name="Rectangle 58"/>
          <p:cNvSpPr>
            <a:spLocks noChangeArrowheads="1"/>
          </p:cNvSpPr>
          <p:nvPr/>
        </p:nvSpPr>
        <p:spPr bwMode="auto">
          <a:xfrm>
            <a:off x="6697701" y="4260854"/>
            <a:ext cx="68421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×</a:t>
            </a:r>
          </a:p>
        </p:txBody>
      </p:sp>
      <p:sp>
        <p:nvSpPr>
          <p:cNvPr id="42043" name="Line 59"/>
          <p:cNvSpPr>
            <a:spLocks noChangeShapeType="1"/>
          </p:cNvSpPr>
          <p:nvPr/>
        </p:nvSpPr>
        <p:spPr bwMode="auto">
          <a:xfrm rot="2700000">
            <a:off x="5581688" y="4206880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4" name="Line 60"/>
          <p:cNvSpPr>
            <a:spLocks noChangeShapeType="1"/>
          </p:cNvSpPr>
          <p:nvPr/>
        </p:nvSpPr>
        <p:spPr bwMode="auto">
          <a:xfrm rot="2700000">
            <a:off x="8153438" y="4206880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5" name="Line 61"/>
          <p:cNvSpPr>
            <a:spLocks noChangeShapeType="1"/>
          </p:cNvSpPr>
          <p:nvPr/>
        </p:nvSpPr>
        <p:spPr bwMode="auto">
          <a:xfrm rot="2700000">
            <a:off x="5438813" y="4778380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6" name="Line 62"/>
          <p:cNvSpPr>
            <a:spLocks noChangeShapeType="1"/>
          </p:cNvSpPr>
          <p:nvPr/>
        </p:nvSpPr>
        <p:spPr bwMode="auto">
          <a:xfrm rot="2700000">
            <a:off x="7939126" y="4778380"/>
            <a:ext cx="5111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47" name="Rectangle 63"/>
          <p:cNvSpPr>
            <a:spLocks noChangeArrowheads="1"/>
          </p:cNvSpPr>
          <p:nvPr/>
        </p:nvSpPr>
        <p:spPr bwMode="auto">
          <a:xfrm>
            <a:off x="9513926" y="4311654"/>
            <a:ext cx="18192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[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][</a:t>
            </a:r>
            <a:r>
              <a:rPr lang="en-US" altLang="zh-CN" sz="2500" b="1">
                <a:ea typeface="楷体_GB2312" pitchFamily="49" charset="-122"/>
              </a:rPr>
              <a:t>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21535" name="Rectangle 64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3.1.2</a:t>
            </a:r>
            <a:r>
              <a:rPr lang="zh-CN" altLang="en-US" smtClean="0">
                <a:ea typeface="楷体_GB2312" pitchFamily="49" charset="-122"/>
              </a:rPr>
              <a:t>酸碱平衡与酸、碱的相对强弱</a:t>
            </a:r>
          </a:p>
        </p:txBody>
      </p:sp>
      <p:sp>
        <p:nvSpPr>
          <p:cNvPr id="21536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7" name="Oval 32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576888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20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20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20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4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42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42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42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4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3" grpId="0" build="p" autoUpdateAnimBg="0"/>
      <p:bldP spid="42020" grpId="0" autoUpdateAnimBg="0"/>
      <p:bldP spid="42021" grpId="0" autoUpdateAnimBg="0"/>
      <p:bldP spid="42022" grpId="0" autoUpdateAnimBg="0"/>
      <p:bldP spid="42023" grpId="0" autoUpdateAnimBg="0"/>
      <p:bldP spid="42024" grpId="0" autoUpdateAnimBg="0"/>
      <p:bldP spid="42025" grpId="0" animBg="1"/>
      <p:bldP spid="42026" grpId="0" autoUpdateAnimBg="0"/>
      <p:bldP spid="42027" grpId="0" autoUpdateAnimBg="0"/>
      <p:bldP spid="42028" grpId="0" autoUpdateAnimBg="0"/>
      <p:bldP spid="42029" grpId="0" animBg="1"/>
      <p:bldP spid="42030" grpId="0" animBg="1"/>
      <p:bldP spid="42031" grpId="0" animBg="1"/>
      <p:bldP spid="42032" grpId="0" animBg="1"/>
      <p:bldP spid="42033" grpId="0" animBg="1"/>
      <p:bldP spid="42034" grpId="0" autoUpdateAnimBg="0"/>
      <p:bldP spid="42035" grpId="0" autoUpdateAnimBg="0"/>
      <p:bldP spid="42036" grpId="0" autoUpdateAnimBg="0"/>
      <p:bldP spid="42037" grpId="0" autoUpdateAnimBg="0"/>
      <p:bldP spid="42038" grpId="0" animBg="1"/>
      <p:bldP spid="42039" grpId="0" autoUpdateAnimBg="0"/>
      <p:bldP spid="42040" grpId="0" autoUpdateAnimBg="0"/>
      <p:bldP spid="42041" grpId="0" animBg="1"/>
      <p:bldP spid="42042" grpId="0" autoUpdateAnimBg="0"/>
      <p:bldP spid="42043" grpId="0" animBg="1"/>
      <p:bldP spid="42044" grpId="0" animBg="1"/>
      <p:bldP spid="42045" grpId="0" animBg="1"/>
      <p:bldP spid="42046" grpId="0" animBg="1"/>
      <p:bldP spid="4204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86" name="Rectangle 30"/>
          <p:cNvSpPr>
            <a:spLocks noChangeArrowheads="1"/>
          </p:cNvSpPr>
          <p:nvPr/>
        </p:nvSpPr>
        <p:spPr bwMode="auto">
          <a:xfrm>
            <a:off x="688939" y="2811459"/>
            <a:ext cx="9969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solidFill>
                  <a:schemeClr val="bg2"/>
                </a:solidFill>
                <a:ea typeface="楷体_GB2312" pitchFamily="49" charset="-122"/>
                <a:hlinkClick r:id="rId3" action="ppaction://hlinkpres?slideindex=2&amp;slidetitle=幻灯片 2"/>
              </a:rPr>
              <a:t>解</a:t>
            </a:r>
            <a:r>
              <a:rPr lang="en-US" altLang="zh-CN" sz="2500" b="1" dirty="0" smtClean="0">
                <a:solidFill>
                  <a:schemeClr val="bg2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chemeClr val="bg2"/>
              </a:solidFill>
              <a:ea typeface="楷体_GB2312" pitchFamily="49" charset="-122"/>
            </a:endParaRPr>
          </a:p>
        </p:txBody>
      </p:sp>
      <p:sp>
        <p:nvSpPr>
          <p:cNvPr id="45094" name="Rectangle 38"/>
          <p:cNvSpPr>
            <a:spLocks noChangeArrowheads="1"/>
          </p:cNvSpPr>
          <p:nvPr/>
        </p:nvSpPr>
        <p:spPr bwMode="auto">
          <a:xfrm>
            <a:off x="546100" y="1025525"/>
            <a:ext cx="10231438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　　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二元酸及其共轭碱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的解离常数之间具以下关系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:</a:t>
            </a:r>
          </a:p>
          <a:p>
            <a:pPr algn="ctr"/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a1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×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b2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= 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×</a:t>
            </a:r>
            <a:r>
              <a:rPr lang="en-US" altLang="zh-CN" sz="2500" b="1" i="1" dirty="0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b1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= </a:t>
            </a:r>
            <a:r>
              <a:rPr lang="en-US" altLang="zh-CN" sz="2500" b="1" i="1" dirty="0" err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3300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1.0×10</a:t>
            </a:r>
            <a:r>
              <a:rPr lang="en-US" altLang="zh-CN" sz="2500" b="1" baseline="30000" dirty="0">
                <a:ea typeface="楷体_GB2312" pitchFamily="49" charset="-122"/>
                <a:sym typeface="Webdings" pitchFamily="18" charset="2"/>
              </a:rPr>
              <a:t>-14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22532" name="Rectangle 40"/>
          <p:cNvSpPr>
            <a:spLocks noGrp="1" noChangeArrowheads="1"/>
          </p:cNvSpPr>
          <p:nvPr>
            <p:ph type="title"/>
          </p:nvPr>
        </p:nvSpPr>
        <p:spPr>
          <a:xfrm>
            <a:off x="403225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3.1.2</a:t>
            </a:r>
            <a:r>
              <a:rPr lang="zh-CN" altLang="en-US" smtClean="0">
                <a:ea typeface="黑体" pitchFamily="49" charset="-122"/>
              </a:rPr>
              <a:t>酸碱平衡与酸、碱的相对强弱</a:t>
            </a:r>
          </a:p>
        </p:txBody>
      </p:sp>
      <p:sp>
        <p:nvSpPr>
          <p:cNvPr id="22533" name="Oval 3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" name="Rectangle 30"/>
          <p:cNvSpPr>
            <a:spLocks noChangeArrowheads="1"/>
          </p:cNvSpPr>
          <p:nvPr/>
        </p:nvSpPr>
        <p:spPr bwMode="auto">
          <a:xfrm>
            <a:off x="617501" y="1954203"/>
            <a:ext cx="10715700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2.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求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4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-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的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b3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4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及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p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b3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4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),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并判断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NaH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4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水溶液的酸碱性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6" grpId="0" autoUpdateAnimBg="0"/>
      <p:bldP spid="45094" grpId="0" autoUpdateAnimBg="0"/>
      <p:bldP spid="8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7b9ca968e9f75142a9faa90a6bf42b79c1c16e7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3767</TotalTime>
  <Pages>0</Pages>
  <Words>1535</Words>
  <Characters>0</Characters>
  <Application>Microsoft Office PowerPoint</Application>
  <DocSecurity>0</DocSecurity>
  <PresentationFormat>自定义</PresentationFormat>
  <Lines>0</Lines>
  <Paragraphs>242</Paragraphs>
  <Slides>19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 Unicode MS</vt:lpstr>
      <vt:lpstr>Monotype Sorts</vt:lpstr>
      <vt:lpstr>黑体</vt:lpstr>
      <vt:lpstr>楷体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公式</vt:lpstr>
      <vt:lpstr>PowerPoint 演示文稿</vt:lpstr>
      <vt:lpstr>PowerPoint 演示文稿</vt:lpstr>
      <vt:lpstr>PowerPoint 演示文稿</vt:lpstr>
      <vt:lpstr>3.1酸碱质子理论与酸碱平衡</vt:lpstr>
      <vt:lpstr>3.1.1 酸、碱与酸碱反应的实质</vt:lpstr>
      <vt:lpstr>PowerPoint 演示文稿</vt:lpstr>
      <vt:lpstr>PowerPoint 演示文稿</vt:lpstr>
      <vt:lpstr>PowerPoint 演示文稿</vt:lpstr>
      <vt:lpstr>3.1.1酸、碱与酸碱反应的实质</vt:lpstr>
      <vt:lpstr>3.1.1酸、碱与酸碱反应的实质</vt:lpstr>
      <vt:lpstr>3.1.2酸碱平衡与酸、碱的相对强弱</vt:lpstr>
      <vt:lpstr>3.1.2酸碱平衡与酸、碱的相对强弱</vt:lpstr>
      <vt:lpstr>3.1.2酸碱平衡与酸、碱的相对强弱</vt:lpstr>
      <vt:lpstr>3.1.2酸碱平衡与酸、碱的相对强弱</vt:lpstr>
      <vt:lpstr>3.1.2酸碱平衡与酸、碱的相对强弱</vt:lpstr>
      <vt:lpstr>3.1.2酸碱平衡与酸、碱的相对强弱</vt:lpstr>
      <vt:lpstr>3.1.2酸碱平衡与酸、碱的相对强弱</vt:lpstr>
      <vt:lpstr>3.1.2酸碱平衡与酸、碱的相对强弱</vt:lpstr>
      <vt:lpstr>3.1.2酸碱平衡与酸、碱的相对强弱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ch03-01酸碱平衡</dc:title>
  <dc:creator>江南大学</dc:creator>
  <cp:lastModifiedBy>USER</cp:lastModifiedBy>
  <cp:revision>343</cp:revision>
  <cp:lastPrinted>1601-01-01T00:00:00Z</cp:lastPrinted>
  <dcterms:created xsi:type="dcterms:W3CDTF">2012-06-20T03:37:37Z</dcterms:created>
  <dcterms:modified xsi:type="dcterms:W3CDTF">2021-09-15T08:25:12Z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