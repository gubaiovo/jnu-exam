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wmf" ContentType="image/x-wmf"/>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docProps/custom.xml" ContentType="application/vnd.openxmlformats-officedocument.custom-propertie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 id="2147483661" r:id="rId2"/>
  </p:sldMasterIdLst>
  <p:notesMasterIdLst>
    <p:notesMasterId r:id="rId35"/>
  </p:notesMasterIdLst>
  <p:sldIdLst>
    <p:sldId id="288" r:id="rId3"/>
    <p:sldId id="301" r:id="rId4"/>
    <p:sldId id="277" r:id="rId5"/>
    <p:sldId id="302" r:id="rId6"/>
    <p:sldId id="303" r:id="rId7"/>
    <p:sldId id="304" r:id="rId8"/>
    <p:sldId id="305" r:id="rId9"/>
    <p:sldId id="306" r:id="rId10"/>
    <p:sldId id="308" r:id="rId11"/>
    <p:sldId id="307" r:id="rId12"/>
    <p:sldId id="309" r:id="rId13"/>
    <p:sldId id="310" r:id="rId14"/>
    <p:sldId id="311" r:id="rId15"/>
    <p:sldId id="312" r:id="rId16"/>
    <p:sldId id="313" r:id="rId17"/>
    <p:sldId id="314" r:id="rId18"/>
    <p:sldId id="315" r:id="rId19"/>
    <p:sldId id="316" r:id="rId20"/>
    <p:sldId id="317" r:id="rId21"/>
    <p:sldId id="318" r:id="rId22"/>
    <p:sldId id="319" r:id="rId23"/>
    <p:sldId id="320" r:id="rId24"/>
    <p:sldId id="321" r:id="rId25"/>
    <p:sldId id="322" r:id="rId26"/>
    <p:sldId id="323" r:id="rId27"/>
    <p:sldId id="324" r:id="rId28"/>
    <p:sldId id="325" r:id="rId29"/>
    <p:sldId id="326" r:id="rId30"/>
    <p:sldId id="327" r:id="rId31"/>
    <p:sldId id="328" r:id="rId32"/>
    <p:sldId id="329" r:id="rId33"/>
    <p:sldId id="330" r:id="rId34"/>
  </p:sldIdLst>
  <p:sldSz cx="11522075" cy="6480175"/>
  <p:notesSz cx="6858000" cy="9144000"/>
  <p:defaultTextStyle>
    <a:defPPr>
      <a:defRPr lang="en-US"/>
    </a:defPPr>
    <a:lvl1pPr algn="l" rtl="0" fontAlgn="base">
      <a:spcBef>
        <a:spcPct val="0"/>
      </a:spcBef>
      <a:spcAft>
        <a:spcPct val="0"/>
      </a:spcAft>
      <a:defRPr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ern="1200">
        <a:solidFill>
          <a:schemeClr val="tx1"/>
        </a:solidFill>
        <a:latin typeface="Times New Roman" pitchFamily="18" charset="0"/>
        <a:ea typeface="宋体" pitchFamily="2" charset="-122"/>
        <a:cs typeface="+mn-cs"/>
      </a:defRPr>
    </a:lvl5pPr>
    <a:lvl6pPr marL="2286000" algn="l" defTabSz="914400" rtl="0" eaLnBrk="1" latinLnBrk="0" hangingPunct="1">
      <a:defRPr kern="1200">
        <a:solidFill>
          <a:schemeClr val="tx1"/>
        </a:solidFill>
        <a:latin typeface="Times New Roman" pitchFamily="18" charset="0"/>
        <a:ea typeface="宋体" pitchFamily="2" charset="-122"/>
        <a:cs typeface="+mn-cs"/>
      </a:defRPr>
    </a:lvl6pPr>
    <a:lvl7pPr marL="2743200" algn="l" defTabSz="914400" rtl="0" eaLnBrk="1" latinLnBrk="0" hangingPunct="1">
      <a:defRPr kern="1200">
        <a:solidFill>
          <a:schemeClr val="tx1"/>
        </a:solidFill>
        <a:latin typeface="Times New Roman" pitchFamily="18" charset="0"/>
        <a:ea typeface="宋体" pitchFamily="2" charset="-122"/>
        <a:cs typeface="+mn-cs"/>
      </a:defRPr>
    </a:lvl7pPr>
    <a:lvl8pPr marL="3200400" algn="l" defTabSz="914400" rtl="0" eaLnBrk="1" latinLnBrk="0" hangingPunct="1">
      <a:defRPr kern="1200">
        <a:solidFill>
          <a:schemeClr val="tx1"/>
        </a:solidFill>
        <a:latin typeface="Times New Roman" pitchFamily="18" charset="0"/>
        <a:ea typeface="宋体" pitchFamily="2" charset="-122"/>
        <a:cs typeface="+mn-cs"/>
      </a:defRPr>
    </a:lvl8pPr>
    <a:lvl9pPr marL="3657600" algn="l" defTabSz="914400" rtl="0" eaLnBrk="1" latinLnBrk="0" hangingPunct="1">
      <a:defRPr kern="1200">
        <a:solidFill>
          <a:schemeClr val="tx1"/>
        </a:solidFill>
        <a:latin typeface="Times New Roman" pitchFamily="18"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webPr encoding="gb2312"/>
  <p:clrMru>
    <a:srgbClr val="FF3300"/>
    <a:srgbClr val="FF99CC"/>
    <a:srgbClr val="000000"/>
    <a:srgbClr val="FFFF00"/>
    <a:srgbClr val="FFFFFF"/>
    <a:srgbClr val="F8F8F8"/>
    <a:srgbClr val="66CCFF"/>
    <a:srgbClr val="85D9F7"/>
  </p:clrMru>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E8034E78-7F5D-4C2E-B375-FC64B27BC917}" styleName="深色样式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EB344D84-9AFB-497E-A393-DC336BA19D2E}" styleName="中度样式 3 - 强调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72" autoAdjust="0"/>
    <p:restoredTop sz="94656" autoAdjust="0"/>
  </p:normalViewPr>
  <p:slideViewPr>
    <p:cSldViewPr>
      <p:cViewPr varScale="1">
        <p:scale>
          <a:sx n="70" d="100"/>
          <a:sy n="70" d="100"/>
        </p:scale>
        <p:origin x="-354" y="-108"/>
      </p:cViewPr>
      <p:guideLst>
        <p:guide orient="horz" pos="2034"/>
        <p:guide pos="362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106"/>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ea typeface="宋体" pitchFamily="2" charset="-122"/>
              </a:defRPr>
            </a:lvl1pPr>
          </a:lstStyle>
          <a:p>
            <a:pPr>
              <a:defRPr/>
            </a:pPr>
            <a:endParaRPr lang="zh-CN" altLang="en-US"/>
          </a:p>
        </p:txBody>
      </p:sp>
      <p:sp>
        <p:nvSpPr>
          <p:cNvPr id="2765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ea typeface="宋体" pitchFamily="2" charset="-122"/>
              </a:defRPr>
            </a:lvl1pPr>
          </a:lstStyle>
          <a:p>
            <a:pPr>
              <a:defRPr/>
            </a:pPr>
            <a:fld id="{F02D3A73-2B53-406A-A6AB-36713CCE1AA1}" type="datetimeFigureOut">
              <a:rPr lang="zh-CN" altLang="en-US"/>
              <a:pPr>
                <a:defRPr/>
              </a:pPr>
              <a:t>2017/8/24</a:t>
            </a:fld>
            <a:endParaRPr lang="en-US" altLang="zh-CN"/>
          </a:p>
        </p:txBody>
      </p:sp>
      <p:sp>
        <p:nvSpPr>
          <p:cNvPr id="34820"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p:spPr>
      </p:sp>
      <p:sp>
        <p:nvSpPr>
          <p:cNvPr id="2765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765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ea typeface="宋体" pitchFamily="2" charset="-122"/>
              </a:defRPr>
            </a:lvl1pPr>
          </a:lstStyle>
          <a:p>
            <a:pPr>
              <a:defRPr/>
            </a:pPr>
            <a:endParaRPr lang="en-US" altLang="zh-CN"/>
          </a:p>
        </p:txBody>
      </p:sp>
      <p:sp>
        <p:nvSpPr>
          <p:cNvPr id="2765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ea typeface="宋体" pitchFamily="2" charset="-122"/>
              </a:defRPr>
            </a:lvl1pPr>
          </a:lstStyle>
          <a:p>
            <a:pPr>
              <a:defRPr/>
            </a:pPr>
            <a:fld id="{15308047-D1F7-4CCD-8DDD-70CD274E97AF}"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ln/>
        </p:spPr>
      </p:sp>
      <p:sp>
        <p:nvSpPr>
          <p:cNvPr id="36867"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ChangeArrowheads="1" noTextEdit="1"/>
          </p:cNvSpPr>
          <p:nvPr>
            <p:ph type="sldImg"/>
          </p:nvPr>
        </p:nvSpPr>
        <p:spPr>
          <a:ln/>
        </p:spPr>
      </p:sp>
      <p:sp>
        <p:nvSpPr>
          <p:cNvPr id="37891"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ChangeArrowheads="1" noTextEdit="1"/>
          </p:cNvSpPr>
          <p:nvPr>
            <p:ph type="sldImg"/>
          </p:nvPr>
        </p:nvSpPr>
        <p:spPr>
          <a:ln/>
        </p:spPr>
      </p:sp>
      <p:sp>
        <p:nvSpPr>
          <p:cNvPr id="38915"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a:ln/>
        </p:spPr>
      </p:sp>
      <p:sp>
        <p:nvSpPr>
          <p:cNvPr id="39939"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a:ln/>
        </p:spPr>
      </p:sp>
      <p:sp>
        <p:nvSpPr>
          <p:cNvPr id="40963"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ChangeArrowheads="1" noTextEdit="1"/>
          </p:cNvSpPr>
          <p:nvPr>
            <p:ph type="sldImg"/>
          </p:nvPr>
        </p:nvSpPr>
        <p:spPr>
          <a:ln/>
        </p:spPr>
      </p:sp>
      <p:sp>
        <p:nvSpPr>
          <p:cNvPr id="41987"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p:nvPr>
        </p:nvSpPr>
        <p:spPr>
          <a:ln/>
        </p:spPr>
      </p:sp>
      <p:sp>
        <p:nvSpPr>
          <p:cNvPr id="43011"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p:nvPr>
        </p:nvSpPr>
        <p:spPr>
          <a:ln/>
        </p:spPr>
      </p:sp>
      <p:sp>
        <p:nvSpPr>
          <p:cNvPr id="45059"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ln/>
        </p:spPr>
      </p:sp>
      <p:sp>
        <p:nvSpPr>
          <p:cNvPr id="47107"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ln/>
        </p:spPr>
      </p:sp>
      <p:sp>
        <p:nvSpPr>
          <p:cNvPr id="49155"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p:nvPr>
        </p:nvSpPr>
        <p:spPr>
          <a:ln/>
        </p:spPr>
      </p:sp>
      <p:sp>
        <p:nvSpPr>
          <p:cNvPr id="50179"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ln/>
        </p:spPr>
      </p:sp>
      <p:sp>
        <p:nvSpPr>
          <p:cNvPr id="51203"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p:nvPr>
        </p:nvSpPr>
        <p:spPr>
          <a:ln/>
        </p:spPr>
      </p:sp>
      <p:sp>
        <p:nvSpPr>
          <p:cNvPr id="63491"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ln/>
        </p:spPr>
      </p:sp>
      <p:sp>
        <p:nvSpPr>
          <p:cNvPr id="67587"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863600" y="2012950"/>
            <a:ext cx="9794875" cy="1389063"/>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728788" y="3671888"/>
            <a:ext cx="8064500" cy="1655762"/>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cSld>
  <p:clrMapOvr>
    <a:masterClrMapping/>
  </p:clrMapOvr>
  <p:transition spd="slow">
    <p:split orient="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1081087"/>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576263" y="1511300"/>
            <a:ext cx="10369550" cy="4276725"/>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transition spd="slow">
    <p:split orient="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09638" y="4164013"/>
            <a:ext cx="9794875" cy="1287462"/>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09638" y="2746375"/>
            <a:ext cx="9794875" cy="1417638"/>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cSld>
  <p:clrMapOvr>
    <a:masterClrMapping/>
  </p:clrMapOvr>
  <p:transition spd="slow">
    <p:split orient="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1081087"/>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576263" y="1511300"/>
            <a:ext cx="5108575" cy="42767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5837238" y="1511300"/>
            <a:ext cx="5108575" cy="42767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transition spd="slow">
    <p:split orient="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1081087"/>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576263" y="1450975"/>
            <a:ext cx="5091112" cy="604838"/>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576263" y="2055813"/>
            <a:ext cx="5091112" cy="3732212"/>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5853113" y="1450975"/>
            <a:ext cx="5092700" cy="604838"/>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5853113" y="2055813"/>
            <a:ext cx="5092700" cy="3732212"/>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transition spd="slow">
    <p:split orient="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1081087"/>
          </a:xfrm>
          <a:prstGeom prst="rect">
            <a:avLst/>
          </a:prstGeom>
        </p:spPr>
        <p:txBody>
          <a:bodyPr/>
          <a:lstStyle/>
          <a:p>
            <a:r>
              <a:rPr lang="zh-CN" altLang="en-US" smtClean="0"/>
              <a:t>单击此处编辑母版标题样式</a:t>
            </a:r>
            <a:endParaRPr lang="zh-CN" altLang="en-US"/>
          </a:p>
        </p:txBody>
      </p:sp>
    </p:spTree>
  </p:cSld>
  <p:clrMapOvr>
    <a:masterClrMapping/>
  </p:clrMapOvr>
  <p:transition spd="slow">
    <p:split orient="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slow">
    <p:split orient="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3790950" cy="1096962"/>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505325" y="258763"/>
            <a:ext cx="6440488" cy="5529262"/>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576263" y="1355725"/>
            <a:ext cx="3790950" cy="44323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cSld>
  <p:clrMapOvr>
    <a:masterClrMapping/>
  </p:clrMapOvr>
  <p:transition spd="slow">
    <p:split orient="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259013" y="4535488"/>
            <a:ext cx="6911975" cy="5365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259013" y="579438"/>
            <a:ext cx="6911975" cy="3887787"/>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2259013" y="5072063"/>
            <a:ext cx="6911975" cy="7604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cSld>
  <p:clrMapOvr>
    <a:masterClrMapping/>
  </p:clrMapOvr>
  <p:transition spd="slow">
    <p:split orient="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1081087"/>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576263" y="1511300"/>
            <a:ext cx="10369550" cy="42767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transition spd="slow">
    <p:split orient="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353425" y="258763"/>
            <a:ext cx="2592388" cy="5529262"/>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576263" y="258763"/>
            <a:ext cx="7624762" cy="5529262"/>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transition spd="slow">
    <p:split orient="ver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863600" y="2012950"/>
            <a:ext cx="9794875" cy="1389063"/>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728788" y="3671888"/>
            <a:ext cx="8064500" cy="1655762"/>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cSld>
  <p:clrMapOvr>
    <a:masterClrMapping/>
  </p:clrMapOvr>
  <p:transition spd="slow">
    <p:split orient="ver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1081087"/>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576263" y="1511300"/>
            <a:ext cx="10369550" cy="4276725"/>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transition spd="slow">
    <p:split orient="vert"/>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09638" y="4164013"/>
            <a:ext cx="9794875" cy="1287462"/>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09638" y="2746375"/>
            <a:ext cx="9794875" cy="1417638"/>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cSld>
  <p:clrMapOvr>
    <a:masterClrMapping/>
  </p:clrMapOvr>
  <p:transition spd="slow">
    <p:split orient="vert"/>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1081087"/>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576263" y="1511300"/>
            <a:ext cx="5108575" cy="42767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5837238" y="1511300"/>
            <a:ext cx="5108575" cy="42767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transition spd="slow">
    <p:split orient="vert"/>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1081087"/>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576263" y="1450975"/>
            <a:ext cx="5091112" cy="604838"/>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576263" y="2055813"/>
            <a:ext cx="5091112" cy="3732212"/>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5853113" y="1450975"/>
            <a:ext cx="5092700" cy="604838"/>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5853113" y="2055813"/>
            <a:ext cx="5092700" cy="3732212"/>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transition spd="slow">
    <p:split orient="vert"/>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1081087"/>
          </a:xfrm>
          <a:prstGeom prst="rect">
            <a:avLst/>
          </a:prstGeom>
        </p:spPr>
        <p:txBody>
          <a:bodyPr/>
          <a:lstStyle/>
          <a:p>
            <a:r>
              <a:rPr lang="zh-CN" altLang="en-US" smtClean="0"/>
              <a:t>单击此处编辑母版标题样式</a:t>
            </a:r>
            <a:endParaRPr lang="zh-CN" altLang="en-US"/>
          </a:p>
        </p:txBody>
      </p:sp>
    </p:spTree>
  </p:cSld>
  <p:clrMapOvr>
    <a:masterClrMapping/>
  </p:clrMapOvr>
  <p:transition spd="slow">
    <p:split orient="vert"/>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bg>
      <p:bgPr>
        <a:blipFill dpi="0" rotWithShape="0">
          <a:blip r:embed="rId2">
            <a:lum/>
          </a:blip>
          <a:srcRect/>
          <a:stretch>
            <a:fillRect t="-1000" b="-1000"/>
          </a:stretch>
        </a:blipFill>
        <a:effectLst/>
      </p:bgPr>
    </p:bg>
    <p:spTree>
      <p:nvGrpSpPr>
        <p:cNvPr id="1" name=""/>
        <p:cNvGrpSpPr/>
        <p:nvPr/>
      </p:nvGrpSpPr>
      <p:grpSpPr>
        <a:xfrm>
          <a:off x="0" y="0"/>
          <a:ext cx="0" cy="0"/>
          <a:chOff x="0" y="0"/>
          <a:chExt cx="0" cy="0"/>
        </a:xfrm>
      </p:grpSpPr>
    </p:spTree>
  </p:cSld>
  <p:clrMapOvr>
    <a:masterClrMapping/>
  </p:clrMapOvr>
  <p:transition spd="slow">
    <p:split orient="vert"/>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3790950" cy="1096962"/>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505325" y="258763"/>
            <a:ext cx="6440488" cy="5529262"/>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576263" y="1355725"/>
            <a:ext cx="3790950" cy="44323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cSld>
  <p:clrMapOvr>
    <a:masterClrMapping/>
  </p:clrMapOvr>
  <p:transition spd="slow">
    <p:split orient="vert"/>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259013" y="4535488"/>
            <a:ext cx="6911975" cy="5365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259013" y="579438"/>
            <a:ext cx="6911975" cy="3887787"/>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2259013" y="5072063"/>
            <a:ext cx="6911975" cy="7604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cSld>
  <p:clrMapOvr>
    <a:masterClrMapping/>
  </p:clrMapOvr>
  <p:transition spd="slow">
    <p:split orient="vert"/>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1081087"/>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576263" y="1511300"/>
            <a:ext cx="10369550" cy="42767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transition spd="slow">
    <p:split orient="vert"/>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353425" y="258763"/>
            <a:ext cx="2592388" cy="5529262"/>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576263" y="258763"/>
            <a:ext cx="7624762" cy="5529262"/>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transition spd="slow">
    <p:split orient="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grpSp>
        <p:nvGrpSpPr>
          <p:cNvPr id="1026" name="Group 112"/>
          <p:cNvGrpSpPr>
            <a:grpSpLocks/>
          </p:cNvGrpSpPr>
          <p:nvPr userDrawn="1"/>
        </p:nvGrpSpPr>
        <p:grpSpPr bwMode="auto">
          <a:xfrm>
            <a:off x="0" y="0"/>
            <a:ext cx="11522075" cy="6513513"/>
            <a:chOff x="0" y="0"/>
            <a:chExt cx="7258" cy="4103"/>
          </a:xfrm>
        </p:grpSpPr>
        <p:grpSp>
          <p:nvGrpSpPr>
            <p:cNvPr id="1027" name="Group 100"/>
            <p:cNvGrpSpPr>
              <a:grpSpLocks/>
            </p:cNvGrpSpPr>
            <p:nvPr userDrawn="1"/>
          </p:nvGrpSpPr>
          <p:grpSpPr bwMode="auto">
            <a:xfrm>
              <a:off x="0" y="0"/>
              <a:ext cx="3627" cy="4103"/>
              <a:chOff x="204" y="45"/>
              <a:chExt cx="6325" cy="3401"/>
            </a:xfrm>
          </p:grpSpPr>
          <p:pic>
            <p:nvPicPr>
              <p:cNvPr id="1031" name="Picture 60" descr="图片2"/>
              <p:cNvPicPr>
                <a:picLocks noChangeArrowheads="1"/>
              </p:cNvPicPr>
              <p:nvPr userDrawn="1"/>
            </p:nvPicPr>
            <p:blipFill>
              <a:blip r:embed="rId13"/>
              <a:srcRect/>
              <a:stretch>
                <a:fillRect/>
              </a:stretch>
            </p:blipFill>
            <p:spPr bwMode="auto">
              <a:xfrm>
                <a:off x="391" y="181"/>
                <a:ext cx="5962" cy="3174"/>
              </a:xfrm>
              <a:prstGeom prst="rect">
                <a:avLst/>
              </a:prstGeom>
              <a:noFill/>
              <a:ln w="9525">
                <a:noFill/>
                <a:miter lim="800000"/>
                <a:headEnd/>
                <a:tailEnd/>
              </a:ln>
            </p:spPr>
          </p:pic>
          <p:pic>
            <p:nvPicPr>
              <p:cNvPr id="1032" name="Picture 67" descr="01"/>
              <p:cNvPicPr>
                <a:picLocks noChangeArrowheads="1"/>
              </p:cNvPicPr>
              <p:nvPr userDrawn="1"/>
            </p:nvPicPr>
            <p:blipFill>
              <a:blip r:embed="rId14">
                <a:clrChange>
                  <a:clrFrom>
                    <a:srgbClr val="FFFFFF"/>
                  </a:clrFrom>
                  <a:clrTo>
                    <a:srgbClr val="FFFFFF">
                      <a:alpha val="0"/>
                    </a:srgbClr>
                  </a:clrTo>
                </a:clrChange>
              </a:blip>
              <a:srcRect/>
              <a:stretch>
                <a:fillRect/>
              </a:stretch>
            </p:blipFill>
            <p:spPr bwMode="auto">
              <a:xfrm>
                <a:off x="204" y="45"/>
                <a:ext cx="6325" cy="3401"/>
              </a:xfrm>
              <a:prstGeom prst="rect">
                <a:avLst/>
              </a:prstGeom>
              <a:noFill/>
              <a:ln w="9525">
                <a:noFill/>
                <a:miter lim="800000"/>
                <a:headEnd/>
                <a:tailEnd/>
              </a:ln>
            </p:spPr>
          </p:pic>
        </p:grpSp>
        <p:grpSp>
          <p:nvGrpSpPr>
            <p:cNvPr id="1028" name="Group 103"/>
            <p:cNvGrpSpPr>
              <a:grpSpLocks/>
            </p:cNvGrpSpPr>
            <p:nvPr userDrawn="1"/>
          </p:nvGrpSpPr>
          <p:grpSpPr bwMode="auto">
            <a:xfrm>
              <a:off x="3631" y="0"/>
              <a:ext cx="3627" cy="4103"/>
              <a:chOff x="204" y="45"/>
              <a:chExt cx="6325" cy="3401"/>
            </a:xfrm>
          </p:grpSpPr>
          <p:pic>
            <p:nvPicPr>
              <p:cNvPr id="1029" name="Picture 60" descr="图片2"/>
              <p:cNvPicPr>
                <a:picLocks noChangeArrowheads="1"/>
              </p:cNvPicPr>
              <p:nvPr userDrawn="1"/>
            </p:nvPicPr>
            <p:blipFill>
              <a:blip r:embed="rId13"/>
              <a:srcRect/>
              <a:stretch>
                <a:fillRect/>
              </a:stretch>
            </p:blipFill>
            <p:spPr bwMode="auto">
              <a:xfrm>
                <a:off x="391" y="181"/>
                <a:ext cx="5962" cy="3174"/>
              </a:xfrm>
              <a:prstGeom prst="rect">
                <a:avLst/>
              </a:prstGeom>
              <a:noFill/>
              <a:ln w="9525">
                <a:noFill/>
                <a:miter lim="800000"/>
                <a:headEnd/>
                <a:tailEnd/>
              </a:ln>
            </p:spPr>
          </p:pic>
          <p:pic>
            <p:nvPicPr>
              <p:cNvPr id="1030" name="Picture 67" descr="01"/>
              <p:cNvPicPr>
                <a:picLocks noChangeArrowheads="1"/>
              </p:cNvPicPr>
              <p:nvPr userDrawn="1"/>
            </p:nvPicPr>
            <p:blipFill>
              <a:blip r:embed="rId14">
                <a:clrChange>
                  <a:clrFrom>
                    <a:srgbClr val="FFFFFF"/>
                  </a:clrFrom>
                  <a:clrTo>
                    <a:srgbClr val="FFFFFF">
                      <a:alpha val="0"/>
                    </a:srgbClr>
                  </a:clrTo>
                </a:clrChange>
              </a:blip>
              <a:srcRect/>
              <a:stretch>
                <a:fillRect/>
              </a:stretch>
            </p:blipFill>
            <p:spPr bwMode="auto">
              <a:xfrm>
                <a:off x="204" y="45"/>
                <a:ext cx="6325" cy="3401"/>
              </a:xfrm>
              <a:prstGeom prst="rect">
                <a:avLst/>
              </a:prstGeom>
              <a:noFill/>
              <a:ln w="9525">
                <a:noFill/>
                <a:miter lim="800000"/>
                <a:headEnd/>
                <a:tailEnd/>
              </a:ln>
            </p:spPr>
          </p:pic>
        </p:grpSp>
      </p:gr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ransition spd="slow">
    <p:split orient="vert"/>
  </p:transition>
  <p:timing>
    <p:tnLst>
      <p:par>
        <p:cTn id="1" dur="indefinite" restart="never" nodeType="tmRoot"/>
      </p:par>
    </p:tnLst>
  </p:timing>
  <p:txStyles>
    <p:titleStyle>
      <a:lvl1pPr algn="ctr" rtl="0" eaLnBrk="0" fontAlgn="base" hangingPunct="0">
        <a:spcBef>
          <a:spcPct val="0"/>
        </a:spcBef>
        <a:spcAft>
          <a:spcPct val="0"/>
        </a:spcAft>
        <a:defRPr sz="4400" b="1">
          <a:solidFill>
            <a:srgbClr val="6600CC"/>
          </a:solidFill>
          <a:latin typeface="+mj-lt"/>
          <a:ea typeface="+mj-ea"/>
          <a:cs typeface="+mj-cs"/>
        </a:defRPr>
      </a:lvl1pPr>
      <a:lvl2pPr algn="ctr" rtl="0" eaLnBrk="0" fontAlgn="base" hangingPunct="0">
        <a:spcBef>
          <a:spcPct val="0"/>
        </a:spcBef>
        <a:spcAft>
          <a:spcPct val="0"/>
        </a:spcAft>
        <a:defRPr sz="4400" b="1">
          <a:solidFill>
            <a:srgbClr val="6600CC"/>
          </a:solidFill>
          <a:latin typeface="Times New Roman" pitchFamily="18" charset="0"/>
        </a:defRPr>
      </a:lvl2pPr>
      <a:lvl3pPr algn="ctr" rtl="0" eaLnBrk="0" fontAlgn="base" hangingPunct="0">
        <a:spcBef>
          <a:spcPct val="0"/>
        </a:spcBef>
        <a:spcAft>
          <a:spcPct val="0"/>
        </a:spcAft>
        <a:defRPr sz="4400" b="1">
          <a:solidFill>
            <a:srgbClr val="6600CC"/>
          </a:solidFill>
          <a:latin typeface="Times New Roman" pitchFamily="18" charset="0"/>
        </a:defRPr>
      </a:lvl3pPr>
      <a:lvl4pPr algn="ctr" rtl="0" eaLnBrk="0" fontAlgn="base" hangingPunct="0">
        <a:spcBef>
          <a:spcPct val="0"/>
        </a:spcBef>
        <a:spcAft>
          <a:spcPct val="0"/>
        </a:spcAft>
        <a:defRPr sz="4400" b="1">
          <a:solidFill>
            <a:srgbClr val="6600CC"/>
          </a:solidFill>
          <a:latin typeface="Times New Roman" pitchFamily="18" charset="0"/>
        </a:defRPr>
      </a:lvl4pPr>
      <a:lvl5pPr algn="ctr" rtl="0" eaLnBrk="0" fontAlgn="base" hangingPunct="0">
        <a:spcBef>
          <a:spcPct val="0"/>
        </a:spcBef>
        <a:spcAft>
          <a:spcPct val="0"/>
        </a:spcAft>
        <a:defRPr sz="4400" b="1">
          <a:solidFill>
            <a:srgbClr val="6600CC"/>
          </a:solidFill>
          <a:latin typeface="Times New Roman" pitchFamily="18" charset="0"/>
        </a:defRPr>
      </a:lvl5pPr>
      <a:lvl6pPr marL="457200" algn="ctr" rtl="0" eaLnBrk="0" fontAlgn="base" hangingPunct="0">
        <a:spcBef>
          <a:spcPct val="0"/>
        </a:spcBef>
        <a:spcAft>
          <a:spcPct val="0"/>
        </a:spcAft>
        <a:defRPr sz="4400" b="1">
          <a:solidFill>
            <a:srgbClr val="6600CC"/>
          </a:solidFill>
          <a:latin typeface="Times New Roman" pitchFamily="18" charset="0"/>
        </a:defRPr>
      </a:lvl6pPr>
      <a:lvl7pPr marL="914400" algn="ctr" rtl="0" eaLnBrk="0" fontAlgn="base" hangingPunct="0">
        <a:spcBef>
          <a:spcPct val="0"/>
        </a:spcBef>
        <a:spcAft>
          <a:spcPct val="0"/>
        </a:spcAft>
        <a:defRPr sz="4400" b="1">
          <a:solidFill>
            <a:srgbClr val="6600CC"/>
          </a:solidFill>
          <a:latin typeface="Times New Roman" pitchFamily="18" charset="0"/>
        </a:defRPr>
      </a:lvl7pPr>
      <a:lvl8pPr marL="1371600" algn="ctr" rtl="0" eaLnBrk="0" fontAlgn="base" hangingPunct="0">
        <a:spcBef>
          <a:spcPct val="0"/>
        </a:spcBef>
        <a:spcAft>
          <a:spcPct val="0"/>
        </a:spcAft>
        <a:defRPr sz="4400" b="1">
          <a:solidFill>
            <a:srgbClr val="6600CC"/>
          </a:solidFill>
          <a:latin typeface="Times New Roman" pitchFamily="18" charset="0"/>
        </a:defRPr>
      </a:lvl8pPr>
      <a:lvl9pPr marL="1828800" algn="ctr" rtl="0" eaLnBrk="0" fontAlgn="base" hangingPunct="0">
        <a:spcBef>
          <a:spcPct val="0"/>
        </a:spcBef>
        <a:spcAft>
          <a:spcPct val="0"/>
        </a:spcAft>
        <a:defRPr sz="4400" b="1">
          <a:solidFill>
            <a:srgbClr val="6600CC"/>
          </a:solidFill>
          <a:latin typeface="Times New Roman" pitchFamily="18" charset="0"/>
        </a:defRPr>
      </a:lvl9pPr>
    </p:titleStyle>
    <p:bodyStyle>
      <a:lvl1pPr marL="342900" indent="-342900" algn="l" rtl="0" eaLnBrk="0" fontAlgn="base" hangingPunct="0">
        <a:spcBef>
          <a:spcPct val="20000"/>
        </a:spcBef>
        <a:spcAft>
          <a:spcPct val="0"/>
        </a:spcAft>
        <a:buClr>
          <a:srgbClr val="FFFFCC"/>
        </a:buClr>
        <a:buSzPct val="90000"/>
        <a:buFont typeface="Wingdings" pitchFamily="2" charset="2"/>
        <a:buChar char="§"/>
        <a:defRPr sz="3200" b="1">
          <a:solidFill>
            <a:srgbClr val="FFFFCC"/>
          </a:solidFill>
          <a:latin typeface="+mn-lt"/>
          <a:ea typeface="+mn-ea"/>
          <a:cs typeface="+mn-cs"/>
        </a:defRPr>
      </a:lvl1pPr>
      <a:lvl2pPr marL="742950" indent="-285750" algn="l" rtl="0" eaLnBrk="0" fontAlgn="base" hangingPunct="0">
        <a:spcBef>
          <a:spcPct val="20000"/>
        </a:spcBef>
        <a:spcAft>
          <a:spcPct val="0"/>
        </a:spcAft>
        <a:buChar char="–"/>
        <a:defRPr sz="2800">
          <a:solidFill>
            <a:srgbClr val="FFFFCC"/>
          </a:solidFill>
          <a:latin typeface="+mn-lt"/>
        </a:defRPr>
      </a:lvl2pPr>
      <a:lvl3pPr marL="1143000" indent="-228600" algn="l" rtl="0" eaLnBrk="0" fontAlgn="base" hangingPunct="0">
        <a:spcBef>
          <a:spcPct val="20000"/>
        </a:spcBef>
        <a:spcAft>
          <a:spcPct val="0"/>
        </a:spcAft>
        <a:buChar char="•"/>
        <a:defRPr sz="2400">
          <a:solidFill>
            <a:srgbClr val="FFFFCC"/>
          </a:solidFill>
          <a:latin typeface="+mn-lt"/>
        </a:defRPr>
      </a:lvl3pPr>
      <a:lvl4pPr marL="1600200" indent="-228600" algn="l" rtl="0" eaLnBrk="0" fontAlgn="base" hangingPunct="0">
        <a:spcBef>
          <a:spcPct val="20000"/>
        </a:spcBef>
        <a:spcAft>
          <a:spcPct val="0"/>
        </a:spcAft>
        <a:buChar char="–"/>
        <a:defRPr sz="2000">
          <a:solidFill>
            <a:srgbClr val="FFFFCC"/>
          </a:solidFill>
          <a:latin typeface="+mn-lt"/>
        </a:defRPr>
      </a:lvl4pPr>
      <a:lvl5pPr marL="2057400" indent="-228600" algn="l" rtl="0" eaLnBrk="0" fontAlgn="base" hangingPunct="0">
        <a:spcBef>
          <a:spcPct val="20000"/>
        </a:spcBef>
        <a:spcAft>
          <a:spcPct val="0"/>
        </a:spcAft>
        <a:buChar char="•"/>
        <a:defRPr sz="2000">
          <a:solidFill>
            <a:srgbClr val="FFFFCC"/>
          </a:solidFill>
          <a:latin typeface="+mn-lt"/>
        </a:defRPr>
      </a:lvl5pPr>
      <a:lvl6pPr marL="2514600" indent="-228600" algn="l" rtl="0" eaLnBrk="0" fontAlgn="base" hangingPunct="0">
        <a:spcBef>
          <a:spcPct val="20000"/>
        </a:spcBef>
        <a:spcAft>
          <a:spcPct val="0"/>
        </a:spcAft>
        <a:buChar char="•"/>
        <a:defRPr sz="2000">
          <a:solidFill>
            <a:srgbClr val="FFFFCC"/>
          </a:solidFill>
          <a:latin typeface="+mn-lt"/>
        </a:defRPr>
      </a:lvl6pPr>
      <a:lvl7pPr marL="2971800" indent="-228600" algn="l" rtl="0" eaLnBrk="0" fontAlgn="base" hangingPunct="0">
        <a:spcBef>
          <a:spcPct val="20000"/>
        </a:spcBef>
        <a:spcAft>
          <a:spcPct val="0"/>
        </a:spcAft>
        <a:buChar char="•"/>
        <a:defRPr sz="2000">
          <a:solidFill>
            <a:srgbClr val="FFFFCC"/>
          </a:solidFill>
          <a:latin typeface="+mn-lt"/>
        </a:defRPr>
      </a:lvl7pPr>
      <a:lvl8pPr marL="3429000" indent="-228600" algn="l" rtl="0" eaLnBrk="0" fontAlgn="base" hangingPunct="0">
        <a:spcBef>
          <a:spcPct val="20000"/>
        </a:spcBef>
        <a:spcAft>
          <a:spcPct val="0"/>
        </a:spcAft>
        <a:buChar char="•"/>
        <a:defRPr sz="2000">
          <a:solidFill>
            <a:srgbClr val="FFFFCC"/>
          </a:solidFill>
          <a:latin typeface="+mn-lt"/>
        </a:defRPr>
      </a:lvl8pPr>
      <a:lvl9pPr marL="3886200" indent="-228600" algn="l" rtl="0" eaLnBrk="0" fontAlgn="base" hangingPunct="0">
        <a:spcBef>
          <a:spcPct val="20000"/>
        </a:spcBef>
        <a:spcAft>
          <a:spcPct val="0"/>
        </a:spcAft>
        <a:buChar char="•"/>
        <a:defRPr sz="2000">
          <a:solidFill>
            <a:srgbClr val="FFFFCC"/>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spd="slow">
    <p:split orient="vert"/>
  </p:transition>
  <p:timing>
    <p:tnLst>
      <p:par>
        <p:cTn id="1" dur="indefinite" restart="never" nodeType="tmRoot"/>
      </p:par>
    </p:tnLst>
  </p:timing>
  <p:txStyles>
    <p:titleStyle>
      <a:lvl1pPr algn="ctr" rtl="0" eaLnBrk="0" fontAlgn="base" hangingPunct="0">
        <a:spcBef>
          <a:spcPct val="0"/>
        </a:spcBef>
        <a:spcAft>
          <a:spcPct val="0"/>
        </a:spcAft>
        <a:defRPr sz="4400" b="1">
          <a:solidFill>
            <a:srgbClr val="6600CC"/>
          </a:solidFill>
          <a:latin typeface="+mj-lt"/>
          <a:ea typeface="+mj-ea"/>
          <a:cs typeface="+mj-cs"/>
        </a:defRPr>
      </a:lvl1pPr>
      <a:lvl2pPr algn="ctr" rtl="0" eaLnBrk="0" fontAlgn="base" hangingPunct="0">
        <a:spcBef>
          <a:spcPct val="0"/>
        </a:spcBef>
        <a:spcAft>
          <a:spcPct val="0"/>
        </a:spcAft>
        <a:defRPr sz="4400" b="1">
          <a:solidFill>
            <a:srgbClr val="6600CC"/>
          </a:solidFill>
          <a:latin typeface="Times New Roman" pitchFamily="18" charset="0"/>
        </a:defRPr>
      </a:lvl2pPr>
      <a:lvl3pPr algn="ctr" rtl="0" eaLnBrk="0" fontAlgn="base" hangingPunct="0">
        <a:spcBef>
          <a:spcPct val="0"/>
        </a:spcBef>
        <a:spcAft>
          <a:spcPct val="0"/>
        </a:spcAft>
        <a:defRPr sz="4400" b="1">
          <a:solidFill>
            <a:srgbClr val="6600CC"/>
          </a:solidFill>
          <a:latin typeface="Times New Roman" pitchFamily="18" charset="0"/>
        </a:defRPr>
      </a:lvl3pPr>
      <a:lvl4pPr algn="ctr" rtl="0" eaLnBrk="0" fontAlgn="base" hangingPunct="0">
        <a:spcBef>
          <a:spcPct val="0"/>
        </a:spcBef>
        <a:spcAft>
          <a:spcPct val="0"/>
        </a:spcAft>
        <a:defRPr sz="4400" b="1">
          <a:solidFill>
            <a:srgbClr val="6600CC"/>
          </a:solidFill>
          <a:latin typeface="Times New Roman" pitchFamily="18" charset="0"/>
        </a:defRPr>
      </a:lvl4pPr>
      <a:lvl5pPr algn="ctr" rtl="0" eaLnBrk="0" fontAlgn="base" hangingPunct="0">
        <a:spcBef>
          <a:spcPct val="0"/>
        </a:spcBef>
        <a:spcAft>
          <a:spcPct val="0"/>
        </a:spcAft>
        <a:defRPr sz="4400" b="1">
          <a:solidFill>
            <a:srgbClr val="6600CC"/>
          </a:solidFill>
          <a:latin typeface="Times New Roman" pitchFamily="18" charset="0"/>
        </a:defRPr>
      </a:lvl5pPr>
      <a:lvl6pPr marL="457200" algn="ctr" rtl="0" eaLnBrk="0" fontAlgn="base" hangingPunct="0">
        <a:spcBef>
          <a:spcPct val="0"/>
        </a:spcBef>
        <a:spcAft>
          <a:spcPct val="0"/>
        </a:spcAft>
        <a:defRPr sz="4400" b="1">
          <a:solidFill>
            <a:srgbClr val="6600CC"/>
          </a:solidFill>
          <a:latin typeface="Times New Roman" pitchFamily="18" charset="0"/>
        </a:defRPr>
      </a:lvl6pPr>
      <a:lvl7pPr marL="914400" algn="ctr" rtl="0" eaLnBrk="0" fontAlgn="base" hangingPunct="0">
        <a:spcBef>
          <a:spcPct val="0"/>
        </a:spcBef>
        <a:spcAft>
          <a:spcPct val="0"/>
        </a:spcAft>
        <a:defRPr sz="4400" b="1">
          <a:solidFill>
            <a:srgbClr val="6600CC"/>
          </a:solidFill>
          <a:latin typeface="Times New Roman" pitchFamily="18" charset="0"/>
        </a:defRPr>
      </a:lvl7pPr>
      <a:lvl8pPr marL="1371600" algn="ctr" rtl="0" eaLnBrk="0" fontAlgn="base" hangingPunct="0">
        <a:spcBef>
          <a:spcPct val="0"/>
        </a:spcBef>
        <a:spcAft>
          <a:spcPct val="0"/>
        </a:spcAft>
        <a:defRPr sz="4400" b="1">
          <a:solidFill>
            <a:srgbClr val="6600CC"/>
          </a:solidFill>
          <a:latin typeface="Times New Roman" pitchFamily="18" charset="0"/>
        </a:defRPr>
      </a:lvl8pPr>
      <a:lvl9pPr marL="1828800" algn="ctr" rtl="0" eaLnBrk="0" fontAlgn="base" hangingPunct="0">
        <a:spcBef>
          <a:spcPct val="0"/>
        </a:spcBef>
        <a:spcAft>
          <a:spcPct val="0"/>
        </a:spcAft>
        <a:defRPr sz="4400" b="1">
          <a:solidFill>
            <a:srgbClr val="6600CC"/>
          </a:solidFill>
          <a:latin typeface="Times New Roman" pitchFamily="18" charset="0"/>
        </a:defRPr>
      </a:lvl9pPr>
    </p:titleStyle>
    <p:bodyStyle>
      <a:lvl1pPr marL="342900" indent="-342900" algn="l" rtl="0" eaLnBrk="0" fontAlgn="base" hangingPunct="0">
        <a:spcBef>
          <a:spcPct val="20000"/>
        </a:spcBef>
        <a:spcAft>
          <a:spcPct val="0"/>
        </a:spcAft>
        <a:buClr>
          <a:srgbClr val="FFFFCC"/>
        </a:buClr>
        <a:buSzPct val="90000"/>
        <a:buFont typeface="Wingdings" pitchFamily="2" charset="2"/>
        <a:buChar char="§"/>
        <a:defRPr sz="3200" b="1">
          <a:solidFill>
            <a:srgbClr val="FFFFCC"/>
          </a:solidFill>
          <a:latin typeface="+mn-lt"/>
          <a:ea typeface="+mn-ea"/>
          <a:cs typeface="+mn-cs"/>
        </a:defRPr>
      </a:lvl1pPr>
      <a:lvl2pPr marL="742950" indent="-285750" algn="l" rtl="0" eaLnBrk="0" fontAlgn="base" hangingPunct="0">
        <a:spcBef>
          <a:spcPct val="20000"/>
        </a:spcBef>
        <a:spcAft>
          <a:spcPct val="0"/>
        </a:spcAft>
        <a:buChar char="–"/>
        <a:defRPr sz="2800">
          <a:solidFill>
            <a:srgbClr val="FFFFCC"/>
          </a:solidFill>
          <a:latin typeface="+mn-lt"/>
        </a:defRPr>
      </a:lvl2pPr>
      <a:lvl3pPr marL="1143000" indent="-228600" algn="l" rtl="0" eaLnBrk="0" fontAlgn="base" hangingPunct="0">
        <a:spcBef>
          <a:spcPct val="20000"/>
        </a:spcBef>
        <a:spcAft>
          <a:spcPct val="0"/>
        </a:spcAft>
        <a:buChar char="•"/>
        <a:defRPr sz="2400">
          <a:solidFill>
            <a:srgbClr val="FFFFCC"/>
          </a:solidFill>
          <a:latin typeface="+mn-lt"/>
        </a:defRPr>
      </a:lvl3pPr>
      <a:lvl4pPr marL="1600200" indent="-228600" algn="l" rtl="0" eaLnBrk="0" fontAlgn="base" hangingPunct="0">
        <a:spcBef>
          <a:spcPct val="20000"/>
        </a:spcBef>
        <a:spcAft>
          <a:spcPct val="0"/>
        </a:spcAft>
        <a:buChar char="–"/>
        <a:defRPr sz="2000">
          <a:solidFill>
            <a:srgbClr val="FFFFCC"/>
          </a:solidFill>
          <a:latin typeface="+mn-lt"/>
        </a:defRPr>
      </a:lvl4pPr>
      <a:lvl5pPr marL="2057400" indent="-228600" algn="l" rtl="0" eaLnBrk="0" fontAlgn="base" hangingPunct="0">
        <a:spcBef>
          <a:spcPct val="20000"/>
        </a:spcBef>
        <a:spcAft>
          <a:spcPct val="0"/>
        </a:spcAft>
        <a:buChar char="•"/>
        <a:defRPr sz="2000">
          <a:solidFill>
            <a:srgbClr val="FFFFCC"/>
          </a:solidFill>
          <a:latin typeface="+mn-lt"/>
        </a:defRPr>
      </a:lvl5pPr>
      <a:lvl6pPr marL="2514600" indent="-228600" algn="l" rtl="0" eaLnBrk="0" fontAlgn="base" hangingPunct="0">
        <a:spcBef>
          <a:spcPct val="20000"/>
        </a:spcBef>
        <a:spcAft>
          <a:spcPct val="0"/>
        </a:spcAft>
        <a:buChar char="•"/>
        <a:defRPr sz="2000">
          <a:solidFill>
            <a:srgbClr val="FFFFCC"/>
          </a:solidFill>
          <a:latin typeface="+mn-lt"/>
        </a:defRPr>
      </a:lvl6pPr>
      <a:lvl7pPr marL="2971800" indent="-228600" algn="l" rtl="0" eaLnBrk="0" fontAlgn="base" hangingPunct="0">
        <a:spcBef>
          <a:spcPct val="20000"/>
        </a:spcBef>
        <a:spcAft>
          <a:spcPct val="0"/>
        </a:spcAft>
        <a:buChar char="•"/>
        <a:defRPr sz="2000">
          <a:solidFill>
            <a:srgbClr val="FFFFCC"/>
          </a:solidFill>
          <a:latin typeface="+mn-lt"/>
        </a:defRPr>
      </a:lvl7pPr>
      <a:lvl8pPr marL="3429000" indent="-228600" algn="l" rtl="0" eaLnBrk="0" fontAlgn="base" hangingPunct="0">
        <a:spcBef>
          <a:spcPct val="20000"/>
        </a:spcBef>
        <a:spcAft>
          <a:spcPct val="0"/>
        </a:spcAft>
        <a:buChar char="•"/>
        <a:defRPr sz="2000">
          <a:solidFill>
            <a:srgbClr val="FFFFCC"/>
          </a:solidFill>
          <a:latin typeface="+mn-lt"/>
        </a:defRPr>
      </a:lvl8pPr>
      <a:lvl9pPr marL="3886200" indent="-228600" algn="l" rtl="0" eaLnBrk="0" fontAlgn="base" hangingPunct="0">
        <a:spcBef>
          <a:spcPct val="20000"/>
        </a:spcBef>
        <a:spcAft>
          <a:spcPct val="0"/>
        </a:spcAft>
        <a:buChar char="•"/>
        <a:defRPr sz="2000">
          <a:solidFill>
            <a:srgbClr val="FFFFCC"/>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8.xml"/><Relationship Id="rId1" Type="http://schemas.openxmlformats.org/officeDocument/2006/relationships/vmlDrawing" Target="../drawings/vmlDrawing1.vml"/><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8.xml"/><Relationship Id="rId1" Type="http://schemas.openxmlformats.org/officeDocument/2006/relationships/vmlDrawing" Target="../drawings/vmlDrawing2.vml"/><Relationship Id="rId4" Type="http://schemas.openxmlformats.org/officeDocument/2006/relationships/oleObject" Target="../embeddings/oleObject2.bin"/></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8.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0"/>
          <p:cNvSpPr>
            <a:spLocks noChangeArrowheads="1"/>
          </p:cNvSpPr>
          <p:nvPr/>
        </p:nvSpPr>
        <p:spPr bwMode="auto">
          <a:xfrm>
            <a:off x="179388" y="338138"/>
            <a:ext cx="3997325" cy="1246187"/>
          </a:xfrm>
          <a:prstGeom prst="rect">
            <a:avLst/>
          </a:prstGeom>
          <a:noFill/>
          <a:ln w="9525">
            <a:noFill/>
            <a:miter lim="800000"/>
            <a:headEnd/>
            <a:tailEnd/>
          </a:ln>
          <a:effectLst/>
        </p:spPr>
        <p:txBody>
          <a:bodyPr>
            <a:spAutoFit/>
          </a:bodyPr>
          <a:lstStyle/>
          <a:p>
            <a:pPr eaLnBrk="0" hangingPunct="0"/>
            <a:r>
              <a:rPr lang="zh-CN" altLang="en-US" sz="2500" b="1" dirty="0">
                <a:ea typeface="华文新魏" pitchFamily="2" charset="-122"/>
                <a:cs typeface="Times New Roman" pitchFamily="18" charset="0"/>
              </a:rPr>
              <a:t>                 什么是化学键</a:t>
            </a:r>
            <a:r>
              <a:rPr lang="en-US" altLang="zh-CN" sz="2500" b="1" dirty="0">
                <a:ea typeface="华文新魏" pitchFamily="2" charset="-122"/>
                <a:cs typeface="Times New Roman" pitchFamily="18" charset="0"/>
              </a:rPr>
              <a:t>?</a:t>
            </a:r>
            <a:r>
              <a:rPr lang="zh-CN" altLang="en-US" sz="2500" b="1" dirty="0">
                <a:ea typeface="华文新魏" pitchFamily="2" charset="-122"/>
                <a:cs typeface="Times New Roman" pitchFamily="18" charset="0"/>
              </a:rPr>
              <a:t>化学键有几种类型</a:t>
            </a:r>
            <a:r>
              <a:rPr lang="en-US" altLang="zh-CN" sz="2500" b="1" dirty="0">
                <a:ea typeface="华文新魏" pitchFamily="2" charset="-122"/>
                <a:cs typeface="Times New Roman" pitchFamily="18" charset="0"/>
              </a:rPr>
              <a:t>?</a:t>
            </a:r>
            <a:r>
              <a:rPr lang="zh-CN" altLang="en-US" sz="2500" b="1" dirty="0">
                <a:ea typeface="华文新魏" pitchFamily="2" charset="-122"/>
                <a:cs typeface="Times New Roman" pitchFamily="18" charset="0"/>
              </a:rPr>
              <a:t>它们形成的条件是什么</a:t>
            </a:r>
            <a:r>
              <a:rPr lang="en-US" altLang="zh-CN" sz="2500" b="1" dirty="0">
                <a:ea typeface="华文新魏" pitchFamily="2" charset="-122"/>
                <a:cs typeface="Times New Roman" pitchFamily="18" charset="0"/>
              </a:rPr>
              <a:t>?</a:t>
            </a:r>
            <a:r>
              <a:rPr lang="zh-CN" altLang="en-US" sz="2500" b="1" dirty="0">
                <a:ea typeface="华文新魏" pitchFamily="2" charset="-122"/>
                <a:cs typeface="Times New Roman" pitchFamily="18" charset="0"/>
              </a:rPr>
              <a:t>举例说明</a:t>
            </a:r>
            <a:r>
              <a:rPr lang="en-US" altLang="zh-CN" sz="2500" b="1" dirty="0">
                <a:ea typeface="华文新魏" pitchFamily="2" charset="-122"/>
                <a:cs typeface="Times New Roman" pitchFamily="18" charset="0"/>
              </a:rPr>
              <a:t>.</a:t>
            </a:r>
            <a:endParaRPr lang="zh-CN" altLang="en-US" sz="2500" b="1" dirty="0">
              <a:solidFill>
                <a:srgbClr val="FFFFFF"/>
              </a:solidFill>
              <a:ea typeface="华文新魏" pitchFamily="2" charset="-122"/>
              <a:cs typeface="Times New Roman" pitchFamily="18" charset="0"/>
            </a:endParaRPr>
          </a:p>
        </p:txBody>
      </p:sp>
      <p:sp>
        <p:nvSpPr>
          <p:cNvPr id="2051" name="Text Box 39"/>
          <p:cNvSpPr txBox="1">
            <a:spLocks noChangeArrowheads="1"/>
          </p:cNvSpPr>
          <p:nvPr/>
        </p:nvSpPr>
        <p:spPr bwMode="auto">
          <a:xfrm>
            <a:off x="179388" y="358775"/>
            <a:ext cx="1836737" cy="477838"/>
          </a:xfrm>
          <a:prstGeom prst="rect">
            <a:avLst/>
          </a:prstGeom>
          <a:noFill/>
          <a:ln w="9525" algn="ctr">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dirty="0">
                <a:solidFill>
                  <a:srgbClr val="FFFF00"/>
                </a:solidFill>
                <a:ea typeface="华文新魏" pitchFamily="2" charset="-122"/>
                <a:cs typeface="Times New Roman" pitchFamily="18" charset="0"/>
              </a:rPr>
              <a:t>习题</a:t>
            </a:r>
            <a:r>
              <a:rPr lang="en-US" altLang="zh-CN" sz="2500" b="1" dirty="0">
                <a:solidFill>
                  <a:srgbClr val="FFFF00"/>
                </a:solidFill>
                <a:ea typeface="华文新魏" pitchFamily="2" charset="-122"/>
                <a:cs typeface="Times New Roman" pitchFamily="18" charset="0"/>
              </a:rPr>
              <a:t>8-1</a:t>
            </a:r>
            <a:r>
              <a:rPr lang="zh-CN" altLang="en-US" sz="2500" b="1" dirty="0">
                <a:solidFill>
                  <a:srgbClr val="FFFF00"/>
                </a:solidFill>
                <a:ea typeface="华文新魏" pitchFamily="2" charset="-122"/>
                <a:cs typeface="Times New Roman" pitchFamily="18" charset="0"/>
              </a:rPr>
              <a:t>：</a:t>
            </a:r>
          </a:p>
        </p:txBody>
      </p:sp>
      <p:sp>
        <p:nvSpPr>
          <p:cNvPr id="5" name="Rectangle 38"/>
          <p:cNvSpPr>
            <a:spLocks noChangeArrowheads="1"/>
          </p:cNvSpPr>
          <p:nvPr/>
        </p:nvSpPr>
        <p:spPr bwMode="auto">
          <a:xfrm>
            <a:off x="4608513" y="261938"/>
            <a:ext cx="6627812" cy="477837"/>
          </a:xfrm>
          <a:prstGeom prst="rect">
            <a:avLst/>
          </a:prstGeom>
          <a:noFill/>
          <a:ln w="9525">
            <a:noFill/>
            <a:miter lim="800000"/>
            <a:headEnd/>
            <a:tailEnd/>
          </a:ln>
          <a:effectLst/>
        </p:spPr>
        <p:txBody>
          <a:bodyPr>
            <a:spAutoFit/>
          </a:bodyPr>
          <a:lstStyle/>
          <a:p>
            <a:pPr eaLnBrk="0" hangingPunct="0"/>
            <a:r>
              <a:rPr lang="zh-CN" altLang="en-US" sz="2500" b="1">
                <a:solidFill>
                  <a:srgbClr val="FFFFFF"/>
                </a:solidFill>
                <a:ea typeface="华文新魏" pitchFamily="2" charset="-122"/>
                <a:cs typeface="Times New Roman" pitchFamily="18" charset="0"/>
              </a:rPr>
              <a:t>                   化学键的概念、分类和成键条件</a:t>
            </a:r>
            <a:r>
              <a:rPr lang="en-US" altLang="zh-CN" sz="2500" b="1">
                <a:solidFill>
                  <a:srgbClr val="FFFFFF"/>
                </a:solidFill>
                <a:ea typeface="华文新魏" pitchFamily="2" charset="-122"/>
                <a:cs typeface="Times New Roman" pitchFamily="18" charset="0"/>
              </a:rPr>
              <a:t>.</a:t>
            </a:r>
            <a:endParaRPr lang="zh-CN" altLang="zh-CN" sz="2500" b="1">
              <a:solidFill>
                <a:srgbClr val="FFFFFF"/>
              </a:solidFill>
              <a:ea typeface="华文新魏" pitchFamily="2" charset="-122"/>
              <a:cs typeface="Times New Roman" pitchFamily="18" charset="0"/>
            </a:endParaRPr>
          </a:p>
        </p:txBody>
      </p:sp>
      <p:sp>
        <p:nvSpPr>
          <p:cNvPr id="2" name="Rectangle 38"/>
          <p:cNvSpPr>
            <a:spLocks noChangeArrowheads="1"/>
          </p:cNvSpPr>
          <p:nvPr/>
        </p:nvSpPr>
        <p:spPr bwMode="auto">
          <a:xfrm>
            <a:off x="4608513" y="265113"/>
            <a:ext cx="1800225" cy="476250"/>
          </a:xfrm>
          <a:prstGeom prst="rect">
            <a:avLst/>
          </a:prstGeom>
          <a:noFill/>
          <a:ln w="9525">
            <a:noFill/>
            <a:miter lim="800000"/>
            <a:headEnd/>
            <a:tailEnd/>
          </a:ln>
          <a:effectLst/>
        </p:spPr>
        <p:txBody>
          <a:bodyPr>
            <a:spAutoFit/>
          </a:bodyPr>
          <a:lstStyle/>
          <a:p>
            <a:pPr marL="342900" indent="-342900" eaLnBrk="0" hangingPunct="0"/>
            <a:r>
              <a:rPr lang="zh-CN" altLang="zh-CN" sz="2500" b="1" dirty="0">
                <a:solidFill>
                  <a:srgbClr val="FFFF00"/>
                </a:solidFill>
                <a:ea typeface="华文新魏" pitchFamily="2" charset="-122"/>
                <a:cs typeface="Times New Roman" pitchFamily="18" charset="0"/>
              </a:rPr>
              <a:t>解题思路：</a:t>
            </a:r>
          </a:p>
        </p:txBody>
      </p:sp>
      <p:sp>
        <p:nvSpPr>
          <p:cNvPr id="6" name="Rectangle 38"/>
          <p:cNvSpPr>
            <a:spLocks noChangeArrowheads="1"/>
          </p:cNvSpPr>
          <p:nvPr/>
        </p:nvSpPr>
        <p:spPr bwMode="auto">
          <a:xfrm>
            <a:off x="4591050" y="647700"/>
            <a:ext cx="2735263" cy="473075"/>
          </a:xfrm>
          <a:prstGeom prst="rect">
            <a:avLst/>
          </a:prstGeom>
          <a:noFill/>
          <a:ln w="9525">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参考答案：</a:t>
            </a:r>
          </a:p>
        </p:txBody>
      </p:sp>
      <p:sp>
        <p:nvSpPr>
          <p:cNvPr id="7" name="Rectangle 38"/>
          <p:cNvSpPr>
            <a:spLocks noChangeArrowheads="1"/>
          </p:cNvSpPr>
          <p:nvPr/>
        </p:nvSpPr>
        <p:spPr bwMode="auto">
          <a:xfrm>
            <a:off x="4598988" y="1079500"/>
            <a:ext cx="6637337" cy="5094288"/>
          </a:xfrm>
          <a:prstGeom prst="rect">
            <a:avLst/>
          </a:prstGeom>
          <a:noFill/>
          <a:ln w="9525">
            <a:noFill/>
            <a:miter lim="800000"/>
            <a:headEnd/>
            <a:tailEnd/>
          </a:ln>
          <a:effectLst/>
        </p:spPr>
        <p:txBody>
          <a:bodyPr>
            <a:spAutoFit/>
          </a:bodyPr>
          <a:lstStyle/>
          <a:p>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分子</a:t>
            </a:r>
            <a:r>
              <a:rPr lang="en-US" altLang="zh-CN" sz="2500" b="1">
                <a:ea typeface="华文新魏" pitchFamily="2" charset="-122"/>
                <a:cs typeface="Times New Roman" pitchFamily="18" charset="0"/>
              </a:rPr>
              <a:t>(</a:t>
            </a:r>
            <a:r>
              <a:rPr lang="zh-CN" altLang="zh-CN" sz="2500" b="1">
                <a:ea typeface="华文新魏" pitchFamily="2" charset="-122"/>
                <a:cs typeface="Times New Roman" pitchFamily="18" charset="0"/>
              </a:rPr>
              <a:t>或晶体</a:t>
            </a:r>
            <a:r>
              <a:rPr lang="en-US" altLang="zh-CN" sz="2500" b="1">
                <a:ea typeface="华文新魏" pitchFamily="2" charset="-122"/>
                <a:cs typeface="Times New Roman" pitchFamily="18" charset="0"/>
              </a:rPr>
              <a:t>)</a:t>
            </a:r>
            <a:r>
              <a:rPr lang="zh-CN" altLang="zh-CN" sz="2500" b="1">
                <a:ea typeface="华文新魏" pitchFamily="2" charset="-122"/>
                <a:cs typeface="Times New Roman" pitchFamily="18" charset="0"/>
              </a:rPr>
              <a:t>中相邻粒子</a:t>
            </a:r>
            <a:r>
              <a:rPr lang="en-US" altLang="zh-CN" sz="2500" b="1">
                <a:ea typeface="华文新魏" pitchFamily="2" charset="-122"/>
                <a:cs typeface="Times New Roman" pitchFamily="18" charset="0"/>
              </a:rPr>
              <a:t>(</a:t>
            </a:r>
            <a:r>
              <a:rPr lang="zh-CN" altLang="zh-CN" sz="2500" b="1">
                <a:ea typeface="华文新魏" pitchFamily="2" charset="-122"/>
                <a:cs typeface="Times New Roman" pitchFamily="18" charset="0"/>
              </a:rPr>
              <a:t>原子或离子</a:t>
            </a:r>
            <a:r>
              <a:rPr lang="en-US" altLang="zh-CN" sz="2500" b="1">
                <a:ea typeface="华文新魏" pitchFamily="2" charset="-122"/>
                <a:cs typeface="Times New Roman" pitchFamily="18" charset="0"/>
              </a:rPr>
              <a:t>)</a:t>
            </a:r>
            <a:r>
              <a:rPr lang="zh-CN" altLang="zh-CN" sz="2500" b="1">
                <a:ea typeface="华文新魏" pitchFamily="2" charset="-122"/>
                <a:cs typeface="Times New Roman" pitchFamily="18" charset="0"/>
              </a:rPr>
              <a:t>之间强烈的相互作用力</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称为化学键</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化学键分为离子键、共价键和金属键</a:t>
            </a:r>
            <a:r>
              <a:rPr lang="en-US" altLang="zh-CN" sz="2500" b="1">
                <a:ea typeface="华文新魏" pitchFamily="2" charset="-122"/>
                <a:cs typeface="Times New Roman" pitchFamily="18" charset="0"/>
              </a:rPr>
              <a:t>.</a:t>
            </a:r>
            <a:endParaRPr lang="zh-CN" altLang="zh-CN" sz="2500" b="1">
              <a:ea typeface="华文新魏" pitchFamily="2" charset="-122"/>
              <a:cs typeface="Times New Roman" pitchFamily="18" charset="0"/>
            </a:endParaRPr>
          </a:p>
          <a:p>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共价键的成键条件</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自旋方向相反的未成对价电子配对成键</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原子轨道应尽可能最大程度重叠</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例如</a:t>
            </a:r>
            <a:r>
              <a:rPr lang="en-US" altLang="zh-CN" sz="2500" b="1">
                <a:ea typeface="华文新魏" pitchFamily="2" charset="-122"/>
                <a:cs typeface="Times New Roman" pitchFamily="18" charset="0"/>
              </a:rPr>
              <a:t>H</a:t>
            </a:r>
            <a:r>
              <a:rPr lang="zh-CN" altLang="zh-CN" sz="2500" b="1">
                <a:ea typeface="华文新魏" pitchFamily="2" charset="-122"/>
                <a:cs typeface="Times New Roman" pitchFamily="18" charset="0"/>
              </a:rPr>
              <a:t>与</a:t>
            </a:r>
            <a:r>
              <a:rPr lang="en-US" altLang="zh-CN" sz="2500" b="1">
                <a:ea typeface="华文新魏" pitchFamily="2" charset="-122"/>
                <a:cs typeface="Times New Roman" pitchFamily="18" charset="0"/>
              </a:rPr>
              <a:t>Cl</a:t>
            </a:r>
            <a:r>
              <a:rPr lang="zh-CN" altLang="zh-CN" sz="2500" b="1">
                <a:ea typeface="华文新魏" pitchFamily="2" charset="-122"/>
                <a:cs typeface="Times New Roman" pitchFamily="18" charset="0"/>
              </a:rPr>
              <a:t>结合成</a:t>
            </a:r>
            <a:r>
              <a:rPr lang="en-US" altLang="zh-CN" sz="2500" b="1">
                <a:ea typeface="华文新魏" pitchFamily="2" charset="-122"/>
                <a:cs typeface="Times New Roman" pitchFamily="18" charset="0"/>
              </a:rPr>
              <a:t>HCl</a:t>
            </a:r>
            <a:r>
              <a:rPr lang="zh-CN" altLang="zh-CN" sz="2500" b="1">
                <a:ea typeface="华文新魏" pitchFamily="2" charset="-122"/>
                <a:cs typeface="Times New Roman" pitchFamily="18" charset="0"/>
              </a:rPr>
              <a:t>分子时</a:t>
            </a:r>
            <a:r>
              <a:rPr lang="en-US" altLang="zh-CN" sz="2500" b="1">
                <a:ea typeface="华文新魏" pitchFamily="2" charset="-122"/>
                <a:cs typeface="Times New Roman" pitchFamily="18" charset="0"/>
              </a:rPr>
              <a:t>, Cl</a:t>
            </a:r>
            <a:r>
              <a:rPr lang="zh-CN" altLang="zh-CN" sz="2500" b="1">
                <a:ea typeface="华文新魏" pitchFamily="2" charset="-122"/>
                <a:cs typeface="Times New Roman" pitchFamily="18" charset="0"/>
              </a:rPr>
              <a:t>原子最外层</a:t>
            </a:r>
            <a:r>
              <a:rPr lang="en-US" altLang="zh-CN" sz="2500" b="1">
                <a:ea typeface="华文新魏" pitchFamily="2" charset="-122"/>
                <a:cs typeface="Times New Roman" pitchFamily="18" charset="0"/>
              </a:rPr>
              <a:t>3p</a:t>
            </a:r>
            <a:r>
              <a:rPr lang="en-US" altLang="zh-CN" sz="2500" b="1" baseline="-25000">
                <a:ea typeface="华文新魏" pitchFamily="2" charset="-122"/>
                <a:cs typeface="Times New Roman" pitchFamily="18" charset="0"/>
              </a:rPr>
              <a:t>x</a:t>
            </a:r>
            <a:r>
              <a:rPr lang="zh-CN" altLang="zh-CN" sz="2500" b="1">
                <a:ea typeface="华文新魏" pitchFamily="2" charset="-122"/>
                <a:cs typeface="Times New Roman" pitchFamily="18" charset="0"/>
              </a:rPr>
              <a:t>轨道与</a:t>
            </a:r>
            <a:r>
              <a:rPr lang="en-US" altLang="zh-CN" sz="2500" b="1">
                <a:ea typeface="华文新魏" pitchFamily="2" charset="-122"/>
                <a:cs typeface="Times New Roman" pitchFamily="18" charset="0"/>
              </a:rPr>
              <a:t>H</a:t>
            </a:r>
            <a:r>
              <a:rPr lang="zh-CN" altLang="zh-CN" sz="2500" b="1">
                <a:ea typeface="华文新魏" pitchFamily="2" charset="-122"/>
                <a:cs typeface="Times New Roman" pitchFamily="18" charset="0"/>
              </a:rPr>
              <a:t>原子的</a:t>
            </a:r>
            <a:r>
              <a:rPr lang="en-US" altLang="zh-CN" sz="2500" b="1">
                <a:ea typeface="华文新魏" pitchFamily="2" charset="-122"/>
                <a:cs typeface="Times New Roman" pitchFamily="18" charset="0"/>
              </a:rPr>
              <a:t>1s</a:t>
            </a:r>
            <a:r>
              <a:rPr lang="zh-CN" altLang="zh-CN" sz="2500" b="1">
                <a:ea typeface="华文新魏" pitchFamily="2" charset="-122"/>
                <a:cs typeface="Times New Roman" pitchFamily="18" charset="0"/>
              </a:rPr>
              <a:t>轨道沿键轴方向重叠</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两个轨道上自旋方向相反的两个未成对价电子配对成键</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结合形成稳定的</a:t>
            </a:r>
            <a:r>
              <a:rPr lang="en-US" altLang="zh-CN" sz="2500" b="1">
                <a:ea typeface="华文新魏" pitchFamily="2" charset="-122"/>
                <a:cs typeface="Times New Roman" pitchFamily="18" charset="0"/>
              </a:rPr>
              <a:t>HCl</a:t>
            </a:r>
            <a:r>
              <a:rPr lang="zh-CN" altLang="zh-CN" sz="2500" b="1">
                <a:ea typeface="华文新魏" pitchFamily="2" charset="-122"/>
                <a:cs typeface="Times New Roman" pitchFamily="18" charset="0"/>
              </a:rPr>
              <a:t>分子</a:t>
            </a:r>
            <a:r>
              <a:rPr lang="en-US" altLang="zh-CN" sz="2500" b="1">
                <a:ea typeface="华文新魏" pitchFamily="2" charset="-122"/>
                <a:cs typeface="Times New Roman" pitchFamily="18" charset="0"/>
              </a:rPr>
              <a:t>. </a:t>
            </a:r>
            <a:endParaRPr lang="zh-CN" altLang="zh-CN" sz="2500" b="1">
              <a:ea typeface="华文新魏" pitchFamily="2" charset="-122"/>
              <a:cs typeface="Times New Roman" pitchFamily="18" charset="0"/>
            </a:endParaRPr>
          </a:p>
          <a:p>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离子键的成键条件</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成键两元素的电负性差值</a:t>
            </a:r>
            <a:r>
              <a:rPr lang="en-US" altLang="zh-CN" sz="2500" b="1">
                <a:ea typeface="华文新魏" pitchFamily="2" charset="-122"/>
                <a:cs typeface="Times New Roman" pitchFamily="18" charset="0"/>
              </a:rPr>
              <a:t>&gt;1.7, </a:t>
            </a:r>
            <a:r>
              <a:rPr lang="zh-CN" altLang="zh-CN" sz="2500" b="1">
                <a:ea typeface="华文新魏" pitchFamily="2" charset="-122"/>
                <a:cs typeface="Times New Roman" pitchFamily="18" charset="0"/>
              </a:rPr>
              <a:t>原子间发生电子转移</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形成具有稳定结构的正负离子</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例如电负性较小的</a:t>
            </a:r>
            <a:r>
              <a:rPr lang="en-US" altLang="zh-CN" sz="2500" b="1">
                <a:ea typeface="华文新魏" pitchFamily="2" charset="-122"/>
                <a:cs typeface="Times New Roman" pitchFamily="18" charset="0"/>
              </a:rPr>
              <a:t>Na</a:t>
            </a:r>
            <a:r>
              <a:rPr lang="zh-CN" altLang="zh-CN" sz="2500" b="1">
                <a:ea typeface="华文新魏" pitchFamily="2" charset="-122"/>
                <a:cs typeface="Times New Roman" pitchFamily="18" charset="0"/>
              </a:rPr>
              <a:t>原子与电负性较大的</a:t>
            </a:r>
            <a:r>
              <a:rPr lang="en-US" altLang="zh-CN" sz="2500" b="1">
                <a:ea typeface="华文新魏" pitchFamily="2" charset="-122"/>
                <a:cs typeface="Times New Roman" pitchFamily="18" charset="0"/>
              </a:rPr>
              <a:t>Cl</a:t>
            </a:r>
            <a:r>
              <a:rPr lang="zh-CN" altLang="zh-CN" sz="2500" b="1">
                <a:ea typeface="华文新魏" pitchFamily="2" charset="-122"/>
                <a:cs typeface="Times New Roman" pitchFamily="18" charset="0"/>
              </a:rPr>
              <a:t>原子靠近时</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发生电子转移</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形成</a:t>
            </a:r>
            <a:endParaRPr lang="en-US" altLang="zh-CN" sz="2500" b="1">
              <a:solidFill>
                <a:srgbClr val="FFFFFF"/>
              </a:solidFill>
              <a:ea typeface="华文新魏" pitchFamily="2" charset="-122"/>
              <a:cs typeface="Times New Roman" pitchFamily="18" charset="0"/>
            </a:endParaRP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blinds(horizontal)">
                                      <p:cBhvr>
                                        <p:cTn id="12" dur="500"/>
                                        <p:tgtEl>
                                          <p:spTgt spid="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blinds(horizontal)">
                                      <p:cBhvr>
                                        <p:cTn id="22" dur="500"/>
                                        <p:tgtEl>
                                          <p:spTgt spid="7">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
                                            <p:txEl>
                                              <p:pRg st="1" end="1"/>
                                            </p:txEl>
                                          </p:spTgt>
                                        </p:tgtEl>
                                        <p:attrNameLst>
                                          <p:attrName>style.visibility</p:attrName>
                                        </p:attrNameLst>
                                      </p:cBhvr>
                                      <p:to>
                                        <p:strVal val="visible"/>
                                      </p:to>
                                    </p:set>
                                    <p:animEffect transition="in" filter="blinds(horizontal)">
                                      <p:cBhvr>
                                        <p:cTn id="27" dur="500"/>
                                        <p:tgtEl>
                                          <p:spTgt spid="7">
                                            <p:txEl>
                                              <p:pRg st="1" end="1"/>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
                                            <p:txEl>
                                              <p:pRg st="2" end="2"/>
                                            </p:txEl>
                                          </p:spTgt>
                                        </p:tgtEl>
                                        <p:attrNameLst>
                                          <p:attrName>style.visibility</p:attrName>
                                        </p:attrNameLst>
                                      </p:cBhvr>
                                      <p:to>
                                        <p:strVal val="visible"/>
                                      </p:to>
                                    </p:set>
                                    <p:animEffect transition="in" filter="blinds(horizontal)">
                                      <p:cBhvr>
                                        <p:cTn id="32"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2" grpId="0"/>
      <p:bldP spid="6" grpId="0" autoUpdateAnimBg="0"/>
      <p:bldP spid="7" grpId="0" build="p"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0"/>
          <p:cNvSpPr>
            <a:spLocks noChangeArrowheads="1"/>
          </p:cNvSpPr>
          <p:nvPr/>
        </p:nvSpPr>
        <p:spPr bwMode="auto">
          <a:xfrm>
            <a:off x="179388" y="338138"/>
            <a:ext cx="3997325" cy="1246187"/>
          </a:xfrm>
          <a:prstGeom prst="rect">
            <a:avLst/>
          </a:prstGeom>
          <a:noFill/>
          <a:ln w="9525">
            <a:noFill/>
            <a:miter lim="800000"/>
            <a:headEnd/>
            <a:tailEnd/>
          </a:ln>
          <a:effectLst/>
        </p:spPr>
        <p:txBody>
          <a:bodyPr>
            <a:spAutoFit/>
          </a:bodyPr>
          <a:lstStyle/>
          <a:p>
            <a:pPr eaLnBrk="0" hangingPunct="0"/>
            <a:r>
              <a:rPr lang="zh-CN" altLang="en-US" sz="2500" b="1">
                <a:ea typeface="华文新魏" pitchFamily="2" charset="-122"/>
                <a:cs typeface="Times New Roman" pitchFamily="18" charset="0"/>
              </a:rPr>
              <a:t>                 什么是化学键</a:t>
            </a:r>
            <a:r>
              <a:rPr lang="en-US" altLang="zh-CN" sz="2500" b="1">
                <a:ea typeface="华文新魏" pitchFamily="2" charset="-122"/>
                <a:cs typeface="Times New Roman" pitchFamily="18" charset="0"/>
              </a:rPr>
              <a:t>?</a:t>
            </a:r>
            <a:r>
              <a:rPr lang="zh-CN" altLang="en-US" sz="2500" b="1">
                <a:ea typeface="华文新魏" pitchFamily="2" charset="-122"/>
                <a:cs typeface="Times New Roman" pitchFamily="18" charset="0"/>
              </a:rPr>
              <a:t>化学键有几种类型</a:t>
            </a:r>
            <a:r>
              <a:rPr lang="en-US" altLang="zh-CN" sz="2500" b="1">
                <a:ea typeface="华文新魏" pitchFamily="2" charset="-122"/>
                <a:cs typeface="Times New Roman" pitchFamily="18" charset="0"/>
              </a:rPr>
              <a:t>?</a:t>
            </a:r>
            <a:r>
              <a:rPr lang="zh-CN" altLang="en-US" sz="2500" b="1">
                <a:ea typeface="华文新魏" pitchFamily="2" charset="-122"/>
                <a:cs typeface="Times New Roman" pitchFamily="18" charset="0"/>
              </a:rPr>
              <a:t>它们形成的条件是什么</a:t>
            </a:r>
            <a:r>
              <a:rPr lang="en-US" altLang="zh-CN" sz="2500" b="1">
                <a:ea typeface="华文新魏" pitchFamily="2" charset="-122"/>
                <a:cs typeface="Times New Roman" pitchFamily="18" charset="0"/>
              </a:rPr>
              <a:t>?</a:t>
            </a:r>
            <a:r>
              <a:rPr lang="zh-CN" altLang="en-US" sz="2500" b="1">
                <a:ea typeface="华文新魏" pitchFamily="2" charset="-122"/>
                <a:cs typeface="Times New Roman" pitchFamily="18" charset="0"/>
              </a:rPr>
              <a:t>举例说明</a:t>
            </a:r>
            <a:r>
              <a:rPr lang="en-US" altLang="zh-CN" sz="2500" b="1">
                <a:ea typeface="华文新魏" pitchFamily="2" charset="-122"/>
                <a:cs typeface="Times New Roman" pitchFamily="18" charset="0"/>
              </a:rPr>
              <a:t>.</a:t>
            </a:r>
            <a:endParaRPr lang="zh-CN" altLang="en-US" sz="2500" b="1">
              <a:solidFill>
                <a:srgbClr val="FFFFFF"/>
              </a:solidFill>
              <a:ea typeface="华文新魏" pitchFamily="2" charset="-122"/>
              <a:cs typeface="Times New Roman" pitchFamily="18" charset="0"/>
            </a:endParaRPr>
          </a:p>
        </p:txBody>
      </p:sp>
      <p:sp>
        <p:nvSpPr>
          <p:cNvPr id="3075" name="Text Box 39"/>
          <p:cNvSpPr txBox="1">
            <a:spLocks noChangeArrowheads="1"/>
          </p:cNvSpPr>
          <p:nvPr/>
        </p:nvSpPr>
        <p:spPr bwMode="auto">
          <a:xfrm>
            <a:off x="179388" y="358775"/>
            <a:ext cx="1836737" cy="477838"/>
          </a:xfrm>
          <a:prstGeom prst="rect">
            <a:avLst/>
          </a:prstGeom>
          <a:noFill/>
          <a:ln w="9525" algn="ctr">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习题</a:t>
            </a:r>
            <a:r>
              <a:rPr lang="en-US" altLang="zh-CN" sz="2500" b="1">
                <a:solidFill>
                  <a:srgbClr val="FFFF00"/>
                </a:solidFill>
                <a:ea typeface="华文新魏" pitchFamily="2" charset="-122"/>
                <a:cs typeface="Times New Roman" pitchFamily="18" charset="0"/>
              </a:rPr>
              <a:t>8-1</a:t>
            </a:r>
            <a:r>
              <a:rPr lang="zh-CN" altLang="en-US" sz="2500" b="1">
                <a:solidFill>
                  <a:srgbClr val="FFFF00"/>
                </a:solidFill>
                <a:ea typeface="华文新魏" pitchFamily="2" charset="-122"/>
                <a:cs typeface="Times New Roman" pitchFamily="18" charset="0"/>
              </a:rPr>
              <a:t>：</a:t>
            </a:r>
          </a:p>
        </p:txBody>
      </p:sp>
      <p:sp>
        <p:nvSpPr>
          <p:cNvPr id="3076" name="Rectangle 38"/>
          <p:cNvSpPr>
            <a:spLocks noChangeArrowheads="1"/>
          </p:cNvSpPr>
          <p:nvPr/>
        </p:nvSpPr>
        <p:spPr bwMode="auto">
          <a:xfrm>
            <a:off x="4608513" y="261938"/>
            <a:ext cx="6627812" cy="477837"/>
          </a:xfrm>
          <a:prstGeom prst="rect">
            <a:avLst/>
          </a:prstGeom>
          <a:noFill/>
          <a:ln w="9525">
            <a:noFill/>
            <a:miter lim="800000"/>
            <a:headEnd/>
            <a:tailEnd/>
          </a:ln>
          <a:effectLst/>
        </p:spPr>
        <p:txBody>
          <a:bodyPr>
            <a:spAutoFit/>
          </a:bodyPr>
          <a:lstStyle/>
          <a:p>
            <a:pPr eaLnBrk="0" hangingPunct="0"/>
            <a:r>
              <a:rPr lang="zh-CN" altLang="en-US" sz="2500" b="1">
                <a:solidFill>
                  <a:srgbClr val="FFFFFF"/>
                </a:solidFill>
                <a:ea typeface="华文新魏" pitchFamily="2" charset="-122"/>
                <a:cs typeface="Times New Roman" pitchFamily="18" charset="0"/>
              </a:rPr>
              <a:t>                   化学键的概念、分类和成键条件</a:t>
            </a:r>
            <a:r>
              <a:rPr lang="en-US" altLang="zh-CN" sz="2500" b="1">
                <a:solidFill>
                  <a:srgbClr val="FFFFFF"/>
                </a:solidFill>
                <a:ea typeface="华文新魏" pitchFamily="2" charset="-122"/>
                <a:cs typeface="Times New Roman" pitchFamily="18" charset="0"/>
              </a:rPr>
              <a:t>.</a:t>
            </a:r>
            <a:endParaRPr lang="zh-CN" altLang="zh-CN" sz="2500" b="1">
              <a:solidFill>
                <a:srgbClr val="FFFFFF"/>
              </a:solidFill>
              <a:ea typeface="华文新魏" pitchFamily="2" charset="-122"/>
              <a:cs typeface="Times New Roman" pitchFamily="18" charset="0"/>
            </a:endParaRPr>
          </a:p>
        </p:txBody>
      </p:sp>
      <p:sp>
        <p:nvSpPr>
          <p:cNvPr id="3077" name="Rectangle 38"/>
          <p:cNvSpPr>
            <a:spLocks noChangeArrowheads="1"/>
          </p:cNvSpPr>
          <p:nvPr/>
        </p:nvSpPr>
        <p:spPr bwMode="auto">
          <a:xfrm>
            <a:off x="4608513" y="265113"/>
            <a:ext cx="1800225" cy="476250"/>
          </a:xfrm>
          <a:prstGeom prst="rect">
            <a:avLst/>
          </a:prstGeom>
          <a:noFill/>
          <a:ln w="9525">
            <a:noFill/>
            <a:miter lim="800000"/>
            <a:headEnd/>
            <a:tailEnd/>
          </a:ln>
          <a:effectLst/>
        </p:spPr>
        <p:txBody>
          <a:bodyPr>
            <a:spAutoFit/>
          </a:bodyPr>
          <a:lstStyle/>
          <a:p>
            <a:pPr marL="342900" indent="-342900" eaLnBrk="0" hangingPunct="0"/>
            <a:r>
              <a:rPr lang="zh-CN" altLang="zh-CN" sz="2500" b="1">
                <a:solidFill>
                  <a:srgbClr val="FFFF00"/>
                </a:solidFill>
                <a:ea typeface="华文新魏" pitchFamily="2" charset="-122"/>
                <a:cs typeface="Times New Roman" pitchFamily="18" charset="0"/>
              </a:rPr>
              <a:t>解题思路：</a:t>
            </a:r>
          </a:p>
        </p:txBody>
      </p:sp>
      <p:sp>
        <p:nvSpPr>
          <p:cNvPr id="6" name="Rectangle 38"/>
          <p:cNvSpPr>
            <a:spLocks noChangeArrowheads="1"/>
          </p:cNvSpPr>
          <p:nvPr/>
        </p:nvSpPr>
        <p:spPr bwMode="auto">
          <a:xfrm>
            <a:off x="4591050" y="647700"/>
            <a:ext cx="2735263" cy="473075"/>
          </a:xfrm>
          <a:prstGeom prst="rect">
            <a:avLst/>
          </a:prstGeom>
          <a:noFill/>
          <a:ln w="9525">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参考答案</a:t>
            </a:r>
            <a:r>
              <a:rPr lang="en-US" altLang="zh-CN" sz="2500" b="1">
                <a:solidFill>
                  <a:srgbClr val="FFFF00"/>
                </a:solidFill>
                <a:ea typeface="华文新魏" pitchFamily="2" charset="-122"/>
                <a:cs typeface="Times New Roman" pitchFamily="18" charset="0"/>
              </a:rPr>
              <a:t>(</a:t>
            </a:r>
            <a:r>
              <a:rPr lang="zh-CN" altLang="en-US" sz="2500" b="1">
                <a:solidFill>
                  <a:srgbClr val="FFFF00"/>
                </a:solidFill>
                <a:ea typeface="华文新魏" pitchFamily="2" charset="-122"/>
                <a:cs typeface="Times New Roman" pitchFamily="18" charset="0"/>
              </a:rPr>
              <a:t>续</a:t>
            </a:r>
            <a:r>
              <a:rPr lang="en-US" altLang="zh-CN" sz="2500" b="1">
                <a:solidFill>
                  <a:srgbClr val="FFFF00"/>
                </a:solidFill>
                <a:ea typeface="华文新魏" pitchFamily="2" charset="-122"/>
                <a:cs typeface="Times New Roman" pitchFamily="18" charset="0"/>
              </a:rPr>
              <a:t>)</a:t>
            </a:r>
            <a:r>
              <a:rPr lang="zh-CN" altLang="en-US" sz="2500" b="1">
                <a:solidFill>
                  <a:srgbClr val="FFFF00"/>
                </a:solidFill>
                <a:ea typeface="华文新魏" pitchFamily="2" charset="-122"/>
                <a:cs typeface="Times New Roman" pitchFamily="18" charset="0"/>
              </a:rPr>
              <a:t>：</a:t>
            </a:r>
          </a:p>
        </p:txBody>
      </p:sp>
      <p:sp>
        <p:nvSpPr>
          <p:cNvPr id="7" name="Rectangle 38"/>
          <p:cNvSpPr>
            <a:spLocks noChangeArrowheads="1"/>
          </p:cNvSpPr>
          <p:nvPr/>
        </p:nvSpPr>
        <p:spPr bwMode="auto">
          <a:xfrm>
            <a:off x="4598988" y="1079500"/>
            <a:ext cx="6637337" cy="3940175"/>
          </a:xfrm>
          <a:prstGeom prst="rect">
            <a:avLst/>
          </a:prstGeom>
          <a:noFill/>
          <a:ln w="9525">
            <a:noFill/>
            <a:miter lim="800000"/>
            <a:headEnd/>
            <a:tailEnd/>
          </a:ln>
          <a:effectLst/>
        </p:spPr>
        <p:txBody>
          <a:bodyPr>
            <a:spAutoFit/>
          </a:bodyPr>
          <a:lstStyle/>
          <a:p>
            <a:r>
              <a:rPr lang="en-US" altLang="zh-CN" sz="2500" b="1">
                <a:ea typeface="华文新魏" pitchFamily="2" charset="-122"/>
                <a:cs typeface="Times New Roman" pitchFamily="18" charset="0"/>
              </a:rPr>
              <a:t>Na</a:t>
            </a:r>
            <a:r>
              <a:rPr lang="en-US" altLang="zh-CN" sz="2500" b="1" baseline="30000">
                <a:ea typeface="华文新魏" pitchFamily="2" charset="-122"/>
                <a:cs typeface="Times New Roman" pitchFamily="18" charset="0"/>
              </a:rPr>
              <a:t>+</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Cl</a:t>
            </a:r>
            <a:r>
              <a:rPr lang="en-US" altLang="zh-CN" sz="2500" b="1" baseline="30000">
                <a:ea typeface="华文新魏" pitchFamily="2" charset="-122"/>
                <a:cs typeface="Times New Roman" pitchFamily="18" charset="0"/>
              </a:rPr>
              <a:t>-</a:t>
            </a:r>
            <a:r>
              <a:rPr lang="zh-CN" altLang="zh-CN" sz="2500" b="1">
                <a:ea typeface="华文新魏" pitchFamily="2" charset="-122"/>
                <a:cs typeface="Times New Roman" pitchFamily="18" charset="0"/>
              </a:rPr>
              <a:t>，正负离子间靠静电引力结合</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形成稳定的离子键</a:t>
            </a:r>
            <a:r>
              <a:rPr lang="en-US" altLang="zh-CN" sz="2500" b="1">
                <a:ea typeface="华文新魏" pitchFamily="2" charset="-122"/>
                <a:cs typeface="Times New Roman" pitchFamily="18" charset="0"/>
              </a:rPr>
              <a:t>. </a:t>
            </a:r>
            <a:endParaRPr lang="zh-CN" altLang="zh-CN" sz="2500" b="1">
              <a:ea typeface="华文新魏" pitchFamily="2" charset="-122"/>
              <a:cs typeface="Times New Roman" pitchFamily="18" charset="0"/>
            </a:endParaRPr>
          </a:p>
          <a:p>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金属键的成键条件</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从金属原子上脱离下来的成键电子可以在金属中自由流动</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被许多金属离子所共有</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金属原子间紧密堆积达到最稳定的晶体结构</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例如活泼的</a:t>
            </a:r>
            <a:r>
              <a:rPr lang="en-US" altLang="zh-CN" sz="2500" b="1">
                <a:ea typeface="华文新魏" pitchFamily="2" charset="-122"/>
                <a:cs typeface="Times New Roman" pitchFamily="18" charset="0"/>
              </a:rPr>
              <a:t>Na</a:t>
            </a:r>
            <a:r>
              <a:rPr lang="zh-CN" altLang="zh-CN" sz="2500" b="1">
                <a:ea typeface="华文新魏" pitchFamily="2" charset="-122"/>
                <a:cs typeface="Times New Roman" pitchFamily="18" charset="0"/>
              </a:rPr>
              <a:t>原子容易失去电子成为</a:t>
            </a:r>
            <a:r>
              <a:rPr lang="en-US" altLang="zh-CN" sz="2500" b="1">
                <a:ea typeface="华文新魏" pitchFamily="2" charset="-122"/>
                <a:cs typeface="Times New Roman" pitchFamily="18" charset="0"/>
              </a:rPr>
              <a:t>Na</a:t>
            </a:r>
            <a:r>
              <a:rPr lang="en-US" altLang="zh-CN" sz="2500" b="1" baseline="30000">
                <a:ea typeface="华文新魏" pitchFamily="2" charset="-122"/>
                <a:cs typeface="Times New Roman" pitchFamily="18" charset="0"/>
              </a:rPr>
              <a:t>+</a:t>
            </a:r>
            <a:r>
              <a:rPr lang="zh-CN" altLang="zh-CN" sz="2500" b="1">
                <a:ea typeface="华文新魏" pitchFamily="2" charset="-122"/>
                <a:cs typeface="Times New Roman" pitchFamily="18" charset="0"/>
              </a:rPr>
              <a:t>离子</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从</a:t>
            </a:r>
            <a:r>
              <a:rPr lang="en-US" altLang="zh-CN" sz="2500" b="1">
                <a:ea typeface="华文新魏" pitchFamily="2" charset="-122"/>
                <a:cs typeface="Times New Roman" pitchFamily="18" charset="0"/>
              </a:rPr>
              <a:t>Na</a:t>
            </a:r>
            <a:r>
              <a:rPr lang="zh-CN" altLang="zh-CN" sz="2500" b="1">
                <a:ea typeface="华文新魏" pitchFamily="2" charset="-122"/>
                <a:cs typeface="Times New Roman" pitchFamily="18" charset="0"/>
              </a:rPr>
              <a:t>原子上脱离下来的电子可以在</a:t>
            </a:r>
            <a:r>
              <a:rPr lang="en-US" altLang="zh-CN" sz="2500" b="1">
                <a:ea typeface="华文新魏" pitchFamily="2" charset="-122"/>
                <a:cs typeface="Times New Roman" pitchFamily="18" charset="0"/>
              </a:rPr>
              <a:t>Na</a:t>
            </a:r>
            <a:r>
              <a:rPr lang="zh-CN" altLang="zh-CN" sz="2500" b="1">
                <a:ea typeface="华文新魏" pitchFamily="2" charset="-122"/>
                <a:cs typeface="Times New Roman" pitchFamily="18" charset="0"/>
              </a:rPr>
              <a:t>晶体的整个晶格中自由流动</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使得许多</a:t>
            </a:r>
            <a:r>
              <a:rPr lang="en-US" altLang="zh-CN" sz="2500" b="1">
                <a:ea typeface="华文新魏" pitchFamily="2" charset="-122"/>
                <a:cs typeface="Times New Roman" pitchFamily="18" charset="0"/>
              </a:rPr>
              <a:t>Na</a:t>
            </a:r>
            <a:r>
              <a:rPr lang="zh-CN" altLang="zh-CN" sz="2500" b="1">
                <a:ea typeface="华文新魏" pitchFamily="2" charset="-122"/>
                <a:cs typeface="Times New Roman" pitchFamily="18" charset="0"/>
              </a:rPr>
              <a:t>原子与</a:t>
            </a:r>
            <a:r>
              <a:rPr lang="en-US" altLang="zh-CN" sz="2500" b="1">
                <a:ea typeface="华文新魏" pitchFamily="2" charset="-122"/>
                <a:cs typeface="Times New Roman" pitchFamily="18" charset="0"/>
              </a:rPr>
              <a:t>Na</a:t>
            </a:r>
            <a:r>
              <a:rPr lang="en-US" altLang="zh-CN" sz="2500" b="1" baseline="30000">
                <a:ea typeface="华文新魏" pitchFamily="2" charset="-122"/>
                <a:cs typeface="Times New Roman" pitchFamily="18" charset="0"/>
              </a:rPr>
              <a:t>+</a:t>
            </a:r>
            <a:r>
              <a:rPr lang="zh-CN" altLang="zh-CN" sz="2500" b="1">
                <a:ea typeface="华文新魏" pitchFamily="2" charset="-122"/>
                <a:cs typeface="Times New Roman" pitchFamily="18" charset="0"/>
              </a:rPr>
              <a:t>离子通过金属键结合在一起</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形成紧密堆积的</a:t>
            </a:r>
            <a:r>
              <a:rPr lang="en-US" altLang="zh-CN" sz="2500" b="1">
                <a:ea typeface="华文新魏" pitchFamily="2" charset="-122"/>
                <a:cs typeface="Times New Roman" pitchFamily="18" charset="0"/>
              </a:rPr>
              <a:t>Na</a:t>
            </a:r>
            <a:r>
              <a:rPr lang="zh-CN" altLang="zh-CN" sz="2500" b="1">
                <a:ea typeface="华文新魏" pitchFamily="2" charset="-122"/>
                <a:cs typeface="Times New Roman" pitchFamily="18" charset="0"/>
              </a:rPr>
              <a:t>晶体</a:t>
            </a:r>
            <a:r>
              <a:rPr lang="en-US" altLang="zh-CN" sz="2500" b="1">
                <a:ea typeface="华文新魏" pitchFamily="2" charset="-122"/>
                <a:cs typeface="Times New Roman" pitchFamily="18" charset="0"/>
              </a:rPr>
              <a:t>. </a:t>
            </a:r>
            <a:endParaRPr lang="en-US" altLang="zh-CN" sz="2500" b="1">
              <a:solidFill>
                <a:srgbClr val="FFFFFF"/>
              </a:solidFill>
              <a:ea typeface="华文新魏" pitchFamily="2" charset="-122"/>
              <a:cs typeface="Times New Roman" pitchFamily="18" charset="0"/>
            </a:endParaRP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blinds(horizontal)">
                                      <p:cBhvr>
                                        <p:cTn id="12" dur="500"/>
                                        <p:tgtEl>
                                          <p:spTgt spid="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blinds(horizontal)">
                                      <p:cBhvr>
                                        <p:cTn id="17"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7"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8"/>
          <p:cNvSpPr>
            <a:spLocks noChangeArrowheads="1"/>
          </p:cNvSpPr>
          <p:nvPr/>
        </p:nvSpPr>
        <p:spPr bwMode="auto">
          <a:xfrm>
            <a:off x="6008688" y="358775"/>
            <a:ext cx="5300662" cy="3170238"/>
          </a:xfrm>
          <a:prstGeom prst="rect">
            <a:avLst/>
          </a:prstGeom>
          <a:noFill/>
          <a:ln w="9525">
            <a:noFill/>
            <a:miter lim="800000"/>
            <a:headEnd/>
            <a:tailEnd/>
          </a:ln>
          <a:effectLst/>
        </p:spPr>
        <p:txBody>
          <a:bodyPr>
            <a:spAutoFit/>
          </a:bodyPr>
          <a:lstStyle/>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根据杂化轨道理论</a:t>
            </a:r>
            <a:r>
              <a:rPr lang="en-US" altLang="zh-CN" sz="2500" b="1">
                <a:ea typeface="华文新魏" pitchFamily="2" charset="-122"/>
                <a:cs typeface="Times New Roman" pitchFamily="18" charset="0"/>
              </a:rPr>
              <a:t>, B</a:t>
            </a:r>
            <a:r>
              <a:rPr lang="zh-CN" altLang="zh-CN" sz="2500" b="1">
                <a:ea typeface="华文新魏" pitchFamily="2" charset="-122"/>
                <a:cs typeface="Times New Roman" pitchFamily="18" charset="0"/>
              </a:rPr>
              <a:t>原子激发后形成三个等价的</a:t>
            </a:r>
            <a:r>
              <a:rPr lang="en-US" altLang="zh-CN" sz="2500" b="1">
                <a:ea typeface="华文新魏" pitchFamily="2" charset="-122"/>
                <a:cs typeface="Times New Roman" pitchFamily="18" charset="0"/>
              </a:rPr>
              <a:t>sp</a:t>
            </a:r>
            <a:r>
              <a:rPr lang="en-US" altLang="zh-CN" sz="2500" b="1" baseline="30000">
                <a:ea typeface="华文新魏" pitchFamily="2" charset="-122"/>
                <a:cs typeface="Times New Roman" pitchFamily="18" charset="0"/>
              </a:rPr>
              <a:t>2</a:t>
            </a:r>
            <a:r>
              <a:rPr lang="zh-CN" altLang="zh-CN" sz="2500" b="1">
                <a:ea typeface="华文新魏" pitchFamily="2" charset="-122"/>
                <a:cs typeface="Times New Roman" pitchFamily="18" charset="0"/>
              </a:rPr>
              <a:t>杂化轨道</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与三个</a:t>
            </a:r>
            <a:r>
              <a:rPr lang="en-US" altLang="zh-CN" sz="2500" b="1">
                <a:ea typeface="华文新魏" pitchFamily="2" charset="-122"/>
                <a:cs typeface="Times New Roman" pitchFamily="18" charset="0"/>
              </a:rPr>
              <a:t>F</a:t>
            </a:r>
            <a:r>
              <a:rPr lang="zh-CN" altLang="zh-CN" sz="2500" b="1">
                <a:ea typeface="华文新魏" pitchFamily="2" charset="-122"/>
                <a:cs typeface="Times New Roman" pitchFamily="18" charset="0"/>
              </a:rPr>
              <a:t>原子成键</a:t>
            </a:r>
            <a:r>
              <a:rPr lang="en-US" altLang="zh-CN" sz="2500" b="1">
                <a:ea typeface="华文新魏" pitchFamily="2" charset="-122"/>
                <a:cs typeface="Times New Roman" pitchFamily="18" charset="0"/>
              </a:rPr>
              <a:t>.</a:t>
            </a:r>
            <a:r>
              <a:rPr lang="zh-CN" altLang="zh-CN" sz="2500" b="1">
                <a:ea typeface="华文新魏" pitchFamily="2" charset="-122"/>
                <a:cs typeface="Times New Roman" pitchFamily="18" charset="0"/>
              </a:rPr>
              <a:t>因为等性</a:t>
            </a:r>
            <a:r>
              <a:rPr lang="en-US" altLang="zh-CN" sz="2500" b="1">
                <a:ea typeface="华文新魏" pitchFamily="2" charset="-122"/>
                <a:cs typeface="Times New Roman" pitchFamily="18" charset="0"/>
              </a:rPr>
              <a:t>sp</a:t>
            </a:r>
            <a:r>
              <a:rPr lang="en-US" altLang="zh-CN" sz="2500" b="1" baseline="30000">
                <a:ea typeface="华文新魏" pitchFamily="2" charset="-122"/>
                <a:cs typeface="Times New Roman" pitchFamily="18" charset="0"/>
              </a:rPr>
              <a:t>2</a:t>
            </a:r>
            <a:r>
              <a:rPr lang="zh-CN" altLang="zh-CN" sz="2500" b="1">
                <a:ea typeface="华文新魏" pitchFamily="2" charset="-122"/>
                <a:cs typeface="Times New Roman" pitchFamily="18" charset="0"/>
              </a:rPr>
              <a:t>杂化轨道指向平面三角形的三个顶点</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所以</a:t>
            </a:r>
            <a:r>
              <a:rPr lang="en-US" altLang="zh-CN" sz="2500" b="1">
                <a:ea typeface="华文新魏" pitchFamily="2" charset="-122"/>
                <a:cs typeface="Times New Roman" pitchFamily="18" charset="0"/>
              </a:rPr>
              <a:t>BF</a:t>
            </a:r>
            <a:r>
              <a:rPr lang="en-US" altLang="zh-CN" sz="2500" b="1" baseline="-25000">
                <a:ea typeface="华文新魏" pitchFamily="2" charset="-122"/>
                <a:cs typeface="Times New Roman" pitchFamily="18" charset="0"/>
              </a:rPr>
              <a:t>3</a:t>
            </a:r>
            <a:r>
              <a:rPr lang="zh-CN" altLang="zh-CN" sz="2500" b="1">
                <a:ea typeface="华文新魏" pitchFamily="2" charset="-122"/>
                <a:cs typeface="Times New Roman" pitchFamily="18" charset="0"/>
              </a:rPr>
              <a:t>分子呈平面三角形</a:t>
            </a:r>
            <a:r>
              <a:rPr lang="en-US" altLang="zh-CN" sz="2500" b="1">
                <a:ea typeface="华文新魏" pitchFamily="2" charset="-122"/>
                <a:cs typeface="Times New Roman" pitchFamily="18" charset="0"/>
              </a:rPr>
              <a:t>. N</a:t>
            </a:r>
            <a:r>
              <a:rPr lang="zh-CN" altLang="zh-CN" sz="2500" b="1">
                <a:ea typeface="华文新魏" pitchFamily="2" charset="-122"/>
                <a:cs typeface="Times New Roman" pitchFamily="18" charset="0"/>
              </a:rPr>
              <a:t>原子外层的孤对电子参与杂化</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占据了其中一个</a:t>
            </a:r>
            <a:r>
              <a:rPr lang="en-US" altLang="zh-CN" sz="2500" b="1">
                <a:ea typeface="华文新魏" pitchFamily="2" charset="-122"/>
                <a:cs typeface="Times New Roman" pitchFamily="18" charset="0"/>
              </a:rPr>
              <a:t>sp</a:t>
            </a:r>
            <a:r>
              <a:rPr lang="en-US" altLang="zh-CN" sz="2500" b="1" baseline="30000">
                <a:ea typeface="华文新魏" pitchFamily="2" charset="-122"/>
                <a:cs typeface="Times New Roman" pitchFamily="18" charset="0"/>
              </a:rPr>
              <a:t>3</a:t>
            </a:r>
            <a:r>
              <a:rPr lang="zh-CN" altLang="zh-CN" sz="2500" b="1">
                <a:ea typeface="华文新魏" pitchFamily="2" charset="-122"/>
                <a:cs typeface="Times New Roman" pitchFamily="18" charset="0"/>
              </a:rPr>
              <a:t>杂化轨道</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但未成键</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因此是不等性杂化</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使</a:t>
            </a:r>
            <a:r>
              <a:rPr lang="en-US" altLang="zh-CN" sz="2500" b="1">
                <a:ea typeface="华文新魏" pitchFamily="2" charset="-122"/>
                <a:cs typeface="Times New Roman" pitchFamily="18" charset="0"/>
              </a:rPr>
              <a:t>NH</a:t>
            </a:r>
            <a:r>
              <a:rPr lang="en-US" altLang="zh-CN" sz="2500" b="1" baseline="-25000">
                <a:ea typeface="华文新魏" pitchFamily="2" charset="-122"/>
                <a:cs typeface="Times New Roman" pitchFamily="18" charset="0"/>
              </a:rPr>
              <a:t>3</a:t>
            </a:r>
            <a:r>
              <a:rPr lang="zh-CN" altLang="zh-CN" sz="2500" b="1">
                <a:ea typeface="华文新魏" pitchFamily="2" charset="-122"/>
                <a:cs typeface="Times New Roman" pitchFamily="18" charset="0"/>
              </a:rPr>
              <a:t>分子呈三角锥型</a:t>
            </a:r>
            <a:r>
              <a:rPr lang="en-US" altLang="zh-CN" sz="2500" b="1">
                <a:ea typeface="华文新魏" pitchFamily="2" charset="-122"/>
                <a:cs typeface="Times New Roman" pitchFamily="18" charset="0"/>
              </a:rPr>
              <a:t>.</a:t>
            </a:r>
            <a:endParaRPr lang="zh-CN" altLang="zh-CN" sz="2500" b="1">
              <a:solidFill>
                <a:srgbClr val="FFFFFF"/>
              </a:solidFill>
              <a:ea typeface="华文新魏" pitchFamily="2" charset="-122"/>
              <a:cs typeface="Times New Roman" pitchFamily="18" charset="0"/>
            </a:endParaRPr>
          </a:p>
        </p:txBody>
      </p:sp>
      <p:sp>
        <p:nvSpPr>
          <p:cNvPr id="62504" name="Rectangle 40"/>
          <p:cNvSpPr>
            <a:spLocks noChangeArrowheads="1"/>
          </p:cNvSpPr>
          <p:nvPr/>
        </p:nvSpPr>
        <p:spPr bwMode="auto">
          <a:xfrm>
            <a:off x="227013" y="358775"/>
            <a:ext cx="5327650" cy="1246188"/>
          </a:xfrm>
          <a:prstGeom prst="rect">
            <a:avLst/>
          </a:prstGeom>
          <a:noFill/>
          <a:ln w="9525">
            <a:noFill/>
            <a:miter lim="800000"/>
            <a:headEnd/>
            <a:tailEnd/>
          </a:ln>
          <a:effectLst/>
        </p:spPr>
        <p:txBody>
          <a:bodyPr>
            <a:spAutoFit/>
          </a:bodyPr>
          <a:lstStyle/>
          <a:p>
            <a:pPr eaLnBrk="0" hangingPunct="0">
              <a:buClr>
                <a:srgbClr val="FFFFCC"/>
              </a:buClr>
              <a:buSzPct val="90000"/>
              <a:buFont typeface="Wingdings" pitchFamily="2" charset="2"/>
              <a:buNone/>
            </a:pPr>
            <a:r>
              <a:rPr lang="en-US" altLang="zh-CN" sz="2500" b="1">
                <a:ea typeface="华文新魏" pitchFamily="2" charset="-122"/>
                <a:cs typeface="Times New Roman" pitchFamily="18" charset="0"/>
              </a:rPr>
              <a:t>                BF</a:t>
            </a:r>
            <a:r>
              <a:rPr lang="en-US" altLang="zh-CN" sz="2500" b="1" baseline="-25000">
                <a:ea typeface="华文新魏" pitchFamily="2" charset="-122"/>
                <a:cs typeface="Times New Roman" pitchFamily="18" charset="0"/>
              </a:rPr>
              <a:t>3</a:t>
            </a:r>
            <a:r>
              <a:rPr lang="zh-CN" altLang="zh-CN" sz="2500" b="1">
                <a:ea typeface="华文新魏" pitchFamily="2" charset="-122"/>
                <a:cs typeface="Times New Roman" pitchFamily="18" charset="0"/>
              </a:rPr>
              <a:t>分子具有平面三角形构型，而</a:t>
            </a:r>
            <a:r>
              <a:rPr lang="en-US" altLang="zh-CN" sz="2500" b="1">
                <a:ea typeface="华文新魏" pitchFamily="2" charset="-122"/>
                <a:cs typeface="Times New Roman" pitchFamily="18" charset="0"/>
              </a:rPr>
              <a:t>NH</a:t>
            </a:r>
            <a:r>
              <a:rPr lang="en-US" altLang="zh-CN" sz="2500" b="1" baseline="-25000">
                <a:ea typeface="华文新魏" pitchFamily="2" charset="-122"/>
                <a:cs typeface="Times New Roman" pitchFamily="18" charset="0"/>
              </a:rPr>
              <a:t>3</a:t>
            </a:r>
            <a:r>
              <a:rPr lang="zh-CN" altLang="zh-CN" sz="2500" b="1">
                <a:ea typeface="华文新魏" pitchFamily="2" charset="-122"/>
                <a:cs typeface="Times New Roman" pitchFamily="18" charset="0"/>
              </a:rPr>
              <a:t>却是三角锥型，试用杂化轨道理论加以说明</a:t>
            </a:r>
            <a:r>
              <a:rPr lang="en-US" altLang="zh-CN" sz="2500" b="1">
                <a:ea typeface="华文新魏" pitchFamily="2" charset="-122"/>
                <a:cs typeface="Times New Roman" pitchFamily="18" charset="0"/>
              </a:rPr>
              <a:t>.</a:t>
            </a:r>
            <a:endParaRPr lang="en-US" altLang="zh-CN" sz="2500" b="1">
              <a:solidFill>
                <a:srgbClr val="FFFFFF"/>
              </a:solidFill>
              <a:ea typeface="华文新魏" pitchFamily="2" charset="-122"/>
              <a:cs typeface="Times New Roman" pitchFamily="18" charset="0"/>
            </a:endParaRPr>
          </a:p>
        </p:txBody>
      </p:sp>
      <p:sp>
        <p:nvSpPr>
          <p:cNvPr id="62502" name="Rectangle 38"/>
          <p:cNvSpPr>
            <a:spLocks noChangeArrowheads="1"/>
          </p:cNvSpPr>
          <p:nvPr/>
        </p:nvSpPr>
        <p:spPr bwMode="auto">
          <a:xfrm>
            <a:off x="6008688" y="358775"/>
            <a:ext cx="2735262" cy="473075"/>
          </a:xfrm>
          <a:prstGeom prst="rect">
            <a:avLst/>
          </a:prstGeom>
          <a:noFill/>
          <a:ln w="9525">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解题思路：</a:t>
            </a:r>
          </a:p>
        </p:txBody>
      </p:sp>
      <p:sp>
        <p:nvSpPr>
          <p:cNvPr id="4101" name="Text Box 39"/>
          <p:cNvSpPr txBox="1">
            <a:spLocks noChangeArrowheads="1"/>
          </p:cNvSpPr>
          <p:nvPr/>
        </p:nvSpPr>
        <p:spPr bwMode="auto">
          <a:xfrm>
            <a:off x="179388" y="358775"/>
            <a:ext cx="1657350" cy="473075"/>
          </a:xfrm>
          <a:prstGeom prst="rect">
            <a:avLst/>
          </a:prstGeom>
          <a:noFill/>
          <a:ln w="9525" algn="ctr">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习题</a:t>
            </a:r>
            <a:r>
              <a:rPr lang="en-US" altLang="zh-CN" sz="2500" b="1">
                <a:solidFill>
                  <a:srgbClr val="FFFF00"/>
                </a:solidFill>
                <a:ea typeface="华文新魏" pitchFamily="2" charset="-122"/>
                <a:cs typeface="Times New Roman" pitchFamily="18" charset="0"/>
              </a:rPr>
              <a:t>8-2</a:t>
            </a:r>
            <a:r>
              <a:rPr lang="zh-CN" altLang="en-US" sz="2500" b="1">
                <a:solidFill>
                  <a:srgbClr val="FFFF00"/>
                </a:solidFill>
                <a:ea typeface="华文新魏" pitchFamily="2" charset="-122"/>
                <a:cs typeface="Times New Roman" pitchFamily="18" charset="0"/>
              </a:rPr>
              <a:t>：</a:t>
            </a:r>
          </a:p>
        </p:txBody>
      </p:sp>
      <p:sp>
        <p:nvSpPr>
          <p:cNvPr id="5" name="Rectangle 38"/>
          <p:cNvSpPr>
            <a:spLocks noChangeArrowheads="1"/>
          </p:cNvSpPr>
          <p:nvPr/>
        </p:nvSpPr>
        <p:spPr bwMode="auto">
          <a:xfrm>
            <a:off x="5988050" y="3919538"/>
            <a:ext cx="2735263" cy="473075"/>
          </a:xfrm>
          <a:prstGeom prst="rect">
            <a:avLst/>
          </a:prstGeom>
          <a:noFill/>
          <a:ln w="9525">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参考答案：</a:t>
            </a:r>
          </a:p>
        </p:txBody>
      </p:sp>
      <p:sp>
        <p:nvSpPr>
          <p:cNvPr id="7" name="Rectangle 38"/>
          <p:cNvSpPr>
            <a:spLocks noChangeArrowheads="1"/>
          </p:cNvSpPr>
          <p:nvPr/>
        </p:nvSpPr>
        <p:spPr bwMode="auto">
          <a:xfrm>
            <a:off x="6929438" y="3933825"/>
            <a:ext cx="2506662" cy="476250"/>
          </a:xfrm>
          <a:prstGeom prst="rect">
            <a:avLst/>
          </a:prstGeom>
          <a:noFill/>
          <a:ln w="9525">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en-US" altLang="zh-CN" sz="2500" b="1" i="1">
                <a:ea typeface="华文新魏" pitchFamily="2" charset="-122"/>
                <a:cs typeface="Times New Roman" pitchFamily="18" charset="0"/>
              </a:rPr>
              <a:t>       </a:t>
            </a:r>
            <a:r>
              <a:rPr lang="zh-CN" altLang="en-US" sz="2500" b="1">
                <a:ea typeface="华文新魏" pitchFamily="2" charset="-122"/>
                <a:cs typeface="Times New Roman" pitchFamily="18" charset="0"/>
              </a:rPr>
              <a:t>详见教材</a:t>
            </a:r>
            <a:endParaRPr lang="zh-CN" altLang="en-US" sz="2500" b="1">
              <a:solidFill>
                <a:srgbClr val="FFFFFF"/>
              </a:solidFill>
              <a:ea typeface="华文新魏" pitchFamily="2" charset="-122"/>
              <a:cs typeface="Times New Roman" pitchFamily="18" charset="0"/>
            </a:endParaRP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2504"/>
                                        </p:tgtEl>
                                        <p:attrNameLst>
                                          <p:attrName>style.visibility</p:attrName>
                                        </p:attrNameLst>
                                      </p:cBhvr>
                                      <p:to>
                                        <p:strVal val="visible"/>
                                      </p:to>
                                    </p:set>
                                    <p:animEffect transition="in" filter="blinds(horizontal)">
                                      <p:cBhvr>
                                        <p:cTn id="7" dur="500"/>
                                        <p:tgtEl>
                                          <p:spTgt spid="625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2502"/>
                                        </p:tgtEl>
                                        <p:attrNameLst>
                                          <p:attrName>style.visibility</p:attrName>
                                        </p:attrNameLst>
                                      </p:cBhvr>
                                      <p:to>
                                        <p:strVal val="visible"/>
                                      </p:to>
                                    </p:set>
                                    <p:animEffect transition="in" filter="blinds(horizontal)">
                                      <p:cBhvr>
                                        <p:cTn id="12" dur="500"/>
                                        <p:tgtEl>
                                          <p:spTgt spid="6250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098"/>
                                        </p:tgtEl>
                                        <p:attrNameLst>
                                          <p:attrName>style.visibility</p:attrName>
                                        </p:attrNameLst>
                                      </p:cBhvr>
                                      <p:to>
                                        <p:strVal val="visible"/>
                                      </p:to>
                                    </p:set>
                                    <p:animEffect transition="in" filter="wipe(up)">
                                      <p:cBhvr>
                                        <p:cTn id="17" dur="500"/>
                                        <p:tgtEl>
                                          <p:spTgt spid="409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linds(horizontal)">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 grpId="0"/>
      <p:bldP spid="62504" grpId="0" autoUpdateAnimBg="0"/>
      <p:bldP spid="62502" grpId="0" autoUpdateAnimBg="0"/>
      <p:bldP spid="5" grpId="0" autoUpdateAnimBg="0"/>
      <p:bldP spid="7"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0"/>
          <p:cNvSpPr>
            <a:spLocks noChangeArrowheads="1"/>
          </p:cNvSpPr>
          <p:nvPr/>
        </p:nvSpPr>
        <p:spPr bwMode="auto">
          <a:xfrm>
            <a:off x="179388" y="338138"/>
            <a:ext cx="3997325" cy="1631950"/>
          </a:xfrm>
          <a:prstGeom prst="rect">
            <a:avLst/>
          </a:prstGeom>
          <a:noFill/>
          <a:ln w="9525">
            <a:noFill/>
            <a:miter lim="800000"/>
            <a:headEnd/>
            <a:tailEnd/>
          </a:ln>
          <a:effectLst/>
        </p:spPr>
        <p:txBody>
          <a:bodyPr>
            <a:spAutoFit/>
          </a:bodyPr>
          <a:lstStyle/>
          <a:p>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试用杂化轨道理论说明下列分子的成键类型，并预测分子空间构型</a:t>
            </a:r>
            <a:r>
              <a:rPr lang="en-US" altLang="zh-CN" sz="2500" b="1">
                <a:ea typeface="华文新魏" pitchFamily="2" charset="-122"/>
                <a:cs typeface="Times New Roman" pitchFamily="18" charset="0"/>
              </a:rPr>
              <a:t>.</a:t>
            </a:r>
            <a:endParaRPr lang="zh-CN" altLang="zh-CN" sz="2500" b="1">
              <a:ea typeface="华文新魏" pitchFamily="2" charset="-122"/>
              <a:cs typeface="Times New Roman" pitchFamily="18" charset="0"/>
            </a:endParaRPr>
          </a:p>
          <a:p>
            <a:r>
              <a:rPr lang="en-US" altLang="zh-CN" sz="2500" b="1">
                <a:ea typeface="华文新魏" pitchFamily="2" charset="-122"/>
                <a:cs typeface="Times New Roman" pitchFamily="18" charset="0"/>
              </a:rPr>
              <a:t>   CCl</a:t>
            </a:r>
            <a:r>
              <a:rPr lang="en-US" altLang="zh-CN" sz="2500" b="1" baseline="-25000">
                <a:ea typeface="华文新魏" pitchFamily="2" charset="-122"/>
                <a:cs typeface="Times New Roman" pitchFamily="18" charset="0"/>
              </a:rPr>
              <a:t>4</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H</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S</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CO</a:t>
            </a:r>
            <a:r>
              <a:rPr lang="en-US" altLang="zh-CN" sz="2500" b="1" baseline="-25000">
                <a:ea typeface="华文新魏" pitchFamily="2" charset="-122"/>
                <a:cs typeface="Times New Roman" pitchFamily="18" charset="0"/>
              </a:rPr>
              <a:t>2</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BCl</a:t>
            </a:r>
            <a:r>
              <a:rPr lang="en-US" altLang="zh-CN" sz="2500" b="1" baseline="-25000">
                <a:ea typeface="华文新魏" pitchFamily="2" charset="-122"/>
                <a:cs typeface="Times New Roman" pitchFamily="18" charset="0"/>
              </a:rPr>
              <a:t>3</a:t>
            </a:r>
            <a:endParaRPr lang="zh-CN" altLang="zh-CN" sz="2500" b="1">
              <a:ea typeface="华文新魏" pitchFamily="2" charset="-122"/>
              <a:cs typeface="Times New Roman" pitchFamily="18" charset="0"/>
            </a:endParaRPr>
          </a:p>
        </p:txBody>
      </p:sp>
      <p:sp>
        <p:nvSpPr>
          <p:cNvPr id="5123" name="Text Box 39"/>
          <p:cNvSpPr txBox="1">
            <a:spLocks noChangeArrowheads="1"/>
          </p:cNvSpPr>
          <p:nvPr/>
        </p:nvSpPr>
        <p:spPr bwMode="auto">
          <a:xfrm>
            <a:off x="179388" y="358775"/>
            <a:ext cx="1836737" cy="477838"/>
          </a:xfrm>
          <a:prstGeom prst="rect">
            <a:avLst/>
          </a:prstGeom>
          <a:noFill/>
          <a:ln w="9525" algn="ctr">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习题</a:t>
            </a:r>
            <a:r>
              <a:rPr lang="en-US" altLang="zh-CN" sz="2500" b="1">
                <a:solidFill>
                  <a:srgbClr val="FFFF00"/>
                </a:solidFill>
                <a:ea typeface="华文新魏" pitchFamily="2" charset="-122"/>
                <a:cs typeface="Times New Roman" pitchFamily="18" charset="0"/>
              </a:rPr>
              <a:t>8-3</a:t>
            </a:r>
            <a:r>
              <a:rPr lang="zh-CN" altLang="en-US" sz="2500" b="1">
                <a:solidFill>
                  <a:srgbClr val="FFFF00"/>
                </a:solidFill>
                <a:ea typeface="华文新魏" pitchFamily="2" charset="-122"/>
                <a:cs typeface="Times New Roman" pitchFamily="18" charset="0"/>
              </a:rPr>
              <a:t>：</a:t>
            </a:r>
          </a:p>
        </p:txBody>
      </p:sp>
      <p:sp>
        <p:nvSpPr>
          <p:cNvPr id="5" name="Rectangle 38"/>
          <p:cNvSpPr>
            <a:spLocks noChangeArrowheads="1"/>
          </p:cNvSpPr>
          <p:nvPr/>
        </p:nvSpPr>
        <p:spPr bwMode="auto">
          <a:xfrm>
            <a:off x="4608513" y="261938"/>
            <a:ext cx="6627812" cy="3170237"/>
          </a:xfrm>
          <a:prstGeom prst="rect">
            <a:avLst/>
          </a:prstGeom>
          <a:noFill/>
          <a:ln w="9525">
            <a:noFill/>
            <a:miter lim="800000"/>
            <a:headEnd/>
            <a:tailEnd/>
          </a:ln>
          <a:effectLst/>
        </p:spPr>
        <p:txBody>
          <a:bodyPr>
            <a:spAutoFit/>
          </a:bodyPr>
          <a:lstStyle/>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根据杂化轨道理论</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中心原子外层的孤对电子参与杂化、不参与成键时</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属于不等性杂化</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例如</a:t>
            </a:r>
            <a:r>
              <a:rPr lang="en-US" altLang="zh-CN" sz="2500" b="1">
                <a:ea typeface="华文新魏" pitchFamily="2" charset="-122"/>
                <a:cs typeface="Times New Roman" pitchFamily="18" charset="0"/>
              </a:rPr>
              <a:t>H</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S. </a:t>
            </a:r>
            <a:r>
              <a:rPr lang="zh-CN" altLang="zh-CN" sz="2500" b="1">
                <a:ea typeface="华文新魏" pitchFamily="2" charset="-122"/>
                <a:cs typeface="Times New Roman" pitchFamily="18" charset="0"/>
              </a:rPr>
              <a:t>没有孤对电子参与的杂化</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都是等性杂化</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例如</a:t>
            </a:r>
            <a:r>
              <a:rPr lang="en-US" altLang="zh-CN" sz="2500" b="1">
                <a:ea typeface="华文新魏" pitchFamily="2" charset="-122"/>
                <a:cs typeface="Times New Roman" pitchFamily="18" charset="0"/>
              </a:rPr>
              <a:t>CCl</a:t>
            </a:r>
            <a:r>
              <a:rPr lang="en-US" altLang="zh-CN" sz="2500" b="1" baseline="-25000">
                <a:ea typeface="华文新魏" pitchFamily="2" charset="-122"/>
                <a:cs typeface="Times New Roman" pitchFamily="18" charset="0"/>
              </a:rPr>
              <a:t>4</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CO</a:t>
            </a:r>
            <a:r>
              <a:rPr lang="en-US" altLang="zh-CN" sz="2500" b="1" baseline="-25000">
                <a:ea typeface="华文新魏" pitchFamily="2" charset="-122"/>
                <a:cs typeface="Times New Roman" pitchFamily="18" charset="0"/>
              </a:rPr>
              <a:t>2</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BCl</a:t>
            </a:r>
            <a:r>
              <a:rPr lang="en-US" altLang="zh-CN" sz="2500" b="1" baseline="-25000">
                <a:ea typeface="华文新魏" pitchFamily="2" charset="-122"/>
                <a:cs typeface="Times New Roman" pitchFamily="18" charset="0"/>
              </a:rPr>
              <a:t>3</a:t>
            </a:r>
            <a:r>
              <a:rPr lang="en-US" altLang="zh-CN" sz="2500" b="1">
                <a:ea typeface="华文新魏" pitchFamily="2" charset="-122"/>
                <a:cs typeface="Times New Roman" pitchFamily="18" charset="0"/>
              </a:rPr>
              <a:t>.    CO</a:t>
            </a:r>
            <a:r>
              <a:rPr lang="en-US" altLang="zh-CN" sz="2500" b="1" baseline="-25000">
                <a:ea typeface="华文新魏" pitchFamily="2" charset="-122"/>
                <a:cs typeface="Times New Roman" pitchFamily="18" charset="0"/>
              </a:rPr>
              <a:t>2</a:t>
            </a:r>
            <a:r>
              <a:rPr lang="zh-CN" altLang="zh-CN" sz="2500" b="1">
                <a:ea typeface="华文新魏" pitchFamily="2" charset="-122"/>
                <a:cs typeface="Times New Roman" pitchFamily="18" charset="0"/>
              </a:rPr>
              <a:t>杂化情况比较复杂</a:t>
            </a:r>
            <a:r>
              <a:rPr lang="en-US" altLang="zh-CN" sz="2500" b="1">
                <a:ea typeface="华文新魏" pitchFamily="2" charset="-122"/>
                <a:cs typeface="Times New Roman" pitchFamily="18" charset="0"/>
              </a:rPr>
              <a:t>, C</a:t>
            </a:r>
            <a:r>
              <a:rPr lang="zh-CN" altLang="zh-CN" sz="2500" b="1">
                <a:ea typeface="华文新魏" pitchFamily="2" charset="-122"/>
                <a:cs typeface="Times New Roman" pitchFamily="18" charset="0"/>
              </a:rPr>
              <a:t>原子激发后形成</a:t>
            </a:r>
            <a:r>
              <a:rPr lang="en-US" altLang="zh-CN" sz="2500" b="1">
                <a:ea typeface="华文新魏" pitchFamily="2" charset="-122"/>
                <a:cs typeface="Times New Roman" pitchFamily="18" charset="0"/>
              </a:rPr>
              <a:t>2</a:t>
            </a:r>
            <a:r>
              <a:rPr lang="zh-CN" altLang="zh-CN" sz="2500" b="1">
                <a:ea typeface="华文新魏" pitchFamily="2" charset="-122"/>
                <a:cs typeface="Times New Roman" pitchFamily="18" charset="0"/>
              </a:rPr>
              <a:t>个等性</a:t>
            </a:r>
            <a:r>
              <a:rPr lang="en-US" altLang="zh-CN" sz="2500" b="1">
                <a:ea typeface="华文新魏" pitchFamily="2" charset="-122"/>
                <a:cs typeface="Times New Roman" pitchFamily="18" charset="0"/>
              </a:rPr>
              <a:t>sp</a:t>
            </a:r>
            <a:r>
              <a:rPr lang="zh-CN" altLang="zh-CN" sz="2500" b="1">
                <a:ea typeface="华文新魏" pitchFamily="2" charset="-122"/>
                <a:cs typeface="Times New Roman" pitchFamily="18" charset="0"/>
              </a:rPr>
              <a:t>杂化轨道</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与</a:t>
            </a:r>
            <a:r>
              <a:rPr lang="en-US" altLang="zh-CN" sz="2500" b="1">
                <a:ea typeface="华文新魏" pitchFamily="2" charset="-122"/>
                <a:cs typeface="Times New Roman" pitchFamily="18" charset="0"/>
              </a:rPr>
              <a:t>2</a:t>
            </a:r>
            <a:r>
              <a:rPr lang="zh-CN" altLang="zh-CN" sz="2500" b="1">
                <a:ea typeface="华文新魏" pitchFamily="2" charset="-122"/>
                <a:cs typeface="Times New Roman" pitchFamily="18" charset="0"/>
              </a:rPr>
              <a:t>个</a:t>
            </a:r>
            <a:r>
              <a:rPr lang="en-US" altLang="zh-CN" sz="2500" b="1">
                <a:ea typeface="华文新魏" pitchFamily="2" charset="-122"/>
                <a:cs typeface="Times New Roman" pitchFamily="18" charset="0"/>
              </a:rPr>
              <a:t>O</a:t>
            </a:r>
            <a:r>
              <a:rPr lang="zh-CN" altLang="zh-CN" sz="2500" b="1">
                <a:ea typeface="华文新魏" pitchFamily="2" charset="-122"/>
                <a:cs typeface="Times New Roman" pitchFamily="18" charset="0"/>
              </a:rPr>
              <a:t>原子成键</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分子呈直线型</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另外两个未参与杂化的</a:t>
            </a:r>
            <a:r>
              <a:rPr lang="en-US" altLang="zh-CN" sz="2500" b="1">
                <a:ea typeface="华文新魏" pitchFamily="2" charset="-122"/>
                <a:cs typeface="Times New Roman" pitchFamily="18" charset="0"/>
              </a:rPr>
              <a:t>2p</a:t>
            </a:r>
            <a:r>
              <a:rPr lang="zh-CN" altLang="zh-CN" sz="2500" b="1">
                <a:ea typeface="华文新魏" pitchFamily="2" charset="-122"/>
                <a:cs typeface="Times New Roman" pitchFamily="18" charset="0"/>
              </a:rPr>
              <a:t>轨道</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分别与直线两端的</a:t>
            </a:r>
            <a:r>
              <a:rPr lang="en-US" altLang="zh-CN" sz="2500" b="1">
                <a:ea typeface="华文新魏" pitchFamily="2" charset="-122"/>
                <a:cs typeface="Times New Roman" pitchFamily="18" charset="0"/>
              </a:rPr>
              <a:t>2</a:t>
            </a:r>
            <a:r>
              <a:rPr lang="zh-CN" altLang="zh-CN" sz="2500" b="1">
                <a:ea typeface="华文新魏" pitchFamily="2" charset="-122"/>
                <a:cs typeface="Times New Roman" pitchFamily="18" charset="0"/>
              </a:rPr>
              <a:t>个</a:t>
            </a:r>
            <a:r>
              <a:rPr lang="en-US" altLang="zh-CN" sz="2500" b="1">
                <a:ea typeface="华文新魏" pitchFamily="2" charset="-122"/>
                <a:cs typeface="Times New Roman" pitchFamily="18" charset="0"/>
              </a:rPr>
              <a:t>O</a:t>
            </a:r>
            <a:r>
              <a:rPr lang="zh-CN" altLang="zh-CN" sz="2500" b="1">
                <a:ea typeface="华文新魏" pitchFamily="2" charset="-122"/>
                <a:cs typeface="Times New Roman" pitchFamily="18" charset="0"/>
              </a:rPr>
              <a:t>原子</a:t>
            </a:r>
            <a:r>
              <a:rPr lang="en-US" altLang="zh-CN" sz="2500" b="1">
                <a:ea typeface="华文新魏" pitchFamily="2" charset="-122"/>
                <a:cs typeface="Times New Roman" pitchFamily="18" charset="0"/>
              </a:rPr>
              <a:t>2p</a:t>
            </a:r>
            <a:r>
              <a:rPr lang="zh-CN" altLang="zh-CN" sz="2500" b="1">
                <a:ea typeface="华文新魏" pitchFamily="2" charset="-122"/>
                <a:cs typeface="Times New Roman" pitchFamily="18" charset="0"/>
              </a:rPr>
              <a:t>轨道发生重叠</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形成两个</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键</a:t>
            </a:r>
            <a:r>
              <a:rPr lang="en-US" altLang="zh-CN" sz="2500" b="1">
                <a:ea typeface="华文新魏" pitchFamily="2" charset="-122"/>
                <a:cs typeface="Times New Roman" pitchFamily="18" charset="0"/>
              </a:rPr>
              <a:t>.</a:t>
            </a:r>
            <a:endParaRPr lang="zh-CN" altLang="zh-CN" sz="2500" b="1">
              <a:solidFill>
                <a:srgbClr val="FFFFFF"/>
              </a:solidFill>
              <a:ea typeface="华文新魏" pitchFamily="2" charset="-122"/>
              <a:cs typeface="Times New Roman" pitchFamily="18" charset="0"/>
            </a:endParaRPr>
          </a:p>
        </p:txBody>
      </p:sp>
      <p:sp>
        <p:nvSpPr>
          <p:cNvPr id="2" name="Rectangle 38"/>
          <p:cNvSpPr>
            <a:spLocks noChangeArrowheads="1"/>
          </p:cNvSpPr>
          <p:nvPr/>
        </p:nvSpPr>
        <p:spPr bwMode="auto">
          <a:xfrm>
            <a:off x="4608513" y="271463"/>
            <a:ext cx="1800225" cy="476250"/>
          </a:xfrm>
          <a:prstGeom prst="rect">
            <a:avLst/>
          </a:prstGeom>
          <a:noFill/>
          <a:ln w="9525">
            <a:noFill/>
            <a:miter lim="800000"/>
            <a:headEnd/>
            <a:tailEnd/>
          </a:ln>
          <a:effectLst/>
        </p:spPr>
        <p:txBody>
          <a:bodyPr>
            <a:spAutoFit/>
          </a:bodyPr>
          <a:lstStyle/>
          <a:p>
            <a:pPr marL="342900" indent="-342900" eaLnBrk="0" hangingPunct="0"/>
            <a:r>
              <a:rPr lang="zh-CN" altLang="zh-CN" sz="2500" b="1">
                <a:solidFill>
                  <a:srgbClr val="FFFF00"/>
                </a:solidFill>
                <a:ea typeface="华文新魏" pitchFamily="2" charset="-122"/>
                <a:cs typeface="Times New Roman" pitchFamily="18" charset="0"/>
              </a:rPr>
              <a:t>解题思路：</a:t>
            </a:r>
          </a:p>
        </p:txBody>
      </p:sp>
      <p:sp>
        <p:nvSpPr>
          <p:cNvPr id="6" name="Rectangle 38"/>
          <p:cNvSpPr>
            <a:spLocks noChangeArrowheads="1"/>
          </p:cNvSpPr>
          <p:nvPr/>
        </p:nvSpPr>
        <p:spPr bwMode="auto">
          <a:xfrm>
            <a:off x="4618038" y="3630613"/>
            <a:ext cx="2735262" cy="473075"/>
          </a:xfrm>
          <a:prstGeom prst="rect">
            <a:avLst/>
          </a:prstGeom>
          <a:noFill/>
          <a:ln w="9525">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参考答案：</a:t>
            </a:r>
          </a:p>
        </p:txBody>
      </p:sp>
      <p:graphicFrame>
        <p:nvGraphicFramePr>
          <p:cNvPr id="3" name="表格 2"/>
          <p:cNvGraphicFramePr>
            <a:graphicFrameLocks noGrp="1"/>
          </p:cNvGraphicFramePr>
          <p:nvPr/>
        </p:nvGraphicFramePr>
        <p:xfrm>
          <a:off x="5329238" y="4103688"/>
          <a:ext cx="5040313" cy="2016124"/>
        </p:xfrm>
        <a:graphic>
          <a:graphicData uri="http://schemas.openxmlformats.org/drawingml/2006/table">
            <a:tbl>
              <a:tblPr>
                <a:tableStyleId>{5C22544A-7EE6-4342-B048-85BDC9FD1C3A}</a:tableStyleId>
              </a:tblPr>
              <a:tblGrid>
                <a:gridCol w="1327825"/>
                <a:gridCol w="2180383"/>
                <a:gridCol w="1532105"/>
              </a:tblGrid>
              <a:tr h="384029">
                <a:tc>
                  <a:txBody>
                    <a:bodyPr/>
                    <a:lstStyle/>
                    <a:p>
                      <a:pPr indent="133350" algn="ctr">
                        <a:lnSpc>
                          <a:spcPct val="110000"/>
                        </a:lnSpc>
                        <a:spcAft>
                          <a:spcPts val="0"/>
                        </a:spcAft>
                      </a:pPr>
                      <a:r>
                        <a:rPr lang="zh-CN" sz="1800" b="1" kern="100" dirty="0">
                          <a:effectLst/>
                          <a:latin typeface="Times New Roman" pitchFamily="18" charset="0"/>
                          <a:ea typeface="华文新魏" pitchFamily="2" charset="-122"/>
                          <a:cs typeface="Times New Roman" pitchFamily="18" charset="0"/>
                        </a:rPr>
                        <a:t>分子</a:t>
                      </a: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Aft>
                          <a:spcPts val="0"/>
                        </a:spcAft>
                      </a:pPr>
                      <a:r>
                        <a:rPr lang="zh-CN" sz="1800" b="1" kern="100">
                          <a:effectLst/>
                          <a:latin typeface="Times New Roman" pitchFamily="18" charset="0"/>
                          <a:ea typeface="华文新魏" pitchFamily="2" charset="-122"/>
                          <a:cs typeface="Times New Roman" pitchFamily="18" charset="0"/>
                        </a:rPr>
                        <a:t>杂化类型</a:t>
                      </a: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Aft>
                          <a:spcPts val="0"/>
                        </a:spcAft>
                      </a:pPr>
                      <a:r>
                        <a:rPr lang="zh-CN" sz="1800" b="1" kern="100" dirty="0">
                          <a:effectLst/>
                          <a:latin typeface="Times New Roman" pitchFamily="18" charset="0"/>
                          <a:ea typeface="华文新魏" pitchFamily="2" charset="-122"/>
                          <a:cs typeface="Times New Roman" pitchFamily="18" charset="0"/>
                        </a:rPr>
                        <a:t>空间构型</a:t>
                      </a: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84029">
                <a:tc>
                  <a:txBody>
                    <a:bodyPr/>
                    <a:lstStyle/>
                    <a:p>
                      <a:pPr indent="133350" algn="ctr">
                        <a:lnSpc>
                          <a:spcPct val="110000"/>
                        </a:lnSpc>
                        <a:spcAft>
                          <a:spcPts val="0"/>
                        </a:spcAft>
                      </a:pPr>
                      <a:r>
                        <a:rPr lang="en-US" sz="1800" b="1" kern="100" dirty="0">
                          <a:effectLst/>
                          <a:latin typeface="Times New Roman" pitchFamily="18" charset="0"/>
                          <a:ea typeface="华文新魏" pitchFamily="2" charset="-122"/>
                          <a:cs typeface="Times New Roman" pitchFamily="18" charset="0"/>
                        </a:rPr>
                        <a:t>CCl</a:t>
                      </a:r>
                      <a:r>
                        <a:rPr lang="en-US" sz="1800" b="1" kern="100" baseline="-25000" dirty="0">
                          <a:effectLst/>
                          <a:latin typeface="Times New Roman" pitchFamily="18" charset="0"/>
                          <a:ea typeface="华文新魏" pitchFamily="2" charset="-122"/>
                          <a:cs typeface="Times New Roman" pitchFamily="18" charset="0"/>
                        </a:rPr>
                        <a:t>4</a:t>
                      </a:r>
                      <a:endParaRPr lang="zh-CN" sz="1800" b="1" kern="100" dirty="0">
                        <a:effectLst/>
                        <a:latin typeface="Times New Roman" pitchFamily="18" charset="0"/>
                        <a:ea typeface="华文新魏" pitchFamily="2" charset="-122"/>
                        <a:cs typeface="Times New Roman"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Aft>
                          <a:spcPts val="0"/>
                        </a:spcAft>
                      </a:pPr>
                      <a:r>
                        <a:rPr lang="en-US" sz="1800" b="1" kern="100" dirty="0">
                          <a:solidFill>
                            <a:srgbClr val="FF3300"/>
                          </a:solidFill>
                          <a:effectLst/>
                          <a:latin typeface="Times New Roman" pitchFamily="18" charset="0"/>
                          <a:ea typeface="华文新魏" pitchFamily="2" charset="-122"/>
                          <a:cs typeface="Times New Roman" pitchFamily="18" charset="0"/>
                        </a:rPr>
                        <a:t>sp</a:t>
                      </a:r>
                      <a:r>
                        <a:rPr lang="en-US" sz="1800" b="1" kern="100" baseline="30000" dirty="0">
                          <a:solidFill>
                            <a:srgbClr val="FF3300"/>
                          </a:solidFill>
                          <a:effectLst/>
                          <a:latin typeface="Times New Roman" pitchFamily="18" charset="0"/>
                          <a:ea typeface="华文新魏" pitchFamily="2" charset="-122"/>
                          <a:cs typeface="Times New Roman" pitchFamily="18" charset="0"/>
                        </a:rPr>
                        <a:t>3</a:t>
                      </a:r>
                      <a:r>
                        <a:rPr lang="zh-CN" sz="1800" b="1" kern="100" dirty="0">
                          <a:solidFill>
                            <a:srgbClr val="FF3300"/>
                          </a:solidFill>
                          <a:effectLst/>
                          <a:latin typeface="Times New Roman" pitchFamily="18" charset="0"/>
                          <a:ea typeface="华文新魏" pitchFamily="2" charset="-122"/>
                          <a:cs typeface="Times New Roman" pitchFamily="18" charset="0"/>
                        </a:rPr>
                        <a:t>杂化</a:t>
                      </a: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Aft>
                          <a:spcPts val="0"/>
                        </a:spcAft>
                      </a:pPr>
                      <a:r>
                        <a:rPr lang="zh-CN" sz="1800" b="1" kern="100">
                          <a:solidFill>
                            <a:srgbClr val="FF3300"/>
                          </a:solidFill>
                          <a:effectLst/>
                          <a:latin typeface="Times New Roman" pitchFamily="18" charset="0"/>
                          <a:ea typeface="华文新魏" pitchFamily="2" charset="-122"/>
                          <a:cs typeface="Times New Roman" pitchFamily="18" charset="0"/>
                        </a:rPr>
                        <a:t>正四面体</a:t>
                      </a: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84029">
                <a:tc>
                  <a:txBody>
                    <a:bodyPr/>
                    <a:lstStyle/>
                    <a:p>
                      <a:pPr marL="133350" algn="ctr">
                        <a:lnSpc>
                          <a:spcPct val="110000"/>
                        </a:lnSpc>
                        <a:spcAft>
                          <a:spcPts val="0"/>
                        </a:spcAft>
                      </a:pPr>
                      <a:r>
                        <a:rPr lang="en-US" sz="1800" b="1" kern="100">
                          <a:effectLst/>
                          <a:latin typeface="Times New Roman" pitchFamily="18" charset="0"/>
                          <a:ea typeface="华文新魏" pitchFamily="2" charset="-122"/>
                          <a:cs typeface="Times New Roman" pitchFamily="18" charset="0"/>
                        </a:rPr>
                        <a:t>H</a:t>
                      </a:r>
                      <a:r>
                        <a:rPr lang="en-US" sz="1800" b="1" kern="100" baseline="-25000">
                          <a:effectLst/>
                          <a:latin typeface="Times New Roman" pitchFamily="18" charset="0"/>
                          <a:ea typeface="华文新魏" pitchFamily="2" charset="-122"/>
                          <a:cs typeface="Times New Roman" pitchFamily="18" charset="0"/>
                        </a:rPr>
                        <a:t>2</a:t>
                      </a:r>
                      <a:r>
                        <a:rPr lang="en-US" sz="1800" b="1" kern="100">
                          <a:effectLst/>
                          <a:latin typeface="Times New Roman" pitchFamily="18" charset="0"/>
                          <a:ea typeface="华文新魏" pitchFamily="2" charset="-122"/>
                          <a:cs typeface="Times New Roman" pitchFamily="18" charset="0"/>
                        </a:rPr>
                        <a:t>S</a:t>
                      </a:r>
                      <a:endParaRPr lang="zh-CN" sz="1800" b="1" kern="100">
                        <a:effectLst/>
                        <a:latin typeface="Times New Roman" pitchFamily="18" charset="0"/>
                        <a:ea typeface="华文新魏" pitchFamily="2" charset="-122"/>
                        <a:cs typeface="Times New Roman"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Aft>
                          <a:spcPts val="0"/>
                        </a:spcAft>
                      </a:pPr>
                      <a:r>
                        <a:rPr lang="zh-CN" sz="1800" b="1" kern="100" dirty="0">
                          <a:solidFill>
                            <a:srgbClr val="FF3300"/>
                          </a:solidFill>
                          <a:effectLst/>
                          <a:latin typeface="Times New Roman" pitchFamily="18" charset="0"/>
                          <a:ea typeface="华文新魏" pitchFamily="2" charset="-122"/>
                          <a:cs typeface="Times New Roman" pitchFamily="18" charset="0"/>
                        </a:rPr>
                        <a:t>不等性</a:t>
                      </a:r>
                      <a:r>
                        <a:rPr lang="en-US" sz="1800" b="1" kern="100" dirty="0">
                          <a:solidFill>
                            <a:srgbClr val="FF3300"/>
                          </a:solidFill>
                          <a:effectLst/>
                          <a:latin typeface="Times New Roman" pitchFamily="18" charset="0"/>
                          <a:ea typeface="华文新魏" pitchFamily="2" charset="-122"/>
                          <a:cs typeface="Times New Roman" pitchFamily="18" charset="0"/>
                        </a:rPr>
                        <a:t>sp</a:t>
                      </a:r>
                      <a:r>
                        <a:rPr lang="en-US" sz="1800" b="1" kern="100" baseline="30000" dirty="0">
                          <a:solidFill>
                            <a:srgbClr val="FF3300"/>
                          </a:solidFill>
                          <a:effectLst/>
                          <a:latin typeface="Times New Roman" pitchFamily="18" charset="0"/>
                          <a:ea typeface="华文新魏" pitchFamily="2" charset="-122"/>
                          <a:cs typeface="Times New Roman" pitchFamily="18" charset="0"/>
                        </a:rPr>
                        <a:t>3</a:t>
                      </a:r>
                      <a:r>
                        <a:rPr lang="zh-CN" sz="1800" b="1" kern="100" dirty="0">
                          <a:solidFill>
                            <a:srgbClr val="FF3300"/>
                          </a:solidFill>
                          <a:effectLst/>
                          <a:latin typeface="Times New Roman" pitchFamily="18" charset="0"/>
                          <a:ea typeface="华文新魏" pitchFamily="2" charset="-122"/>
                          <a:cs typeface="Times New Roman" pitchFamily="18" charset="0"/>
                        </a:rPr>
                        <a:t>杂化</a:t>
                      </a: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Aft>
                          <a:spcPts val="0"/>
                        </a:spcAft>
                      </a:pPr>
                      <a:r>
                        <a:rPr lang="en-US" sz="1800" b="1" kern="100" dirty="0">
                          <a:solidFill>
                            <a:srgbClr val="FF3300"/>
                          </a:solidFill>
                          <a:effectLst/>
                          <a:latin typeface="Times New Roman" pitchFamily="18" charset="0"/>
                          <a:ea typeface="华文新魏" pitchFamily="2" charset="-122"/>
                          <a:cs typeface="Times New Roman" pitchFamily="18" charset="0"/>
                        </a:rPr>
                        <a:t>V</a:t>
                      </a:r>
                      <a:r>
                        <a:rPr lang="zh-CN" sz="1800" b="1" kern="100" dirty="0">
                          <a:solidFill>
                            <a:srgbClr val="FF3300"/>
                          </a:solidFill>
                          <a:effectLst/>
                          <a:latin typeface="Times New Roman" pitchFamily="18" charset="0"/>
                          <a:ea typeface="华文新魏" pitchFamily="2" charset="-122"/>
                          <a:cs typeface="Times New Roman" pitchFamily="18" charset="0"/>
                        </a:rPr>
                        <a:t>型</a:t>
                      </a: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84029">
                <a:tc>
                  <a:txBody>
                    <a:bodyPr/>
                    <a:lstStyle/>
                    <a:p>
                      <a:pPr marL="133350" algn="ctr">
                        <a:lnSpc>
                          <a:spcPct val="110000"/>
                        </a:lnSpc>
                        <a:spcAft>
                          <a:spcPts val="0"/>
                        </a:spcAft>
                      </a:pPr>
                      <a:r>
                        <a:rPr lang="en-US" sz="1800" b="1" kern="100">
                          <a:effectLst/>
                          <a:latin typeface="Times New Roman" pitchFamily="18" charset="0"/>
                          <a:ea typeface="华文新魏" pitchFamily="2" charset="-122"/>
                          <a:cs typeface="Times New Roman" pitchFamily="18" charset="0"/>
                        </a:rPr>
                        <a:t>CO</a:t>
                      </a:r>
                      <a:r>
                        <a:rPr lang="en-US" sz="1800" b="1" kern="100" baseline="-25000">
                          <a:effectLst/>
                          <a:latin typeface="Times New Roman" pitchFamily="18" charset="0"/>
                          <a:ea typeface="华文新魏" pitchFamily="2" charset="-122"/>
                          <a:cs typeface="Times New Roman" pitchFamily="18" charset="0"/>
                        </a:rPr>
                        <a:t>2</a:t>
                      </a:r>
                      <a:endParaRPr lang="zh-CN" sz="1800" b="1" kern="100">
                        <a:effectLst/>
                        <a:latin typeface="Times New Roman" pitchFamily="18" charset="0"/>
                        <a:ea typeface="华文新魏" pitchFamily="2" charset="-122"/>
                        <a:cs typeface="Times New Roman"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Aft>
                          <a:spcPts val="0"/>
                        </a:spcAft>
                      </a:pPr>
                      <a:r>
                        <a:rPr lang="en-US" sz="1800" b="1" kern="100">
                          <a:solidFill>
                            <a:srgbClr val="FF3300"/>
                          </a:solidFill>
                          <a:effectLst/>
                          <a:latin typeface="Times New Roman" pitchFamily="18" charset="0"/>
                          <a:ea typeface="华文新魏" pitchFamily="2" charset="-122"/>
                          <a:cs typeface="Times New Roman" pitchFamily="18" charset="0"/>
                        </a:rPr>
                        <a:t>sp</a:t>
                      </a:r>
                      <a:r>
                        <a:rPr lang="zh-CN" sz="1800" b="1" kern="100">
                          <a:solidFill>
                            <a:srgbClr val="FF3300"/>
                          </a:solidFill>
                          <a:effectLst/>
                          <a:latin typeface="Times New Roman" pitchFamily="18" charset="0"/>
                          <a:ea typeface="华文新魏" pitchFamily="2" charset="-122"/>
                          <a:cs typeface="Times New Roman" pitchFamily="18" charset="0"/>
                        </a:rPr>
                        <a:t>杂化</a:t>
                      </a: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Aft>
                          <a:spcPts val="0"/>
                        </a:spcAft>
                      </a:pPr>
                      <a:r>
                        <a:rPr lang="zh-CN" sz="1800" b="1" kern="100" dirty="0">
                          <a:solidFill>
                            <a:srgbClr val="FF3300"/>
                          </a:solidFill>
                          <a:effectLst/>
                          <a:latin typeface="Times New Roman" pitchFamily="18" charset="0"/>
                          <a:ea typeface="华文新魏" pitchFamily="2" charset="-122"/>
                          <a:cs typeface="Times New Roman" pitchFamily="18" charset="0"/>
                        </a:rPr>
                        <a:t>直线型</a:t>
                      </a: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80008">
                <a:tc>
                  <a:txBody>
                    <a:bodyPr/>
                    <a:lstStyle/>
                    <a:p>
                      <a:pPr marL="133350" algn="ctr">
                        <a:lnSpc>
                          <a:spcPct val="110000"/>
                        </a:lnSpc>
                        <a:spcAft>
                          <a:spcPts val="0"/>
                        </a:spcAft>
                      </a:pPr>
                      <a:r>
                        <a:rPr lang="en-US" sz="1800" b="1" kern="100">
                          <a:effectLst/>
                          <a:latin typeface="Times New Roman" pitchFamily="18" charset="0"/>
                          <a:ea typeface="华文新魏" pitchFamily="2" charset="-122"/>
                          <a:cs typeface="Times New Roman" pitchFamily="18" charset="0"/>
                        </a:rPr>
                        <a:t>BCl</a:t>
                      </a:r>
                      <a:r>
                        <a:rPr lang="en-US" sz="1800" b="1" kern="100" baseline="-25000">
                          <a:effectLst/>
                          <a:latin typeface="Times New Roman" pitchFamily="18" charset="0"/>
                          <a:ea typeface="华文新魏" pitchFamily="2" charset="-122"/>
                          <a:cs typeface="Times New Roman" pitchFamily="18" charset="0"/>
                        </a:rPr>
                        <a:t>3</a:t>
                      </a:r>
                      <a:endParaRPr lang="zh-CN" sz="1800" b="1" kern="100">
                        <a:effectLst/>
                        <a:latin typeface="Times New Roman" pitchFamily="18" charset="0"/>
                        <a:ea typeface="华文新魏" pitchFamily="2" charset="-122"/>
                        <a:cs typeface="Times New Roman"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Aft>
                          <a:spcPts val="0"/>
                        </a:spcAft>
                      </a:pPr>
                      <a:r>
                        <a:rPr lang="en-US" sz="1800" b="1" kern="100">
                          <a:solidFill>
                            <a:srgbClr val="FF3300"/>
                          </a:solidFill>
                          <a:effectLst/>
                          <a:latin typeface="Times New Roman" pitchFamily="18" charset="0"/>
                          <a:ea typeface="华文新魏" pitchFamily="2" charset="-122"/>
                          <a:cs typeface="Times New Roman" pitchFamily="18" charset="0"/>
                        </a:rPr>
                        <a:t>sp</a:t>
                      </a:r>
                      <a:r>
                        <a:rPr lang="en-US" sz="1800" b="1" kern="100" baseline="30000">
                          <a:solidFill>
                            <a:srgbClr val="FF3300"/>
                          </a:solidFill>
                          <a:effectLst/>
                          <a:latin typeface="Times New Roman" pitchFamily="18" charset="0"/>
                          <a:ea typeface="华文新魏" pitchFamily="2" charset="-122"/>
                          <a:cs typeface="Times New Roman" pitchFamily="18" charset="0"/>
                        </a:rPr>
                        <a:t>2</a:t>
                      </a:r>
                      <a:r>
                        <a:rPr lang="zh-CN" sz="1800" b="1" kern="100">
                          <a:solidFill>
                            <a:srgbClr val="FF3300"/>
                          </a:solidFill>
                          <a:effectLst/>
                          <a:latin typeface="Times New Roman" pitchFamily="18" charset="0"/>
                          <a:ea typeface="华文新魏" pitchFamily="2" charset="-122"/>
                          <a:cs typeface="Times New Roman" pitchFamily="18" charset="0"/>
                        </a:rPr>
                        <a:t>杂化</a:t>
                      </a: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Aft>
                          <a:spcPts val="0"/>
                        </a:spcAft>
                      </a:pPr>
                      <a:r>
                        <a:rPr lang="zh-CN" sz="1800" b="1" kern="100" dirty="0">
                          <a:solidFill>
                            <a:srgbClr val="FF3300"/>
                          </a:solidFill>
                          <a:effectLst/>
                          <a:latin typeface="Times New Roman" pitchFamily="18" charset="0"/>
                          <a:ea typeface="华文新魏" pitchFamily="2" charset="-122"/>
                          <a:cs typeface="Times New Roman" pitchFamily="18" charset="0"/>
                        </a:rPr>
                        <a:t>平面三角形</a:t>
                      </a: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blinds(horizontal)">
                                      <p:cBhvr>
                                        <p:cTn id="17" dur="500"/>
                                        <p:tgtEl>
                                          <p:spTgt spid="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linds(horizontal)">
                                      <p:cBhvr>
                                        <p:cTn id="22" dur="5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21"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barn(inVertical)">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P spid="2" grpId="0"/>
      <p:bldP spid="6"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0"/>
          <p:cNvSpPr>
            <a:spLocks noChangeArrowheads="1"/>
          </p:cNvSpPr>
          <p:nvPr/>
        </p:nvSpPr>
        <p:spPr bwMode="auto">
          <a:xfrm>
            <a:off x="179388" y="338138"/>
            <a:ext cx="3997325" cy="1631950"/>
          </a:xfrm>
          <a:prstGeom prst="rect">
            <a:avLst/>
          </a:prstGeom>
          <a:noFill/>
          <a:ln w="9525">
            <a:noFill/>
            <a:miter lim="800000"/>
            <a:headEnd/>
            <a:tailEnd/>
          </a:ln>
          <a:effectLst/>
        </p:spPr>
        <p:txBody>
          <a:bodyPr>
            <a:spAutoFit/>
          </a:bodyPr>
          <a:lstStyle/>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根据电子配对法，写出下列各物质的分子结构式：</a:t>
            </a:r>
            <a:endParaRPr lang="en-US" altLang="zh-CN" sz="2500" b="1">
              <a:ea typeface="华文新魏" pitchFamily="2" charset="-122"/>
              <a:cs typeface="Times New Roman" pitchFamily="18" charset="0"/>
            </a:endParaRPr>
          </a:p>
          <a:p>
            <a:pPr eaLnBrk="0" hangingPunct="0"/>
            <a:r>
              <a:rPr lang="en-US" altLang="zh-CN" sz="2500" b="1">
                <a:ea typeface="华文新魏" pitchFamily="2" charset="-122"/>
                <a:cs typeface="Times New Roman" pitchFamily="18" charset="0"/>
              </a:rPr>
              <a:t>PH</a:t>
            </a:r>
            <a:r>
              <a:rPr lang="en-US" altLang="zh-CN" sz="2500" b="1" baseline="-25000">
                <a:ea typeface="华文新魏" pitchFamily="2" charset="-122"/>
                <a:cs typeface="Times New Roman" pitchFamily="18" charset="0"/>
              </a:rPr>
              <a:t>3</a:t>
            </a:r>
            <a:r>
              <a:rPr lang="en-US" altLang="zh-CN" sz="2500" b="1">
                <a:ea typeface="华文新魏" pitchFamily="2" charset="-122"/>
                <a:cs typeface="Times New Roman" pitchFamily="18" charset="0"/>
              </a:rPr>
              <a:t>, NI</a:t>
            </a:r>
            <a:r>
              <a:rPr lang="en-US" altLang="zh-CN" sz="2500" b="1" baseline="-25000">
                <a:ea typeface="华文新魏" pitchFamily="2" charset="-122"/>
                <a:cs typeface="Times New Roman" pitchFamily="18" charset="0"/>
              </a:rPr>
              <a:t>3</a:t>
            </a:r>
            <a:r>
              <a:rPr lang="en-US" altLang="zh-CN" sz="2500" b="1">
                <a:ea typeface="华文新魏" pitchFamily="2" charset="-122"/>
                <a:cs typeface="Times New Roman" pitchFamily="18" charset="0"/>
              </a:rPr>
              <a:t>, CS</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 C</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H</a:t>
            </a:r>
            <a:r>
              <a:rPr lang="en-US" altLang="zh-CN" sz="2500" b="1" baseline="-25000">
                <a:ea typeface="华文新魏" pitchFamily="2" charset="-122"/>
                <a:cs typeface="Times New Roman" pitchFamily="18" charset="0"/>
              </a:rPr>
              <a:t>4</a:t>
            </a:r>
            <a:r>
              <a:rPr lang="en-US" altLang="zh-CN" sz="2500" b="1">
                <a:ea typeface="华文新魏" pitchFamily="2" charset="-122"/>
                <a:cs typeface="Times New Roman" pitchFamily="18" charset="0"/>
              </a:rPr>
              <a:t>, HClO</a:t>
            </a:r>
            <a:endParaRPr lang="zh-CN" altLang="zh-CN" sz="2500" b="1">
              <a:ea typeface="华文新魏" pitchFamily="2" charset="-122"/>
              <a:cs typeface="Times New Roman" pitchFamily="18" charset="0"/>
            </a:endParaRPr>
          </a:p>
        </p:txBody>
      </p:sp>
      <p:sp>
        <p:nvSpPr>
          <p:cNvPr id="6147" name="Text Box 39"/>
          <p:cNvSpPr txBox="1">
            <a:spLocks noChangeArrowheads="1"/>
          </p:cNvSpPr>
          <p:nvPr/>
        </p:nvSpPr>
        <p:spPr bwMode="auto">
          <a:xfrm>
            <a:off x="179388" y="358775"/>
            <a:ext cx="1836737" cy="477838"/>
          </a:xfrm>
          <a:prstGeom prst="rect">
            <a:avLst/>
          </a:prstGeom>
          <a:noFill/>
          <a:ln w="9525" algn="ctr">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习题</a:t>
            </a:r>
            <a:r>
              <a:rPr lang="en-US" altLang="zh-CN" sz="2500" b="1">
                <a:solidFill>
                  <a:srgbClr val="FFFF00"/>
                </a:solidFill>
                <a:ea typeface="华文新魏" pitchFamily="2" charset="-122"/>
                <a:cs typeface="Times New Roman" pitchFamily="18" charset="0"/>
              </a:rPr>
              <a:t>8-4</a:t>
            </a:r>
            <a:r>
              <a:rPr lang="zh-CN" altLang="en-US" sz="2500" b="1">
                <a:solidFill>
                  <a:srgbClr val="FFFF00"/>
                </a:solidFill>
                <a:ea typeface="华文新魏" pitchFamily="2" charset="-122"/>
                <a:cs typeface="Times New Roman" pitchFamily="18" charset="0"/>
              </a:rPr>
              <a:t>：</a:t>
            </a:r>
          </a:p>
        </p:txBody>
      </p:sp>
      <p:sp>
        <p:nvSpPr>
          <p:cNvPr id="5" name="Rectangle 38"/>
          <p:cNvSpPr>
            <a:spLocks noChangeArrowheads="1"/>
          </p:cNvSpPr>
          <p:nvPr/>
        </p:nvSpPr>
        <p:spPr bwMode="auto">
          <a:xfrm>
            <a:off x="4608513" y="261938"/>
            <a:ext cx="6627812" cy="3170237"/>
          </a:xfrm>
          <a:prstGeom prst="rect">
            <a:avLst/>
          </a:prstGeom>
          <a:noFill/>
          <a:ln w="9525">
            <a:noFill/>
            <a:miter lim="800000"/>
            <a:headEnd/>
            <a:tailEnd/>
          </a:ln>
          <a:effectLst/>
        </p:spPr>
        <p:txBody>
          <a:bodyPr>
            <a:spAutoFit/>
          </a:bodyPr>
          <a:lstStyle/>
          <a:p>
            <a:pPr eaLnBrk="0" hangingPunct="0"/>
            <a:r>
              <a:rPr lang="zh-CN" altLang="en-US" sz="2500" b="1">
                <a:ea typeface="华文新魏" pitchFamily="2" charset="-122"/>
                <a:cs typeface="Times New Roman" pitchFamily="18" charset="0"/>
              </a:rPr>
              <a:t>                   经典共价键理论又称电子配对法，据此表示的分子结构式，称为</a:t>
            </a:r>
            <a:r>
              <a:rPr lang="en-US" altLang="zh-CN" sz="2500" b="1">
                <a:ea typeface="华文新魏" pitchFamily="2" charset="-122"/>
                <a:cs typeface="Times New Roman" pitchFamily="18" charset="0"/>
              </a:rPr>
              <a:t>Lewis</a:t>
            </a:r>
            <a:r>
              <a:rPr lang="zh-CN" altLang="en-US" sz="2500" b="1">
                <a:ea typeface="华文新魏" pitchFamily="2" charset="-122"/>
                <a:cs typeface="Times New Roman" pitchFamily="18" charset="0"/>
              </a:rPr>
              <a:t>结构式，有三种表示方法：⑴点式：用小黑点表示所有原子的价电子；⑵点线式：在点式的基础上，用短线表示原子之间的共用电子对，这种方法最常见；⑶线式：在点线式的基础上，忽略端基原子的孤对电子，或者忽略所有原子的孤对电子</a:t>
            </a:r>
            <a:r>
              <a:rPr lang="en-US" altLang="zh-CN" sz="2500" b="1">
                <a:ea typeface="华文新魏" pitchFamily="2" charset="-122"/>
                <a:cs typeface="Times New Roman" pitchFamily="18" charset="0"/>
              </a:rPr>
              <a:t>.</a:t>
            </a:r>
            <a:endParaRPr lang="zh-CN" altLang="zh-CN" sz="2500" b="1">
              <a:solidFill>
                <a:srgbClr val="FFFFFF"/>
              </a:solidFill>
              <a:ea typeface="华文新魏" pitchFamily="2" charset="-122"/>
              <a:cs typeface="Times New Roman" pitchFamily="18" charset="0"/>
            </a:endParaRPr>
          </a:p>
        </p:txBody>
      </p:sp>
      <p:sp>
        <p:nvSpPr>
          <p:cNvPr id="2" name="Rectangle 38"/>
          <p:cNvSpPr>
            <a:spLocks noChangeArrowheads="1"/>
          </p:cNvSpPr>
          <p:nvPr/>
        </p:nvSpPr>
        <p:spPr bwMode="auto">
          <a:xfrm>
            <a:off x="4608513" y="271463"/>
            <a:ext cx="1800225" cy="476250"/>
          </a:xfrm>
          <a:prstGeom prst="rect">
            <a:avLst/>
          </a:prstGeom>
          <a:noFill/>
          <a:ln w="9525">
            <a:noFill/>
            <a:miter lim="800000"/>
            <a:headEnd/>
            <a:tailEnd/>
          </a:ln>
          <a:effectLst/>
        </p:spPr>
        <p:txBody>
          <a:bodyPr>
            <a:spAutoFit/>
          </a:bodyPr>
          <a:lstStyle/>
          <a:p>
            <a:pPr marL="342900" indent="-342900" eaLnBrk="0" hangingPunct="0"/>
            <a:r>
              <a:rPr lang="zh-CN" altLang="zh-CN" sz="2500" b="1">
                <a:solidFill>
                  <a:srgbClr val="FFFF00"/>
                </a:solidFill>
                <a:ea typeface="华文新魏" pitchFamily="2" charset="-122"/>
                <a:cs typeface="Times New Roman" pitchFamily="18" charset="0"/>
              </a:rPr>
              <a:t>解题思路：</a:t>
            </a:r>
          </a:p>
        </p:txBody>
      </p:sp>
      <p:sp>
        <p:nvSpPr>
          <p:cNvPr id="6" name="Rectangle 38"/>
          <p:cNvSpPr>
            <a:spLocks noChangeArrowheads="1"/>
          </p:cNvSpPr>
          <p:nvPr/>
        </p:nvSpPr>
        <p:spPr bwMode="auto">
          <a:xfrm>
            <a:off x="4611688" y="3295650"/>
            <a:ext cx="2735262" cy="473075"/>
          </a:xfrm>
          <a:prstGeom prst="rect">
            <a:avLst/>
          </a:prstGeom>
          <a:noFill/>
          <a:ln w="9525">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参考答案：</a:t>
            </a:r>
          </a:p>
        </p:txBody>
      </p:sp>
      <p:grpSp>
        <p:nvGrpSpPr>
          <p:cNvPr id="13" name="组合 12"/>
          <p:cNvGrpSpPr>
            <a:grpSpLocks/>
          </p:cNvGrpSpPr>
          <p:nvPr/>
        </p:nvGrpSpPr>
        <p:grpSpPr bwMode="auto">
          <a:xfrm>
            <a:off x="5348288" y="3821113"/>
            <a:ext cx="1190625" cy="1046162"/>
            <a:chOff x="4859300" y="4028059"/>
            <a:chExt cx="1191416" cy="1046687"/>
          </a:xfrm>
        </p:grpSpPr>
        <p:sp>
          <p:nvSpPr>
            <p:cNvPr id="6173" name="矩形 6"/>
            <p:cNvSpPr>
              <a:spLocks noChangeArrowheads="1"/>
            </p:cNvSpPr>
            <p:nvPr/>
          </p:nvSpPr>
          <p:spPr bwMode="auto">
            <a:xfrm>
              <a:off x="4859300" y="4238907"/>
              <a:ext cx="1191416" cy="369332"/>
            </a:xfrm>
            <a:prstGeom prst="rect">
              <a:avLst/>
            </a:prstGeom>
            <a:noFill/>
            <a:ln w="9525">
              <a:noFill/>
              <a:miter lim="800000"/>
              <a:headEnd/>
              <a:tailEnd/>
            </a:ln>
          </p:spPr>
          <p:txBody>
            <a:bodyPr wrap="none">
              <a:spAutoFit/>
            </a:bodyPr>
            <a:lstStyle/>
            <a:p>
              <a:r>
                <a:rPr lang="en-US" altLang="zh-CN" b="1">
                  <a:ea typeface="华文新魏" pitchFamily="2" charset="-122"/>
                  <a:cs typeface="Times New Roman" pitchFamily="18" charset="0"/>
                </a:rPr>
                <a:t>H—P —H</a:t>
              </a:r>
              <a:endParaRPr lang="zh-CN" altLang="en-US" b="1">
                <a:ea typeface="华文新魏" pitchFamily="2" charset="-122"/>
                <a:cs typeface="Times New Roman" pitchFamily="18" charset="0"/>
              </a:endParaRPr>
            </a:p>
          </p:txBody>
        </p:sp>
        <p:sp>
          <p:nvSpPr>
            <p:cNvPr id="6174" name="矩形 9"/>
            <p:cNvSpPr>
              <a:spLocks noChangeArrowheads="1"/>
            </p:cNvSpPr>
            <p:nvPr/>
          </p:nvSpPr>
          <p:spPr bwMode="auto">
            <a:xfrm>
              <a:off x="5236041" y="4705414"/>
              <a:ext cx="364202" cy="369332"/>
            </a:xfrm>
            <a:prstGeom prst="rect">
              <a:avLst/>
            </a:prstGeom>
            <a:noFill/>
            <a:ln w="9525">
              <a:noFill/>
              <a:miter lim="800000"/>
              <a:headEnd/>
              <a:tailEnd/>
            </a:ln>
          </p:spPr>
          <p:txBody>
            <a:bodyPr wrap="none">
              <a:spAutoFit/>
            </a:bodyPr>
            <a:lstStyle/>
            <a:p>
              <a:r>
                <a:rPr lang="en-US" altLang="zh-CN" b="1">
                  <a:ea typeface="华文新魏" pitchFamily="2" charset="-122"/>
                  <a:cs typeface="Times New Roman" pitchFamily="18" charset="0"/>
                </a:rPr>
                <a:t>H</a:t>
              </a:r>
              <a:endParaRPr lang="zh-CN" altLang="en-US" b="1">
                <a:ea typeface="华文新魏" pitchFamily="2" charset="-122"/>
                <a:cs typeface="Times New Roman" pitchFamily="18" charset="0"/>
              </a:endParaRPr>
            </a:p>
          </p:txBody>
        </p:sp>
        <p:cxnSp>
          <p:nvCxnSpPr>
            <p:cNvPr id="9" name="直接连接符 8"/>
            <p:cNvCxnSpPr/>
            <p:nvPr/>
          </p:nvCxnSpPr>
          <p:spPr>
            <a:xfrm>
              <a:off x="5407351" y="4556961"/>
              <a:ext cx="0" cy="216008"/>
            </a:xfrm>
            <a:prstGeom prst="line">
              <a:avLst/>
            </a:prstGeom>
            <a:ln w="12700" cap="sq" cmpd="sng">
              <a:solidFill>
                <a:schemeClr val="bg1"/>
              </a:solidFill>
            </a:ln>
          </p:spPr>
          <p:style>
            <a:lnRef idx="1">
              <a:schemeClr val="accent1"/>
            </a:lnRef>
            <a:fillRef idx="0">
              <a:schemeClr val="accent1"/>
            </a:fillRef>
            <a:effectRef idx="0">
              <a:schemeClr val="accent1"/>
            </a:effectRef>
            <a:fontRef idx="minor">
              <a:schemeClr val="tx1"/>
            </a:fontRef>
          </p:style>
        </p:cxnSp>
        <p:sp>
          <p:nvSpPr>
            <p:cNvPr id="6176" name="矩形 15"/>
            <p:cNvSpPr>
              <a:spLocks noChangeArrowheads="1"/>
            </p:cNvSpPr>
            <p:nvPr/>
          </p:nvSpPr>
          <p:spPr bwMode="auto">
            <a:xfrm>
              <a:off x="5254648" y="4028059"/>
              <a:ext cx="293432" cy="369332"/>
            </a:xfrm>
            <a:prstGeom prst="rect">
              <a:avLst/>
            </a:prstGeom>
            <a:noFill/>
            <a:ln w="9525">
              <a:noFill/>
              <a:miter lim="800000"/>
              <a:headEnd/>
              <a:tailEnd/>
            </a:ln>
          </p:spPr>
          <p:txBody>
            <a:bodyPr>
              <a:spAutoFit/>
            </a:bodyPr>
            <a:lstStyle/>
            <a:p>
              <a:r>
                <a:rPr lang="en-US" altLang="zh-CN" b="1">
                  <a:ea typeface="华文新魏" pitchFamily="2" charset="-122"/>
                  <a:cs typeface="Times New Roman" pitchFamily="18" charset="0"/>
                </a:rPr>
                <a:t>‥</a:t>
              </a:r>
              <a:endParaRPr lang="zh-CN" altLang="en-US" b="1">
                <a:ea typeface="华文新魏" pitchFamily="2" charset="-122"/>
                <a:cs typeface="Times New Roman" pitchFamily="18" charset="0"/>
              </a:endParaRPr>
            </a:p>
          </p:txBody>
        </p:sp>
      </p:grpSp>
      <p:grpSp>
        <p:nvGrpSpPr>
          <p:cNvPr id="19" name="组合 18"/>
          <p:cNvGrpSpPr>
            <a:grpSpLocks/>
          </p:cNvGrpSpPr>
          <p:nvPr/>
        </p:nvGrpSpPr>
        <p:grpSpPr bwMode="auto">
          <a:xfrm>
            <a:off x="7305675" y="3838575"/>
            <a:ext cx="1319213" cy="1182688"/>
            <a:chOff x="4859300" y="4028059"/>
            <a:chExt cx="1319971" cy="1182226"/>
          </a:xfrm>
        </p:grpSpPr>
        <p:sp>
          <p:nvSpPr>
            <p:cNvPr id="6164" name="矩形 19"/>
            <p:cNvSpPr>
              <a:spLocks noChangeArrowheads="1"/>
            </p:cNvSpPr>
            <p:nvPr/>
          </p:nvSpPr>
          <p:spPr bwMode="auto">
            <a:xfrm>
              <a:off x="4859300" y="4238907"/>
              <a:ext cx="1319971" cy="369188"/>
            </a:xfrm>
            <a:prstGeom prst="rect">
              <a:avLst/>
            </a:prstGeom>
            <a:noFill/>
            <a:ln w="9525">
              <a:noFill/>
              <a:miter lim="800000"/>
              <a:headEnd/>
              <a:tailEnd/>
            </a:ln>
          </p:spPr>
          <p:txBody>
            <a:bodyPr wrap="none">
              <a:spAutoFit/>
            </a:bodyPr>
            <a:lstStyle/>
            <a:p>
              <a:r>
                <a:rPr lang="en-US" altLang="zh-CN" b="1">
                  <a:ea typeface="华文新魏" pitchFamily="2" charset="-122"/>
                  <a:cs typeface="Times New Roman" pitchFamily="18" charset="0"/>
                </a:rPr>
                <a:t>: I—N —I :</a:t>
              </a:r>
              <a:endParaRPr lang="zh-CN" altLang="en-US" b="1">
                <a:ea typeface="华文新魏" pitchFamily="2" charset="-122"/>
                <a:cs typeface="Times New Roman" pitchFamily="18" charset="0"/>
              </a:endParaRPr>
            </a:p>
          </p:txBody>
        </p:sp>
        <p:sp>
          <p:nvSpPr>
            <p:cNvPr id="6165" name="矩形 20"/>
            <p:cNvSpPr>
              <a:spLocks noChangeArrowheads="1"/>
            </p:cNvSpPr>
            <p:nvPr/>
          </p:nvSpPr>
          <p:spPr bwMode="auto">
            <a:xfrm>
              <a:off x="5227652" y="4730581"/>
              <a:ext cx="543895" cy="369188"/>
            </a:xfrm>
            <a:prstGeom prst="rect">
              <a:avLst/>
            </a:prstGeom>
            <a:noFill/>
            <a:ln w="9525">
              <a:noFill/>
              <a:miter lim="800000"/>
              <a:headEnd/>
              <a:tailEnd/>
            </a:ln>
          </p:spPr>
          <p:txBody>
            <a:bodyPr wrap="none">
              <a:spAutoFit/>
            </a:bodyPr>
            <a:lstStyle/>
            <a:p>
              <a:r>
                <a:rPr lang="en-US" altLang="zh-CN" b="1">
                  <a:ea typeface="华文新魏" pitchFamily="2" charset="-122"/>
                  <a:cs typeface="Times New Roman" pitchFamily="18" charset="0"/>
                </a:rPr>
                <a:t>: I :</a:t>
              </a:r>
              <a:endParaRPr lang="zh-CN" altLang="en-US" b="1">
                <a:ea typeface="华文新魏" pitchFamily="2" charset="-122"/>
                <a:cs typeface="Times New Roman" pitchFamily="18" charset="0"/>
              </a:endParaRPr>
            </a:p>
          </p:txBody>
        </p:sp>
        <p:cxnSp>
          <p:nvCxnSpPr>
            <p:cNvPr id="22" name="直接连接符 21"/>
            <p:cNvCxnSpPr/>
            <p:nvPr/>
          </p:nvCxnSpPr>
          <p:spPr>
            <a:xfrm>
              <a:off x="5491488" y="4558077"/>
              <a:ext cx="0" cy="215816"/>
            </a:xfrm>
            <a:prstGeom prst="line">
              <a:avLst/>
            </a:prstGeom>
            <a:ln w="12700" cap="sq" cmpd="sng">
              <a:solidFill>
                <a:schemeClr val="bg1"/>
              </a:solidFill>
            </a:ln>
          </p:spPr>
          <p:style>
            <a:lnRef idx="1">
              <a:schemeClr val="accent1"/>
            </a:lnRef>
            <a:fillRef idx="0">
              <a:schemeClr val="accent1"/>
            </a:fillRef>
            <a:effectRef idx="0">
              <a:schemeClr val="accent1"/>
            </a:effectRef>
            <a:fontRef idx="minor">
              <a:schemeClr val="tx1"/>
            </a:fontRef>
          </p:style>
        </p:cxnSp>
        <p:sp>
          <p:nvSpPr>
            <p:cNvPr id="6167" name="矩形 22"/>
            <p:cNvSpPr>
              <a:spLocks noChangeArrowheads="1"/>
            </p:cNvSpPr>
            <p:nvPr/>
          </p:nvSpPr>
          <p:spPr bwMode="auto">
            <a:xfrm>
              <a:off x="5308126" y="4028059"/>
              <a:ext cx="293432" cy="369332"/>
            </a:xfrm>
            <a:prstGeom prst="rect">
              <a:avLst/>
            </a:prstGeom>
            <a:noFill/>
            <a:ln w="9525">
              <a:noFill/>
              <a:miter lim="800000"/>
              <a:headEnd/>
              <a:tailEnd/>
            </a:ln>
          </p:spPr>
          <p:txBody>
            <a:bodyPr>
              <a:spAutoFit/>
            </a:bodyPr>
            <a:lstStyle/>
            <a:p>
              <a:r>
                <a:rPr lang="en-US" altLang="zh-CN" b="1">
                  <a:ea typeface="华文新魏" pitchFamily="2" charset="-122"/>
                  <a:cs typeface="Times New Roman" pitchFamily="18" charset="0"/>
                </a:rPr>
                <a:t>‥</a:t>
              </a:r>
              <a:endParaRPr lang="zh-CN" altLang="en-US" b="1">
                <a:ea typeface="华文新魏" pitchFamily="2" charset="-122"/>
                <a:cs typeface="Times New Roman" pitchFamily="18" charset="0"/>
              </a:endParaRPr>
            </a:p>
          </p:txBody>
        </p:sp>
        <p:sp>
          <p:nvSpPr>
            <p:cNvPr id="6168" name="矩形 23"/>
            <p:cNvSpPr>
              <a:spLocks noChangeArrowheads="1"/>
            </p:cNvSpPr>
            <p:nvPr/>
          </p:nvSpPr>
          <p:spPr bwMode="auto">
            <a:xfrm>
              <a:off x="5721057" y="4028059"/>
              <a:ext cx="293432" cy="369332"/>
            </a:xfrm>
            <a:prstGeom prst="rect">
              <a:avLst/>
            </a:prstGeom>
            <a:noFill/>
            <a:ln w="9525">
              <a:noFill/>
              <a:miter lim="800000"/>
              <a:headEnd/>
              <a:tailEnd/>
            </a:ln>
          </p:spPr>
          <p:txBody>
            <a:bodyPr>
              <a:spAutoFit/>
            </a:bodyPr>
            <a:lstStyle/>
            <a:p>
              <a:r>
                <a:rPr lang="en-US" altLang="zh-CN" b="1">
                  <a:ea typeface="华文新魏" pitchFamily="2" charset="-122"/>
                  <a:cs typeface="Times New Roman" pitchFamily="18" charset="0"/>
                </a:rPr>
                <a:t>‥</a:t>
              </a:r>
              <a:endParaRPr lang="zh-CN" altLang="en-US" b="1">
                <a:ea typeface="华文新魏" pitchFamily="2" charset="-122"/>
                <a:cs typeface="Times New Roman" pitchFamily="18" charset="0"/>
              </a:endParaRPr>
            </a:p>
          </p:txBody>
        </p:sp>
        <p:sp>
          <p:nvSpPr>
            <p:cNvPr id="6169" name="矩形 24"/>
            <p:cNvSpPr>
              <a:spLocks noChangeArrowheads="1"/>
            </p:cNvSpPr>
            <p:nvPr/>
          </p:nvSpPr>
          <p:spPr bwMode="auto">
            <a:xfrm>
              <a:off x="4961059" y="4028059"/>
              <a:ext cx="293432" cy="369332"/>
            </a:xfrm>
            <a:prstGeom prst="rect">
              <a:avLst/>
            </a:prstGeom>
            <a:noFill/>
            <a:ln w="9525">
              <a:noFill/>
              <a:miter lim="800000"/>
              <a:headEnd/>
              <a:tailEnd/>
            </a:ln>
          </p:spPr>
          <p:txBody>
            <a:bodyPr>
              <a:spAutoFit/>
            </a:bodyPr>
            <a:lstStyle/>
            <a:p>
              <a:r>
                <a:rPr lang="en-US" altLang="zh-CN" b="1">
                  <a:ea typeface="华文新魏" pitchFamily="2" charset="-122"/>
                  <a:cs typeface="Times New Roman" pitchFamily="18" charset="0"/>
                </a:rPr>
                <a:t>‥</a:t>
              </a:r>
              <a:endParaRPr lang="zh-CN" altLang="en-US" b="1">
                <a:ea typeface="华文新魏" pitchFamily="2" charset="-122"/>
                <a:cs typeface="Times New Roman" pitchFamily="18" charset="0"/>
              </a:endParaRPr>
            </a:p>
          </p:txBody>
        </p:sp>
        <p:sp>
          <p:nvSpPr>
            <p:cNvPr id="6170" name="矩形 25"/>
            <p:cNvSpPr>
              <a:spLocks noChangeArrowheads="1"/>
            </p:cNvSpPr>
            <p:nvPr/>
          </p:nvSpPr>
          <p:spPr bwMode="auto">
            <a:xfrm>
              <a:off x="4962757" y="4338441"/>
              <a:ext cx="293432" cy="369332"/>
            </a:xfrm>
            <a:prstGeom prst="rect">
              <a:avLst/>
            </a:prstGeom>
            <a:noFill/>
            <a:ln w="9525">
              <a:noFill/>
              <a:miter lim="800000"/>
              <a:headEnd/>
              <a:tailEnd/>
            </a:ln>
          </p:spPr>
          <p:txBody>
            <a:bodyPr>
              <a:spAutoFit/>
            </a:bodyPr>
            <a:lstStyle/>
            <a:p>
              <a:r>
                <a:rPr lang="en-US" altLang="zh-CN" b="1">
                  <a:ea typeface="华文新魏" pitchFamily="2" charset="-122"/>
                  <a:cs typeface="Times New Roman" pitchFamily="18" charset="0"/>
                </a:rPr>
                <a:t>‥</a:t>
              </a:r>
              <a:endParaRPr lang="zh-CN" altLang="en-US" b="1">
                <a:ea typeface="华文新魏" pitchFamily="2" charset="-122"/>
                <a:cs typeface="Times New Roman" pitchFamily="18" charset="0"/>
              </a:endParaRPr>
            </a:p>
          </p:txBody>
        </p:sp>
        <p:sp>
          <p:nvSpPr>
            <p:cNvPr id="6171" name="矩形 28"/>
            <p:cNvSpPr>
              <a:spLocks noChangeArrowheads="1"/>
            </p:cNvSpPr>
            <p:nvPr/>
          </p:nvSpPr>
          <p:spPr bwMode="auto">
            <a:xfrm>
              <a:off x="5726858" y="4338441"/>
              <a:ext cx="293432" cy="369332"/>
            </a:xfrm>
            <a:prstGeom prst="rect">
              <a:avLst/>
            </a:prstGeom>
            <a:noFill/>
            <a:ln w="9525">
              <a:noFill/>
              <a:miter lim="800000"/>
              <a:headEnd/>
              <a:tailEnd/>
            </a:ln>
          </p:spPr>
          <p:txBody>
            <a:bodyPr>
              <a:spAutoFit/>
            </a:bodyPr>
            <a:lstStyle/>
            <a:p>
              <a:r>
                <a:rPr lang="en-US" altLang="zh-CN" b="1">
                  <a:ea typeface="华文新魏" pitchFamily="2" charset="-122"/>
                  <a:cs typeface="Times New Roman" pitchFamily="18" charset="0"/>
                </a:rPr>
                <a:t>‥</a:t>
              </a:r>
              <a:endParaRPr lang="zh-CN" altLang="en-US" b="1">
                <a:ea typeface="华文新魏" pitchFamily="2" charset="-122"/>
                <a:cs typeface="Times New Roman" pitchFamily="18" charset="0"/>
              </a:endParaRPr>
            </a:p>
          </p:txBody>
        </p:sp>
        <p:sp>
          <p:nvSpPr>
            <p:cNvPr id="6172" name="矩形 29"/>
            <p:cNvSpPr>
              <a:spLocks noChangeArrowheads="1"/>
            </p:cNvSpPr>
            <p:nvPr/>
          </p:nvSpPr>
          <p:spPr bwMode="auto">
            <a:xfrm>
              <a:off x="5336027" y="4840953"/>
              <a:ext cx="293432" cy="369332"/>
            </a:xfrm>
            <a:prstGeom prst="rect">
              <a:avLst/>
            </a:prstGeom>
            <a:noFill/>
            <a:ln w="9525">
              <a:noFill/>
              <a:miter lim="800000"/>
              <a:headEnd/>
              <a:tailEnd/>
            </a:ln>
          </p:spPr>
          <p:txBody>
            <a:bodyPr>
              <a:spAutoFit/>
            </a:bodyPr>
            <a:lstStyle/>
            <a:p>
              <a:r>
                <a:rPr lang="en-US" altLang="zh-CN" b="1">
                  <a:ea typeface="华文新魏" pitchFamily="2" charset="-122"/>
                  <a:cs typeface="Times New Roman" pitchFamily="18" charset="0"/>
                </a:rPr>
                <a:t>‥</a:t>
              </a:r>
              <a:endParaRPr lang="zh-CN" altLang="en-US" b="1">
                <a:ea typeface="华文新魏" pitchFamily="2" charset="-122"/>
                <a:cs typeface="Times New Roman" pitchFamily="18" charset="0"/>
              </a:endParaRPr>
            </a:p>
          </p:txBody>
        </p:sp>
      </p:grpSp>
      <p:grpSp>
        <p:nvGrpSpPr>
          <p:cNvPr id="18" name="组合 17"/>
          <p:cNvGrpSpPr>
            <a:grpSpLocks/>
          </p:cNvGrpSpPr>
          <p:nvPr/>
        </p:nvGrpSpPr>
        <p:grpSpPr bwMode="auto">
          <a:xfrm>
            <a:off x="9236075" y="3856038"/>
            <a:ext cx="1371600" cy="565150"/>
            <a:chOff x="7689022" y="3858046"/>
            <a:chExt cx="1370888" cy="565527"/>
          </a:xfrm>
        </p:grpSpPr>
        <p:sp>
          <p:nvSpPr>
            <p:cNvPr id="6161" name="矩形 13"/>
            <p:cNvSpPr>
              <a:spLocks noChangeArrowheads="1"/>
            </p:cNvSpPr>
            <p:nvPr/>
          </p:nvSpPr>
          <p:spPr bwMode="auto">
            <a:xfrm>
              <a:off x="7689022" y="4054241"/>
              <a:ext cx="1370888" cy="369332"/>
            </a:xfrm>
            <a:prstGeom prst="rect">
              <a:avLst/>
            </a:prstGeom>
            <a:noFill/>
            <a:ln w="9525">
              <a:noFill/>
              <a:miter lim="800000"/>
              <a:headEnd/>
              <a:tailEnd/>
            </a:ln>
          </p:spPr>
          <p:txBody>
            <a:bodyPr wrap="none">
              <a:spAutoFit/>
            </a:bodyPr>
            <a:lstStyle/>
            <a:p>
              <a:r>
                <a:rPr lang="en-US" altLang="zh-CN" b="1">
                  <a:ea typeface="华文新魏" pitchFamily="2" charset="-122"/>
                  <a:cs typeface="Times New Roman" pitchFamily="18" charset="0"/>
                </a:rPr>
                <a:t>: S = C = S :</a:t>
              </a:r>
              <a:endParaRPr lang="zh-CN" altLang="en-US" b="1">
                <a:ea typeface="华文新魏" pitchFamily="2" charset="-122"/>
                <a:cs typeface="Times New Roman" pitchFamily="18" charset="0"/>
              </a:endParaRPr>
            </a:p>
          </p:txBody>
        </p:sp>
        <p:sp>
          <p:nvSpPr>
            <p:cNvPr id="6162" name="矩形 33"/>
            <p:cNvSpPr>
              <a:spLocks noChangeArrowheads="1"/>
            </p:cNvSpPr>
            <p:nvPr/>
          </p:nvSpPr>
          <p:spPr bwMode="auto">
            <a:xfrm>
              <a:off x="7807324" y="3858251"/>
              <a:ext cx="293432" cy="369332"/>
            </a:xfrm>
            <a:prstGeom prst="rect">
              <a:avLst/>
            </a:prstGeom>
            <a:noFill/>
            <a:ln w="9525">
              <a:noFill/>
              <a:miter lim="800000"/>
              <a:headEnd/>
              <a:tailEnd/>
            </a:ln>
          </p:spPr>
          <p:txBody>
            <a:bodyPr>
              <a:spAutoFit/>
            </a:bodyPr>
            <a:lstStyle/>
            <a:p>
              <a:r>
                <a:rPr lang="en-US" altLang="zh-CN" b="1">
                  <a:ea typeface="华文新魏" pitchFamily="2" charset="-122"/>
                  <a:cs typeface="Times New Roman" pitchFamily="18" charset="0"/>
                </a:rPr>
                <a:t>‥</a:t>
              </a:r>
              <a:endParaRPr lang="zh-CN" altLang="en-US" b="1">
                <a:ea typeface="华文新魏" pitchFamily="2" charset="-122"/>
                <a:cs typeface="Times New Roman" pitchFamily="18" charset="0"/>
              </a:endParaRPr>
            </a:p>
          </p:txBody>
        </p:sp>
        <p:sp>
          <p:nvSpPr>
            <p:cNvPr id="6163" name="矩形 34"/>
            <p:cNvSpPr>
              <a:spLocks noChangeArrowheads="1"/>
            </p:cNvSpPr>
            <p:nvPr/>
          </p:nvSpPr>
          <p:spPr bwMode="auto">
            <a:xfrm>
              <a:off x="8591023" y="3858046"/>
              <a:ext cx="293432" cy="369332"/>
            </a:xfrm>
            <a:prstGeom prst="rect">
              <a:avLst/>
            </a:prstGeom>
            <a:noFill/>
            <a:ln w="9525">
              <a:noFill/>
              <a:miter lim="800000"/>
              <a:headEnd/>
              <a:tailEnd/>
            </a:ln>
          </p:spPr>
          <p:txBody>
            <a:bodyPr>
              <a:spAutoFit/>
            </a:bodyPr>
            <a:lstStyle/>
            <a:p>
              <a:r>
                <a:rPr lang="en-US" altLang="zh-CN" b="1">
                  <a:ea typeface="华文新魏" pitchFamily="2" charset="-122"/>
                  <a:cs typeface="Times New Roman" pitchFamily="18" charset="0"/>
                </a:rPr>
                <a:t>‥</a:t>
              </a:r>
              <a:endParaRPr lang="zh-CN" altLang="en-US" b="1">
                <a:ea typeface="华文新魏" pitchFamily="2" charset="-122"/>
                <a:cs typeface="Times New Roman" pitchFamily="18" charset="0"/>
              </a:endParaRPr>
            </a:p>
          </p:txBody>
        </p:sp>
      </p:grpSp>
      <p:pic>
        <p:nvPicPr>
          <p:cNvPr id="33" name="图片 32"/>
          <p:cNvPicPr>
            <a:picLocks noChangeAspect="1"/>
          </p:cNvPicPr>
          <p:nvPr/>
        </p:nvPicPr>
        <p:blipFill>
          <a:blip r:embed="rId3"/>
          <a:srcRect/>
          <a:stretch>
            <a:fillRect/>
          </a:stretch>
        </p:blipFill>
        <p:spPr bwMode="auto">
          <a:xfrm>
            <a:off x="6286500" y="5116513"/>
            <a:ext cx="1100138" cy="777875"/>
          </a:xfrm>
          <a:prstGeom prst="rect">
            <a:avLst/>
          </a:prstGeom>
          <a:noFill/>
          <a:ln w="9525">
            <a:noFill/>
            <a:miter lim="800000"/>
            <a:headEnd/>
            <a:tailEnd/>
          </a:ln>
        </p:spPr>
      </p:pic>
      <p:grpSp>
        <p:nvGrpSpPr>
          <p:cNvPr id="38" name="组合 37"/>
          <p:cNvGrpSpPr>
            <a:grpSpLocks/>
          </p:cNvGrpSpPr>
          <p:nvPr/>
        </p:nvGrpSpPr>
        <p:grpSpPr bwMode="auto">
          <a:xfrm>
            <a:off x="8321675" y="5060950"/>
            <a:ext cx="1543050" cy="700088"/>
            <a:chOff x="7689022" y="3838941"/>
            <a:chExt cx="1544012" cy="699214"/>
          </a:xfrm>
        </p:grpSpPr>
        <p:sp>
          <p:nvSpPr>
            <p:cNvPr id="6156" name="矩形 38"/>
            <p:cNvSpPr>
              <a:spLocks noChangeArrowheads="1"/>
            </p:cNvSpPr>
            <p:nvPr/>
          </p:nvSpPr>
          <p:spPr bwMode="auto">
            <a:xfrm>
              <a:off x="7689022" y="4054241"/>
              <a:ext cx="1544012" cy="369332"/>
            </a:xfrm>
            <a:prstGeom prst="rect">
              <a:avLst/>
            </a:prstGeom>
            <a:noFill/>
            <a:ln w="9525">
              <a:noFill/>
              <a:miter lim="800000"/>
              <a:headEnd/>
              <a:tailEnd/>
            </a:ln>
          </p:spPr>
          <p:txBody>
            <a:bodyPr wrap="none">
              <a:spAutoFit/>
            </a:bodyPr>
            <a:lstStyle/>
            <a:p>
              <a:r>
                <a:rPr lang="en-US" altLang="zh-CN" b="1">
                  <a:ea typeface="华文新魏" pitchFamily="2" charset="-122"/>
                  <a:cs typeface="Times New Roman" pitchFamily="18" charset="0"/>
                </a:rPr>
                <a:t>H— O — Cl :</a:t>
              </a:r>
              <a:endParaRPr lang="zh-CN" altLang="en-US" b="1">
                <a:ea typeface="华文新魏" pitchFamily="2" charset="-122"/>
                <a:cs typeface="Times New Roman" pitchFamily="18" charset="0"/>
              </a:endParaRPr>
            </a:p>
          </p:txBody>
        </p:sp>
        <p:sp>
          <p:nvSpPr>
            <p:cNvPr id="6157" name="矩形 39"/>
            <p:cNvSpPr>
              <a:spLocks noChangeArrowheads="1"/>
            </p:cNvSpPr>
            <p:nvPr/>
          </p:nvSpPr>
          <p:spPr bwMode="auto">
            <a:xfrm>
              <a:off x="8163071" y="3847509"/>
              <a:ext cx="293432" cy="369332"/>
            </a:xfrm>
            <a:prstGeom prst="rect">
              <a:avLst/>
            </a:prstGeom>
            <a:noFill/>
            <a:ln w="9525">
              <a:noFill/>
              <a:miter lim="800000"/>
              <a:headEnd/>
              <a:tailEnd/>
            </a:ln>
          </p:spPr>
          <p:txBody>
            <a:bodyPr>
              <a:spAutoFit/>
            </a:bodyPr>
            <a:lstStyle/>
            <a:p>
              <a:r>
                <a:rPr lang="en-US" altLang="zh-CN" b="1">
                  <a:ea typeface="华文新魏" pitchFamily="2" charset="-122"/>
                  <a:cs typeface="Times New Roman" pitchFamily="18" charset="0"/>
                </a:rPr>
                <a:t>‥</a:t>
              </a:r>
              <a:endParaRPr lang="zh-CN" altLang="en-US" b="1">
                <a:ea typeface="华文新魏" pitchFamily="2" charset="-122"/>
                <a:cs typeface="Times New Roman" pitchFamily="18" charset="0"/>
              </a:endParaRPr>
            </a:p>
          </p:txBody>
        </p:sp>
        <p:sp>
          <p:nvSpPr>
            <p:cNvPr id="6158" name="矩形 40"/>
            <p:cNvSpPr>
              <a:spLocks noChangeArrowheads="1"/>
            </p:cNvSpPr>
            <p:nvPr/>
          </p:nvSpPr>
          <p:spPr bwMode="auto">
            <a:xfrm>
              <a:off x="8163071" y="4168823"/>
              <a:ext cx="293432" cy="369332"/>
            </a:xfrm>
            <a:prstGeom prst="rect">
              <a:avLst/>
            </a:prstGeom>
            <a:noFill/>
            <a:ln w="9525">
              <a:noFill/>
              <a:miter lim="800000"/>
              <a:headEnd/>
              <a:tailEnd/>
            </a:ln>
          </p:spPr>
          <p:txBody>
            <a:bodyPr>
              <a:spAutoFit/>
            </a:bodyPr>
            <a:lstStyle/>
            <a:p>
              <a:r>
                <a:rPr lang="en-US" altLang="zh-CN" b="1">
                  <a:ea typeface="华文新魏" pitchFamily="2" charset="-122"/>
                  <a:cs typeface="Times New Roman" pitchFamily="18" charset="0"/>
                </a:rPr>
                <a:t>‥</a:t>
              </a:r>
              <a:endParaRPr lang="zh-CN" altLang="en-US" b="1">
                <a:ea typeface="华文新魏" pitchFamily="2" charset="-122"/>
                <a:cs typeface="Times New Roman" pitchFamily="18" charset="0"/>
              </a:endParaRPr>
            </a:p>
          </p:txBody>
        </p:sp>
        <p:sp>
          <p:nvSpPr>
            <p:cNvPr id="6159" name="矩形 44"/>
            <p:cNvSpPr>
              <a:spLocks noChangeArrowheads="1"/>
            </p:cNvSpPr>
            <p:nvPr/>
          </p:nvSpPr>
          <p:spPr bwMode="auto">
            <a:xfrm>
              <a:off x="8716144" y="3838941"/>
              <a:ext cx="293432" cy="369332"/>
            </a:xfrm>
            <a:prstGeom prst="rect">
              <a:avLst/>
            </a:prstGeom>
            <a:noFill/>
            <a:ln w="9525">
              <a:noFill/>
              <a:miter lim="800000"/>
              <a:headEnd/>
              <a:tailEnd/>
            </a:ln>
          </p:spPr>
          <p:txBody>
            <a:bodyPr>
              <a:spAutoFit/>
            </a:bodyPr>
            <a:lstStyle/>
            <a:p>
              <a:r>
                <a:rPr lang="en-US" altLang="zh-CN" b="1">
                  <a:ea typeface="华文新魏" pitchFamily="2" charset="-122"/>
                  <a:cs typeface="Times New Roman" pitchFamily="18" charset="0"/>
                </a:rPr>
                <a:t>‥</a:t>
              </a:r>
              <a:endParaRPr lang="zh-CN" altLang="en-US" b="1">
                <a:ea typeface="华文新魏" pitchFamily="2" charset="-122"/>
                <a:cs typeface="Times New Roman" pitchFamily="18" charset="0"/>
              </a:endParaRPr>
            </a:p>
          </p:txBody>
        </p:sp>
        <p:sp>
          <p:nvSpPr>
            <p:cNvPr id="6160" name="矩形 45"/>
            <p:cNvSpPr>
              <a:spLocks noChangeArrowheads="1"/>
            </p:cNvSpPr>
            <p:nvPr/>
          </p:nvSpPr>
          <p:spPr bwMode="auto">
            <a:xfrm>
              <a:off x="8707755" y="4160255"/>
              <a:ext cx="293432" cy="369332"/>
            </a:xfrm>
            <a:prstGeom prst="rect">
              <a:avLst/>
            </a:prstGeom>
            <a:noFill/>
            <a:ln w="9525">
              <a:noFill/>
              <a:miter lim="800000"/>
              <a:headEnd/>
              <a:tailEnd/>
            </a:ln>
          </p:spPr>
          <p:txBody>
            <a:bodyPr>
              <a:spAutoFit/>
            </a:bodyPr>
            <a:lstStyle/>
            <a:p>
              <a:r>
                <a:rPr lang="en-US" altLang="zh-CN" b="1">
                  <a:ea typeface="华文新魏" pitchFamily="2" charset="-122"/>
                  <a:cs typeface="Times New Roman" pitchFamily="18" charset="0"/>
                </a:rPr>
                <a:t>‥</a:t>
              </a:r>
              <a:endParaRPr lang="zh-CN" altLang="en-US" b="1">
                <a:ea typeface="华文新魏" pitchFamily="2" charset="-122"/>
                <a:cs typeface="Times New Roman" pitchFamily="18" charset="0"/>
              </a:endParaRPr>
            </a:p>
          </p:txBody>
        </p:sp>
      </p:gr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blinds(horizontal)">
                                      <p:cBhvr>
                                        <p:cTn id="17" dur="500"/>
                                        <p:tgtEl>
                                          <p:spTgt spid="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linds(horizontal)">
                                      <p:cBhvr>
                                        <p:cTn id="22" dur="5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21"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barn(inVertical)">
                                      <p:cBhvr>
                                        <p:cTn id="27" dur="500"/>
                                        <p:tgtEl>
                                          <p:spTgt spid="13"/>
                                        </p:tgtEl>
                                      </p:cBhvr>
                                    </p:animEffect>
                                  </p:childTnLst>
                                </p:cTn>
                              </p:par>
                            </p:childTnLst>
                          </p:cTn>
                        </p:par>
                        <p:par>
                          <p:cTn id="28" fill="hold" nodeType="afterGroup">
                            <p:stCondLst>
                              <p:cond delay="500"/>
                            </p:stCondLst>
                            <p:childTnLst>
                              <p:par>
                                <p:cTn id="29" presetID="16" presetClass="entr" presetSubtype="21" fill="hold" nodeType="after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barn(inVertical)">
                                      <p:cBhvr>
                                        <p:cTn id="31" dur="500"/>
                                        <p:tgtEl>
                                          <p:spTgt spid="19"/>
                                        </p:tgtEl>
                                      </p:cBhvr>
                                    </p:animEffect>
                                  </p:childTnLst>
                                </p:cTn>
                              </p:par>
                            </p:childTnLst>
                          </p:cTn>
                        </p:par>
                        <p:par>
                          <p:cTn id="32" fill="hold" nodeType="afterGroup">
                            <p:stCondLst>
                              <p:cond delay="1000"/>
                            </p:stCondLst>
                            <p:childTnLst>
                              <p:par>
                                <p:cTn id="33" presetID="16" presetClass="entr" presetSubtype="21" fill="hold" nodeType="after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barn(inVertical)">
                                      <p:cBhvr>
                                        <p:cTn id="35" dur="500"/>
                                        <p:tgtEl>
                                          <p:spTgt spid="18"/>
                                        </p:tgtEl>
                                      </p:cBhvr>
                                    </p:animEffect>
                                  </p:childTnLst>
                                </p:cTn>
                              </p:par>
                            </p:childTnLst>
                          </p:cTn>
                        </p:par>
                        <p:par>
                          <p:cTn id="36" fill="hold" nodeType="afterGroup">
                            <p:stCondLst>
                              <p:cond delay="1500"/>
                            </p:stCondLst>
                            <p:childTnLst>
                              <p:par>
                                <p:cTn id="37" presetID="16" presetClass="entr" presetSubtype="21" fill="hold" nodeType="after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barn(inVertical)">
                                      <p:cBhvr>
                                        <p:cTn id="39" dur="500"/>
                                        <p:tgtEl>
                                          <p:spTgt spid="33"/>
                                        </p:tgtEl>
                                      </p:cBhvr>
                                    </p:animEffect>
                                  </p:childTnLst>
                                </p:cTn>
                              </p:par>
                            </p:childTnLst>
                          </p:cTn>
                        </p:par>
                        <p:par>
                          <p:cTn id="40" fill="hold" nodeType="afterGroup">
                            <p:stCondLst>
                              <p:cond delay="2000"/>
                            </p:stCondLst>
                            <p:childTnLst>
                              <p:par>
                                <p:cTn id="41" presetID="16" presetClass="entr" presetSubtype="21" fill="hold" nodeType="after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barn(inVertical)">
                                      <p:cBhvr>
                                        <p:cTn id="43"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P spid="2" grpId="0"/>
      <p:bldP spid="6"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0"/>
          <p:cNvSpPr>
            <a:spLocks noChangeArrowheads="1"/>
          </p:cNvSpPr>
          <p:nvPr/>
        </p:nvSpPr>
        <p:spPr bwMode="auto">
          <a:xfrm>
            <a:off x="179388" y="338138"/>
            <a:ext cx="3997325" cy="2400300"/>
          </a:xfrm>
          <a:prstGeom prst="rect">
            <a:avLst/>
          </a:prstGeom>
          <a:noFill/>
          <a:ln w="9525">
            <a:noFill/>
            <a:miter lim="800000"/>
            <a:headEnd/>
            <a:tailEnd/>
          </a:ln>
          <a:effectLst/>
        </p:spPr>
        <p:txBody>
          <a:bodyPr>
            <a:spAutoFit/>
          </a:bodyPr>
          <a:lstStyle/>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应用同核双原子分子轨道能级图，从理论上推断下列离子或分子是否可能存在</a:t>
            </a:r>
            <a:r>
              <a:rPr lang="en-US" altLang="zh-CN" sz="2500" b="1">
                <a:ea typeface="华文新魏" pitchFamily="2" charset="-122"/>
                <a:cs typeface="Times New Roman" pitchFamily="18" charset="0"/>
              </a:rPr>
              <a:t>?</a:t>
            </a:r>
            <a:endParaRPr lang="zh-CN" altLang="zh-CN" sz="2500" b="1">
              <a:ea typeface="华文新魏" pitchFamily="2" charset="-122"/>
              <a:cs typeface="Times New Roman" pitchFamily="18" charset="0"/>
            </a:endParaRPr>
          </a:p>
          <a:p>
            <a:pPr eaLnBrk="0" hangingPunct="0"/>
            <a:r>
              <a:rPr lang="en-US" altLang="zh-CN" sz="2500" b="1">
                <a:ea typeface="华文新魏" pitchFamily="2" charset="-122"/>
                <a:cs typeface="Times New Roman" pitchFamily="18" charset="0"/>
              </a:rPr>
              <a:t>     O</a:t>
            </a:r>
            <a:r>
              <a:rPr lang="en-US" altLang="zh-CN" sz="2500" b="1" baseline="-25000">
                <a:ea typeface="华文新魏" pitchFamily="2" charset="-122"/>
                <a:cs typeface="Times New Roman" pitchFamily="18" charset="0"/>
              </a:rPr>
              <a:t>2</a:t>
            </a:r>
            <a:r>
              <a:rPr lang="en-US" altLang="zh-CN" sz="2500" b="1" baseline="30000">
                <a:ea typeface="华文新魏" pitchFamily="2" charset="-122"/>
                <a:cs typeface="Times New Roman" pitchFamily="18" charset="0"/>
              </a:rPr>
              <a:t>+</a:t>
            </a:r>
            <a:r>
              <a:rPr lang="zh-CN" altLang="en-US" sz="2500" b="1">
                <a:ea typeface="华文新魏" pitchFamily="2" charset="-122"/>
                <a:cs typeface="Times New Roman" pitchFamily="18" charset="0"/>
              </a:rPr>
              <a:t>，</a:t>
            </a:r>
            <a:r>
              <a:rPr lang="en-US" altLang="zh-CN" sz="2500" b="1">
                <a:ea typeface="华文新魏" pitchFamily="2" charset="-122"/>
                <a:cs typeface="Times New Roman" pitchFamily="18" charset="0"/>
              </a:rPr>
              <a:t>O</a:t>
            </a:r>
            <a:r>
              <a:rPr lang="en-US" altLang="zh-CN" sz="2500" b="1" baseline="-25000">
                <a:ea typeface="华文新魏" pitchFamily="2" charset="-122"/>
                <a:cs typeface="Times New Roman" pitchFamily="18" charset="0"/>
              </a:rPr>
              <a:t>2</a:t>
            </a:r>
            <a:r>
              <a:rPr lang="en-US" altLang="zh-CN" sz="2500" b="1" baseline="30000">
                <a:ea typeface="华文新魏" pitchFamily="2" charset="-122"/>
                <a:cs typeface="Times New Roman" pitchFamily="18" charset="0"/>
              </a:rPr>
              <a:t>-</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O</a:t>
            </a:r>
            <a:r>
              <a:rPr lang="en-US" altLang="zh-CN" sz="2500" b="1" baseline="-25000">
                <a:ea typeface="华文新魏" pitchFamily="2" charset="-122"/>
                <a:cs typeface="Times New Roman" pitchFamily="18" charset="0"/>
              </a:rPr>
              <a:t>2</a:t>
            </a:r>
            <a:r>
              <a:rPr lang="en-US" altLang="zh-CN" sz="2500" b="1" baseline="30000">
                <a:ea typeface="华文新魏" pitchFamily="2" charset="-122"/>
                <a:cs typeface="Times New Roman" pitchFamily="18" charset="0"/>
              </a:rPr>
              <a:t>2-</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O</a:t>
            </a:r>
            <a:r>
              <a:rPr lang="en-US" altLang="zh-CN" sz="2500" b="1" baseline="-25000">
                <a:ea typeface="华文新魏" pitchFamily="2" charset="-122"/>
                <a:cs typeface="Times New Roman" pitchFamily="18" charset="0"/>
              </a:rPr>
              <a:t>2</a:t>
            </a:r>
            <a:r>
              <a:rPr lang="en-US" altLang="zh-CN" sz="2500" b="1" baseline="30000">
                <a:ea typeface="华文新魏" pitchFamily="2" charset="-122"/>
                <a:cs typeface="Times New Roman" pitchFamily="18" charset="0"/>
              </a:rPr>
              <a:t>3-</a:t>
            </a:r>
            <a:r>
              <a:rPr lang="zh-CN" altLang="zh-CN" sz="2500" b="1">
                <a:ea typeface="华文新魏" pitchFamily="2" charset="-122"/>
                <a:cs typeface="Times New Roman" pitchFamily="18" charset="0"/>
              </a:rPr>
              <a:t>，</a:t>
            </a:r>
            <a:endParaRPr lang="en-US" altLang="zh-CN" sz="2500" b="1">
              <a:ea typeface="华文新魏" pitchFamily="2" charset="-122"/>
              <a:cs typeface="Times New Roman" pitchFamily="18" charset="0"/>
            </a:endParaRPr>
          </a:p>
          <a:p>
            <a:pPr eaLnBrk="0" hangingPunct="0"/>
            <a:r>
              <a:rPr lang="en-US" altLang="zh-CN" sz="2500" b="1">
                <a:ea typeface="华文新魏" pitchFamily="2" charset="-122"/>
                <a:cs typeface="Times New Roman" pitchFamily="18" charset="0"/>
              </a:rPr>
              <a:t>     H</a:t>
            </a:r>
            <a:r>
              <a:rPr lang="en-US" altLang="zh-CN" sz="2500" b="1" baseline="-25000">
                <a:ea typeface="华文新魏" pitchFamily="2" charset="-122"/>
                <a:cs typeface="Times New Roman" pitchFamily="18" charset="0"/>
              </a:rPr>
              <a:t>2</a:t>
            </a:r>
            <a:r>
              <a:rPr lang="en-US" altLang="zh-CN" sz="2500" b="1" baseline="30000">
                <a:ea typeface="华文新魏" pitchFamily="2" charset="-122"/>
                <a:cs typeface="Times New Roman" pitchFamily="18" charset="0"/>
              </a:rPr>
              <a:t>+</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He</a:t>
            </a:r>
            <a:r>
              <a:rPr lang="en-US" altLang="zh-CN" sz="2500" b="1" baseline="-25000">
                <a:ea typeface="华文新魏" pitchFamily="2" charset="-122"/>
                <a:cs typeface="Times New Roman" pitchFamily="18" charset="0"/>
              </a:rPr>
              <a:t>2</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He</a:t>
            </a:r>
            <a:r>
              <a:rPr lang="en-US" altLang="zh-CN" sz="2500" b="1" baseline="-25000">
                <a:ea typeface="华文新魏" pitchFamily="2" charset="-122"/>
                <a:cs typeface="Times New Roman" pitchFamily="18" charset="0"/>
              </a:rPr>
              <a:t>2</a:t>
            </a:r>
            <a:r>
              <a:rPr lang="en-US" altLang="zh-CN" sz="2500" b="1" baseline="30000">
                <a:ea typeface="华文新魏" pitchFamily="2" charset="-122"/>
                <a:cs typeface="Times New Roman" pitchFamily="18" charset="0"/>
              </a:rPr>
              <a:t>+</a:t>
            </a:r>
            <a:endParaRPr lang="zh-CN" altLang="zh-CN" sz="2500" b="1">
              <a:ea typeface="华文新魏" pitchFamily="2" charset="-122"/>
              <a:cs typeface="Times New Roman" pitchFamily="18" charset="0"/>
            </a:endParaRPr>
          </a:p>
        </p:txBody>
      </p:sp>
      <p:sp>
        <p:nvSpPr>
          <p:cNvPr id="7171" name="Text Box 39"/>
          <p:cNvSpPr txBox="1">
            <a:spLocks noChangeArrowheads="1"/>
          </p:cNvSpPr>
          <p:nvPr/>
        </p:nvSpPr>
        <p:spPr bwMode="auto">
          <a:xfrm>
            <a:off x="179388" y="358775"/>
            <a:ext cx="1836737" cy="477838"/>
          </a:xfrm>
          <a:prstGeom prst="rect">
            <a:avLst/>
          </a:prstGeom>
          <a:noFill/>
          <a:ln w="9525" algn="ctr">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习题</a:t>
            </a:r>
            <a:r>
              <a:rPr lang="en-US" altLang="zh-CN" sz="2500" b="1">
                <a:solidFill>
                  <a:srgbClr val="FFFF00"/>
                </a:solidFill>
                <a:ea typeface="华文新魏" pitchFamily="2" charset="-122"/>
                <a:cs typeface="Times New Roman" pitchFamily="18" charset="0"/>
              </a:rPr>
              <a:t>8-5</a:t>
            </a:r>
            <a:r>
              <a:rPr lang="zh-CN" altLang="en-US" sz="2500" b="1">
                <a:solidFill>
                  <a:srgbClr val="FFFF00"/>
                </a:solidFill>
                <a:ea typeface="华文新魏" pitchFamily="2" charset="-122"/>
                <a:cs typeface="Times New Roman" pitchFamily="18" charset="0"/>
              </a:rPr>
              <a:t>：</a:t>
            </a:r>
          </a:p>
        </p:txBody>
      </p:sp>
      <p:sp>
        <p:nvSpPr>
          <p:cNvPr id="5" name="Rectangle 38"/>
          <p:cNvSpPr>
            <a:spLocks noChangeArrowheads="1"/>
          </p:cNvSpPr>
          <p:nvPr/>
        </p:nvSpPr>
        <p:spPr bwMode="auto">
          <a:xfrm>
            <a:off x="4608513" y="334963"/>
            <a:ext cx="6627812" cy="1631950"/>
          </a:xfrm>
          <a:prstGeom prst="rect">
            <a:avLst/>
          </a:prstGeom>
          <a:noFill/>
          <a:ln w="9525">
            <a:noFill/>
            <a:miter lim="800000"/>
            <a:headEnd/>
            <a:tailEnd/>
          </a:ln>
          <a:effectLst/>
        </p:spPr>
        <p:txBody>
          <a:bodyPr>
            <a:spAutoFit/>
          </a:bodyPr>
          <a:lstStyle/>
          <a:p>
            <a:pPr eaLnBrk="0" hangingPunct="0"/>
            <a:r>
              <a:rPr lang="zh-CN" altLang="en-US" sz="2500" b="1">
                <a:ea typeface="华文新魏" pitchFamily="2" charset="-122"/>
                <a:cs typeface="Times New Roman" pitchFamily="18" charset="0"/>
              </a:rPr>
              <a:t>                   按照分子轨道理论的同核双原子分子轨道能级图，把相应的电子填入，然后计算键级；或者按照同核双原子分子轨道能级图，写出它们的分子轨道式，然后计算键级</a:t>
            </a:r>
            <a:r>
              <a:rPr lang="en-US" altLang="zh-CN" sz="2500" b="1">
                <a:ea typeface="华文新魏" pitchFamily="2" charset="-122"/>
                <a:cs typeface="Times New Roman" pitchFamily="18" charset="0"/>
              </a:rPr>
              <a:t>.</a:t>
            </a:r>
            <a:r>
              <a:rPr lang="zh-CN" altLang="en-US" sz="2500" b="1">
                <a:ea typeface="华文新魏" pitchFamily="2" charset="-122"/>
                <a:cs typeface="Times New Roman" pitchFamily="18" charset="0"/>
              </a:rPr>
              <a:t>    </a:t>
            </a:r>
          </a:p>
        </p:txBody>
      </p:sp>
      <p:sp>
        <p:nvSpPr>
          <p:cNvPr id="2" name="Rectangle 38"/>
          <p:cNvSpPr>
            <a:spLocks noChangeArrowheads="1"/>
          </p:cNvSpPr>
          <p:nvPr/>
        </p:nvSpPr>
        <p:spPr bwMode="auto">
          <a:xfrm>
            <a:off x="4608513" y="344488"/>
            <a:ext cx="1800225" cy="476250"/>
          </a:xfrm>
          <a:prstGeom prst="rect">
            <a:avLst/>
          </a:prstGeom>
          <a:noFill/>
          <a:ln w="9525">
            <a:noFill/>
            <a:miter lim="800000"/>
            <a:headEnd/>
            <a:tailEnd/>
          </a:ln>
          <a:effectLst/>
        </p:spPr>
        <p:txBody>
          <a:bodyPr>
            <a:spAutoFit/>
          </a:bodyPr>
          <a:lstStyle/>
          <a:p>
            <a:pPr marL="342900" indent="-342900" eaLnBrk="0" hangingPunct="0"/>
            <a:r>
              <a:rPr lang="zh-CN" altLang="zh-CN" sz="2500" b="1">
                <a:solidFill>
                  <a:srgbClr val="FFFF00"/>
                </a:solidFill>
                <a:ea typeface="华文新魏" pitchFamily="2" charset="-122"/>
                <a:cs typeface="Times New Roman" pitchFamily="18" charset="0"/>
              </a:rPr>
              <a:t>解题思路：</a:t>
            </a:r>
          </a:p>
        </p:txBody>
      </p:sp>
      <p:graphicFrame>
        <p:nvGraphicFramePr>
          <p:cNvPr id="8" name="对象 7"/>
          <p:cNvGraphicFramePr>
            <a:graphicFrameLocks noChangeAspect="1"/>
          </p:cNvGraphicFramePr>
          <p:nvPr/>
        </p:nvGraphicFramePr>
        <p:xfrm>
          <a:off x="5400675" y="2006600"/>
          <a:ext cx="5200650" cy="728663"/>
        </p:xfrm>
        <a:graphic>
          <a:graphicData uri="http://schemas.openxmlformats.org/presentationml/2006/ole">
            <p:oleObj spid="_x0000_s7174" name="Equation" r:id="rId4" imgW="2844800" imgH="406400" progId="Equation.3">
              <p:embed/>
            </p:oleObj>
          </a:graphicData>
        </a:graphic>
      </p:graphicFrame>
      <p:sp>
        <p:nvSpPr>
          <p:cNvPr id="11" name="矩形 10"/>
          <p:cNvSpPr>
            <a:spLocks noChangeArrowheads="1"/>
          </p:cNvSpPr>
          <p:nvPr/>
        </p:nvSpPr>
        <p:spPr bwMode="auto">
          <a:xfrm>
            <a:off x="4608513" y="2738438"/>
            <a:ext cx="6627812" cy="862012"/>
          </a:xfrm>
          <a:prstGeom prst="rect">
            <a:avLst/>
          </a:prstGeom>
          <a:noFill/>
          <a:ln w="9525">
            <a:noFill/>
            <a:miter lim="800000"/>
            <a:headEnd/>
            <a:tailEnd/>
          </a:ln>
        </p:spPr>
        <p:txBody>
          <a:bodyPr>
            <a:spAutoFit/>
          </a:bodyPr>
          <a:lstStyle/>
          <a:p>
            <a:r>
              <a:rPr lang="zh-CN" altLang="en-US" sz="2500" b="1">
                <a:solidFill>
                  <a:srgbClr val="FFFFFF"/>
                </a:solidFill>
                <a:ea typeface="华文新魏" pitchFamily="2" charset="-122"/>
                <a:cs typeface="Times New Roman" pitchFamily="18" charset="0"/>
              </a:rPr>
              <a:t>    键级越大，分子或分子离子越稳定；键级为零时，该分子或分子离子不存在</a:t>
            </a:r>
            <a:r>
              <a:rPr lang="en-US" altLang="zh-CN" sz="2500" b="1">
                <a:solidFill>
                  <a:srgbClr val="FFFFFF"/>
                </a:solidFill>
                <a:ea typeface="华文新魏" pitchFamily="2" charset="-122"/>
                <a:cs typeface="Times New Roman" pitchFamily="18" charset="0"/>
              </a:rPr>
              <a:t>.</a:t>
            </a:r>
            <a:endParaRPr lang="zh-CN" altLang="en-US" sz="2500" b="1">
              <a:solidFill>
                <a:srgbClr val="FFFFFF"/>
              </a:solidFill>
              <a:ea typeface="华文新魏" pitchFamily="2" charset="-122"/>
              <a:cs typeface="Times New Roman" pitchFamily="18" charset="0"/>
            </a:endParaRP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blinds(horizontal)">
                                      <p:cBhvr>
                                        <p:cTn id="17" dur="500"/>
                                        <p:tgtEl>
                                          <p:spTgt spid="5">
                                            <p:txEl>
                                              <p:pRg st="0" end="0"/>
                                            </p:txEl>
                                          </p:spTgt>
                                        </p:tgtEl>
                                      </p:cBhvr>
                                    </p:animEffect>
                                  </p:childTnLst>
                                </p:cTn>
                              </p:par>
                            </p:childTnLst>
                          </p:cTn>
                        </p:par>
                        <p:par>
                          <p:cTn id="18" fill="hold" nodeType="afterGroup">
                            <p:stCondLst>
                              <p:cond delay="500"/>
                            </p:stCondLst>
                            <p:childTnLst>
                              <p:par>
                                <p:cTn id="19" presetID="16" presetClass="entr" presetSubtype="37"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barn(outVertical)">
                                      <p:cBhvr>
                                        <p:cTn id="21" dur="500"/>
                                        <p:tgtEl>
                                          <p:spTgt spid="8"/>
                                        </p:tgtEl>
                                      </p:cBhvr>
                                    </p:animEffect>
                                  </p:childTnLst>
                                </p:cTn>
                              </p:par>
                            </p:childTnLst>
                          </p:cTn>
                        </p:par>
                        <p:par>
                          <p:cTn id="22" fill="hold" nodeType="afterGroup">
                            <p:stCondLst>
                              <p:cond delay="1000"/>
                            </p:stCondLst>
                            <p:childTnLst>
                              <p:par>
                                <p:cTn id="23" presetID="16" presetClass="entr" presetSubtype="21" fill="hold" grpId="0"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barn(inVertical)">
                                      <p:cBhvr>
                                        <p:cTn id="2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P spid="2"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0"/>
          <p:cNvSpPr>
            <a:spLocks noChangeArrowheads="1"/>
          </p:cNvSpPr>
          <p:nvPr/>
        </p:nvSpPr>
        <p:spPr bwMode="auto">
          <a:xfrm>
            <a:off x="179388" y="338138"/>
            <a:ext cx="3997325" cy="2400300"/>
          </a:xfrm>
          <a:prstGeom prst="rect">
            <a:avLst/>
          </a:prstGeom>
          <a:noFill/>
          <a:ln w="9525">
            <a:noFill/>
            <a:miter lim="800000"/>
            <a:headEnd/>
            <a:tailEnd/>
          </a:ln>
          <a:effectLst/>
        </p:spPr>
        <p:txBody>
          <a:bodyPr>
            <a:spAutoFit/>
          </a:bodyPr>
          <a:lstStyle/>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应用同核双原子分子轨道能级图，从理论上推断下列离子或分子是否可能存在</a:t>
            </a:r>
            <a:r>
              <a:rPr lang="en-US" altLang="zh-CN" sz="2500" b="1">
                <a:ea typeface="华文新魏" pitchFamily="2" charset="-122"/>
                <a:cs typeface="Times New Roman" pitchFamily="18" charset="0"/>
              </a:rPr>
              <a:t>?</a:t>
            </a:r>
            <a:endParaRPr lang="zh-CN" altLang="zh-CN" sz="2500" b="1">
              <a:ea typeface="华文新魏" pitchFamily="2" charset="-122"/>
              <a:cs typeface="Times New Roman" pitchFamily="18" charset="0"/>
            </a:endParaRPr>
          </a:p>
          <a:p>
            <a:pPr eaLnBrk="0" hangingPunct="0"/>
            <a:r>
              <a:rPr lang="en-US" altLang="zh-CN" sz="2500" b="1">
                <a:ea typeface="华文新魏" pitchFamily="2" charset="-122"/>
                <a:cs typeface="Times New Roman" pitchFamily="18" charset="0"/>
              </a:rPr>
              <a:t>     O</a:t>
            </a:r>
            <a:r>
              <a:rPr lang="en-US" altLang="zh-CN" sz="2500" b="1" baseline="-25000">
                <a:ea typeface="华文新魏" pitchFamily="2" charset="-122"/>
                <a:cs typeface="Times New Roman" pitchFamily="18" charset="0"/>
              </a:rPr>
              <a:t>2</a:t>
            </a:r>
            <a:r>
              <a:rPr lang="en-US" altLang="zh-CN" sz="2500" b="1" baseline="30000">
                <a:ea typeface="华文新魏" pitchFamily="2" charset="-122"/>
                <a:cs typeface="Times New Roman" pitchFamily="18" charset="0"/>
              </a:rPr>
              <a:t>+</a:t>
            </a:r>
            <a:r>
              <a:rPr lang="zh-CN" altLang="en-US" sz="2500" b="1">
                <a:ea typeface="华文新魏" pitchFamily="2" charset="-122"/>
                <a:cs typeface="Times New Roman" pitchFamily="18" charset="0"/>
              </a:rPr>
              <a:t>，</a:t>
            </a:r>
            <a:r>
              <a:rPr lang="en-US" altLang="zh-CN" sz="2500" b="1">
                <a:ea typeface="华文新魏" pitchFamily="2" charset="-122"/>
                <a:cs typeface="Times New Roman" pitchFamily="18" charset="0"/>
              </a:rPr>
              <a:t>O</a:t>
            </a:r>
            <a:r>
              <a:rPr lang="en-US" altLang="zh-CN" sz="2500" b="1" baseline="-25000">
                <a:ea typeface="华文新魏" pitchFamily="2" charset="-122"/>
                <a:cs typeface="Times New Roman" pitchFamily="18" charset="0"/>
              </a:rPr>
              <a:t>2</a:t>
            </a:r>
            <a:r>
              <a:rPr lang="en-US" altLang="zh-CN" sz="2500" b="1" baseline="30000">
                <a:ea typeface="华文新魏" pitchFamily="2" charset="-122"/>
                <a:cs typeface="Times New Roman" pitchFamily="18" charset="0"/>
              </a:rPr>
              <a:t>-</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O</a:t>
            </a:r>
            <a:r>
              <a:rPr lang="en-US" altLang="zh-CN" sz="2500" b="1" baseline="-25000">
                <a:ea typeface="华文新魏" pitchFamily="2" charset="-122"/>
                <a:cs typeface="Times New Roman" pitchFamily="18" charset="0"/>
              </a:rPr>
              <a:t>2</a:t>
            </a:r>
            <a:r>
              <a:rPr lang="en-US" altLang="zh-CN" sz="2500" b="1" baseline="30000">
                <a:ea typeface="华文新魏" pitchFamily="2" charset="-122"/>
                <a:cs typeface="Times New Roman" pitchFamily="18" charset="0"/>
              </a:rPr>
              <a:t>2-</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O</a:t>
            </a:r>
            <a:r>
              <a:rPr lang="en-US" altLang="zh-CN" sz="2500" b="1" baseline="-25000">
                <a:ea typeface="华文新魏" pitchFamily="2" charset="-122"/>
                <a:cs typeface="Times New Roman" pitchFamily="18" charset="0"/>
              </a:rPr>
              <a:t>2</a:t>
            </a:r>
            <a:r>
              <a:rPr lang="en-US" altLang="zh-CN" sz="2500" b="1" baseline="30000">
                <a:ea typeface="华文新魏" pitchFamily="2" charset="-122"/>
                <a:cs typeface="Times New Roman" pitchFamily="18" charset="0"/>
              </a:rPr>
              <a:t>3-</a:t>
            </a:r>
            <a:r>
              <a:rPr lang="zh-CN" altLang="zh-CN" sz="2500" b="1">
                <a:ea typeface="华文新魏" pitchFamily="2" charset="-122"/>
                <a:cs typeface="Times New Roman" pitchFamily="18" charset="0"/>
              </a:rPr>
              <a:t>，</a:t>
            </a:r>
            <a:endParaRPr lang="en-US" altLang="zh-CN" sz="2500" b="1">
              <a:ea typeface="华文新魏" pitchFamily="2" charset="-122"/>
              <a:cs typeface="Times New Roman" pitchFamily="18" charset="0"/>
            </a:endParaRPr>
          </a:p>
          <a:p>
            <a:pPr eaLnBrk="0" hangingPunct="0"/>
            <a:r>
              <a:rPr lang="en-US" altLang="zh-CN" sz="2500" b="1">
                <a:ea typeface="华文新魏" pitchFamily="2" charset="-122"/>
                <a:cs typeface="Times New Roman" pitchFamily="18" charset="0"/>
              </a:rPr>
              <a:t>     H</a:t>
            </a:r>
            <a:r>
              <a:rPr lang="en-US" altLang="zh-CN" sz="2500" b="1" baseline="-25000">
                <a:ea typeface="华文新魏" pitchFamily="2" charset="-122"/>
                <a:cs typeface="Times New Roman" pitchFamily="18" charset="0"/>
              </a:rPr>
              <a:t>2</a:t>
            </a:r>
            <a:r>
              <a:rPr lang="en-US" altLang="zh-CN" sz="2500" b="1" baseline="30000">
                <a:ea typeface="华文新魏" pitchFamily="2" charset="-122"/>
                <a:cs typeface="Times New Roman" pitchFamily="18" charset="0"/>
              </a:rPr>
              <a:t>+</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He</a:t>
            </a:r>
            <a:r>
              <a:rPr lang="en-US" altLang="zh-CN" sz="2500" b="1" baseline="-25000">
                <a:ea typeface="华文新魏" pitchFamily="2" charset="-122"/>
                <a:cs typeface="Times New Roman" pitchFamily="18" charset="0"/>
              </a:rPr>
              <a:t>2</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He</a:t>
            </a:r>
            <a:r>
              <a:rPr lang="en-US" altLang="zh-CN" sz="2500" b="1" baseline="-25000">
                <a:ea typeface="华文新魏" pitchFamily="2" charset="-122"/>
                <a:cs typeface="Times New Roman" pitchFamily="18" charset="0"/>
              </a:rPr>
              <a:t>2</a:t>
            </a:r>
            <a:r>
              <a:rPr lang="en-US" altLang="zh-CN" sz="2500" b="1" baseline="30000">
                <a:ea typeface="华文新魏" pitchFamily="2" charset="-122"/>
                <a:cs typeface="Times New Roman" pitchFamily="18" charset="0"/>
              </a:rPr>
              <a:t>+</a:t>
            </a:r>
            <a:endParaRPr lang="zh-CN" altLang="zh-CN" sz="2500" b="1">
              <a:ea typeface="华文新魏" pitchFamily="2" charset="-122"/>
              <a:cs typeface="Times New Roman" pitchFamily="18" charset="0"/>
            </a:endParaRPr>
          </a:p>
        </p:txBody>
      </p:sp>
      <p:sp>
        <p:nvSpPr>
          <p:cNvPr id="8195" name="Text Box 39"/>
          <p:cNvSpPr txBox="1">
            <a:spLocks noChangeArrowheads="1"/>
          </p:cNvSpPr>
          <p:nvPr/>
        </p:nvSpPr>
        <p:spPr bwMode="auto">
          <a:xfrm>
            <a:off x="179388" y="358775"/>
            <a:ext cx="1836737" cy="477838"/>
          </a:xfrm>
          <a:prstGeom prst="rect">
            <a:avLst/>
          </a:prstGeom>
          <a:noFill/>
          <a:ln w="9525" algn="ctr">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习题</a:t>
            </a:r>
            <a:r>
              <a:rPr lang="en-US" altLang="zh-CN" sz="2500" b="1">
                <a:solidFill>
                  <a:srgbClr val="FFFF00"/>
                </a:solidFill>
                <a:ea typeface="华文新魏" pitchFamily="2" charset="-122"/>
                <a:cs typeface="Times New Roman" pitchFamily="18" charset="0"/>
              </a:rPr>
              <a:t>8-5</a:t>
            </a:r>
            <a:r>
              <a:rPr lang="zh-CN" altLang="en-US" sz="2500" b="1">
                <a:solidFill>
                  <a:srgbClr val="FFFF00"/>
                </a:solidFill>
                <a:ea typeface="华文新魏" pitchFamily="2" charset="-122"/>
                <a:cs typeface="Times New Roman" pitchFamily="18" charset="0"/>
              </a:rPr>
              <a:t>：</a:t>
            </a:r>
          </a:p>
        </p:txBody>
      </p:sp>
      <p:sp>
        <p:nvSpPr>
          <p:cNvPr id="6" name="Rectangle 38"/>
          <p:cNvSpPr>
            <a:spLocks noChangeArrowheads="1"/>
          </p:cNvSpPr>
          <p:nvPr/>
        </p:nvSpPr>
        <p:spPr bwMode="auto">
          <a:xfrm>
            <a:off x="4584700" y="338138"/>
            <a:ext cx="2735263" cy="473075"/>
          </a:xfrm>
          <a:prstGeom prst="rect">
            <a:avLst/>
          </a:prstGeom>
          <a:noFill/>
          <a:ln w="9525">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参考答案：</a:t>
            </a:r>
          </a:p>
        </p:txBody>
      </p:sp>
      <p:sp>
        <p:nvSpPr>
          <p:cNvPr id="3" name="矩形 2"/>
          <p:cNvSpPr>
            <a:spLocks noChangeArrowheads="1"/>
          </p:cNvSpPr>
          <p:nvPr/>
        </p:nvSpPr>
        <p:spPr bwMode="auto">
          <a:xfrm>
            <a:off x="4537075" y="719138"/>
            <a:ext cx="6769100" cy="4324350"/>
          </a:xfrm>
          <a:prstGeom prst="rect">
            <a:avLst/>
          </a:prstGeom>
          <a:noFill/>
          <a:ln w="9525">
            <a:noFill/>
            <a:miter lim="800000"/>
            <a:headEnd/>
            <a:tailEnd/>
          </a:ln>
        </p:spPr>
        <p:txBody>
          <a:bodyPr>
            <a:spAutoFit/>
          </a:bodyPr>
          <a:lstStyle/>
          <a:p>
            <a:r>
              <a:rPr lang="en-US" altLang="zh-CN" sz="2500" b="1">
                <a:ea typeface="华文新魏" pitchFamily="2" charset="-122"/>
                <a:cs typeface="Times New Roman" pitchFamily="18" charset="0"/>
              </a:rPr>
              <a:t>O</a:t>
            </a:r>
            <a:r>
              <a:rPr lang="en-US" altLang="zh-CN" sz="2500" b="1" baseline="-25000">
                <a:ea typeface="华文新魏" pitchFamily="2" charset="-122"/>
                <a:cs typeface="Times New Roman" pitchFamily="18" charset="0"/>
              </a:rPr>
              <a:t>2</a:t>
            </a:r>
            <a:r>
              <a:rPr lang="en-US" altLang="zh-CN" sz="2500" b="1" baseline="30000">
                <a:ea typeface="华文新魏" pitchFamily="2" charset="-122"/>
                <a:cs typeface="Times New Roman" pitchFamily="18" charset="0"/>
              </a:rPr>
              <a:t>+</a:t>
            </a:r>
            <a:r>
              <a:rPr lang="en-US" altLang="zh-CN" sz="2500" b="1" baseline="-25000">
                <a:ea typeface="华文新魏" pitchFamily="2" charset="-122"/>
                <a:cs typeface="Times New Roman" pitchFamily="18" charset="0"/>
              </a:rPr>
              <a:t>  </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rPr>
              <a:t>KK</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2s</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i="1">
                <a:ea typeface="华文新魏" pitchFamily="2" charset="-122"/>
                <a:cs typeface="Times New Roman" pitchFamily="18" charset="0"/>
              </a:rPr>
              <a:t>*</a:t>
            </a:r>
            <a:r>
              <a:rPr lang="en-US" altLang="zh-CN" sz="2500" b="1" baseline="-25000">
                <a:ea typeface="华文新魏" pitchFamily="2" charset="-122"/>
                <a:cs typeface="Times New Roman" pitchFamily="18" charset="0"/>
              </a:rPr>
              <a:t>2s</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2px</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2py</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2pz</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i="1">
                <a:ea typeface="华文新魏" pitchFamily="2" charset="-122"/>
                <a:cs typeface="Times New Roman" pitchFamily="18" charset="0"/>
              </a:rPr>
              <a:t>*</a:t>
            </a:r>
            <a:r>
              <a:rPr lang="en-US" altLang="zh-CN" sz="2500" b="1" baseline="-25000">
                <a:ea typeface="华文新魏" pitchFamily="2" charset="-122"/>
                <a:cs typeface="Times New Roman" pitchFamily="18" charset="0"/>
              </a:rPr>
              <a:t>2py</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1</a:t>
            </a:r>
            <a:r>
              <a:rPr lang="en-US" altLang="zh-CN" sz="2500" b="1">
                <a:ea typeface="华文新魏" pitchFamily="2" charset="-122"/>
                <a:cs typeface="Times New Roman" pitchFamily="18" charset="0"/>
              </a:rPr>
              <a:t>]</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  </a:t>
            </a:r>
          </a:p>
          <a:p>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键级＝</a:t>
            </a:r>
            <a:r>
              <a:rPr lang="en-US" altLang="zh-CN" sz="2500" b="1">
                <a:ea typeface="华文新魏" pitchFamily="2" charset="-122"/>
                <a:cs typeface="Times New Roman" pitchFamily="18" charset="0"/>
              </a:rPr>
              <a:t>2.5</a:t>
            </a:r>
            <a:r>
              <a:rPr lang="zh-CN" altLang="zh-CN" sz="2500" b="1">
                <a:ea typeface="华文新魏" pitchFamily="2" charset="-122"/>
                <a:cs typeface="Times New Roman" pitchFamily="18" charset="0"/>
              </a:rPr>
              <a:t>，存在；</a:t>
            </a:r>
            <a:r>
              <a:rPr lang="en-US" altLang="zh-CN" sz="2500" b="1">
                <a:ea typeface="华文新魏" pitchFamily="2" charset="-122"/>
                <a:cs typeface="Times New Roman" pitchFamily="18" charset="0"/>
              </a:rPr>
              <a:t> </a:t>
            </a:r>
            <a:endParaRPr lang="zh-CN" altLang="zh-CN" sz="2500" b="1">
              <a:ea typeface="华文新魏" pitchFamily="2" charset="-122"/>
              <a:cs typeface="Times New Roman" pitchFamily="18" charset="0"/>
            </a:endParaRPr>
          </a:p>
          <a:p>
            <a:r>
              <a:rPr lang="en-US" altLang="zh-CN" sz="2500" b="1">
                <a:ea typeface="华文新魏" pitchFamily="2" charset="-122"/>
                <a:cs typeface="Times New Roman" pitchFamily="18" charset="0"/>
              </a:rPr>
              <a:t>O</a:t>
            </a:r>
            <a:r>
              <a:rPr lang="en-US" altLang="zh-CN" sz="2500" b="1" baseline="-25000">
                <a:ea typeface="华文新魏" pitchFamily="2" charset="-122"/>
                <a:cs typeface="Times New Roman" pitchFamily="18" charset="0"/>
              </a:rPr>
              <a:t>2</a:t>
            </a:r>
            <a:r>
              <a:rPr lang="zh-CN" altLang="zh-CN" sz="2500" b="1" baseline="30000">
                <a:ea typeface="华文新魏" pitchFamily="2" charset="-122"/>
                <a:cs typeface="Times New Roman" pitchFamily="18" charset="0"/>
              </a:rPr>
              <a:t>－</a:t>
            </a:r>
            <a:r>
              <a:rPr lang="en-US" altLang="zh-CN" sz="2500" b="1" baseline="-25000">
                <a:ea typeface="华文新魏" pitchFamily="2" charset="-122"/>
                <a:cs typeface="Times New Roman" pitchFamily="18" charset="0"/>
              </a:rPr>
              <a:t> </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rPr>
              <a:t>KK</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2s</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i="1">
                <a:ea typeface="华文新魏" pitchFamily="2" charset="-122"/>
                <a:cs typeface="Times New Roman" pitchFamily="18" charset="0"/>
              </a:rPr>
              <a:t>*</a:t>
            </a:r>
            <a:r>
              <a:rPr lang="en-US" altLang="zh-CN" sz="2500" b="1" baseline="-25000">
                <a:ea typeface="华文新魏" pitchFamily="2" charset="-122"/>
                <a:cs typeface="Times New Roman" pitchFamily="18" charset="0"/>
              </a:rPr>
              <a:t>2s</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2px</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2py</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2pz</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i="1">
                <a:ea typeface="华文新魏" pitchFamily="2" charset="-122"/>
                <a:cs typeface="Times New Roman" pitchFamily="18" charset="0"/>
              </a:rPr>
              <a:t>*</a:t>
            </a:r>
            <a:r>
              <a:rPr lang="en-US" altLang="zh-CN" sz="2500" b="1" baseline="-25000">
                <a:ea typeface="华文新魏" pitchFamily="2" charset="-122"/>
                <a:cs typeface="Times New Roman" pitchFamily="18" charset="0"/>
              </a:rPr>
              <a:t>2py</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 </a:t>
            </a:r>
          </a:p>
          <a:p>
            <a:r>
              <a:rPr lang="en-US" altLang="zh-CN" sz="2500" b="1" baseline="30000">
                <a:ea typeface="华文新魏" pitchFamily="2" charset="-122"/>
                <a:cs typeface="Times New Roman" pitchFamily="18" charset="0"/>
              </a:rPr>
              <a:t>      </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i="1">
                <a:ea typeface="华文新魏" pitchFamily="2" charset="-122"/>
                <a:cs typeface="Times New Roman" pitchFamily="18" charset="0"/>
              </a:rPr>
              <a:t>*</a:t>
            </a:r>
            <a:r>
              <a:rPr lang="en-US" altLang="zh-CN" sz="2500" b="1" baseline="-25000">
                <a:ea typeface="华文新魏" pitchFamily="2" charset="-122"/>
                <a:cs typeface="Times New Roman" pitchFamily="18" charset="0"/>
              </a:rPr>
              <a:t>2pz</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1</a:t>
            </a:r>
            <a:r>
              <a:rPr lang="en-US" altLang="zh-CN" sz="2500" b="1">
                <a:ea typeface="华文新魏" pitchFamily="2" charset="-122"/>
                <a:cs typeface="Times New Roman" pitchFamily="18" charset="0"/>
              </a:rPr>
              <a:t>]</a:t>
            </a:r>
            <a:r>
              <a:rPr lang="zh-CN" altLang="zh-CN" sz="2500" b="1">
                <a:ea typeface="华文新魏" pitchFamily="2" charset="-122"/>
                <a:cs typeface="Times New Roman" pitchFamily="18" charset="0"/>
              </a:rPr>
              <a:t>，键级＝</a:t>
            </a:r>
            <a:r>
              <a:rPr lang="en-US" altLang="zh-CN" sz="2500" b="1">
                <a:ea typeface="华文新魏" pitchFamily="2" charset="-122"/>
                <a:cs typeface="Times New Roman" pitchFamily="18" charset="0"/>
              </a:rPr>
              <a:t>1.5</a:t>
            </a:r>
            <a:r>
              <a:rPr lang="zh-CN" altLang="zh-CN" sz="2500" b="1">
                <a:ea typeface="华文新魏" pitchFamily="2" charset="-122"/>
                <a:cs typeface="Times New Roman" pitchFamily="18" charset="0"/>
              </a:rPr>
              <a:t>，存在；</a:t>
            </a:r>
            <a:r>
              <a:rPr lang="en-US" altLang="zh-CN" sz="2500" b="1">
                <a:ea typeface="华文新魏" pitchFamily="2" charset="-122"/>
                <a:cs typeface="Times New Roman" pitchFamily="18" charset="0"/>
              </a:rPr>
              <a:t> </a:t>
            </a:r>
            <a:endParaRPr lang="zh-CN" altLang="zh-CN" sz="2500" b="1">
              <a:ea typeface="华文新魏" pitchFamily="2" charset="-122"/>
              <a:cs typeface="Times New Roman" pitchFamily="18" charset="0"/>
            </a:endParaRPr>
          </a:p>
          <a:p>
            <a:r>
              <a:rPr lang="en-US" altLang="zh-CN" sz="2500" b="1">
                <a:ea typeface="华文新魏" pitchFamily="2" charset="-122"/>
                <a:cs typeface="Times New Roman" pitchFamily="18" charset="0"/>
              </a:rPr>
              <a:t>O</a:t>
            </a:r>
            <a:r>
              <a:rPr lang="en-US" altLang="zh-CN" sz="2500" b="1" baseline="-25000">
                <a:ea typeface="华文新魏" pitchFamily="2" charset="-122"/>
                <a:cs typeface="Times New Roman" pitchFamily="18" charset="0"/>
              </a:rPr>
              <a:t>2</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rPr>
              <a:t>KK</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2s</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i="1">
                <a:ea typeface="华文新魏" pitchFamily="2" charset="-122"/>
                <a:cs typeface="Times New Roman" pitchFamily="18" charset="0"/>
              </a:rPr>
              <a:t>*</a:t>
            </a:r>
            <a:r>
              <a:rPr lang="en-US" altLang="zh-CN" sz="2500" b="1" baseline="-25000">
                <a:ea typeface="华文新魏" pitchFamily="2" charset="-122"/>
                <a:cs typeface="Times New Roman" pitchFamily="18" charset="0"/>
              </a:rPr>
              <a:t>2s</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2px</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2py</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2pz</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i="1">
                <a:ea typeface="华文新魏" pitchFamily="2" charset="-122"/>
                <a:cs typeface="Times New Roman" pitchFamily="18" charset="0"/>
              </a:rPr>
              <a:t>*</a:t>
            </a:r>
            <a:r>
              <a:rPr lang="en-US" altLang="zh-CN" sz="2500" b="1" baseline="-25000">
                <a:ea typeface="华文新魏" pitchFamily="2" charset="-122"/>
                <a:cs typeface="Times New Roman" pitchFamily="18" charset="0"/>
              </a:rPr>
              <a:t>2py</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   </a:t>
            </a:r>
          </a:p>
          <a:p>
            <a:r>
              <a:rPr lang="en-US" altLang="zh-CN" sz="2500" b="1" baseline="30000">
                <a:ea typeface="华文新魏" pitchFamily="2" charset="-122"/>
                <a:cs typeface="Times New Roman" pitchFamily="18" charset="0"/>
              </a:rPr>
              <a:t>      </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i="1">
                <a:ea typeface="华文新魏" pitchFamily="2" charset="-122"/>
                <a:cs typeface="Times New Roman" pitchFamily="18" charset="0"/>
              </a:rPr>
              <a:t>*</a:t>
            </a:r>
            <a:r>
              <a:rPr lang="en-US" altLang="zh-CN" sz="2500" b="1" baseline="-25000">
                <a:ea typeface="华文新魏" pitchFamily="2" charset="-122"/>
                <a:cs typeface="Times New Roman" pitchFamily="18" charset="0"/>
              </a:rPr>
              <a:t>2pz</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 </a:t>
            </a:r>
            <a:r>
              <a:rPr lang="en-US" altLang="zh-CN" sz="2500" b="1">
                <a:ea typeface="华文新魏" pitchFamily="2" charset="-122"/>
                <a:cs typeface="Times New Roman" pitchFamily="18" charset="0"/>
              </a:rPr>
              <a:t>]</a:t>
            </a:r>
            <a:r>
              <a:rPr lang="zh-CN" altLang="zh-CN" sz="2500" b="1">
                <a:ea typeface="华文新魏" pitchFamily="2" charset="-122"/>
                <a:cs typeface="Times New Roman" pitchFamily="18" charset="0"/>
              </a:rPr>
              <a:t>，键级＝</a:t>
            </a:r>
            <a:r>
              <a:rPr lang="en-US" altLang="zh-CN" sz="2500" b="1">
                <a:ea typeface="华文新魏" pitchFamily="2" charset="-122"/>
                <a:cs typeface="Times New Roman" pitchFamily="18" charset="0"/>
              </a:rPr>
              <a:t>1</a:t>
            </a:r>
            <a:r>
              <a:rPr lang="zh-CN" altLang="zh-CN" sz="2500" b="1">
                <a:ea typeface="华文新魏" pitchFamily="2" charset="-122"/>
                <a:cs typeface="Times New Roman" pitchFamily="18" charset="0"/>
              </a:rPr>
              <a:t>，存在；</a:t>
            </a:r>
            <a:r>
              <a:rPr lang="en-US" altLang="zh-CN" sz="2500" b="1">
                <a:ea typeface="华文新魏" pitchFamily="2" charset="-122"/>
                <a:cs typeface="Times New Roman" pitchFamily="18" charset="0"/>
              </a:rPr>
              <a:t> </a:t>
            </a:r>
            <a:endParaRPr lang="zh-CN" altLang="zh-CN" sz="2500" b="1">
              <a:ea typeface="华文新魏" pitchFamily="2" charset="-122"/>
              <a:cs typeface="Times New Roman" pitchFamily="18" charset="0"/>
            </a:endParaRPr>
          </a:p>
          <a:p>
            <a:r>
              <a:rPr lang="en-US" altLang="zh-CN" sz="2500" b="1">
                <a:ea typeface="华文新魏" pitchFamily="2" charset="-122"/>
                <a:cs typeface="Times New Roman" pitchFamily="18" charset="0"/>
              </a:rPr>
              <a:t>O</a:t>
            </a:r>
            <a:r>
              <a:rPr lang="en-US" altLang="zh-CN" sz="2500" b="1" baseline="-25000">
                <a:ea typeface="华文新魏" pitchFamily="2" charset="-122"/>
                <a:cs typeface="Times New Roman" pitchFamily="18" charset="0"/>
              </a:rPr>
              <a:t>2</a:t>
            </a:r>
            <a:r>
              <a:rPr lang="en-US" altLang="zh-CN" sz="2500" b="1" baseline="30000">
                <a:ea typeface="华文新魏" pitchFamily="2" charset="-122"/>
                <a:cs typeface="Times New Roman" pitchFamily="18" charset="0"/>
              </a:rPr>
              <a:t>3-</a:t>
            </a:r>
            <a:r>
              <a:rPr lang="zh-CN" altLang="zh-CN" sz="2500" b="1" baseline="-25000">
                <a:ea typeface="华文新魏" pitchFamily="2" charset="-122"/>
                <a:cs typeface="Times New Roman" pitchFamily="18" charset="0"/>
              </a:rPr>
              <a:t> </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rPr>
              <a:t>KK</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2s</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i="1">
                <a:ea typeface="华文新魏" pitchFamily="2" charset="-122"/>
                <a:cs typeface="Times New Roman" pitchFamily="18" charset="0"/>
              </a:rPr>
              <a:t>*</a:t>
            </a:r>
            <a:r>
              <a:rPr lang="en-US" altLang="zh-CN" sz="2500" b="1" baseline="-25000">
                <a:ea typeface="华文新魏" pitchFamily="2" charset="-122"/>
                <a:cs typeface="Times New Roman" pitchFamily="18" charset="0"/>
              </a:rPr>
              <a:t>2s</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2px</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2py</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2pz</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i="1">
                <a:ea typeface="华文新魏" pitchFamily="2" charset="-122"/>
                <a:cs typeface="Times New Roman" pitchFamily="18" charset="0"/>
              </a:rPr>
              <a:t>*</a:t>
            </a:r>
            <a:r>
              <a:rPr lang="en-US" altLang="zh-CN" sz="2500" b="1" baseline="-25000">
                <a:ea typeface="华文新魏" pitchFamily="2" charset="-122"/>
                <a:cs typeface="Times New Roman" pitchFamily="18" charset="0"/>
              </a:rPr>
              <a:t>2py</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  </a:t>
            </a:r>
          </a:p>
          <a:p>
            <a:r>
              <a:rPr lang="en-US" altLang="zh-CN" sz="2500" b="1" baseline="30000">
                <a:ea typeface="华文新魏" pitchFamily="2" charset="-122"/>
                <a:cs typeface="Times New Roman" pitchFamily="18" charset="0"/>
              </a:rPr>
              <a:t>      </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i="1">
                <a:ea typeface="华文新魏" pitchFamily="2" charset="-122"/>
                <a:cs typeface="Times New Roman" pitchFamily="18" charset="0"/>
              </a:rPr>
              <a:t>*</a:t>
            </a:r>
            <a:r>
              <a:rPr lang="en-US" altLang="zh-CN" sz="2500" b="1" baseline="-25000">
                <a:ea typeface="华文新魏" pitchFamily="2" charset="-122"/>
                <a:cs typeface="Times New Roman" pitchFamily="18" charset="0"/>
              </a:rPr>
              <a:t>2pz</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 </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i="1">
                <a:ea typeface="华文新魏" pitchFamily="2" charset="-122"/>
                <a:cs typeface="Times New Roman" pitchFamily="18" charset="0"/>
              </a:rPr>
              <a:t>*</a:t>
            </a:r>
            <a:r>
              <a:rPr lang="en-US" altLang="zh-CN" sz="2500" b="1" baseline="-25000">
                <a:ea typeface="华文新魏" pitchFamily="2" charset="-122"/>
                <a:cs typeface="Times New Roman" pitchFamily="18" charset="0"/>
              </a:rPr>
              <a:t>2px</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1 </a:t>
            </a:r>
            <a:r>
              <a:rPr lang="en-US" altLang="zh-CN" sz="2500" b="1">
                <a:ea typeface="华文新魏" pitchFamily="2" charset="-122"/>
                <a:cs typeface="Times New Roman" pitchFamily="18" charset="0"/>
              </a:rPr>
              <a:t>]</a:t>
            </a:r>
            <a:r>
              <a:rPr lang="zh-CN" altLang="zh-CN" sz="2500" b="1">
                <a:ea typeface="华文新魏" pitchFamily="2" charset="-122"/>
                <a:cs typeface="Times New Roman" pitchFamily="18" charset="0"/>
              </a:rPr>
              <a:t>，键级＝</a:t>
            </a:r>
            <a:r>
              <a:rPr lang="en-US" altLang="zh-CN" sz="2500" b="1">
                <a:ea typeface="华文新魏" pitchFamily="2" charset="-122"/>
                <a:cs typeface="Times New Roman" pitchFamily="18" charset="0"/>
              </a:rPr>
              <a:t>0.5</a:t>
            </a:r>
            <a:r>
              <a:rPr lang="zh-CN" altLang="zh-CN" sz="2500" b="1">
                <a:ea typeface="华文新魏" pitchFamily="2" charset="-122"/>
                <a:cs typeface="Times New Roman" pitchFamily="18" charset="0"/>
              </a:rPr>
              <a:t>，存在；</a:t>
            </a:r>
            <a:r>
              <a:rPr lang="en-US" altLang="zh-CN" sz="2500" b="1">
                <a:ea typeface="华文新魏" pitchFamily="2" charset="-122"/>
                <a:cs typeface="Times New Roman" pitchFamily="18" charset="0"/>
              </a:rPr>
              <a:t> </a:t>
            </a:r>
            <a:endParaRPr lang="zh-CN" altLang="zh-CN" sz="2500" b="1">
              <a:ea typeface="华文新魏" pitchFamily="2" charset="-122"/>
              <a:cs typeface="Times New Roman" pitchFamily="18" charset="0"/>
            </a:endParaRPr>
          </a:p>
          <a:p>
            <a:r>
              <a:rPr lang="en-US" altLang="zh-CN" sz="2500" b="1">
                <a:ea typeface="华文新魏" pitchFamily="2" charset="-122"/>
                <a:cs typeface="Times New Roman" pitchFamily="18" charset="0"/>
              </a:rPr>
              <a:t>H</a:t>
            </a:r>
            <a:r>
              <a:rPr lang="en-US" altLang="zh-CN" sz="2500" b="1" baseline="-25000">
                <a:ea typeface="华文新魏" pitchFamily="2" charset="-122"/>
                <a:cs typeface="Times New Roman" pitchFamily="18" charset="0"/>
              </a:rPr>
              <a:t>2</a:t>
            </a:r>
            <a:r>
              <a:rPr lang="en-US" altLang="zh-CN" sz="2500" b="1" baseline="30000">
                <a:ea typeface="华文新魏" pitchFamily="2" charset="-122"/>
                <a:cs typeface="Times New Roman" pitchFamily="18" charset="0"/>
              </a:rPr>
              <a:t>+</a:t>
            </a:r>
            <a:r>
              <a:rPr lang="en-US" altLang="zh-CN" sz="2500" b="1">
                <a:ea typeface="华文新魏" pitchFamily="2" charset="-122"/>
                <a:cs typeface="Times New Roman" pitchFamily="18" charset="0"/>
              </a:rPr>
              <a:t>    [ (</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1s</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1 </a:t>
            </a:r>
            <a:r>
              <a:rPr lang="en-US" altLang="zh-CN" sz="2500" b="1">
                <a:ea typeface="华文新魏" pitchFamily="2" charset="-122"/>
                <a:cs typeface="Times New Roman" pitchFamily="18" charset="0"/>
              </a:rPr>
              <a:t>]</a:t>
            </a:r>
            <a:r>
              <a:rPr lang="zh-CN" altLang="zh-CN" sz="2500" b="1">
                <a:ea typeface="华文新魏" pitchFamily="2" charset="-122"/>
                <a:cs typeface="Times New Roman" pitchFamily="18" charset="0"/>
              </a:rPr>
              <a:t>，键级＝</a:t>
            </a:r>
            <a:r>
              <a:rPr lang="en-US" altLang="zh-CN" sz="2500" b="1">
                <a:ea typeface="华文新魏" pitchFamily="2" charset="-122"/>
                <a:cs typeface="Times New Roman" pitchFamily="18" charset="0"/>
              </a:rPr>
              <a:t>0.5</a:t>
            </a:r>
            <a:r>
              <a:rPr lang="zh-CN" altLang="zh-CN" sz="2500" b="1">
                <a:ea typeface="华文新魏" pitchFamily="2" charset="-122"/>
                <a:cs typeface="Times New Roman" pitchFamily="18" charset="0"/>
              </a:rPr>
              <a:t>，存在；</a:t>
            </a:r>
          </a:p>
          <a:p>
            <a:r>
              <a:rPr lang="en-US" altLang="zh-CN" sz="2500" b="1">
                <a:ea typeface="华文新魏" pitchFamily="2" charset="-122"/>
                <a:cs typeface="Times New Roman" pitchFamily="18" charset="0"/>
              </a:rPr>
              <a:t>He</a:t>
            </a:r>
            <a:r>
              <a:rPr lang="en-US" altLang="zh-CN" sz="2500" b="1" baseline="-25000">
                <a:ea typeface="华文新魏" pitchFamily="2" charset="-122"/>
                <a:cs typeface="Times New Roman" pitchFamily="18" charset="0"/>
              </a:rPr>
              <a:t>2</a:t>
            </a:r>
            <a:r>
              <a:rPr lang="en-US" altLang="zh-CN" sz="2500" b="1" baseline="30000">
                <a:ea typeface="华文新魏" pitchFamily="2" charset="-122"/>
                <a:cs typeface="Times New Roman" pitchFamily="18" charset="0"/>
              </a:rPr>
              <a:t>+</a:t>
            </a:r>
            <a:r>
              <a:rPr lang="en-US" altLang="zh-CN" sz="2500" b="1">
                <a:ea typeface="华文新魏" pitchFamily="2" charset="-122"/>
                <a:cs typeface="Times New Roman" pitchFamily="18" charset="0"/>
              </a:rPr>
              <a:t>  [ (</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1s</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 (</a:t>
            </a:r>
            <a:r>
              <a:rPr lang="en-US" altLang="zh-CN" sz="2500" b="1" i="1">
                <a:ea typeface="华文新魏" pitchFamily="2" charset="-122"/>
                <a:cs typeface="Times New Roman" pitchFamily="18" charset="0"/>
                <a:sym typeface="Symbol" pitchFamily="18" charset="2"/>
              </a:rPr>
              <a:t></a:t>
            </a:r>
            <a:r>
              <a:rPr lang="en-US" altLang="zh-CN" sz="2500" b="1" i="1">
                <a:ea typeface="华文新魏" pitchFamily="2" charset="-122"/>
                <a:cs typeface="Times New Roman" pitchFamily="18" charset="0"/>
              </a:rPr>
              <a:t>*</a:t>
            </a:r>
            <a:r>
              <a:rPr lang="en-US" altLang="zh-CN" sz="2500" b="1" baseline="-25000">
                <a:ea typeface="华文新魏" pitchFamily="2" charset="-122"/>
                <a:cs typeface="Times New Roman" pitchFamily="18" charset="0"/>
              </a:rPr>
              <a:t>1s</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1 </a:t>
            </a:r>
            <a:r>
              <a:rPr lang="en-US" altLang="zh-CN" sz="2500" b="1">
                <a:ea typeface="华文新魏" pitchFamily="2" charset="-122"/>
                <a:cs typeface="Times New Roman" pitchFamily="18" charset="0"/>
              </a:rPr>
              <a:t>]</a:t>
            </a:r>
            <a:r>
              <a:rPr lang="zh-CN" altLang="zh-CN" sz="2500" b="1">
                <a:ea typeface="华文新魏" pitchFamily="2" charset="-122"/>
                <a:cs typeface="Times New Roman" pitchFamily="18" charset="0"/>
              </a:rPr>
              <a:t>，键级＝</a:t>
            </a:r>
            <a:r>
              <a:rPr lang="en-US" altLang="zh-CN" sz="2500" b="1">
                <a:ea typeface="华文新魏" pitchFamily="2" charset="-122"/>
                <a:cs typeface="Times New Roman" pitchFamily="18" charset="0"/>
              </a:rPr>
              <a:t>0.5</a:t>
            </a:r>
            <a:r>
              <a:rPr lang="zh-CN" altLang="zh-CN" sz="2500" b="1">
                <a:ea typeface="华文新魏" pitchFamily="2" charset="-122"/>
                <a:cs typeface="Times New Roman" pitchFamily="18" charset="0"/>
              </a:rPr>
              <a:t>，存在；</a:t>
            </a:r>
          </a:p>
          <a:p>
            <a:r>
              <a:rPr lang="en-US" altLang="zh-CN" sz="2500" b="1">
                <a:ea typeface="华文新魏" pitchFamily="2" charset="-122"/>
                <a:cs typeface="Times New Roman" pitchFamily="18" charset="0"/>
              </a:rPr>
              <a:t>He</a:t>
            </a:r>
            <a:r>
              <a:rPr lang="en-US" altLang="zh-CN" sz="2500" b="1" baseline="-25000">
                <a:ea typeface="华文新魏" pitchFamily="2" charset="-122"/>
                <a:cs typeface="Times New Roman" pitchFamily="18" charset="0"/>
              </a:rPr>
              <a:t>2   </a:t>
            </a:r>
            <a:r>
              <a:rPr lang="en-US" altLang="zh-CN" sz="2500" b="1">
                <a:ea typeface="华文新魏" pitchFamily="2" charset="-122"/>
                <a:cs typeface="Times New Roman" pitchFamily="18" charset="0"/>
              </a:rPr>
              <a:t>  [ (</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1s</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 (</a:t>
            </a:r>
            <a:r>
              <a:rPr lang="en-US" altLang="zh-CN" sz="2500" b="1" i="1">
                <a:ea typeface="华文新魏" pitchFamily="2" charset="-122"/>
                <a:cs typeface="Times New Roman" pitchFamily="18" charset="0"/>
                <a:sym typeface="Symbol" pitchFamily="18" charset="2"/>
              </a:rPr>
              <a:t></a:t>
            </a:r>
            <a:r>
              <a:rPr lang="en-US" altLang="zh-CN" sz="2500" b="1" i="1">
                <a:ea typeface="华文新魏" pitchFamily="2" charset="-122"/>
                <a:cs typeface="Times New Roman" pitchFamily="18" charset="0"/>
              </a:rPr>
              <a:t>*</a:t>
            </a:r>
            <a:r>
              <a:rPr lang="en-US" altLang="zh-CN" sz="2500" b="1" baseline="-25000">
                <a:ea typeface="华文新魏" pitchFamily="2" charset="-122"/>
                <a:cs typeface="Times New Roman" pitchFamily="18" charset="0"/>
              </a:rPr>
              <a:t>1s</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 </a:t>
            </a:r>
            <a:r>
              <a:rPr lang="en-US" altLang="zh-CN" sz="2500" b="1">
                <a:ea typeface="华文新魏" pitchFamily="2" charset="-122"/>
                <a:cs typeface="Times New Roman" pitchFamily="18" charset="0"/>
              </a:rPr>
              <a:t>]</a:t>
            </a:r>
            <a:r>
              <a:rPr lang="zh-CN" altLang="zh-CN" sz="2500" b="1">
                <a:ea typeface="华文新魏" pitchFamily="2" charset="-122"/>
                <a:cs typeface="Times New Roman" pitchFamily="18" charset="0"/>
              </a:rPr>
              <a:t>，键级＝</a:t>
            </a:r>
            <a:r>
              <a:rPr lang="en-US" altLang="zh-CN" sz="2500" b="1">
                <a:ea typeface="华文新魏" pitchFamily="2" charset="-122"/>
                <a:cs typeface="Times New Roman" pitchFamily="18" charset="0"/>
              </a:rPr>
              <a:t>0</a:t>
            </a:r>
            <a:r>
              <a:rPr lang="zh-CN" altLang="zh-CN" sz="2500" b="1">
                <a:ea typeface="华文新魏" pitchFamily="2" charset="-122"/>
                <a:cs typeface="Times New Roman" pitchFamily="18" charset="0"/>
              </a:rPr>
              <a:t>，不存在</a:t>
            </a:r>
            <a:r>
              <a:rPr lang="en-US" altLang="zh-CN" sz="2500" b="1">
                <a:ea typeface="华文新魏" pitchFamily="2" charset="-122"/>
                <a:cs typeface="Times New Roman" pitchFamily="18" charset="0"/>
              </a:rPr>
              <a:t>.</a:t>
            </a:r>
            <a:endParaRPr lang="zh-CN" altLang="zh-CN" sz="2500" b="1">
              <a:ea typeface="华文新魏" pitchFamily="2" charset="-122"/>
              <a:cs typeface="Times New Roman" pitchFamily="18" charset="0"/>
            </a:endParaRP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0"/>
          <p:cNvSpPr>
            <a:spLocks noChangeArrowheads="1"/>
          </p:cNvSpPr>
          <p:nvPr/>
        </p:nvSpPr>
        <p:spPr bwMode="auto">
          <a:xfrm>
            <a:off x="179388" y="338138"/>
            <a:ext cx="3997325" cy="1631950"/>
          </a:xfrm>
          <a:prstGeom prst="rect">
            <a:avLst/>
          </a:prstGeom>
          <a:noFill/>
          <a:ln w="9525">
            <a:noFill/>
            <a:miter lim="800000"/>
            <a:headEnd/>
            <a:tailEnd/>
          </a:ln>
          <a:effectLst/>
        </p:spPr>
        <p:txBody>
          <a:bodyPr>
            <a:spAutoFit/>
          </a:bodyPr>
          <a:lstStyle/>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写出</a:t>
            </a:r>
            <a:r>
              <a:rPr lang="en-US" altLang="zh-CN" sz="2500" b="1">
                <a:ea typeface="华文新魏" pitchFamily="2" charset="-122"/>
                <a:cs typeface="Times New Roman" pitchFamily="18" charset="0"/>
              </a:rPr>
              <a:t>C</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 B</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 F</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 O</a:t>
            </a:r>
            <a:r>
              <a:rPr lang="en-US" altLang="zh-CN" sz="2500" b="1" baseline="-25000">
                <a:ea typeface="华文新魏" pitchFamily="2" charset="-122"/>
                <a:cs typeface="Times New Roman" pitchFamily="18" charset="0"/>
              </a:rPr>
              <a:t>2</a:t>
            </a:r>
            <a:r>
              <a:rPr lang="zh-CN" altLang="zh-CN" sz="2500" b="1">
                <a:ea typeface="华文新魏" pitchFamily="2" charset="-122"/>
                <a:cs typeface="Times New Roman" pitchFamily="18" charset="0"/>
              </a:rPr>
              <a:t>的分子轨道电子排布式</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计算键级</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指出哪些分子有顺磁性</a:t>
            </a:r>
            <a:r>
              <a:rPr lang="en-US" altLang="zh-CN" sz="2500" b="1">
                <a:ea typeface="华文新魏" pitchFamily="2" charset="-122"/>
                <a:cs typeface="Times New Roman" pitchFamily="18" charset="0"/>
              </a:rPr>
              <a:t>.</a:t>
            </a:r>
            <a:endParaRPr lang="zh-CN" altLang="zh-CN" sz="2500" b="1">
              <a:ea typeface="华文新魏" pitchFamily="2" charset="-122"/>
              <a:cs typeface="Times New Roman" pitchFamily="18" charset="0"/>
            </a:endParaRPr>
          </a:p>
        </p:txBody>
      </p:sp>
      <p:sp>
        <p:nvSpPr>
          <p:cNvPr id="9219" name="Text Box 39"/>
          <p:cNvSpPr txBox="1">
            <a:spLocks noChangeArrowheads="1"/>
          </p:cNvSpPr>
          <p:nvPr/>
        </p:nvSpPr>
        <p:spPr bwMode="auto">
          <a:xfrm>
            <a:off x="179388" y="358775"/>
            <a:ext cx="1836737" cy="477838"/>
          </a:xfrm>
          <a:prstGeom prst="rect">
            <a:avLst/>
          </a:prstGeom>
          <a:noFill/>
          <a:ln w="9525" algn="ctr">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习题</a:t>
            </a:r>
            <a:r>
              <a:rPr lang="en-US" altLang="zh-CN" sz="2500" b="1">
                <a:solidFill>
                  <a:srgbClr val="FFFF00"/>
                </a:solidFill>
                <a:ea typeface="华文新魏" pitchFamily="2" charset="-122"/>
                <a:cs typeface="Times New Roman" pitchFamily="18" charset="0"/>
              </a:rPr>
              <a:t>8-6</a:t>
            </a:r>
            <a:r>
              <a:rPr lang="zh-CN" altLang="en-US" sz="2500" b="1">
                <a:solidFill>
                  <a:srgbClr val="FFFF00"/>
                </a:solidFill>
                <a:ea typeface="华文新魏" pitchFamily="2" charset="-122"/>
                <a:cs typeface="Times New Roman" pitchFamily="18" charset="0"/>
              </a:rPr>
              <a:t>：</a:t>
            </a:r>
          </a:p>
        </p:txBody>
      </p:sp>
      <p:sp>
        <p:nvSpPr>
          <p:cNvPr id="5" name="Rectangle 38"/>
          <p:cNvSpPr>
            <a:spLocks noChangeArrowheads="1"/>
          </p:cNvSpPr>
          <p:nvPr/>
        </p:nvSpPr>
        <p:spPr bwMode="auto">
          <a:xfrm>
            <a:off x="4608513" y="334963"/>
            <a:ext cx="6627812" cy="2016125"/>
          </a:xfrm>
          <a:prstGeom prst="rect">
            <a:avLst/>
          </a:prstGeom>
          <a:noFill/>
          <a:ln w="9525">
            <a:noFill/>
            <a:miter lim="800000"/>
            <a:headEnd/>
            <a:tailEnd/>
          </a:ln>
          <a:effectLst/>
        </p:spPr>
        <p:txBody>
          <a:bodyPr>
            <a:spAutoFit/>
          </a:bodyPr>
          <a:lstStyle/>
          <a:p>
            <a:pPr eaLnBrk="0" hangingPunct="0"/>
            <a:r>
              <a:rPr lang="zh-CN" altLang="en-US" sz="2500" b="1">
                <a:ea typeface="华文新魏" pitchFamily="2" charset="-122"/>
                <a:cs typeface="Times New Roman" pitchFamily="18" charset="0"/>
              </a:rPr>
              <a:t>                  按照分子轨道理论的同核双原子分子轨道能级图，写出它们的分子轨道电子排布式</a:t>
            </a:r>
            <a:r>
              <a:rPr lang="en-US" altLang="zh-CN" sz="2500" b="1">
                <a:ea typeface="华文新魏" pitchFamily="2" charset="-122"/>
                <a:cs typeface="Times New Roman" pitchFamily="18" charset="0"/>
              </a:rPr>
              <a:t>.</a:t>
            </a:r>
            <a:r>
              <a:rPr lang="zh-CN" altLang="en-US" sz="2500" b="1">
                <a:ea typeface="华文新魏" pitchFamily="2" charset="-122"/>
                <a:cs typeface="Times New Roman" pitchFamily="18" charset="0"/>
              </a:rPr>
              <a:t>观察每个分子轨道填充的电子数，若存在未成对电子，则为顺磁性；若电子全部成对，则为反磁性</a:t>
            </a:r>
            <a:r>
              <a:rPr lang="en-US" altLang="zh-CN" sz="2500" b="1">
                <a:ea typeface="华文新魏" pitchFamily="2" charset="-122"/>
                <a:cs typeface="Times New Roman" pitchFamily="18" charset="0"/>
              </a:rPr>
              <a:t>.</a:t>
            </a:r>
            <a:r>
              <a:rPr lang="zh-CN" altLang="en-US" sz="2500" b="1">
                <a:ea typeface="华文新魏" pitchFamily="2" charset="-122"/>
                <a:cs typeface="Times New Roman" pitchFamily="18" charset="0"/>
              </a:rPr>
              <a:t>键级计算公式：</a:t>
            </a:r>
          </a:p>
        </p:txBody>
      </p:sp>
      <p:sp>
        <p:nvSpPr>
          <p:cNvPr id="2" name="Rectangle 38"/>
          <p:cNvSpPr>
            <a:spLocks noChangeArrowheads="1"/>
          </p:cNvSpPr>
          <p:nvPr/>
        </p:nvSpPr>
        <p:spPr bwMode="auto">
          <a:xfrm>
            <a:off x="4608513" y="344488"/>
            <a:ext cx="1800225" cy="476250"/>
          </a:xfrm>
          <a:prstGeom prst="rect">
            <a:avLst/>
          </a:prstGeom>
          <a:noFill/>
          <a:ln w="9525">
            <a:noFill/>
            <a:miter lim="800000"/>
            <a:headEnd/>
            <a:tailEnd/>
          </a:ln>
          <a:effectLst/>
        </p:spPr>
        <p:txBody>
          <a:bodyPr>
            <a:spAutoFit/>
          </a:bodyPr>
          <a:lstStyle/>
          <a:p>
            <a:pPr marL="342900" indent="-342900" eaLnBrk="0" hangingPunct="0"/>
            <a:r>
              <a:rPr lang="zh-CN" altLang="zh-CN" sz="2500" b="1">
                <a:solidFill>
                  <a:srgbClr val="FFFF00"/>
                </a:solidFill>
                <a:ea typeface="华文新魏" pitchFamily="2" charset="-122"/>
                <a:cs typeface="Times New Roman" pitchFamily="18" charset="0"/>
              </a:rPr>
              <a:t>解题思路：</a:t>
            </a:r>
          </a:p>
        </p:txBody>
      </p:sp>
      <p:graphicFrame>
        <p:nvGraphicFramePr>
          <p:cNvPr id="8" name="对象 7"/>
          <p:cNvGraphicFramePr>
            <a:graphicFrameLocks noChangeAspect="1"/>
          </p:cNvGraphicFramePr>
          <p:nvPr/>
        </p:nvGraphicFramePr>
        <p:xfrm>
          <a:off x="5400675" y="2303463"/>
          <a:ext cx="5200650" cy="730250"/>
        </p:xfrm>
        <a:graphic>
          <a:graphicData uri="http://schemas.openxmlformats.org/presentationml/2006/ole">
            <p:oleObj spid="_x0000_s9222" name="Equation" r:id="rId4" imgW="2844800" imgH="406400" progId="Equation.3">
              <p:embed/>
            </p:oleObj>
          </a:graphicData>
        </a:graphic>
      </p:graphicFrame>
      <p:sp>
        <p:nvSpPr>
          <p:cNvPr id="9" name="Rectangle 38"/>
          <p:cNvSpPr>
            <a:spLocks noChangeArrowheads="1"/>
          </p:cNvSpPr>
          <p:nvPr/>
        </p:nvSpPr>
        <p:spPr bwMode="auto">
          <a:xfrm>
            <a:off x="4584700" y="3025775"/>
            <a:ext cx="2735263" cy="473075"/>
          </a:xfrm>
          <a:prstGeom prst="rect">
            <a:avLst/>
          </a:prstGeom>
          <a:noFill/>
          <a:ln w="9525">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参考答案：</a:t>
            </a:r>
          </a:p>
        </p:txBody>
      </p:sp>
      <p:sp>
        <p:nvSpPr>
          <p:cNvPr id="10" name="矩形 9"/>
          <p:cNvSpPr>
            <a:spLocks noChangeArrowheads="1"/>
          </p:cNvSpPr>
          <p:nvPr/>
        </p:nvSpPr>
        <p:spPr bwMode="auto">
          <a:xfrm>
            <a:off x="4608513" y="3406775"/>
            <a:ext cx="6624637" cy="2786063"/>
          </a:xfrm>
          <a:prstGeom prst="rect">
            <a:avLst/>
          </a:prstGeom>
          <a:noFill/>
          <a:ln w="9525">
            <a:noFill/>
            <a:miter lim="800000"/>
            <a:headEnd/>
            <a:tailEnd/>
          </a:ln>
        </p:spPr>
        <p:txBody>
          <a:bodyPr>
            <a:spAutoFit/>
          </a:bodyPr>
          <a:lstStyle/>
          <a:p>
            <a:r>
              <a:rPr lang="en-US" altLang="zh-CN" sz="2500" b="1">
                <a:ea typeface="华文新魏" pitchFamily="2" charset="-122"/>
                <a:cs typeface="Times New Roman" pitchFamily="18" charset="0"/>
              </a:rPr>
              <a:t>C</a:t>
            </a:r>
            <a:r>
              <a:rPr lang="en-US" altLang="zh-CN" sz="2500" b="1" baseline="-25000">
                <a:ea typeface="华文新魏" pitchFamily="2" charset="-122"/>
                <a:cs typeface="Times New Roman" pitchFamily="18" charset="0"/>
              </a:rPr>
              <a:t>2  </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rPr>
              <a:t>KK</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2s</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i="1">
                <a:ea typeface="华文新魏" pitchFamily="2" charset="-122"/>
                <a:cs typeface="Times New Roman" pitchFamily="18" charset="0"/>
              </a:rPr>
              <a:t>*</a:t>
            </a:r>
            <a:r>
              <a:rPr lang="en-US" altLang="zh-CN" sz="2500" b="1" baseline="-25000">
                <a:ea typeface="华文新魏" pitchFamily="2" charset="-122"/>
                <a:cs typeface="Times New Roman" pitchFamily="18" charset="0"/>
              </a:rPr>
              <a:t>2s</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2py</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2pz</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zh-CN" altLang="zh-CN" sz="2500" b="1">
                <a:ea typeface="华文新魏" pitchFamily="2" charset="-122"/>
                <a:cs typeface="Times New Roman" pitchFamily="18" charset="0"/>
              </a:rPr>
              <a:t>，键级＝</a:t>
            </a:r>
            <a:r>
              <a:rPr lang="en-US" altLang="zh-CN" sz="2500" b="1">
                <a:ea typeface="华文新魏" pitchFamily="2" charset="-122"/>
                <a:cs typeface="Times New Roman" pitchFamily="18" charset="0"/>
              </a:rPr>
              <a:t>2</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 </a:t>
            </a:r>
            <a:endParaRPr lang="zh-CN" altLang="zh-CN" sz="2500" b="1">
              <a:ea typeface="华文新魏" pitchFamily="2" charset="-122"/>
              <a:cs typeface="Times New Roman" pitchFamily="18" charset="0"/>
            </a:endParaRPr>
          </a:p>
          <a:p>
            <a:r>
              <a:rPr lang="en-US" altLang="zh-CN" sz="2500" b="1">
                <a:ea typeface="华文新魏" pitchFamily="2" charset="-122"/>
                <a:cs typeface="Times New Roman" pitchFamily="18" charset="0"/>
              </a:rPr>
              <a:t>B</a:t>
            </a:r>
            <a:r>
              <a:rPr lang="en-US" altLang="zh-CN" sz="2500" b="1" baseline="-25000">
                <a:ea typeface="华文新魏" pitchFamily="2" charset="-122"/>
                <a:cs typeface="Times New Roman" pitchFamily="18" charset="0"/>
              </a:rPr>
              <a:t>2  </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rPr>
              <a:t>KK</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2s</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i="1">
                <a:ea typeface="华文新魏" pitchFamily="2" charset="-122"/>
                <a:cs typeface="Times New Roman" pitchFamily="18" charset="0"/>
              </a:rPr>
              <a:t>*</a:t>
            </a:r>
            <a:r>
              <a:rPr lang="en-US" altLang="zh-CN" sz="2500" b="1" baseline="-25000">
                <a:ea typeface="华文新魏" pitchFamily="2" charset="-122"/>
                <a:cs typeface="Times New Roman" pitchFamily="18" charset="0"/>
              </a:rPr>
              <a:t>2s</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2py</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1</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2pz</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1</a:t>
            </a:r>
            <a:r>
              <a:rPr lang="en-US" altLang="zh-CN" sz="2500" b="1">
                <a:ea typeface="华文新魏" pitchFamily="2" charset="-122"/>
                <a:cs typeface="Times New Roman" pitchFamily="18" charset="0"/>
              </a:rPr>
              <a:t>]</a:t>
            </a:r>
            <a:r>
              <a:rPr lang="zh-CN" altLang="zh-CN" sz="2500" b="1">
                <a:ea typeface="华文新魏" pitchFamily="2" charset="-122"/>
                <a:cs typeface="Times New Roman" pitchFamily="18" charset="0"/>
              </a:rPr>
              <a:t>，键级＝</a:t>
            </a:r>
            <a:r>
              <a:rPr lang="en-US" altLang="zh-CN" sz="2500" b="1">
                <a:ea typeface="华文新魏" pitchFamily="2" charset="-122"/>
                <a:cs typeface="Times New Roman" pitchFamily="18" charset="0"/>
              </a:rPr>
              <a:t>1</a:t>
            </a:r>
            <a:r>
              <a:rPr lang="zh-CN" altLang="zh-CN" sz="2500" b="1">
                <a:ea typeface="华文新魏" pitchFamily="2" charset="-122"/>
                <a:cs typeface="Times New Roman" pitchFamily="18" charset="0"/>
              </a:rPr>
              <a:t>，顺</a:t>
            </a:r>
            <a:endParaRPr lang="en-US" altLang="zh-CN" sz="2500" b="1">
              <a:ea typeface="华文新魏" pitchFamily="2" charset="-122"/>
              <a:cs typeface="Times New Roman" pitchFamily="18" charset="0"/>
            </a:endParaRPr>
          </a:p>
          <a:p>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磁性；</a:t>
            </a:r>
          </a:p>
          <a:p>
            <a:r>
              <a:rPr lang="en-US" altLang="zh-CN" sz="2500" b="1">
                <a:ea typeface="华文新魏" pitchFamily="2" charset="-122"/>
                <a:cs typeface="Times New Roman" pitchFamily="18" charset="0"/>
              </a:rPr>
              <a:t>F</a:t>
            </a:r>
            <a:r>
              <a:rPr lang="en-US" altLang="zh-CN" sz="2500" b="1" baseline="-25000">
                <a:ea typeface="华文新魏" pitchFamily="2" charset="-122"/>
                <a:cs typeface="Times New Roman" pitchFamily="18" charset="0"/>
              </a:rPr>
              <a:t>2   </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rPr>
              <a:t>KK</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2s</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i="1">
                <a:ea typeface="华文新魏" pitchFamily="2" charset="-122"/>
                <a:cs typeface="Times New Roman" pitchFamily="18" charset="0"/>
              </a:rPr>
              <a:t>*</a:t>
            </a:r>
            <a:r>
              <a:rPr lang="en-US" altLang="zh-CN" sz="2500" b="1" baseline="-25000">
                <a:ea typeface="华文新魏" pitchFamily="2" charset="-122"/>
                <a:cs typeface="Times New Roman" pitchFamily="18" charset="0"/>
              </a:rPr>
              <a:t>2s</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2px</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2py</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2pz</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i="1">
                <a:ea typeface="华文新魏" pitchFamily="2" charset="-122"/>
                <a:cs typeface="Times New Roman" pitchFamily="18" charset="0"/>
              </a:rPr>
              <a:t>*</a:t>
            </a:r>
            <a:r>
              <a:rPr lang="en-US" altLang="zh-CN" sz="2500" b="1" baseline="-25000">
                <a:ea typeface="华文新魏" pitchFamily="2" charset="-122"/>
                <a:cs typeface="Times New Roman" pitchFamily="18" charset="0"/>
              </a:rPr>
              <a:t>2py</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 </a:t>
            </a:r>
          </a:p>
          <a:p>
            <a:r>
              <a:rPr lang="en-US" altLang="zh-CN" sz="2500" b="1" baseline="30000">
                <a:ea typeface="华文新魏" pitchFamily="2" charset="-122"/>
                <a:cs typeface="Times New Roman" pitchFamily="18" charset="0"/>
              </a:rPr>
              <a:t>        </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i="1">
                <a:ea typeface="华文新魏" pitchFamily="2" charset="-122"/>
                <a:cs typeface="Times New Roman" pitchFamily="18" charset="0"/>
              </a:rPr>
              <a:t>*</a:t>
            </a:r>
            <a:r>
              <a:rPr lang="en-US" altLang="zh-CN" sz="2500" b="1" baseline="-25000">
                <a:ea typeface="华文新魏" pitchFamily="2" charset="-122"/>
                <a:cs typeface="Times New Roman" pitchFamily="18" charset="0"/>
              </a:rPr>
              <a:t>2pz</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 </a:t>
            </a:r>
            <a:r>
              <a:rPr lang="en-US" altLang="zh-CN" sz="2500" b="1">
                <a:ea typeface="华文新魏" pitchFamily="2" charset="-122"/>
                <a:cs typeface="Times New Roman" pitchFamily="18" charset="0"/>
              </a:rPr>
              <a:t>]</a:t>
            </a:r>
            <a:r>
              <a:rPr lang="zh-CN" altLang="zh-CN" sz="2500" b="1">
                <a:ea typeface="华文新魏" pitchFamily="2" charset="-122"/>
                <a:cs typeface="Times New Roman" pitchFamily="18" charset="0"/>
              </a:rPr>
              <a:t>，键级＝</a:t>
            </a:r>
            <a:r>
              <a:rPr lang="en-US" altLang="zh-CN" sz="2500" b="1">
                <a:ea typeface="华文新魏" pitchFamily="2" charset="-122"/>
                <a:cs typeface="Times New Roman" pitchFamily="18" charset="0"/>
              </a:rPr>
              <a:t>1</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 </a:t>
            </a:r>
            <a:endParaRPr lang="zh-CN" altLang="zh-CN" sz="2500" b="1">
              <a:ea typeface="华文新魏" pitchFamily="2" charset="-122"/>
              <a:cs typeface="Times New Roman" pitchFamily="18" charset="0"/>
            </a:endParaRPr>
          </a:p>
          <a:p>
            <a:r>
              <a:rPr lang="en-US" altLang="zh-CN" sz="2500" b="1">
                <a:ea typeface="华文新魏" pitchFamily="2" charset="-122"/>
                <a:cs typeface="Times New Roman" pitchFamily="18" charset="0"/>
              </a:rPr>
              <a:t>O</a:t>
            </a:r>
            <a:r>
              <a:rPr lang="en-US" altLang="zh-CN" sz="2500" b="1" baseline="-25000">
                <a:ea typeface="华文新魏" pitchFamily="2" charset="-122"/>
                <a:cs typeface="Times New Roman" pitchFamily="18" charset="0"/>
              </a:rPr>
              <a:t>2  </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rPr>
              <a:t>KK</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2s</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i="1">
                <a:ea typeface="华文新魏" pitchFamily="2" charset="-122"/>
                <a:cs typeface="Times New Roman" pitchFamily="18" charset="0"/>
              </a:rPr>
              <a:t>*</a:t>
            </a:r>
            <a:r>
              <a:rPr lang="en-US" altLang="zh-CN" sz="2500" b="1" baseline="-25000">
                <a:ea typeface="华文新魏" pitchFamily="2" charset="-122"/>
                <a:cs typeface="Times New Roman" pitchFamily="18" charset="0"/>
              </a:rPr>
              <a:t>2s</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2px</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2py</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2pz</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i="1">
                <a:ea typeface="华文新魏" pitchFamily="2" charset="-122"/>
                <a:cs typeface="Times New Roman" pitchFamily="18" charset="0"/>
              </a:rPr>
              <a:t>*</a:t>
            </a:r>
            <a:r>
              <a:rPr lang="en-US" altLang="zh-CN" sz="2500" b="1" baseline="-25000">
                <a:ea typeface="华文新魏" pitchFamily="2" charset="-122"/>
                <a:cs typeface="Times New Roman" pitchFamily="18" charset="0"/>
              </a:rPr>
              <a:t>2py</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1  </a:t>
            </a:r>
          </a:p>
          <a:p>
            <a:r>
              <a:rPr lang="en-US" altLang="zh-CN" sz="2500" b="1" baseline="30000">
                <a:ea typeface="华文新魏" pitchFamily="2" charset="-122"/>
                <a:cs typeface="Times New Roman" pitchFamily="18" charset="0"/>
              </a:rPr>
              <a:t>        </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i="1">
                <a:ea typeface="华文新魏" pitchFamily="2" charset="-122"/>
                <a:cs typeface="Times New Roman" pitchFamily="18" charset="0"/>
              </a:rPr>
              <a:t>*</a:t>
            </a:r>
            <a:r>
              <a:rPr lang="en-US" altLang="zh-CN" sz="2500" b="1" baseline="-25000">
                <a:ea typeface="华文新魏" pitchFamily="2" charset="-122"/>
                <a:cs typeface="Times New Roman" pitchFamily="18" charset="0"/>
              </a:rPr>
              <a:t>2pz</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1 </a:t>
            </a:r>
            <a:r>
              <a:rPr lang="en-US" altLang="zh-CN" sz="2500" b="1">
                <a:ea typeface="华文新魏" pitchFamily="2" charset="-122"/>
                <a:cs typeface="Times New Roman" pitchFamily="18" charset="0"/>
              </a:rPr>
              <a:t>]</a:t>
            </a:r>
            <a:r>
              <a:rPr lang="zh-CN" altLang="zh-CN" sz="2500" b="1">
                <a:ea typeface="华文新魏" pitchFamily="2" charset="-122"/>
                <a:cs typeface="Times New Roman" pitchFamily="18" charset="0"/>
              </a:rPr>
              <a:t>，键级＝</a:t>
            </a:r>
            <a:r>
              <a:rPr lang="en-US" altLang="zh-CN" sz="2500" b="1">
                <a:ea typeface="华文新魏" pitchFamily="2" charset="-122"/>
                <a:cs typeface="Times New Roman" pitchFamily="18" charset="0"/>
              </a:rPr>
              <a:t>2</a:t>
            </a:r>
            <a:r>
              <a:rPr lang="zh-CN" altLang="zh-CN" sz="2500" b="1">
                <a:ea typeface="华文新魏" pitchFamily="2" charset="-122"/>
                <a:cs typeface="Times New Roman" pitchFamily="18" charset="0"/>
              </a:rPr>
              <a:t>，顺磁性</a:t>
            </a:r>
            <a:r>
              <a:rPr lang="en-US" altLang="zh-CN" sz="2500" b="1">
                <a:ea typeface="华文新魏" pitchFamily="2" charset="-122"/>
                <a:cs typeface="Times New Roman" pitchFamily="18" charset="0"/>
              </a:rPr>
              <a:t>.</a:t>
            </a:r>
            <a:endParaRPr lang="zh-CN" altLang="zh-CN" sz="2500" b="1">
              <a:ea typeface="华文新魏" pitchFamily="2" charset="-122"/>
              <a:cs typeface="Times New Roman" pitchFamily="18" charset="0"/>
            </a:endParaRP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blinds(horizontal)">
                                      <p:cBhvr>
                                        <p:cTn id="17" dur="500"/>
                                        <p:tgtEl>
                                          <p:spTgt spid="5">
                                            <p:txEl>
                                              <p:pRg st="0" end="0"/>
                                            </p:txEl>
                                          </p:spTgt>
                                        </p:tgtEl>
                                      </p:cBhvr>
                                    </p:animEffect>
                                  </p:childTnLst>
                                </p:cTn>
                              </p:par>
                            </p:childTnLst>
                          </p:cTn>
                        </p:par>
                        <p:par>
                          <p:cTn id="18" fill="hold" nodeType="afterGroup">
                            <p:stCondLst>
                              <p:cond delay="500"/>
                            </p:stCondLst>
                            <p:childTnLst>
                              <p:par>
                                <p:cTn id="19" presetID="16" presetClass="entr" presetSubtype="37"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barn(outVertical)">
                                      <p:cBhvr>
                                        <p:cTn id="21" dur="500"/>
                                        <p:tgtEl>
                                          <p:spTgt spid="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blinds(horizontal)">
                                      <p:cBhvr>
                                        <p:cTn id="26" dur="500"/>
                                        <p:tgtEl>
                                          <p:spTgt spid="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up)">
                                      <p:cBhvr>
                                        <p:cTn id="3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P spid="2" grpId="0"/>
      <p:bldP spid="9" grpId="0" autoUpdateAnimBg="0"/>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0"/>
          <p:cNvSpPr>
            <a:spLocks noChangeArrowheads="1"/>
          </p:cNvSpPr>
          <p:nvPr/>
        </p:nvSpPr>
        <p:spPr bwMode="auto">
          <a:xfrm>
            <a:off x="179388" y="338138"/>
            <a:ext cx="3997325" cy="3170237"/>
          </a:xfrm>
          <a:prstGeom prst="rect">
            <a:avLst/>
          </a:prstGeom>
          <a:noFill/>
          <a:ln w="9525">
            <a:noFill/>
            <a:miter lim="800000"/>
            <a:headEnd/>
            <a:tailEnd/>
          </a:ln>
          <a:effectLst/>
        </p:spPr>
        <p:txBody>
          <a:bodyPr>
            <a:spAutoFit/>
          </a:bodyPr>
          <a:lstStyle/>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已知</a:t>
            </a:r>
            <a:r>
              <a:rPr lang="en-US" altLang="zh-CN" sz="2500" b="1">
                <a:ea typeface="华文新魏" pitchFamily="2" charset="-122"/>
                <a:cs typeface="Times New Roman" pitchFamily="18" charset="0"/>
              </a:rPr>
              <a:t>H</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(g)+ O</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(g)</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H</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O(1)</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H</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O(1)</a:t>
            </a:r>
            <a:r>
              <a:rPr lang="zh-CN" altLang="zh-CN" sz="2500" b="1">
                <a:ea typeface="华文新魏" pitchFamily="2" charset="-122"/>
                <a:cs typeface="Times New Roman" pitchFamily="18" charset="0"/>
              </a:rPr>
              <a:t>的</a:t>
            </a:r>
            <a:r>
              <a:rPr lang="en-US" altLang="zh-CN" sz="2500" b="1">
                <a:ea typeface="华文新魏" pitchFamily="2" charset="-122"/>
                <a:cs typeface="Times New Roman" pitchFamily="18" charset="0"/>
              </a:rPr>
              <a:t>Δ</a:t>
            </a:r>
            <a:r>
              <a:rPr lang="en-US" altLang="zh-CN" sz="2500" b="1" baseline="-25000">
                <a:ea typeface="华文新魏" pitchFamily="2" charset="-122"/>
                <a:cs typeface="Times New Roman" pitchFamily="18" charset="0"/>
              </a:rPr>
              <a:t>f</a:t>
            </a:r>
            <a:r>
              <a:rPr lang="en-US" altLang="zh-CN" sz="2500" b="1" i="1">
                <a:ea typeface="华文新魏" pitchFamily="2" charset="-122"/>
                <a:cs typeface="Times New Roman" pitchFamily="18" charset="0"/>
              </a:rPr>
              <a:t>H</a:t>
            </a:r>
            <a:r>
              <a:rPr lang="en-US" altLang="zh-CN" sz="2500" b="1" baseline="-25000">
                <a:ea typeface="华文新魏" pitchFamily="2" charset="-122"/>
                <a:cs typeface="Times New Roman" pitchFamily="18" charset="0"/>
              </a:rPr>
              <a:t>m</a:t>
            </a:r>
            <a:r>
              <a:rPr lang="en-US" altLang="zh-CN" sz="2500" b="1" baseline="30000">
                <a:ea typeface="华文新魏" pitchFamily="2" charset="-122"/>
                <a:cs typeface="Times New Roman" pitchFamily="18" charset="0"/>
              </a:rPr>
              <a:t> </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-286kJ·mo1</a:t>
            </a:r>
            <a:r>
              <a:rPr lang="en-US" altLang="zh-CN" sz="2500" b="1" baseline="30000">
                <a:ea typeface="华文新魏" pitchFamily="2" charset="-122"/>
                <a:cs typeface="Times New Roman" pitchFamily="18" charset="0"/>
              </a:rPr>
              <a:t>-1</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H-H</a:t>
            </a:r>
            <a:r>
              <a:rPr lang="zh-CN" altLang="zh-CN" sz="2500" b="1">
                <a:ea typeface="华文新魏" pitchFamily="2" charset="-122"/>
                <a:cs typeface="Times New Roman" pitchFamily="18" charset="0"/>
              </a:rPr>
              <a:t>键能＝</a:t>
            </a:r>
            <a:r>
              <a:rPr lang="en-US" altLang="zh-CN" sz="2500" b="1">
                <a:ea typeface="华文新魏" pitchFamily="2" charset="-122"/>
                <a:cs typeface="Times New Roman" pitchFamily="18" charset="0"/>
              </a:rPr>
              <a:t>436 kJ·mo1</a:t>
            </a:r>
            <a:r>
              <a:rPr lang="en-US" altLang="zh-CN" sz="2500" b="1" baseline="30000">
                <a:ea typeface="华文新魏" pitchFamily="2" charset="-122"/>
                <a:cs typeface="Times New Roman" pitchFamily="18" charset="0"/>
              </a:rPr>
              <a:t>-1</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O=O</a:t>
            </a:r>
            <a:r>
              <a:rPr lang="zh-CN" altLang="zh-CN" sz="2500" b="1">
                <a:ea typeface="华文新魏" pitchFamily="2" charset="-122"/>
                <a:cs typeface="Times New Roman" pitchFamily="18" charset="0"/>
              </a:rPr>
              <a:t>的键能＝</a:t>
            </a:r>
            <a:r>
              <a:rPr lang="en-US" altLang="zh-CN" sz="2500" b="1">
                <a:ea typeface="华文新魏" pitchFamily="2" charset="-122"/>
                <a:cs typeface="Times New Roman" pitchFamily="18" charset="0"/>
              </a:rPr>
              <a:t>498 kJ·mo1</a:t>
            </a:r>
            <a:r>
              <a:rPr lang="en-US" altLang="zh-CN" sz="2500" b="1" baseline="30000">
                <a:ea typeface="华文新魏" pitchFamily="2" charset="-122"/>
                <a:cs typeface="Times New Roman" pitchFamily="18" charset="0"/>
              </a:rPr>
              <a:t>-1</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H</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O(g) → H</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O(1)</a:t>
            </a:r>
            <a:r>
              <a:rPr lang="zh-CN" altLang="zh-CN" sz="2500" b="1">
                <a:ea typeface="华文新魏" pitchFamily="2" charset="-122"/>
                <a:cs typeface="Times New Roman" pitchFamily="18" charset="0"/>
              </a:rPr>
              <a:t>的</a:t>
            </a:r>
            <a:r>
              <a:rPr lang="en-US" altLang="zh-CN" sz="2500" b="1">
                <a:ea typeface="华文新魏" pitchFamily="2" charset="-122"/>
                <a:cs typeface="Times New Roman" pitchFamily="18" charset="0"/>
              </a:rPr>
              <a:t>Δ</a:t>
            </a:r>
            <a:r>
              <a:rPr lang="en-US" altLang="zh-CN" sz="2500" b="1" baseline="-25000">
                <a:ea typeface="华文新魏" pitchFamily="2" charset="-122"/>
                <a:cs typeface="Times New Roman" pitchFamily="18" charset="0"/>
              </a:rPr>
              <a:t>r</a:t>
            </a:r>
            <a:r>
              <a:rPr lang="en-US" altLang="zh-CN" sz="2500" b="1" i="1">
                <a:ea typeface="华文新魏" pitchFamily="2" charset="-122"/>
                <a:cs typeface="Times New Roman" pitchFamily="18" charset="0"/>
              </a:rPr>
              <a:t>H</a:t>
            </a:r>
            <a:r>
              <a:rPr lang="en-US" altLang="zh-CN" sz="2500" b="1" baseline="-25000">
                <a:ea typeface="华文新魏" pitchFamily="2" charset="-122"/>
                <a:cs typeface="Times New Roman" pitchFamily="18" charset="0"/>
              </a:rPr>
              <a:t>m</a:t>
            </a:r>
            <a:r>
              <a:rPr lang="en-US" altLang="zh-CN" sz="2500" b="1" baseline="30000">
                <a:ea typeface="华文新魏" pitchFamily="2" charset="-122"/>
                <a:cs typeface="Times New Roman" pitchFamily="18" charset="0"/>
              </a:rPr>
              <a:t> </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- 42 kJ·mo1</a:t>
            </a:r>
            <a:r>
              <a:rPr lang="en-US" altLang="zh-CN" sz="2500" b="1" baseline="30000">
                <a:ea typeface="华文新魏" pitchFamily="2" charset="-122"/>
                <a:cs typeface="Times New Roman" pitchFamily="18" charset="0"/>
              </a:rPr>
              <a:t>-1</a:t>
            </a:r>
            <a:r>
              <a:rPr lang="zh-CN" altLang="zh-CN" sz="2500" b="1">
                <a:ea typeface="华文新魏" pitchFamily="2" charset="-122"/>
                <a:cs typeface="Times New Roman" pitchFamily="18" charset="0"/>
              </a:rPr>
              <a:t>，试计算</a:t>
            </a:r>
            <a:r>
              <a:rPr lang="en-US" altLang="zh-CN" sz="2500" b="1">
                <a:ea typeface="华文新魏" pitchFamily="2" charset="-122"/>
                <a:cs typeface="Times New Roman" pitchFamily="18" charset="0"/>
              </a:rPr>
              <a:t>O—H</a:t>
            </a:r>
            <a:r>
              <a:rPr lang="zh-CN" altLang="zh-CN" sz="2500" b="1">
                <a:ea typeface="华文新魏" pitchFamily="2" charset="-122"/>
                <a:cs typeface="Times New Roman" pitchFamily="18" charset="0"/>
              </a:rPr>
              <a:t>键的键能</a:t>
            </a:r>
            <a:r>
              <a:rPr lang="en-US" altLang="zh-CN" sz="2500" b="1">
                <a:ea typeface="华文新魏" pitchFamily="2" charset="-122"/>
                <a:cs typeface="Times New Roman" pitchFamily="18" charset="0"/>
              </a:rPr>
              <a:t>.</a:t>
            </a:r>
            <a:endParaRPr lang="zh-CN" altLang="zh-CN" sz="2500" b="1">
              <a:ea typeface="华文新魏" pitchFamily="2" charset="-122"/>
              <a:cs typeface="Times New Roman" pitchFamily="18" charset="0"/>
            </a:endParaRPr>
          </a:p>
        </p:txBody>
      </p:sp>
      <p:sp>
        <p:nvSpPr>
          <p:cNvPr id="10243" name="Text Box 39"/>
          <p:cNvSpPr txBox="1">
            <a:spLocks noChangeArrowheads="1"/>
          </p:cNvSpPr>
          <p:nvPr/>
        </p:nvSpPr>
        <p:spPr bwMode="auto">
          <a:xfrm>
            <a:off x="179388" y="358775"/>
            <a:ext cx="1836737" cy="477838"/>
          </a:xfrm>
          <a:prstGeom prst="rect">
            <a:avLst/>
          </a:prstGeom>
          <a:noFill/>
          <a:ln w="9525" algn="ctr">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习题</a:t>
            </a:r>
            <a:r>
              <a:rPr lang="en-US" altLang="zh-CN" sz="2500" b="1">
                <a:solidFill>
                  <a:srgbClr val="FFFF00"/>
                </a:solidFill>
                <a:ea typeface="华文新魏" pitchFamily="2" charset="-122"/>
                <a:cs typeface="Times New Roman" pitchFamily="18" charset="0"/>
              </a:rPr>
              <a:t>8-7</a:t>
            </a:r>
            <a:r>
              <a:rPr lang="zh-CN" altLang="en-US" sz="2500" b="1">
                <a:solidFill>
                  <a:srgbClr val="FFFF00"/>
                </a:solidFill>
                <a:ea typeface="华文新魏" pitchFamily="2" charset="-122"/>
                <a:cs typeface="Times New Roman" pitchFamily="18" charset="0"/>
              </a:rPr>
              <a:t>：</a:t>
            </a:r>
          </a:p>
        </p:txBody>
      </p:sp>
      <p:sp>
        <p:nvSpPr>
          <p:cNvPr id="7" name="Rectangle 38"/>
          <p:cNvSpPr>
            <a:spLocks noChangeArrowheads="1"/>
          </p:cNvSpPr>
          <p:nvPr/>
        </p:nvSpPr>
        <p:spPr bwMode="auto">
          <a:xfrm>
            <a:off x="4608513" y="263525"/>
            <a:ext cx="6627812" cy="5862638"/>
          </a:xfrm>
          <a:prstGeom prst="rect">
            <a:avLst/>
          </a:prstGeom>
          <a:noFill/>
          <a:ln w="9525">
            <a:noFill/>
            <a:miter lim="800000"/>
            <a:headEnd/>
            <a:tailEnd/>
          </a:ln>
          <a:effectLst/>
        </p:spPr>
        <p:txBody>
          <a:bodyPr>
            <a:spAutoFit/>
          </a:bodyPr>
          <a:lstStyle/>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根据盖斯定律</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可利用标准摩尔生成焓计算化学反应的热效应</a:t>
            </a:r>
            <a:r>
              <a:rPr lang="en-US" altLang="zh-CN" sz="2500" b="1">
                <a:ea typeface="华文新魏" pitchFamily="2" charset="-122"/>
                <a:cs typeface="Times New Roman" pitchFamily="18" charset="0"/>
              </a:rPr>
              <a:t>(</a:t>
            </a:r>
            <a:r>
              <a:rPr lang="zh-CN" altLang="zh-CN" sz="2500" b="1">
                <a:ea typeface="华文新魏" pitchFamily="2" charset="-122"/>
                <a:cs typeface="Times New Roman" pitchFamily="18" charset="0"/>
              </a:rPr>
              <a:t>即标准摩尔反应焓变</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化学反应的标准摩尔反应焓变等于生成物的标准摩尔生成焓的总和减去反应物的标准摩尔生成焓的总和</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对于</a:t>
            </a:r>
            <a:r>
              <a:rPr lang="en-US" altLang="zh-CN" sz="2500" b="1">
                <a:ea typeface="华文新魏" pitchFamily="2" charset="-122"/>
                <a:cs typeface="Times New Roman" pitchFamily="18" charset="0"/>
              </a:rPr>
              <a:t>H</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(g)+O</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(g)=H</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O(1), </a:t>
            </a:r>
            <a:r>
              <a:rPr lang="zh-CN" altLang="zh-CN" sz="2500" b="1">
                <a:ea typeface="华文新魏" pitchFamily="2" charset="-122"/>
                <a:cs typeface="Times New Roman" pitchFamily="18" charset="0"/>
              </a:rPr>
              <a:t>反应物都是单质</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标准摩尔生成焓为零</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所以该反应的标准摩尔反应焓变</a:t>
            </a:r>
            <a:r>
              <a:rPr lang="en-US" altLang="zh-CN" sz="2500" b="1">
                <a:ea typeface="华文新魏" pitchFamily="2" charset="-122"/>
                <a:cs typeface="Times New Roman" pitchFamily="18" charset="0"/>
              </a:rPr>
              <a:t>Δ</a:t>
            </a:r>
            <a:r>
              <a:rPr lang="en-US" altLang="zh-CN" sz="2500" b="1" baseline="-25000">
                <a:ea typeface="华文新魏" pitchFamily="2" charset="-122"/>
                <a:cs typeface="Times New Roman" pitchFamily="18" charset="0"/>
              </a:rPr>
              <a:t>r</a:t>
            </a:r>
            <a:r>
              <a:rPr lang="en-US" altLang="zh-CN" sz="2500" b="1" i="1">
                <a:ea typeface="华文新魏" pitchFamily="2" charset="-122"/>
                <a:cs typeface="Times New Roman" pitchFamily="18" charset="0"/>
              </a:rPr>
              <a:t>H</a:t>
            </a:r>
            <a:r>
              <a:rPr lang="en-US" altLang="zh-CN" sz="2500" b="1" baseline="-25000">
                <a:ea typeface="华文新魏" pitchFamily="2" charset="-122"/>
                <a:cs typeface="Times New Roman" pitchFamily="18" charset="0"/>
              </a:rPr>
              <a:t>m</a:t>
            </a:r>
            <a:r>
              <a:rPr lang="zh-CN" altLang="zh-CN" sz="2500" b="1">
                <a:ea typeface="华文新魏" pitchFamily="2" charset="-122"/>
                <a:cs typeface="Times New Roman" pitchFamily="18" charset="0"/>
              </a:rPr>
              <a:t>等于生成物</a:t>
            </a:r>
            <a:r>
              <a:rPr lang="en-US" altLang="zh-CN" sz="2500" b="1">
                <a:ea typeface="华文新魏" pitchFamily="2" charset="-122"/>
                <a:cs typeface="Times New Roman" pitchFamily="18" charset="0"/>
              </a:rPr>
              <a:t>H</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O(1)</a:t>
            </a:r>
            <a:r>
              <a:rPr lang="zh-CN" altLang="zh-CN" sz="2500" b="1">
                <a:ea typeface="华文新魏" pitchFamily="2" charset="-122"/>
                <a:cs typeface="Times New Roman" pitchFamily="18" charset="0"/>
              </a:rPr>
              <a:t>的标准摩尔生成焓</a:t>
            </a:r>
            <a:r>
              <a:rPr lang="en-US" altLang="zh-CN" sz="2500" b="1">
                <a:ea typeface="华文新魏" pitchFamily="2" charset="-122"/>
                <a:cs typeface="Times New Roman" pitchFamily="18" charset="0"/>
              </a:rPr>
              <a:t>Δ</a:t>
            </a:r>
            <a:r>
              <a:rPr lang="en-US" altLang="zh-CN" sz="2500" b="1" baseline="-25000">
                <a:ea typeface="华文新魏" pitchFamily="2" charset="-122"/>
                <a:cs typeface="Times New Roman" pitchFamily="18" charset="0"/>
              </a:rPr>
              <a:t>f</a:t>
            </a:r>
            <a:r>
              <a:rPr lang="en-US" altLang="zh-CN" sz="2500" b="1" i="1">
                <a:ea typeface="华文新魏" pitchFamily="2" charset="-122"/>
                <a:cs typeface="Times New Roman" pitchFamily="18" charset="0"/>
              </a:rPr>
              <a:t>H</a:t>
            </a:r>
            <a:r>
              <a:rPr lang="en-US" altLang="zh-CN" sz="2500" b="1" baseline="-25000">
                <a:ea typeface="华文新魏" pitchFamily="2" charset="-122"/>
                <a:cs typeface="Times New Roman" pitchFamily="18" charset="0"/>
              </a:rPr>
              <a:t>m</a:t>
            </a:r>
            <a:r>
              <a:rPr lang="en-US" altLang="zh-CN" sz="2500" b="1" baseline="30000">
                <a:ea typeface="华文新魏" pitchFamily="2" charset="-122"/>
                <a:cs typeface="Times New Roman" pitchFamily="18" charset="0"/>
              </a:rPr>
              <a:t> </a:t>
            </a:r>
            <a:r>
              <a:rPr lang="en-US" altLang="zh-CN" sz="2500" b="1">
                <a:ea typeface="华文新魏" pitchFamily="2" charset="-122"/>
                <a:cs typeface="Times New Roman" pitchFamily="18" charset="0"/>
              </a:rPr>
              <a:t>. </a:t>
            </a:r>
            <a:endParaRPr lang="zh-CN" altLang="zh-CN" sz="2500" b="1">
              <a:ea typeface="华文新魏" pitchFamily="2" charset="-122"/>
              <a:cs typeface="Times New Roman" pitchFamily="18" charset="0"/>
            </a:endParaRPr>
          </a:p>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键能是断开</a:t>
            </a:r>
            <a:r>
              <a:rPr lang="en-US" altLang="zh-CN" sz="2500" b="1">
                <a:ea typeface="华文新魏" pitchFamily="2" charset="-122"/>
                <a:cs typeface="Times New Roman" pitchFamily="18" charset="0"/>
              </a:rPr>
              <a:t>1mol</a:t>
            </a:r>
            <a:r>
              <a:rPr lang="zh-CN" altLang="zh-CN" sz="2500" b="1">
                <a:ea typeface="华文新魏" pitchFamily="2" charset="-122"/>
                <a:cs typeface="Times New Roman" pitchFamily="18" charset="0"/>
              </a:rPr>
              <a:t>气态物质化学单键</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使之成为气态原子所需要的能量</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利用键能计算反应热效应时</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所有反应物和生成物必须是气态物质</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若反应中涉及非气态物质</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需把它们变为气态</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根据盖斯定律</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可以用反应式①</a:t>
            </a:r>
            <a:r>
              <a:rPr lang="en-US" altLang="zh-CN" sz="2500" b="1">
                <a:ea typeface="华文新魏" pitchFamily="2" charset="-122"/>
                <a:cs typeface="Times New Roman" pitchFamily="18" charset="0"/>
              </a:rPr>
              <a:t>H</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(g)+O</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(g) =H</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O(1)</a:t>
            </a:r>
            <a:r>
              <a:rPr lang="zh-CN" altLang="zh-CN" sz="2500" b="1">
                <a:ea typeface="华文新魏" pitchFamily="2" charset="-122"/>
                <a:cs typeface="Times New Roman" pitchFamily="18" charset="0"/>
              </a:rPr>
              <a:t>减去反应式②</a:t>
            </a:r>
            <a:r>
              <a:rPr lang="en-US" altLang="zh-CN" sz="2500" b="1">
                <a:ea typeface="华文新魏" pitchFamily="2" charset="-122"/>
                <a:cs typeface="Times New Roman" pitchFamily="18" charset="0"/>
              </a:rPr>
              <a:t>H</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O(g)→H</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O(1), </a:t>
            </a:r>
            <a:r>
              <a:rPr lang="zh-CN" altLang="zh-CN" sz="2500" b="1">
                <a:ea typeface="华文新魏" pitchFamily="2" charset="-122"/>
                <a:cs typeface="Times New Roman" pitchFamily="18" charset="0"/>
              </a:rPr>
              <a:t>得到反应式③</a:t>
            </a:r>
            <a:r>
              <a:rPr lang="en-US" altLang="zh-CN" sz="2500" b="1">
                <a:ea typeface="华文新魏" pitchFamily="2" charset="-122"/>
                <a:cs typeface="Times New Roman" pitchFamily="18" charset="0"/>
              </a:rPr>
              <a:t>H</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(g)+O</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(g)=H</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O(g). </a:t>
            </a:r>
            <a:r>
              <a:rPr lang="zh-CN" altLang="zh-CN" sz="2500" b="1">
                <a:ea typeface="华文新魏" pitchFamily="2" charset="-122"/>
                <a:cs typeface="Times New Roman" pitchFamily="18" charset="0"/>
              </a:rPr>
              <a:t>相应地</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反应式①</a:t>
            </a:r>
            <a:endParaRPr lang="zh-CN" altLang="en-US" sz="2500" b="1">
              <a:ea typeface="华文新魏" pitchFamily="2" charset="-122"/>
              <a:cs typeface="Times New Roman" pitchFamily="18" charset="0"/>
            </a:endParaRPr>
          </a:p>
        </p:txBody>
      </p:sp>
      <p:sp>
        <p:nvSpPr>
          <p:cNvPr id="8" name="Rectangle 38"/>
          <p:cNvSpPr>
            <a:spLocks noChangeArrowheads="1"/>
          </p:cNvSpPr>
          <p:nvPr/>
        </p:nvSpPr>
        <p:spPr bwMode="auto">
          <a:xfrm>
            <a:off x="4600575" y="254000"/>
            <a:ext cx="1800225" cy="476250"/>
          </a:xfrm>
          <a:prstGeom prst="rect">
            <a:avLst/>
          </a:prstGeom>
          <a:noFill/>
          <a:ln w="9525">
            <a:noFill/>
            <a:miter lim="800000"/>
            <a:headEnd/>
            <a:tailEnd/>
          </a:ln>
          <a:effectLst/>
        </p:spPr>
        <p:txBody>
          <a:bodyPr>
            <a:spAutoFit/>
          </a:bodyPr>
          <a:lstStyle/>
          <a:p>
            <a:pPr marL="342900" indent="-342900" eaLnBrk="0" hangingPunct="0"/>
            <a:r>
              <a:rPr lang="zh-CN" altLang="zh-CN" sz="2500" b="1">
                <a:solidFill>
                  <a:srgbClr val="FFFF00"/>
                </a:solidFill>
                <a:ea typeface="华文新魏" pitchFamily="2" charset="-122"/>
                <a:cs typeface="Times New Roman" pitchFamily="18" charset="0"/>
              </a:rPr>
              <a:t>解题思路：</a:t>
            </a: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wipe(up)">
                                      <p:cBhvr>
                                        <p:cTn id="7" dur="500"/>
                                        <p:tgtEl>
                                          <p:spTgt spid="81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blinds(horizontal)">
                                      <p:cBhvr>
                                        <p:cTn id="17" dur="500"/>
                                        <p:tgtEl>
                                          <p:spTgt spid="7">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
                                            <p:txEl>
                                              <p:pRg st="1" end="1"/>
                                            </p:txEl>
                                          </p:spTgt>
                                        </p:tgtEl>
                                        <p:attrNameLst>
                                          <p:attrName>style.visibility</p:attrName>
                                        </p:attrNameLst>
                                      </p:cBhvr>
                                      <p:to>
                                        <p:strVal val="visible"/>
                                      </p:to>
                                    </p:set>
                                    <p:animEffect transition="in" filter="blinds(horizontal)">
                                      <p:cBhvr>
                                        <p:cTn id="22"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p:bldP spid="7" grpId="0" build="p"/>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0"/>
          <p:cNvSpPr>
            <a:spLocks noChangeArrowheads="1"/>
          </p:cNvSpPr>
          <p:nvPr/>
        </p:nvSpPr>
        <p:spPr bwMode="auto">
          <a:xfrm>
            <a:off x="179388" y="338138"/>
            <a:ext cx="3997325" cy="3170237"/>
          </a:xfrm>
          <a:prstGeom prst="rect">
            <a:avLst/>
          </a:prstGeom>
          <a:noFill/>
          <a:ln w="9525">
            <a:noFill/>
            <a:miter lim="800000"/>
            <a:headEnd/>
            <a:tailEnd/>
          </a:ln>
          <a:effectLst/>
        </p:spPr>
        <p:txBody>
          <a:bodyPr>
            <a:spAutoFit/>
          </a:bodyPr>
          <a:lstStyle/>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已知</a:t>
            </a:r>
            <a:r>
              <a:rPr lang="en-US" altLang="zh-CN" sz="2500" b="1">
                <a:ea typeface="华文新魏" pitchFamily="2" charset="-122"/>
                <a:cs typeface="Times New Roman" pitchFamily="18" charset="0"/>
              </a:rPr>
              <a:t>H</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(g)+ O</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(g)</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H</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O(1)</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H</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O(1)</a:t>
            </a:r>
            <a:r>
              <a:rPr lang="zh-CN" altLang="zh-CN" sz="2500" b="1">
                <a:ea typeface="华文新魏" pitchFamily="2" charset="-122"/>
                <a:cs typeface="Times New Roman" pitchFamily="18" charset="0"/>
              </a:rPr>
              <a:t>的</a:t>
            </a:r>
            <a:r>
              <a:rPr lang="en-US" altLang="zh-CN" sz="2500" b="1">
                <a:ea typeface="华文新魏" pitchFamily="2" charset="-122"/>
                <a:cs typeface="Times New Roman" pitchFamily="18" charset="0"/>
              </a:rPr>
              <a:t>Δ</a:t>
            </a:r>
            <a:r>
              <a:rPr lang="en-US" altLang="zh-CN" sz="2500" b="1" baseline="-25000">
                <a:ea typeface="华文新魏" pitchFamily="2" charset="-122"/>
                <a:cs typeface="Times New Roman" pitchFamily="18" charset="0"/>
              </a:rPr>
              <a:t>f</a:t>
            </a:r>
            <a:r>
              <a:rPr lang="en-US" altLang="zh-CN" sz="2500" b="1" i="1">
                <a:ea typeface="华文新魏" pitchFamily="2" charset="-122"/>
                <a:cs typeface="Times New Roman" pitchFamily="18" charset="0"/>
              </a:rPr>
              <a:t>H</a:t>
            </a:r>
            <a:r>
              <a:rPr lang="en-US" altLang="zh-CN" sz="2500" b="1" baseline="-25000">
                <a:ea typeface="华文新魏" pitchFamily="2" charset="-122"/>
                <a:cs typeface="Times New Roman" pitchFamily="18" charset="0"/>
              </a:rPr>
              <a:t>m</a:t>
            </a:r>
            <a:r>
              <a:rPr lang="en-US" altLang="zh-CN" sz="2500" b="1" baseline="30000">
                <a:ea typeface="华文新魏" pitchFamily="2" charset="-122"/>
                <a:cs typeface="Times New Roman" pitchFamily="18" charset="0"/>
              </a:rPr>
              <a:t> </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-286kJ·mo1</a:t>
            </a:r>
            <a:r>
              <a:rPr lang="en-US" altLang="zh-CN" sz="2500" b="1" baseline="30000">
                <a:ea typeface="华文新魏" pitchFamily="2" charset="-122"/>
                <a:cs typeface="Times New Roman" pitchFamily="18" charset="0"/>
              </a:rPr>
              <a:t>-1</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H-H</a:t>
            </a:r>
            <a:r>
              <a:rPr lang="zh-CN" altLang="zh-CN" sz="2500" b="1">
                <a:ea typeface="华文新魏" pitchFamily="2" charset="-122"/>
                <a:cs typeface="Times New Roman" pitchFamily="18" charset="0"/>
              </a:rPr>
              <a:t>键能＝</a:t>
            </a:r>
            <a:r>
              <a:rPr lang="en-US" altLang="zh-CN" sz="2500" b="1">
                <a:ea typeface="华文新魏" pitchFamily="2" charset="-122"/>
                <a:cs typeface="Times New Roman" pitchFamily="18" charset="0"/>
              </a:rPr>
              <a:t>436 kJ·mo1</a:t>
            </a:r>
            <a:r>
              <a:rPr lang="en-US" altLang="zh-CN" sz="2500" b="1" baseline="30000">
                <a:ea typeface="华文新魏" pitchFamily="2" charset="-122"/>
                <a:cs typeface="Times New Roman" pitchFamily="18" charset="0"/>
              </a:rPr>
              <a:t>-1</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O=O</a:t>
            </a:r>
            <a:r>
              <a:rPr lang="zh-CN" altLang="zh-CN" sz="2500" b="1">
                <a:ea typeface="华文新魏" pitchFamily="2" charset="-122"/>
                <a:cs typeface="Times New Roman" pitchFamily="18" charset="0"/>
              </a:rPr>
              <a:t>的键能＝</a:t>
            </a:r>
            <a:r>
              <a:rPr lang="en-US" altLang="zh-CN" sz="2500" b="1">
                <a:ea typeface="华文新魏" pitchFamily="2" charset="-122"/>
                <a:cs typeface="Times New Roman" pitchFamily="18" charset="0"/>
              </a:rPr>
              <a:t>498 kJ·mo1</a:t>
            </a:r>
            <a:r>
              <a:rPr lang="en-US" altLang="zh-CN" sz="2500" b="1" baseline="30000">
                <a:ea typeface="华文新魏" pitchFamily="2" charset="-122"/>
                <a:cs typeface="Times New Roman" pitchFamily="18" charset="0"/>
              </a:rPr>
              <a:t>-1</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H</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O(g) → H</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O(1)</a:t>
            </a:r>
            <a:r>
              <a:rPr lang="zh-CN" altLang="zh-CN" sz="2500" b="1">
                <a:ea typeface="华文新魏" pitchFamily="2" charset="-122"/>
                <a:cs typeface="Times New Roman" pitchFamily="18" charset="0"/>
              </a:rPr>
              <a:t>的</a:t>
            </a:r>
            <a:r>
              <a:rPr lang="en-US" altLang="zh-CN" sz="2500" b="1">
                <a:ea typeface="华文新魏" pitchFamily="2" charset="-122"/>
                <a:cs typeface="Times New Roman" pitchFamily="18" charset="0"/>
              </a:rPr>
              <a:t>Δ</a:t>
            </a:r>
            <a:r>
              <a:rPr lang="en-US" altLang="zh-CN" sz="2500" b="1" baseline="-25000">
                <a:ea typeface="华文新魏" pitchFamily="2" charset="-122"/>
                <a:cs typeface="Times New Roman" pitchFamily="18" charset="0"/>
              </a:rPr>
              <a:t>r</a:t>
            </a:r>
            <a:r>
              <a:rPr lang="en-US" altLang="zh-CN" sz="2500" b="1" i="1">
                <a:ea typeface="华文新魏" pitchFamily="2" charset="-122"/>
                <a:cs typeface="Times New Roman" pitchFamily="18" charset="0"/>
              </a:rPr>
              <a:t>H</a:t>
            </a:r>
            <a:r>
              <a:rPr lang="en-US" altLang="zh-CN" sz="2500" b="1" baseline="-25000">
                <a:ea typeface="华文新魏" pitchFamily="2" charset="-122"/>
                <a:cs typeface="Times New Roman" pitchFamily="18" charset="0"/>
              </a:rPr>
              <a:t>m</a:t>
            </a:r>
            <a:r>
              <a:rPr lang="en-US" altLang="zh-CN" sz="2500" b="1" baseline="30000">
                <a:ea typeface="华文新魏" pitchFamily="2" charset="-122"/>
                <a:cs typeface="Times New Roman" pitchFamily="18" charset="0"/>
              </a:rPr>
              <a:t> </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- 42 kJ·mo1</a:t>
            </a:r>
            <a:r>
              <a:rPr lang="en-US" altLang="zh-CN" sz="2500" b="1" baseline="30000">
                <a:ea typeface="华文新魏" pitchFamily="2" charset="-122"/>
                <a:cs typeface="Times New Roman" pitchFamily="18" charset="0"/>
              </a:rPr>
              <a:t>-1</a:t>
            </a:r>
            <a:r>
              <a:rPr lang="zh-CN" altLang="zh-CN" sz="2500" b="1">
                <a:ea typeface="华文新魏" pitchFamily="2" charset="-122"/>
                <a:cs typeface="Times New Roman" pitchFamily="18" charset="0"/>
              </a:rPr>
              <a:t>，试计算</a:t>
            </a:r>
            <a:r>
              <a:rPr lang="en-US" altLang="zh-CN" sz="2500" b="1">
                <a:ea typeface="华文新魏" pitchFamily="2" charset="-122"/>
                <a:cs typeface="Times New Roman" pitchFamily="18" charset="0"/>
              </a:rPr>
              <a:t>O—H</a:t>
            </a:r>
            <a:r>
              <a:rPr lang="zh-CN" altLang="zh-CN" sz="2500" b="1">
                <a:ea typeface="华文新魏" pitchFamily="2" charset="-122"/>
                <a:cs typeface="Times New Roman" pitchFamily="18" charset="0"/>
              </a:rPr>
              <a:t>键的键能</a:t>
            </a:r>
            <a:r>
              <a:rPr lang="en-US" altLang="zh-CN" sz="2500" b="1">
                <a:ea typeface="华文新魏" pitchFamily="2" charset="-122"/>
                <a:cs typeface="Times New Roman" pitchFamily="18" charset="0"/>
              </a:rPr>
              <a:t>.</a:t>
            </a:r>
            <a:endParaRPr lang="zh-CN" altLang="zh-CN" sz="2500" b="1">
              <a:ea typeface="华文新魏" pitchFamily="2" charset="-122"/>
              <a:cs typeface="Times New Roman" pitchFamily="18" charset="0"/>
            </a:endParaRPr>
          </a:p>
        </p:txBody>
      </p:sp>
      <p:sp>
        <p:nvSpPr>
          <p:cNvPr id="11267" name="Text Box 39"/>
          <p:cNvSpPr txBox="1">
            <a:spLocks noChangeArrowheads="1"/>
          </p:cNvSpPr>
          <p:nvPr/>
        </p:nvSpPr>
        <p:spPr bwMode="auto">
          <a:xfrm>
            <a:off x="179388" y="358775"/>
            <a:ext cx="1836737" cy="477838"/>
          </a:xfrm>
          <a:prstGeom prst="rect">
            <a:avLst/>
          </a:prstGeom>
          <a:noFill/>
          <a:ln w="9525" algn="ctr">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习题</a:t>
            </a:r>
            <a:r>
              <a:rPr lang="en-US" altLang="zh-CN" sz="2500" b="1">
                <a:solidFill>
                  <a:srgbClr val="FFFF00"/>
                </a:solidFill>
                <a:ea typeface="华文新魏" pitchFamily="2" charset="-122"/>
                <a:cs typeface="Times New Roman" pitchFamily="18" charset="0"/>
              </a:rPr>
              <a:t>8-7</a:t>
            </a:r>
            <a:r>
              <a:rPr lang="zh-CN" altLang="en-US" sz="2500" b="1">
                <a:solidFill>
                  <a:srgbClr val="FFFF00"/>
                </a:solidFill>
                <a:ea typeface="华文新魏" pitchFamily="2" charset="-122"/>
                <a:cs typeface="Times New Roman" pitchFamily="18" charset="0"/>
              </a:rPr>
              <a:t>：</a:t>
            </a:r>
          </a:p>
        </p:txBody>
      </p:sp>
      <p:sp>
        <p:nvSpPr>
          <p:cNvPr id="7" name="Rectangle 38"/>
          <p:cNvSpPr>
            <a:spLocks noChangeArrowheads="1"/>
          </p:cNvSpPr>
          <p:nvPr/>
        </p:nvSpPr>
        <p:spPr bwMode="auto">
          <a:xfrm>
            <a:off x="4608513" y="287338"/>
            <a:ext cx="6627812" cy="2786062"/>
          </a:xfrm>
          <a:prstGeom prst="rect">
            <a:avLst/>
          </a:prstGeom>
          <a:noFill/>
          <a:ln w="9525">
            <a:noFill/>
            <a:miter lim="800000"/>
            <a:headEnd/>
            <a:tailEnd/>
          </a:ln>
          <a:effectLst/>
        </p:spPr>
        <p:txBody>
          <a:bodyPr>
            <a:spAutoFit/>
          </a:bodyPr>
          <a:lstStyle/>
          <a:p>
            <a:pPr eaLnBrk="0" hangingPunct="0"/>
            <a:endParaRPr lang="en-US" altLang="zh-CN" sz="2500" b="1">
              <a:ea typeface="华文新魏" pitchFamily="2" charset="-122"/>
              <a:cs typeface="Times New Roman" pitchFamily="18" charset="0"/>
            </a:endParaRPr>
          </a:p>
          <a:p>
            <a:pPr eaLnBrk="0" hangingPunct="0"/>
            <a:r>
              <a:rPr lang="zh-CN" altLang="zh-CN" sz="2500" b="1">
                <a:ea typeface="华文新魏" pitchFamily="2" charset="-122"/>
                <a:cs typeface="Times New Roman" pitchFamily="18" charset="0"/>
              </a:rPr>
              <a:t>的</a:t>
            </a:r>
            <a:r>
              <a:rPr lang="en-US" altLang="zh-CN" sz="2500" b="1">
                <a:ea typeface="华文新魏" pitchFamily="2" charset="-122"/>
                <a:cs typeface="Times New Roman" pitchFamily="18" charset="0"/>
              </a:rPr>
              <a:t>Δ</a:t>
            </a:r>
            <a:r>
              <a:rPr lang="en-US" altLang="zh-CN" sz="2500" b="1" baseline="-25000">
                <a:ea typeface="华文新魏" pitchFamily="2" charset="-122"/>
                <a:cs typeface="Times New Roman" pitchFamily="18" charset="0"/>
              </a:rPr>
              <a:t>r</a:t>
            </a:r>
            <a:r>
              <a:rPr lang="en-US" altLang="zh-CN" sz="2500" b="1" i="1">
                <a:ea typeface="华文新魏" pitchFamily="2" charset="-122"/>
                <a:cs typeface="Times New Roman" pitchFamily="18" charset="0"/>
              </a:rPr>
              <a:t>H</a:t>
            </a:r>
            <a:r>
              <a:rPr lang="en-US" altLang="zh-CN" sz="2500" b="1" baseline="-25000">
                <a:ea typeface="华文新魏" pitchFamily="2" charset="-122"/>
                <a:cs typeface="Times New Roman" pitchFamily="18" charset="0"/>
              </a:rPr>
              <a:t>m</a:t>
            </a:r>
            <a:r>
              <a:rPr lang="zh-CN" altLang="zh-CN" sz="2500" b="1">
                <a:ea typeface="华文新魏" pitchFamily="2" charset="-122"/>
                <a:cs typeface="Times New Roman" pitchFamily="18" charset="0"/>
              </a:rPr>
              <a:t>减去的反应式②的</a:t>
            </a:r>
            <a:r>
              <a:rPr lang="en-US" altLang="zh-CN" sz="2500" b="1">
                <a:ea typeface="华文新魏" pitchFamily="2" charset="-122"/>
                <a:cs typeface="Times New Roman" pitchFamily="18" charset="0"/>
              </a:rPr>
              <a:t>Δ</a:t>
            </a:r>
            <a:r>
              <a:rPr lang="en-US" altLang="zh-CN" sz="2500" b="1" baseline="-25000">
                <a:ea typeface="华文新魏" pitchFamily="2" charset="-122"/>
                <a:cs typeface="Times New Roman" pitchFamily="18" charset="0"/>
              </a:rPr>
              <a:t>r</a:t>
            </a:r>
            <a:r>
              <a:rPr lang="en-US" altLang="zh-CN" sz="2500" b="1" i="1">
                <a:ea typeface="华文新魏" pitchFamily="2" charset="-122"/>
                <a:cs typeface="Times New Roman" pitchFamily="18" charset="0"/>
              </a:rPr>
              <a:t>H</a:t>
            </a:r>
            <a:r>
              <a:rPr lang="en-US" altLang="zh-CN" sz="2500" b="1" baseline="-25000">
                <a:ea typeface="华文新魏" pitchFamily="2" charset="-122"/>
                <a:cs typeface="Times New Roman" pitchFamily="18" charset="0"/>
              </a:rPr>
              <a:t>m</a:t>
            </a:r>
            <a:r>
              <a:rPr lang="en-US" altLang="zh-CN" sz="2500" b="1" baseline="30000">
                <a:ea typeface="华文新魏" pitchFamily="2" charset="-122"/>
                <a:cs typeface="Times New Roman" pitchFamily="18" charset="0"/>
              </a:rPr>
              <a:t> </a:t>
            </a:r>
            <a:r>
              <a:rPr lang="en-US" altLang="zh-CN" sz="2500" b="1">
                <a:ea typeface="华文新魏" pitchFamily="2" charset="-122"/>
                <a:cs typeface="Times New Roman" pitchFamily="18" charset="0"/>
              </a:rPr>
              <a:t>,</a:t>
            </a:r>
            <a:r>
              <a:rPr lang="zh-CN" altLang="zh-CN" sz="2500" b="1">
                <a:ea typeface="华文新魏" pitchFamily="2" charset="-122"/>
                <a:cs typeface="Times New Roman" pitchFamily="18" charset="0"/>
              </a:rPr>
              <a:t>即可得到反应式③的</a:t>
            </a:r>
            <a:r>
              <a:rPr lang="en-US" altLang="zh-CN" sz="2500" b="1">
                <a:ea typeface="华文新魏" pitchFamily="2" charset="-122"/>
                <a:cs typeface="Times New Roman" pitchFamily="18" charset="0"/>
              </a:rPr>
              <a:t>Δ</a:t>
            </a:r>
            <a:r>
              <a:rPr lang="en-US" altLang="zh-CN" sz="2500" b="1" baseline="-25000">
                <a:ea typeface="华文新魏" pitchFamily="2" charset="-122"/>
                <a:cs typeface="Times New Roman" pitchFamily="18" charset="0"/>
              </a:rPr>
              <a:t>r</a:t>
            </a:r>
            <a:r>
              <a:rPr lang="en-US" altLang="zh-CN" sz="2500" b="1" i="1">
                <a:ea typeface="华文新魏" pitchFamily="2" charset="-122"/>
                <a:cs typeface="Times New Roman" pitchFamily="18" charset="0"/>
              </a:rPr>
              <a:t>H</a:t>
            </a:r>
            <a:r>
              <a:rPr lang="en-US" altLang="zh-CN" sz="2500" b="1" baseline="-25000">
                <a:ea typeface="华文新魏" pitchFamily="2" charset="-122"/>
                <a:cs typeface="Times New Roman" pitchFamily="18" charset="0"/>
              </a:rPr>
              <a:t>m</a:t>
            </a:r>
            <a:r>
              <a:rPr lang="en-US" altLang="zh-CN" sz="2500" b="1" baseline="30000">
                <a:ea typeface="华文新魏" pitchFamily="2" charset="-122"/>
                <a:cs typeface="Times New Roman" pitchFamily="18" charset="0"/>
              </a:rPr>
              <a:t> </a:t>
            </a:r>
            <a:r>
              <a:rPr lang="en-US" altLang="zh-CN" sz="2500" b="1">
                <a:ea typeface="华文新魏" pitchFamily="2" charset="-122"/>
                <a:cs typeface="Times New Roman" pitchFamily="18" charset="0"/>
              </a:rPr>
              <a:t>.</a:t>
            </a:r>
            <a:endParaRPr lang="zh-CN" altLang="en-US" sz="2500" b="1">
              <a:ea typeface="华文新魏" pitchFamily="2" charset="-122"/>
              <a:cs typeface="Times New Roman" pitchFamily="18" charset="0"/>
            </a:endParaRPr>
          </a:p>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化学反应的热效应</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即标准摩尔反应焓变</a:t>
            </a:r>
            <a:r>
              <a:rPr lang="en-US" altLang="zh-CN" sz="2500" b="1">
                <a:ea typeface="华文新魏" pitchFamily="2" charset="-122"/>
                <a:cs typeface="Times New Roman" pitchFamily="18" charset="0"/>
              </a:rPr>
              <a:t>Δ</a:t>
            </a:r>
            <a:r>
              <a:rPr lang="en-US" altLang="zh-CN" sz="2500" b="1" baseline="-25000">
                <a:ea typeface="华文新魏" pitchFamily="2" charset="-122"/>
                <a:cs typeface="Times New Roman" pitchFamily="18" charset="0"/>
              </a:rPr>
              <a:t>r</a:t>
            </a:r>
            <a:r>
              <a:rPr lang="en-US" altLang="zh-CN" sz="2500" b="1" i="1">
                <a:ea typeface="华文新魏" pitchFamily="2" charset="-122"/>
                <a:cs typeface="Times New Roman" pitchFamily="18" charset="0"/>
              </a:rPr>
              <a:t>H</a:t>
            </a:r>
            <a:r>
              <a:rPr lang="en-US" altLang="zh-CN" sz="2500" b="1" baseline="-25000">
                <a:ea typeface="华文新魏" pitchFamily="2" charset="-122"/>
                <a:cs typeface="Times New Roman" pitchFamily="18" charset="0"/>
              </a:rPr>
              <a:t>m</a:t>
            </a:r>
            <a:r>
              <a:rPr lang="zh-CN" altLang="zh-CN" sz="2500" b="1">
                <a:ea typeface="华文新魏" pitchFamily="2" charset="-122"/>
                <a:cs typeface="Times New Roman" pitchFamily="18" charset="0"/>
              </a:rPr>
              <a:t>近似等于所有反应物的键能总和减去所有生成物的键能总和</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可利用之前计算得到的反应式③的</a:t>
            </a:r>
            <a:r>
              <a:rPr lang="en-US" altLang="zh-CN" sz="2500" b="1">
                <a:ea typeface="华文新魏" pitchFamily="2" charset="-122"/>
                <a:cs typeface="Times New Roman" pitchFamily="18" charset="0"/>
              </a:rPr>
              <a:t>Δ</a:t>
            </a:r>
            <a:r>
              <a:rPr lang="en-US" altLang="zh-CN" sz="2500" b="1" baseline="-25000">
                <a:ea typeface="华文新魏" pitchFamily="2" charset="-122"/>
                <a:cs typeface="Times New Roman" pitchFamily="18" charset="0"/>
              </a:rPr>
              <a:t>r</a:t>
            </a:r>
            <a:r>
              <a:rPr lang="en-US" altLang="zh-CN" sz="2500" b="1" i="1">
                <a:ea typeface="华文新魏" pitchFamily="2" charset="-122"/>
                <a:cs typeface="Times New Roman" pitchFamily="18" charset="0"/>
              </a:rPr>
              <a:t>H</a:t>
            </a:r>
            <a:r>
              <a:rPr lang="en-US" altLang="zh-CN" sz="2500" b="1" baseline="-25000">
                <a:ea typeface="华文新魏" pitchFamily="2" charset="-122"/>
                <a:cs typeface="Times New Roman" pitchFamily="18" charset="0"/>
              </a:rPr>
              <a:t>m</a:t>
            </a:r>
            <a:r>
              <a:rPr lang="zh-CN" altLang="zh-CN" sz="2500" b="1">
                <a:ea typeface="华文新魏" pitchFamily="2" charset="-122"/>
                <a:cs typeface="Times New Roman" pitchFamily="18" charset="0"/>
              </a:rPr>
              <a:t>及已知条件</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计算</a:t>
            </a:r>
            <a:r>
              <a:rPr lang="en-US" altLang="zh-CN" sz="2500" b="1">
                <a:ea typeface="华文新魏" pitchFamily="2" charset="-122"/>
                <a:cs typeface="Times New Roman" pitchFamily="18" charset="0"/>
              </a:rPr>
              <a:t>O-H</a:t>
            </a:r>
            <a:r>
              <a:rPr lang="zh-CN" altLang="zh-CN" sz="2500" b="1">
                <a:ea typeface="华文新魏" pitchFamily="2" charset="-122"/>
                <a:cs typeface="Times New Roman" pitchFamily="18" charset="0"/>
              </a:rPr>
              <a:t>键的键能</a:t>
            </a:r>
            <a:r>
              <a:rPr lang="en-US" altLang="zh-CN" sz="2500" b="1">
                <a:ea typeface="华文新魏" pitchFamily="2" charset="-122"/>
                <a:cs typeface="Times New Roman" pitchFamily="18" charset="0"/>
              </a:rPr>
              <a:t>.</a:t>
            </a:r>
            <a:endParaRPr lang="zh-CN" altLang="en-US" sz="2500" b="1">
              <a:ea typeface="华文新魏" pitchFamily="2" charset="-122"/>
              <a:cs typeface="Times New Roman" pitchFamily="18" charset="0"/>
            </a:endParaRPr>
          </a:p>
        </p:txBody>
      </p:sp>
      <p:sp>
        <p:nvSpPr>
          <p:cNvPr id="8" name="Rectangle 38"/>
          <p:cNvSpPr>
            <a:spLocks noChangeArrowheads="1"/>
          </p:cNvSpPr>
          <p:nvPr/>
        </p:nvSpPr>
        <p:spPr bwMode="auto">
          <a:xfrm>
            <a:off x="4608513" y="287338"/>
            <a:ext cx="2376487" cy="477837"/>
          </a:xfrm>
          <a:prstGeom prst="rect">
            <a:avLst/>
          </a:prstGeom>
          <a:noFill/>
          <a:ln w="9525">
            <a:noFill/>
            <a:miter lim="800000"/>
            <a:headEnd/>
            <a:tailEnd/>
          </a:ln>
          <a:effectLst/>
        </p:spPr>
        <p:txBody>
          <a:bodyPr>
            <a:spAutoFit/>
          </a:bodyPr>
          <a:lstStyle/>
          <a:p>
            <a:pPr marL="342900" indent="-342900" eaLnBrk="0" hangingPunct="0"/>
            <a:r>
              <a:rPr lang="zh-CN" altLang="zh-CN" sz="2500" b="1">
                <a:solidFill>
                  <a:srgbClr val="FFFF00"/>
                </a:solidFill>
                <a:ea typeface="华文新魏" pitchFamily="2" charset="-122"/>
                <a:cs typeface="Times New Roman" pitchFamily="18" charset="0"/>
              </a:rPr>
              <a:t>解题思路</a:t>
            </a:r>
            <a:r>
              <a:rPr lang="en-US" altLang="zh-CN" sz="2500" b="1">
                <a:solidFill>
                  <a:srgbClr val="FFFF00"/>
                </a:solidFill>
                <a:ea typeface="华文新魏" pitchFamily="2" charset="-122"/>
                <a:cs typeface="Times New Roman" pitchFamily="18" charset="0"/>
              </a:rPr>
              <a:t>(</a:t>
            </a:r>
            <a:r>
              <a:rPr lang="zh-CN" altLang="en-US" sz="2500" b="1">
                <a:solidFill>
                  <a:srgbClr val="FFFF00"/>
                </a:solidFill>
                <a:ea typeface="华文新魏" pitchFamily="2" charset="-122"/>
                <a:cs typeface="Times New Roman" pitchFamily="18" charset="0"/>
              </a:rPr>
              <a:t>续</a:t>
            </a:r>
            <a:r>
              <a:rPr lang="en-US" altLang="zh-CN" sz="2500" b="1">
                <a:solidFill>
                  <a:srgbClr val="FFFF00"/>
                </a:solidFill>
                <a:ea typeface="华文新魏" pitchFamily="2" charset="-122"/>
                <a:cs typeface="Times New Roman" pitchFamily="18" charset="0"/>
              </a:rPr>
              <a:t>)</a:t>
            </a:r>
            <a:r>
              <a:rPr lang="zh-CN" altLang="zh-CN" sz="2500" b="1">
                <a:solidFill>
                  <a:srgbClr val="FFFF00"/>
                </a:solidFill>
                <a:ea typeface="华文新魏" pitchFamily="2" charset="-122"/>
                <a:cs typeface="Times New Roman" pitchFamily="18" charset="0"/>
              </a:rPr>
              <a:t>：</a:t>
            </a:r>
          </a:p>
        </p:txBody>
      </p:sp>
      <p:sp>
        <p:nvSpPr>
          <p:cNvPr id="9" name="Rectangle 38"/>
          <p:cNvSpPr>
            <a:spLocks noChangeArrowheads="1"/>
          </p:cNvSpPr>
          <p:nvPr/>
        </p:nvSpPr>
        <p:spPr bwMode="auto">
          <a:xfrm>
            <a:off x="4584700" y="3117850"/>
            <a:ext cx="2735263" cy="473075"/>
          </a:xfrm>
          <a:prstGeom prst="rect">
            <a:avLst/>
          </a:prstGeom>
          <a:noFill/>
          <a:ln w="9525">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参考答案：</a:t>
            </a:r>
          </a:p>
        </p:txBody>
      </p:sp>
      <p:sp>
        <p:nvSpPr>
          <p:cNvPr id="10" name="矩形 9"/>
          <p:cNvSpPr>
            <a:spLocks noChangeArrowheads="1"/>
          </p:cNvSpPr>
          <p:nvPr/>
        </p:nvSpPr>
        <p:spPr bwMode="auto">
          <a:xfrm>
            <a:off x="6121400" y="3122613"/>
            <a:ext cx="2808288" cy="477837"/>
          </a:xfrm>
          <a:prstGeom prst="rect">
            <a:avLst/>
          </a:prstGeom>
          <a:noFill/>
          <a:ln w="9525">
            <a:noFill/>
            <a:miter lim="800000"/>
            <a:headEnd/>
            <a:tailEnd/>
          </a:ln>
        </p:spPr>
        <p:txBody>
          <a:bodyPr>
            <a:spAutoFit/>
          </a:bodyPr>
          <a:lstStyle/>
          <a:p>
            <a:r>
              <a:rPr lang="en-US" altLang="zh-CN" sz="2500" b="1"/>
              <a:t>464.5 kJ·mol</a:t>
            </a:r>
            <a:r>
              <a:rPr lang="en-US" altLang="zh-CN" sz="2500" b="1" baseline="30000"/>
              <a:t>-1</a:t>
            </a:r>
            <a:r>
              <a:rPr lang="en-US" altLang="zh-CN" sz="2500" b="1"/>
              <a:t> </a:t>
            </a:r>
            <a:endParaRPr lang="zh-CN" altLang="zh-CN" sz="2500" b="1">
              <a:ea typeface="华文新魏" pitchFamily="2" charset="-122"/>
              <a:cs typeface="Times New Roman" pitchFamily="18" charset="0"/>
            </a:endParaRP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linds(horizontal)">
                                      <p:cBhvr>
                                        <p:cTn id="12" dur="500"/>
                                        <p:tgtEl>
                                          <p:spTgt spid="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blinds(horizontal)">
                                      <p:cBhvr>
                                        <p:cTn id="17" dur="500"/>
                                        <p:tgtEl>
                                          <p:spTgt spid="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up)">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8" grpId="0"/>
      <p:bldP spid="9" grpId="0" autoUpdateAnimBg="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0"/>
          <p:cNvSpPr>
            <a:spLocks noChangeArrowheads="1"/>
          </p:cNvSpPr>
          <p:nvPr/>
        </p:nvSpPr>
        <p:spPr bwMode="auto">
          <a:xfrm>
            <a:off x="179388" y="338138"/>
            <a:ext cx="3997325" cy="1631950"/>
          </a:xfrm>
          <a:prstGeom prst="rect">
            <a:avLst/>
          </a:prstGeom>
          <a:noFill/>
          <a:ln w="9525">
            <a:noFill/>
            <a:miter lim="800000"/>
            <a:headEnd/>
            <a:tailEnd/>
          </a:ln>
          <a:effectLst/>
        </p:spPr>
        <p:txBody>
          <a:bodyPr>
            <a:spAutoFit/>
          </a:bodyPr>
          <a:lstStyle/>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试用分子轨道理论说明为何</a:t>
            </a:r>
            <a:r>
              <a:rPr lang="en-US" altLang="zh-CN" sz="2500" b="1">
                <a:ea typeface="华文新魏" pitchFamily="2" charset="-122"/>
                <a:cs typeface="Times New Roman" pitchFamily="18" charset="0"/>
              </a:rPr>
              <a:t>N</a:t>
            </a:r>
            <a:r>
              <a:rPr lang="en-US" altLang="zh-CN" sz="2500" b="1" baseline="-25000">
                <a:ea typeface="华文新魏" pitchFamily="2" charset="-122"/>
                <a:cs typeface="Times New Roman" pitchFamily="18" charset="0"/>
              </a:rPr>
              <a:t>2</a:t>
            </a:r>
            <a:r>
              <a:rPr lang="zh-CN" altLang="zh-CN" sz="2500" b="1">
                <a:ea typeface="华文新魏" pitchFamily="2" charset="-122"/>
                <a:cs typeface="Times New Roman" pitchFamily="18" charset="0"/>
              </a:rPr>
              <a:t>分子比</a:t>
            </a:r>
            <a:r>
              <a:rPr lang="en-US" altLang="zh-CN" sz="2500" b="1">
                <a:ea typeface="华文新魏" pitchFamily="2" charset="-122"/>
                <a:cs typeface="Times New Roman" pitchFamily="18" charset="0"/>
              </a:rPr>
              <a:t>N</a:t>
            </a:r>
            <a:r>
              <a:rPr lang="en-US" altLang="zh-CN" sz="2500" b="1" baseline="-25000">
                <a:ea typeface="华文新魏" pitchFamily="2" charset="-122"/>
                <a:cs typeface="Times New Roman" pitchFamily="18" charset="0"/>
              </a:rPr>
              <a:t>2</a:t>
            </a:r>
            <a:r>
              <a:rPr lang="en-US" altLang="zh-CN" sz="2500" b="1" baseline="30000">
                <a:ea typeface="华文新魏" pitchFamily="2" charset="-122"/>
                <a:cs typeface="Times New Roman" pitchFamily="18" charset="0"/>
              </a:rPr>
              <a:t>+</a:t>
            </a:r>
            <a:r>
              <a:rPr lang="zh-CN" altLang="zh-CN" sz="2500" b="1">
                <a:ea typeface="华文新魏" pitchFamily="2" charset="-122"/>
                <a:cs typeface="Times New Roman" pitchFamily="18" charset="0"/>
              </a:rPr>
              <a:t>离子稳定，而</a:t>
            </a:r>
            <a:r>
              <a:rPr lang="en-US" altLang="zh-CN" sz="2500" b="1">
                <a:ea typeface="华文新魏" pitchFamily="2" charset="-122"/>
                <a:cs typeface="Times New Roman" pitchFamily="18" charset="0"/>
              </a:rPr>
              <a:t>O</a:t>
            </a:r>
            <a:r>
              <a:rPr lang="en-US" altLang="zh-CN" sz="2500" b="1" baseline="-25000">
                <a:ea typeface="华文新魏" pitchFamily="2" charset="-122"/>
                <a:cs typeface="Times New Roman" pitchFamily="18" charset="0"/>
              </a:rPr>
              <a:t>2</a:t>
            </a:r>
            <a:r>
              <a:rPr lang="zh-CN" altLang="zh-CN" sz="2500" b="1">
                <a:ea typeface="华文新魏" pitchFamily="2" charset="-122"/>
                <a:cs typeface="Times New Roman" pitchFamily="18" charset="0"/>
              </a:rPr>
              <a:t>分子比</a:t>
            </a:r>
            <a:r>
              <a:rPr lang="en-US" altLang="zh-CN" sz="2500" b="1">
                <a:ea typeface="华文新魏" pitchFamily="2" charset="-122"/>
                <a:cs typeface="Times New Roman" pitchFamily="18" charset="0"/>
              </a:rPr>
              <a:t>O</a:t>
            </a:r>
            <a:r>
              <a:rPr lang="en-US" altLang="zh-CN" sz="2500" b="1" baseline="-25000">
                <a:ea typeface="华文新魏" pitchFamily="2" charset="-122"/>
                <a:cs typeface="Times New Roman" pitchFamily="18" charset="0"/>
              </a:rPr>
              <a:t>2</a:t>
            </a:r>
            <a:r>
              <a:rPr lang="en-US" altLang="zh-CN" sz="2500" b="1" baseline="30000">
                <a:ea typeface="华文新魏" pitchFamily="2" charset="-122"/>
                <a:cs typeface="Times New Roman" pitchFamily="18" charset="0"/>
              </a:rPr>
              <a:t>+</a:t>
            </a:r>
            <a:r>
              <a:rPr lang="zh-CN" altLang="zh-CN" sz="2500" b="1">
                <a:ea typeface="华文新魏" pitchFamily="2" charset="-122"/>
                <a:cs typeface="Times New Roman" pitchFamily="18" charset="0"/>
              </a:rPr>
              <a:t>离子不稳定</a:t>
            </a:r>
            <a:r>
              <a:rPr lang="en-US" altLang="zh-CN" sz="2500" b="1">
                <a:ea typeface="华文新魏" pitchFamily="2" charset="-122"/>
                <a:cs typeface="Times New Roman" pitchFamily="18" charset="0"/>
              </a:rPr>
              <a:t>.</a:t>
            </a:r>
            <a:endParaRPr lang="zh-CN" altLang="zh-CN" sz="2500" b="1">
              <a:ea typeface="华文新魏" pitchFamily="2" charset="-122"/>
              <a:cs typeface="Times New Roman" pitchFamily="18" charset="0"/>
            </a:endParaRPr>
          </a:p>
        </p:txBody>
      </p:sp>
      <p:sp>
        <p:nvSpPr>
          <p:cNvPr id="12291" name="Text Box 39"/>
          <p:cNvSpPr txBox="1">
            <a:spLocks noChangeArrowheads="1"/>
          </p:cNvSpPr>
          <p:nvPr/>
        </p:nvSpPr>
        <p:spPr bwMode="auto">
          <a:xfrm>
            <a:off x="179388" y="358775"/>
            <a:ext cx="1836737" cy="477838"/>
          </a:xfrm>
          <a:prstGeom prst="rect">
            <a:avLst/>
          </a:prstGeom>
          <a:noFill/>
          <a:ln w="9525" algn="ctr">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习题</a:t>
            </a:r>
            <a:r>
              <a:rPr lang="en-US" altLang="zh-CN" sz="2500" b="1">
                <a:solidFill>
                  <a:srgbClr val="FFFF00"/>
                </a:solidFill>
                <a:ea typeface="华文新魏" pitchFamily="2" charset="-122"/>
                <a:cs typeface="Times New Roman" pitchFamily="18" charset="0"/>
              </a:rPr>
              <a:t>8-8</a:t>
            </a:r>
            <a:r>
              <a:rPr lang="zh-CN" altLang="en-US" sz="2500" b="1">
                <a:solidFill>
                  <a:srgbClr val="FFFF00"/>
                </a:solidFill>
                <a:ea typeface="华文新魏" pitchFamily="2" charset="-122"/>
                <a:cs typeface="Times New Roman" pitchFamily="18" charset="0"/>
              </a:rPr>
              <a:t>：</a:t>
            </a:r>
          </a:p>
        </p:txBody>
      </p:sp>
      <p:sp>
        <p:nvSpPr>
          <p:cNvPr id="5" name="Rectangle 38"/>
          <p:cNvSpPr>
            <a:spLocks noChangeArrowheads="1"/>
          </p:cNvSpPr>
          <p:nvPr/>
        </p:nvSpPr>
        <p:spPr bwMode="auto">
          <a:xfrm>
            <a:off x="4608513" y="334963"/>
            <a:ext cx="6627812" cy="2400300"/>
          </a:xfrm>
          <a:prstGeom prst="rect">
            <a:avLst/>
          </a:prstGeom>
          <a:noFill/>
          <a:ln w="9525">
            <a:noFill/>
            <a:miter lim="800000"/>
            <a:headEnd/>
            <a:tailEnd/>
          </a:ln>
          <a:effectLst/>
        </p:spPr>
        <p:txBody>
          <a:bodyPr>
            <a:spAutoFit/>
          </a:bodyPr>
          <a:lstStyle/>
          <a:p>
            <a:pPr eaLnBrk="0" hangingPunct="0"/>
            <a:r>
              <a:rPr lang="zh-CN" altLang="en-US" sz="2500" b="1">
                <a:ea typeface="华文新魏" pitchFamily="2" charset="-122"/>
                <a:cs typeface="Times New Roman" pitchFamily="18" charset="0"/>
              </a:rPr>
              <a:t>                  按照分子轨道理论的同核双原子分子轨道能级图，把相应的电子填入，然后计算键级；或者按照同核双原子分子轨道能级图，写出它们的分子轨道式，然后计算键级</a:t>
            </a:r>
            <a:r>
              <a:rPr lang="en-US" altLang="zh-CN" sz="2500" b="1">
                <a:ea typeface="华文新魏" pitchFamily="2" charset="-122"/>
                <a:cs typeface="Times New Roman" pitchFamily="18" charset="0"/>
              </a:rPr>
              <a:t>.</a:t>
            </a:r>
          </a:p>
          <a:p>
            <a:pPr eaLnBrk="0" hangingPunct="0"/>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键级越大，分子或分子离子越稳定；键级为零时，该分子或分子离子不存在</a:t>
            </a:r>
            <a:r>
              <a:rPr lang="en-US" altLang="zh-CN" sz="2500" b="1">
                <a:ea typeface="华文新魏" pitchFamily="2" charset="-122"/>
                <a:cs typeface="Times New Roman" pitchFamily="18" charset="0"/>
              </a:rPr>
              <a:t>.</a:t>
            </a:r>
            <a:endParaRPr lang="zh-CN" altLang="en-US" sz="2500" b="1">
              <a:ea typeface="华文新魏" pitchFamily="2" charset="-122"/>
              <a:cs typeface="Times New Roman" pitchFamily="18" charset="0"/>
            </a:endParaRPr>
          </a:p>
        </p:txBody>
      </p:sp>
      <p:sp>
        <p:nvSpPr>
          <p:cNvPr id="2" name="Rectangle 38"/>
          <p:cNvSpPr>
            <a:spLocks noChangeArrowheads="1"/>
          </p:cNvSpPr>
          <p:nvPr/>
        </p:nvSpPr>
        <p:spPr bwMode="auto">
          <a:xfrm>
            <a:off x="4608513" y="344488"/>
            <a:ext cx="1800225" cy="476250"/>
          </a:xfrm>
          <a:prstGeom prst="rect">
            <a:avLst/>
          </a:prstGeom>
          <a:noFill/>
          <a:ln w="9525">
            <a:noFill/>
            <a:miter lim="800000"/>
            <a:headEnd/>
            <a:tailEnd/>
          </a:ln>
          <a:effectLst/>
        </p:spPr>
        <p:txBody>
          <a:bodyPr>
            <a:spAutoFit/>
          </a:bodyPr>
          <a:lstStyle/>
          <a:p>
            <a:pPr marL="342900" indent="-342900" eaLnBrk="0" hangingPunct="0"/>
            <a:r>
              <a:rPr lang="zh-CN" altLang="zh-CN" sz="2500" b="1">
                <a:solidFill>
                  <a:srgbClr val="FFFF00"/>
                </a:solidFill>
                <a:ea typeface="华文新魏" pitchFamily="2" charset="-122"/>
                <a:cs typeface="Times New Roman" pitchFamily="18" charset="0"/>
              </a:rPr>
              <a:t>解题思路：</a:t>
            </a:r>
          </a:p>
        </p:txBody>
      </p:sp>
      <p:sp>
        <p:nvSpPr>
          <p:cNvPr id="9" name="Rectangle 38"/>
          <p:cNvSpPr>
            <a:spLocks noChangeArrowheads="1"/>
          </p:cNvSpPr>
          <p:nvPr/>
        </p:nvSpPr>
        <p:spPr bwMode="auto">
          <a:xfrm>
            <a:off x="4584700" y="2592388"/>
            <a:ext cx="2735263" cy="473075"/>
          </a:xfrm>
          <a:prstGeom prst="rect">
            <a:avLst/>
          </a:prstGeom>
          <a:noFill/>
          <a:ln w="9525">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参考答案：</a:t>
            </a:r>
          </a:p>
        </p:txBody>
      </p:sp>
      <p:sp>
        <p:nvSpPr>
          <p:cNvPr id="10" name="矩形 9"/>
          <p:cNvSpPr>
            <a:spLocks noChangeArrowheads="1"/>
          </p:cNvSpPr>
          <p:nvPr/>
        </p:nvSpPr>
        <p:spPr bwMode="auto">
          <a:xfrm>
            <a:off x="4608513" y="2974975"/>
            <a:ext cx="6624637" cy="3168650"/>
          </a:xfrm>
          <a:prstGeom prst="rect">
            <a:avLst/>
          </a:prstGeom>
          <a:noFill/>
          <a:ln w="9525">
            <a:noFill/>
            <a:miter lim="800000"/>
            <a:headEnd/>
            <a:tailEnd/>
          </a:ln>
        </p:spPr>
        <p:txBody>
          <a:bodyPr>
            <a:spAutoFit/>
          </a:bodyPr>
          <a:lstStyle/>
          <a:p>
            <a:pPr eaLnBrk="0" hangingPunct="0"/>
            <a:r>
              <a:rPr lang="en-US" altLang="zh-CN" sz="2500" b="1">
                <a:ea typeface="华文新魏" pitchFamily="2" charset="-122"/>
                <a:cs typeface="Times New Roman" pitchFamily="18" charset="0"/>
              </a:rPr>
              <a:t>N</a:t>
            </a:r>
            <a:r>
              <a:rPr lang="en-US" altLang="zh-CN" sz="2500" b="1" baseline="-25000">
                <a:ea typeface="华文新魏" pitchFamily="2" charset="-122"/>
                <a:cs typeface="Times New Roman" pitchFamily="18" charset="0"/>
              </a:rPr>
              <a:t>2  </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rPr>
              <a:t>KK</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2s</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i="1">
                <a:ea typeface="华文新魏" pitchFamily="2" charset="-122"/>
                <a:cs typeface="Times New Roman" pitchFamily="18" charset="0"/>
              </a:rPr>
              <a:t>*</a:t>
            </a:r>
            <a:r>
              <a:rPr lang="en-US" altLang="zh-CN" sz="2500" b="1" baseline="-25000">
                <a:ea typeface="华文新魏" pitchFamily="2" charset="-122"/>
                <a:cs typeface="Times New Roman" pitchFamily="18" charset="0"/>
              </a:rPr>
              <a:t>2s</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2py</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2pz</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2px</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键级</a:t>
            </a:r>
            <a:r>
              <a:rPr lang="en-US" altLang="zh-CN" sz="2500" b="1">
                <a:ea typeface="华文新魏" pitchFamily="2" charset="-122"/>
                <a:cs typeface="Times New Roman" pitchFamily="18" charset="0"/>
              </a:rPr>
              <a:t>=3;</a:t>
            </a:r>
            <a:endParaRPr lang="zh-CN" altLang="zh-CN" sz="2500" b="1">
              <a:ea typeface="华文新魏" pitchFamily="2" charset="-122"/>
              <a:cs typeface="Times New Roman" pitchFamily="18" charset="0"/>
            </a:endParaRPr>
          </a:p>
          <a:p>
            <a:pPr eaLnBrk="0" hangingPunct="0"/>
            <a:r>
              <a:rPr lang="en-US" altLang="zh-CN" sz="2500" b="1">
                <a:ea typeface="华文新魏" pitchFamily="2" charset="-122"/>
                <a:cs typeface="Times New Roman" pitchFamily="18" charset="0"/>
              </a:rPr>
              <a:t>N</a:t>
            </a:r>
            <a:r>
              <a:rPr lang="en-US" altLang="zh-CN" sz="2500" b="1" baseline="-25000">
                <a:ea typeface="华文新魏" pitchFamily="2" charset="-122"/>
                <a:cs typeface="Times New Roman" pitchFamily="18" charset="0"/>
              </a:rPr>
              <a:t>2</a:t>
            </a:r>
            <a:r>
              <a:rPr lang="en-US" altLang="zh-CN" sz="2500" b="1" baseline="30000">
                <a:ea typeface="华文新魏" pitchFamily="2" charset="-122"/>
                <a:cs typeface="Times New Roman" pitchFamily="18" charset="0"/>
              </a:rPr>
              <a:t>+ </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rPr>
              <a:t>KK</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2s</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i="1">
                <a:ea typeface="华文新魏" pitchFamily="2" charset="-122"/>
                <a:cs typeface="Times New Roman" pitchFamily="18" charset="0"/>
              </a:rPr>
              <a:t>*</a:t>
            </a:r>
            <a:r>
              <a:rPr lang="en-US" altLang="zh-CN" sz="2500" b="1" baseline="-25000">
                <a:ea typeface="华文新魏" pitchFamily="2" charset="-122"/>
                <a:cs typeface="Times New Roman" pitchFamily="18" charset="0"/>
              </a:rPr>
              <a:t>2s</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2py</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2pz</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2px</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1</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键级</a:t>
            </a:r>
            <a:r>
              <a:rPr lang="en-US" altLang="zh-CN" sz="2500" b="1">
                <a:ea typeface="华文新魏" pitchFamily="2" charset="-122"/>
                <a:cs typeface="Times New Roman" pitchFamily="18" charset="0"/>
              </a:rPr>
              <a:t>=   </a:t>
            </a:r>
          </a:p>
          <a:p>
            <a:pPr eaLnBrk="0" hangingPunct="0"/>
            <a:r>
              <a:rPr lang="en-US" altLang="zh-CN" sz="2500" b="1">
                <a:ea typeface="华文新魏" pitchFamily="2" charset="-122"/>
                <a:cs typeface="Times New Roman" pitchFamily="18" charset="0"/>
              </a:rPr>
              <a:t> 2.5; N</a:t>
            </a:r>
            <a:r>
              <a:rPr lang="en-US" altLang="zh-CN" sz="2500" b="1" baseline="-25000">
                <a:ea typeface="华文新魏" pitchFamily="2" charset="-122"/>
                <a:cs typeface="Times New Roman" pitchFamily="18" charset="0"/>
              </a:rPr>
              <a:t>2</a:t>
            </a:r>
            <a:r>
              <a:rPr lang="zh-CN" altLang="zh-CN" sz="2500" b="1">
                <a:ea typeface="华文新魏" pitchFamily="2" charset="-122"/>
                <a:cs typeface="Times New Roman" pitchFamily="18" charset="0"/>
              </a:rPr>
              <a:t>键级大于</a:t>
            </a:r>
            <a:r>
              <a:rPr lang="en-US" altLang="zh-CN" sz="2500" b="1">
                <a:ea typeface="华文新魏" pitchFamily="2" charset="-122"/>
                <a:cs typeface="Times New Roman" pitchFamily="18" charset="0"/>
              </a:rPr>
              <a:t>N</a:t>
            </a:r>
            <a:r>
              <a:rPr lang="en-US" altLang="zh-CN" sz="2500" b="1" baseline="-25000">
                <a:ea typeface="华文新魏" pitchFamily="2" charset="-122"/>
                <a:cs typeface="Times New Roman" pitchFamily="18" charset="0"/>
              </a:rPr>
              <a:t>2</a:t>
            </a:r>
            <a:r>
              <a:rPr lang="en-US" altLang="zh-CN" sz="2500" b="1" baseline="30000">
                <a:ea typeface="华文新魏" pitchFamily="2" charset="-122"/>
                <a:cs typeface="Times New Roman" pitchFamily="18" charset="0"/>
              </a:rPr>
              <a:t>+</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N </a:t>
            </a:r>
            <a:r>
              <a:rPr lang="en-US" altLang="zh-CN" sz="2500" b="1" baseline="-25000">
                <a:ea typeface="华文新魏" pitchFamily="2" charset="-122"/>
                <a:cs typeface="Times New Roman" pitchFamily="18" charset="0"/>
              </a:rPr>
              <a:t>2</a:t>
            </a:r>
            <a:r>
              <a:rPr lang="zh-CN" altLang="zh-CN" sz="2500" b="1">
                <a:ea typeface="华文新魏" pitchFamily="2" charset="-122"/>
                <a:cs typeface="Times New Roman" pitchFamily="18" charset="0"/>
              </a:rPr>
              <a:t>分子比</a:t>
            </a:r>
            <a:r>
              <a:rPr lang="en-US" altLang="zh-CN" sz="2500" b="1">
                <a:ea typeface="华文新魏" pitchFamily="2" charset="-122"/>
                <a:cs typeface="Times New Roman" pitchFamily="18" charset="0"/>
              </a:rPr>
              <a:t>N</a:t>
            </a:r>
            <a:r>
              <a:rPr lang="en-US" altLang="zh-CN" sz="2500" b="1" baseline="-25000">
                <a:ea typeface="华文新魏" pitchFamily="2" charset="-122"/>
                <a:cs typeface="Times New Roman" pitchFamily="18" charset="0"/>
              </a:rPr>
              <a:t>2</a:t>
            </a:r>
            <a:r>
              <a:rPr lang="en-US" altLang="zh-CN" sz="2500" b="1" baseline="30000">
                <a:ea typeface="华文新魏" pitchFamily="2" charset="-122"/>
                <a:cs typeface="Times New Roman" pitchFamily="18" charset="0"/>
              </a:rPr>
              <a:t>+</a:t>
            </a:r>
            <a:r>
              <a:rPr lang="zh-CN" altLang="zh-CN" sz="2500" b="1">
                <a:ea typeface="华文新魏" pitchFamily="2" charset="-122"/>
                <a:cs typeface="Times New Roman" pitchFamily="18" charset="0"/>
              </a:rPr>
              <a:t>离子稳定</a:t>
            </a:r>
            <a:r>
              <a:rPr lang="en-US" altLang="zh-CN" sz="2500" b="1">
                <a:ea typeface="华文新魏" pitchFamily="2" charset="-122"/>
                <a:cs typeface="Times New Roman" pitchFamily="18" charset="0"/>
              </a:rPr>
              <a:t>.</a:t>
            </a:r>
            <a:endParaRPr lang="zh-CN" altLang="zh-CN" sz="2500" b="1">
              <a:ea typeface="华文新魏" pitchFamily="2" charset="-122"/>
              <a:cs typeface="Times New Roman" pitchFamily="18" charset="0"/>
            </a:endParaRPr>
          </a:p>
          <a:p>
            <a:pPr eaLnBrk="0" hangingPunct="0"/>
            <a:r>
              <a:rPr lang="en-US" altLang="zh-CN" sz="2500" b="1">
                <a:ea typeface="华文新魏" pitchFamily="2" charset="-122"/>
                <a:cs typeface="Times New Roman" pitchFamily="18" charset="0"/>
              </a:rPr>
              <a:t>O</a:t>
            </a:r>
            <a:r>
              <a:rPr lang="en-US" altLang="zh-CN" sz="2500" b="1" baseline="-25000">
                <a:ea typeface="华文新魏" pitchFamily="2" charset="-122"/>
                <a:cs typeface="Times New Roman" pitchFamily="18" charset="0"/>
              </a:rPr>
              <a:t>2  </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rPr>
              <a:t>KK</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2s</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i="1">
                <a:ea typeface="华文新魏" pitchFamily="2" charset="-122"/>
                <a:cs typeface="Times New Roman" pitchFamily="18" charset="0"/>
              </a:rPr>
              <a:t>*</a:t>
            </a:r>
            <a:r>
              <a:rPr lang="en-US" altLang="zh-CN" sz="2500" b="1" baseline="-25000">
                <a:ea typeface="华文新魏" pitchFamily="2" charset="-122"/>
                <a:cs typeface="Times New Roman" pitchFamily="18" charset="0"/>
              </a:rPr>
              <a:t>2s</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2px</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2py</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2pz</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i="1">
                <a:ea typeface="华文新魏" pitchFamily="2" charset="-122"/>
                <a:cs typeface="Times New Roman" pitchFamily="18" charset="0"/>
              </a:rPr>
              <a:t>*</a:t>
            </a:r>
            <a:r>
              <a:rPr lang="en-US" altLang="zh-CN" sz="2500" b="1" baseline="-25000">
                <a:ea typeface="华文新魏" pitchFamily="2" charset="-122"/>
                <a:cs typeface="Times New Roman" pitchFamily="18" charset="0"/>
              </a:rPr>
              <a:t>2py</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1  </a:t>
            </a:r>
          </a:p>
          <a:p>
            <a:pPr eaLnBrk="0" hangingPunct="0"/>
            <a:r>
              <a:rPr lang="en-US" altLang="zh-CN" sz="2500" b="1" baseline="30000">
                <a:ea typeface="华文新魏" pitchFamily="2" charset="-122"/>
                <a:cs typeface="Times New Roman" pitchFamily="18" charset="0"/>
              </a:rPr>
              <a:t>   </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i="1">
                <a:ea typeface="华文新魏" pitchFamily="2" charset="-122"/>
                <a:cs typeface="Times New Roman" pitchFamily="18" charset="0"/>
              </a:rPr>
              <a:t>*</a:t>
            </a:r>
            <a:r>
              <a:rPr lang="en-US" altLang="zh-CN" sz="2500" b="1" baseline="-25000">
                <a:ea typeface="华文新魏" pitchFamily="2" charset="-122"/>
                <a:cs typeface="Times New Roman" pitchFamily="18" charset="0"/>
              </a:rPr>
              <a:t>2pz</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1 </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键级</a:t>
            </a:r>
            <a:r>
              <a:rPr lang="en-US" altLang="zh-CN" sz="2500" b="1">
                <a:ea typeface="华文新魏" pitchFamily="2" charset="-122"/>
                <a:cs typeface="Times New Roman" pitchFamily="18" charset="0"/>
              </a:rPr>
              <a:t>=2;  </a:t>
            </a:r>
            <a:endParaRPr lang="zh-CN" altLang="zh-CN" sz="2500" b="1">
              <a:ea typeface="华文新魏" pitchFamily="2" charset="-122"/>
              <a:cs typeface="Times New Roman" pitchFamily="18" charset="0"/>
            </a:endParaRPr>
          </a:p>
          <a:p>
            <a:pPr eaLnBrk="0" hangingPunct="0"/>
            <a:r>
              <a:rPr lang="en-US" altLang="zh-CN" sz="2500" b="1">
                <a:ea typeface="华文新魏" pitchFamily="2" charset="-122"/>
                <a:cs typeface="Times New Roman" pitchFamily="18" charset="0"/>
              </a:rPr>
              <a:t>O</a:t>
            </a:r>
            <a:r>
              <a:rPr lang="en-US" altLang="zh-CN" sz="2500" b="1" baseline="-25000">
                <a:ea typeface="华文新魏" pitchFamily="2" charset="-122"/>
                <a:cs typeface="Times New Roman" pitchFamily="18" charset="0"/>
              </a:rPr>
              <a:t>2</a:t>
            </a:r>
            <a:r>
              <a:rPr lang="en-US" altLang="zh-CN" sz="2500" b="1" baseline="30000">
                <a:ea typeface="华文新魏" pitchFamily="2" charset="-122"/>
                <a:cs typeface="Times New Roman" pitchFamily="18" charset="0"/>
              </a:rPr>
              <a:t>+</a:t>
            </a:r>
            <a:r>
              <a:rPr lang="en-US" altLang="zh-CN" sz="2500" b="1">
                <a:ea typeface="华文新魏" pitchFamily="2" charset="-122"/>
                <a:cs typeface="Times New Roman" pitchFamily="18" charset="0"/>
              </a:rPr>
              <a:t> [</a:t>
            </a:r>
            <a:r>
              <a:rPr lang="en-US" altLang="zh-CN" sz="2500" b="1" i="1">
                <a:ea typeface="华文新魏" pitchFamily="2" charset="-122"/>
                <a:cs typeface="Times New Roman" pitchFamily="18" charset="0"/>
              </a:rPr>
              <a:t>KK</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2s</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i="1">
                <a:ea typeface="华文新魏" pitchFamily="2" charset="-122"/>
                <a:cs typeface="Times New Roman" pitchFamily="18" charset="0"/>
              </a:rPr>
              <a:t>*</a:t>
            </a:r>
            <a:r>
              <a:rPr lang="en-US" altLang="zh-CN" sz="2500" b="1" baseline="-25000">
                <a:ea typeface="华文新魏" pitchFamily="2" charset="-122"/>
                <a:cs typeface="Times New Roman" pitchFamily="18" charset="0"/>
              </a:rPr>
              <a:t>2s</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2px</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2py</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2pz</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sym typeface="Symbol" pitchFamily="18" charset="2"/>
              </a:rPr>
              <a:t></a:t>
            </a:r>
            <a:r>
              <a:rPr lang="en-US" altLang="zh-CN" sz="2500" b="1" i="1">
                <a:ea typeface="华文新魏" pitchFamily="2" charset="-122"/>
                <a:cs typeface="Times New Roman" pitchFamily="18" charset="0"/>
              </a:rPr>
              <a:t>*</a:t>
            </a:r>
            <a:r>
              <a:rPr lang="en-US" altLang="zh-CN" sz="2500" b="1" baseline="-25000">
                <a:ea typeface="华文新魏" pitchFamily="2" charset="-122"/>
                <a:cs typeface="Times New Roman" pitchFamily="18" charset="0"/>
              </a:rPr>
              <a:t>2py</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1</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键级</a:t>
            </a:r>
            <a:r>
              <a:rPr lang="en-US" altLang="zh-CN" sz="2500" b="1">
                <a:ea typeface="华文新魏" pitchFamily="2" charset="-122"/>
                <a:cs typeface="Times New Roman" pitchFamily="18" charset="0"/>
              </a:rPr>
              <a:t>=2.5; O</a:t>
            </a:r>
            <a:r>
              <a:rPr lang="en-US" altLang="zh-CN" sz="2500" b="1" baseline="-25000">
                <a:ea typeface="华文新魏" pitchFamily="2" charset="-122"/>
                <a:cs typeface="Times New Roman" pitchFamily="18" charset="0"/>
              </a:rPr>
              <a:t>2</a:t>
            </a:r>
            <a:r>
              <a:rPr lang="zh-CN" altLang="zh-CN" sz="2500" b="1">
                <a:ea typeface="华文新魏" pitchFamily="2" charset="-122"/>
                <a:cs typeface="Times New Roman" pitchFamily="18" charset="0"/>
              </a:rPr>
              <a:t>键级大于</a:t>
            </a:r>
            <a:r>
              <a:rPr lang="en-US" altLang="zh-CN" sz="2500" b="1">
                <a:ea typeface="华文新魏" pitchFamily="2" charset="-122"/>
                <a:cs typeface="Times New Roman" pitchFamily="18" charset="0"/>
              </a:rPr>
              <a:t>O</a:t>
            </a:r>
            <a:r>
              <a:rPr lang="en-US" altLang="zh-CN" sz="2500" b="1" baseline="-25000">
                <a:ea typeface="华文新魏" pitchFamily="2" charset="-122"/>
                <a:cs typeface="Times New Roman" pitchFamily="18" charset="0"/>
              </a:rPr>
              <a:t>2</a:t>
            </a:r>
            <a:r>
              <a:rPr lang="en-US" altLang="zh-CN" sz="2500" b="1" baseline="30000">
                <a:ea typeface="华文新魏" pitchFamily="2" charset="-122"/>
                <a:cs typeface="Times New Roman" pitchFamily="18" charset="0"/>
              </a:rPr>
              <a:t>+</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O</a:t>
            </a:r>
            <a:r>
              <a:rPr lang="en-US" altLang="zh-CN" sz="2500" b="1" baseline="-25000">
                <a:ea typeface="华文新魏" pitchFamily="2" charset="-122"/>
                <a:cs typeface="Times New Roman" pitchFamily="18" charset="0"/>
              </a:rPr>
              <a:t>2</a:t>
            </a:r>
            <a:r>
              <a:rPr lang="zh-CN" altLang="zh-CN" sz="2500" b="1">
                <a:ea typeface="华文新魏" pitchFamily="2" charset="-122"/>
                <a:cs typeface="Times New Roman" pitchFamily="18" charset="0"/>
              </a:rPr>
              <a:t>分子比</a:t>
            </a:r>
            <a:r>
              <a:rPr lang="en-US" altLang="zh-CN" sz="2500" b="1">
                <a:ea typeface="华文新魏" pitchFamily="2" charset="-122"/>
                <a:cs typeface="Times New Roman" pitchFamily="18" charset="0"/>
              </a:rPr>
              <a:t>O</a:t>
            </a:r>
            <a:r>
              <a:rPr lang="en-US" altLang="zh-CN" sz="2500" b="1" baseline="-25000">
                <a:ea typeface="华文新魏" pitchFamily="2" charset="-122"/>
                <a:cs typeface="Times New Roman" pitchFamily="18" charset="0"/>
              </a:rPr>
              <a:t>2</a:t>
            </a:r>
            <a:r>
              <a:rPr lang="en-US" altLang="zh-CN" sz="2500" b="1" baseline="30000">
                <a:ea typeface="华文新魏" pitchFamily="2" charset="-122"/>
                <a:cs typeface="Times New Roman" pitchFamily="18" charset="0"/>
              </a:rPr>
              <a:t>+</a:t>
            </a:r>
            <a:r>
              <a:rPr lang="zh-CN" altLang="zh-CN" sz="2500" b="1">
                <a:ea typeface="华文新魏" pitchFamily="2" charset="-122"/>
                <a:cs typeface="Times New Roman" pitchFamily="18" charset="0"/>
              </a:rPr>
              <a:t>离子不稳定</a:t>
            </a:r>
            <a:r>
              <a:rPr lang="en-US" altLang="zh-CN" sz="2500" b="1">
                <a:ea typeface="华文新魏" pitchFamily="2" charset="-122"/>
                <a:cs typeface="Times New Roman" pitchFamily="18" charset="0"/>
              </a:rPr>
              <a:t>.</a:t>
            </a:r>
            <a:endParaRPr lang="zh-CN" altLang="zh-CN" sz="2500" b="1">
              <a:ea typeface="华文新魏" pitchFamily="2" charset="-122"/>
              <a:cs typeface="Times New Roman" pitchFamily="18" charset="0"/>
            </a:endParaRP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blinds(horizontal)">
                                      <p:cBhvr>
                                        <p:cTn id="17" dur="500"/>
                                        <p:tgtEl>
                                          <p:spTgt spid="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xEl>
                                              <p:pRg st="1" end="1"/>
                                            </p:txEl>
                                          </p:spTgt>
                                        </p:tgtEl>
                                        <p:attrNameLst>
                                          <p:attrName>style.visibility</p:attrName>
                                        </p:attrNameLst>
                                      </p:cBhvr>
                                      <p:to>
                                        <p:strVal val="visible"/>
                                      </p:to>
                                    </p:set>
                                    <p:animEffect transition="in" filter="blinds(horizontal)">
                                      <p:cBhvr>
                                        <p:cTn id="22" dur="500"/>
                                        <p:tgtEl>
                                          <p:spTgt spid="5">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linds(horizontal)">
                                      <p:cBhvr>
                                        <p:cTn id="27" dur="500"/>
                                        <p:tgtEl>
                                          <p:spTgt spid="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up)">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P spid="2" grpId="0"/>
      <p:bldP spid="9" grpId="0" autoUpdateAnimBg="0"/>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a:spLocks noRot="1" noChangeAspect="1" noMove="1" noResize="1" noEditPoints="1" noAdjustHandles="1" noChangeArrowheads="1" noChangeShapeType="1" noTextEdit="1"/>
          </p:cNvSpPr>
          <p:nvPr/>
        </p:nvSpPr>
        <p:spPr bwMode="auto">
          <a:xfrm>
            <a:off x="4608513" y="2896825"/>
            <a:ext cx="6624637" cy="2097049"/>
          </a:xfrm>
          <a:prstGeom prst="rect">
            <a:avLst/>
          </a:prstGeom>
          <a:blipFill rotWithShape="1">
            <a:blip r:embed="rId3"/>
            <a:stretch>
              <a:fillRect l="-1564" t="-2616" r="-1472" b="-6105"/>
            </a:stretch>
          </a:bli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pPr>
              <a:defRPr/>
            </a:pPr>
            <a:r>
              <a:rPr lang="zh-CN" altLang="en-US">
                <a:noFill/>
              </a:rPr>
              <a:t> </a:t>
            </a:r>
          </a:p>
        </p:txBody>
      </p:sp>
      <p:sp>
        <p:nvSpPr>
          <p:cNvPr id="4" name="Rectangle 40"/>
          <p:cNvSpPr>
            <a:spLocks noChangeArrowheads="1"/>
          </p:cNvSpPr>
          <p:nvPr/>
        </p:nvSpPr>
        <p:spPr bwMode="auto">
          <a:xfrm>
            <a:off x="179388" y="338138"/>
            <a:ext cx="3997325" cy="2786062"/>
          </a:xfrm>
          <a:prstGeom prst="rect">
            <a:avLst/>
          </a:prstGeom>
          <a:noFill/>
          <a:ln w="9525">
            <a:noFill/>
            <a:miter lim="800000"/>
            <a:headEnd/>
            <a:tailEnd/>
          </a:ln>
          <a:effectLst/>
        </p:spPr>
        <p:txBody>
          <a:bodyPr>
            <a:spAutoFit/>
          </a:bodyPr>
          <a:lstStyle/>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已知</a:t>
            </a:r>
            <a:r>
              <a:rPr lang="en-US" altLang="zh-CN" sz="2500" b="1">
                <a:ea typeface="华文新魏" pitchFamily="2" charset="-122"/>
                <a:cs typeface="Times New Roman" pitchFamily="18" charset="0"/>
              </a:rPr>
              <a:t>[MnBr</a:t>
            </a:r>
            <a:r>
              <a:rPr lang="en-US" altLang="zh-CN" sz="2500" b="1" baseline="-25000">
                <a:ea typeface="华文新魏" pitchFamily="2" charset="-122"/>
                <a:cs typeface="Times New Roman" pitchFamily="18" charset="0"/>
              </a:rPr>
              <a:t>4</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zh-CN" altLang="zh-CN" sz="2500" b="1">
                <a:ea typeface="华文新魏" pitchFamily="2" charset="-122"/>
                <a:cs typeface="Times New Roman" pitchFamily="18" charset="0"/>
              </a:rPr>
              <a:t>和</a:t>
            </a:r>
            <a:r>
              <a:rPr lang="en-US" altLang="zh-CN" sz="2500" b="1">
                <a:ea typeface="华文新魏" pitchFamily="2" charset="-122"/>
                <a:cs typeface="Times New Roman" pitchFamily="18" charset="0"/>
              </a:rPr>
              <a:t>[Mn(CN)</a:t>
            </a:r>
            <a:r>
              <a:rPr lang="en-US" altLang="zh-CN" sz="2500" b="1" baseline="-25000">
                <a:ea typeface="华文新魏" pitchFamily="2" charset="-122"/>
                <a:cs typeface="Times New Roman" pitchFamily="18" charset="0"/>
              </a:rPr>
              <a:t>6</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3-</a:t>
            </a:r>
            <a:r>
              <a:rPr lang="zh-CN" altLang="zh-CN" sz="2500" b="1">
                <a:ea typeface="华文新魏" pitchFamily="2" charset="-122"/>
                <a:cs typeface="Times New Roman" pitchFamily="18" charset="0"/>
              </a:rPr>
              <a:t>的磁矩分别为</a:t>
            </a:r>
            <a:r>
              <a:rPr lang="en-US" altLang="zh-CN" sz="2500" b="1">
                <a:ea typeface="华文新魏" pitchFamily="2" charset="-122"/>
                <a:cs typeface="Times New Roman" pitchFamily="18" charset="0"/>
              </a:rPr>
              <a:t>5.9</a:t>
            </a:r>
            <a:r>
              <a:rPr lang="zh-CN" altLang="zh-CN" sz="2500" b="1">
                <a:ea typeface="华文新魏" pitchFamily="2" charset="-122"/>
                <a:cs typeface="Times New Roman" pitchFamily="18" charset="0"/>
              </a:rPr>
              <a:t>和</a:t>
            </a:r>
            <a:r>
              <a:rPr lang="en-US" altLang="zh-CN" sz="2500" b="1">
                <a:ea typeface="华文新魏" pitchFamily="2" charset="-122"/>
                <a:cs typeface="Times New Roman" pitchFamily="18" charset="0"/>
              </a:rPr>
              <a:t>2.8 B.M.</a:t>
            </a:r>
            <a:r>
              <a:rPr lang="zh-CN" altLang="zh-CN" sz="2500" b="1">
                <a:ea typeface="华文新魏" pitchFamily="2" charset="-122"/>
                <a:cs typeface="Times New Roman" pitchFamily="18" charset="0"/>
              </a:rPr>
              <a:t>，试根据价键理论推测这两种配离子中</a:t>
            </a:r>
            <a:r>
              <a:rPr lang="en-US" altLang="zh-CN" sz="2500" b="1">
                <a:ea typeface="华文新魏" pitchFamily="2" charset="-122"/>
                <a:cs typeface="Times New Roman" pitchFamily="18" charset="0"/>
              </a:rPr>
              <a:t>d</a:t>
            </a:r>
            <a:r>
              <a:rPr lang="zh-CN" altLang="zh-CN" sz="2500" b="1">
                <a:ea typeface="华文新魏" pitchFamily="2" charset="-122"/>
                <a:cs typeface="Times New Roman" pitchFamily="18" charset="0"/>
              </a:rPr>
              <a:t>电子的分布情况、中心离子的杂化类型以及它们的空间构型</a:t>
            </a:r>
            <a:r>
              <a:rPr lang="en-US" altLang="zh-CN" sz="2500" b="1">
                <a:ea typeface="华文新魏" pitchFamily="2" charset="-122"/>
                <a:cs typeface="Times New Roman" pitchFamily="18" charset="0"/>
              </a:rPr>
              <a:t>.</a:t>
            </a:r>
            <a:endParaRPr lang="zh-CN" altLang="zh-CN" sz="2500" b="1">
              <a:ea typeface="华文新魏" pitchFamily="2" charset="-122"/>
              <a:cs typeface="Times New Roman" pitchFamily="18" charset="0"/>
            </a:endParaRPr>
          </a:p>
        </p:txBody>
      </p:sp>
      <p:sp>
        <p:nvSpPr>
          <p:cNvPr id="13316" name="Text Box 39"/>
          <p:cNvSpPr txBox="1">
            <a:spLocks noChangeArrowheads="1"/>
          </p:cNvSpPr>
          <p:nvPr/>
        </p:nvSpPr>
        <p:spPr bwMode="auto">
          <a:xfrm>
            <a:off x="179388" y="358775"/>
            <a:ext cx="1836737" cy="477838"/>
          </a:xfrm>
          <a:prstGeom prst="rect">
            <a:avLst/>
          </a:prstGeom>
          <a:noFill/>
          <a:ln w="9525" algn="ctr">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习题</a:t>
            </a:r>
            <a:r>
              <a:rPr lang="en-US" altLang="zh-CN" sz="2500" b="1">
                <a:solidFill>
                  <a:srgbClr val="FFFF00"/>
                </a:solidFill>
                <a:ea typeface="华文新魏" pitchFamily="2" charset="-122"/>
                <a:cs typeface="Times New Roman" pitchFamily="18" charset="0"/>
              </a:rPr>
              <a:t>8-9</a:t>
            </a:r>
            <a:r>
              <a:rPr lang="zh-CN" altLang="en-US" sz="2500" b="1">
                <a:solidFill>
                  <a:srgbClr val="FFFF00"/>
                </a:solidFill>
                <a:ea typeface="华文新魏" pitchFamily="2" charset="-122"/>
                <a:cs typeface="Times New Roman" pitchFamily="18" charset="0"/>
              </a:rPr>
              <a:t>：</a:t>
            </a:r>
          </a:p>
        </p:txBody>
      </p:sp>
      <p:sp>
        <p:nvSpPr>
          <p:cNvPr id="5" name="Rectangle 38"/>
          <p:cNvSpPr>
            <a:spLocks noChangeArrowheads="1"/>
          </p:cNvSpPr>
          <p:nvPr/>
        </p:nvSpPr>
        <p:spPr bwMode="auto">
          <a:xfrm>
            <a:off x="4608513" y="238125"/>
            <a:ext cx="6627812" cy="2786063"/>
          </a:xfrm>
          <a:prstGeom prst="rect">
            <a:avLst/>
          </a:prstGeom>
          <a:noFill/>
          <a:ln w="9525">
            <a:noFill/>
            <a:miter lim="800000"/>
            <a:headEnd/>
            <a:tailEnd/>
          </a:ln>
          <a:effectLst/>
        </p:spPr>
        <p:txBody>
          <a:bodyPr>
            <a:spAutoFit/>
          </a:bodyPr>
          <a:lstStyle/>
          <a:p>
            <a:pPr eaLnBrk="0" hangingPunct="0"/>
            <a:r>
              <a:rPr lang="zh-CN" altLang="en-US" sz="2500" b="1">
                <a:ea typeface="华文新魏" pitchFamily="2" charset="-122"/>
                <a:cs typeface="Times New Roman" pitchFamily="18" charset="0"/>
              </a:rPr>
              <a:t>                  先写出中心离子的自由离子价电子构型</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确定未成对电子数</a:t>
            </a:r>
            <a:r>
              <a:rPr lang="en-US" altLang="zh-CN" sz="2500" b="1">
                <a:ea typeface="华文新魏" pitchFamily="2" charset="-122"/>
                <a:cs typeface="Times New Roman" pitchFamily="18" charset="0"/>
              </a:rPr>
              <a:t>n. </a:t>
            </a:r>
            <a:r>
              <a:rPr lang="zh-CN" altLang="en-US" sz="2500" b="1">
                <a:ea typeface="华文新魏" pitchFamily="2" charset="-122"/>
                <a:cs typeface="Times New Roman" pitchFamily="18" charset="0"/>
              </a:rPr>
              <a:t>再根据磁矩的实验值</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计算配离子中的未成对电子数</a:t>
            </a:r>
            <a:r>
              <a:rPr lang="en-US" altLang="zh-CN" sz="2500" b="1">
                <a:ea typeface="华文新魏" pitchFamily="2" charset="-122"/>
                <a:cs typeface="Times New Roman" pitchFamily="18" charset="0"/>
              </a:rPr>
              <a:t>n, </a:t>
            </a:r>
            <a:r>
              <a:rPr lang="zh-CN" altLang="en-US" sz="2500" b="1">
                <a:ea typeface="华文新魏" pitchFamily="2" charset="-122"/>
                <a:cs typeface="Times New Roman" pitchFamily="18" charset="0"/>
              </a:rPr>
              <a:t>看看这个</a:t>
            </a:r>
            <a:r>
              <a:rPr lang="en-US" altLang="zh-CN" sz="2500" b="1">
                <a:ea typeface="华文新魏" pitchFamily="2" charset="-122"/>
                <a:cs typeface="Times New Roman" pitchFamily="18" charset="0"/>
              </a:rPr>
              <a:t>n</a:t>
            </a:r>
            <a:r>
              <a:rPr lang="zh-CN" altLang="en-US" sz="2500" b="1">
                <a:ea typeface="华文新魏" pitchFamily="2" charset="-122"/>
                <a:cs typeface="Times New Roman" pitchFamily="18" charset="0"/>
              </a:rPr>
              <a:t>值有没有变化</a:t>
            </a:r>
            <a:r>
              <a:rPr lang="en-US" altLang="zh-CN" sz="2500" b="1">
                <a:ea typeface="华文新魏" pitchFamily="2" charset="-122"/>
                <a:cs typeface="Times New Roman" pitchFamily="18" charset="0"/>
              </a:rPr>
              <a:t>.</a:t>
            </a:r>
            <a:r>
              <a:rPr lang="zh-CN" altLang="en-US" sz="2500" b="1">
                <a:ea typeface="华文新魏" pitchFamily="2" charset="-122"/>
                <a:cs typeface="Times New Roman" pitchFamily="18" charset="0"/>
              </a:rPr>
              <a:t>    如果</a:t>
            </a:r>
            <a:r>
              <a:rPr lang="en-US" altLang="zh-CN" sz="2500" b="1">
                <a:ea typeface="华文新魏" pitchFamily="2" charset="-122"/>
                <a:cs typeface="Times New Roman" pitchFamily="18" charset="0"/>
              </a:rPr>
              <a:t>n</a:t>
            </a:r>
            <a:r>
              <a:rPr lang="zh-CN" altLang="en-US" sz="2500" b="1">
                <a:ea typeface="华文新魏" pitchFamily="2" charset="-122"/>
                <a:cs typeface="Times New Roman" pitchFamily="18" charset="0"/>
              </a:rPr>
              <a:t>保持不变</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说明保持了自由离子的电子构型</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是外轨配键</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如果</a:t>
            </a:r>
            <a:r>
              <a:rPr lang="en-US" altLang="zh-CN" sz="2500" b="1">
                <a:ea typeface="华文新魏" pitchFamily="2" charset="-122"/>
                <a:cs typeface="Times New Roman" pitchFamily="18" charset="0"/>
              </a:rPr>
              <a:t>n</a:t>
            </a:r>
            <a:r>
              <a:rPr lang="zh-CN" altLang="en-US" sz="2500" b="1">
                <a:ea typeface="华文新魏" pitchFamily="2" charset="-122"/>
                <a:cs typeface="Times New Roman" pitchFamily="18" charset="0"/>
              </a:rPr>
              <a:t>变小了</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说明发生了电子归并</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是内轨配键</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然后根据配位数</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确定杂化类型和空间构型</a:t>
            </a:r>
            <a:r>
              <a:rPr lang="en-US" altLang="zh-CN" sz="2500" b="1">
                <a:ea typeface="华文新魏" pitchFamily="2" charset="-122"/>
                <a:cs typeface="Times New Roman" pitchFamily="18" charset="0"/>
              </a:rPr>
              <a:t>.</a:t>
            </a:r>
            <a:endParaRPr lang="zh-CN" altLang="en-US" sz="2500" b="1">
              <a:ea typeface="华文新魏" pitchFamily="2" charset="-122"/>
              <a:cs typeface="Times New Roman" pitchFamily="18" charset="0"/>
            </a:endParaRPr>
          </a:p>
        </p:txBody>
      </p:sp>
      <p:sp>
        <p:nvSpPr>
          <p:cNvPr id="2" name="Rectangle 38"/>
          <p:cNvSpPr>
            <a:spLocks noChangeArrowheads="1"/>
          </p:cNvSpPr>
          <p:nvPr/>
        </p:nvSpPr>
        <p:spPr bwMode="auto">
          <a:xfrm>
            <a:off x="4608513" y="239713"/>
            <a:ext cx="1800225" cy="476250"/>
          </a:xfrm>
          <a:prstGeom prst="rect">
            <a:avLst/>
          </a:prstGeom>
          <a:noFill/>
          <a:ln w="9525">
            <a:noFill/>
            <a:miter lim="800000"/>
            <a:headEnd/>
            <a:tailEnd/>
          </a:ln>
          <a:effectLst/>
        </p:spPr>
        <p:txBody>
          <a:bodyPr>
            <a:spAutoFit/>
          </a:bodyPr>
          <a:lstStyle/>
          <a:p>
            <a:pPr marL="342900" indent="-342900" eaLnBrk="0" hangingPunct="0"/>
            <a:r>
              <a:rPr lang="zh-CN" altLang="zh-CN" sz="2500" b="1">
                <a:solidFill>
                  <a:srgbClr val="FFFF00"/>
                </a:solidFill>
                <a:ea typeface="华文新魏" pitchFamily="2" charset="-122"/>
                <a:cs typeface="Times New Roman" pitchFamily="18" charset="0"/>
              </a:rPr>
              <a:t>解题思路：</a:t>
            </a:r>
          </a:p>
        </p:txBody>
      </p:sp>
      <p:sp>
        <p:nvSpPr>
          <p:cNvPr id="9" name="Rectangle 38"/>
          <p:cNvSpPr>
            <a:spLocks noChangeArrowheads="1"/>
          </p:cNvSpPr>
          <p:nvPr/>
        </p:nvSpPr>
        <p:spPr bwMode="auto">
          <a:xfrm>
            <a:off x="4584700" y="2911475"/>
            <a:ext cx="2735263" cy="473075"/>
          </a:xfrm>
          <a:prstGeom prst="rect">
            <a:avLst/>
          </a:prstGeom>
          <a:noFill/>
          <a:ln w="9525">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参考答案：</a:t>
            </a:r>
          </a:p>
        </p:txBody>
      </p:sp>
      <p:pic>
        <p:nvPicPr>
          <p:cNvPr id="21506" name="图片 8"/>
          <p:cNvPicPr>
            <a:picLocks noChangeAspect="1" noChangeArrowheads="1"/>
          </p:cNvPicPr>
          <p:nvPr/>
        </p:nvPicPr>
        <p:blipFill>
          <a:blip r:embed="rId4"/>
          <a:srcRect l="25562" t="31018" r="38397" b="54778"/>
          <a:stretch>
            <a:fillRect/>
          </a:stretch>
        </p:blipFill>
        <p:spPr bwMode="auto">
          <a:xfrm>
            <a:off x="5761038" y="4570413"/>
            <a:ext cx="4537075" cy="1117600"/>
          </a:xfrm>
          <a:prstGeom prst="rect">
            <a:avLst/>
          </a:prstGeom>
          <a:noFill/>
          <a:ln w="9525">
            <a:noFill/>
            <a:miter lim="800000"/>
            <a:headEnd/>
            <a:tailEnd/>
          </a:ln>
        </p:spPr>
      </p:pic>
      <p:sp>
        <p:nvSpPr>
          <p:cNvPr id="11" name="矩形 10"/>
          <p:cNvSpPr>
            <a:spLocks noChangeArrowheads="1"/>
          </p:cNvSpPr>
          <p:nvPr/>
        </p:nvSpPr>
        <p:spPr bwMode="auto">
          <a:xfrm>
            <a:off x="4616450" y="5705475"/>
            <a:ext cx="2703513" cy="477838"/>
          </a:xfrm>
          <a:prstGeom prst="rect">
            <a:avLst/>
          </a:prstGeom>
          <a:noFill/>
          <a:ln w="9525">
            <a:noFill/>
            <a:miter lim="800000"/>
            <a:headEnd/>
            <a:tailEnd/>
          </a:ln>
        </p:spPr>
        <p:txBody>
          <a:bodyPr>
            <a:spAutoFit/>
          </a:bodyPr>
          <a:lstStyle/>
          <a:p>
            <a:pPr eaLnBrk="0" hangingPunct="0"/>
            <a:r>
              <a:rPr lang="zh-CN" altLang="en-US" sz="2500" b="1">
                <a:ea typeface="华文新魏" pitchFamily="2" charset="-122"/>
                <a:cs typeface="Times New Roman" pitchFamily="18" charset="0"/>
              </a:rPr>
              <a:t>为正四面体</a:t>
            </a:r>
            <a:r>
              <a:rPr lang="en-US" altLang="zh-CN" sz="2500" b="1">
                <a:ea typeface="华文新魏" pitchFamily="2" charset="-122"/>
                <a:cs typeface="Times New Roman" pitchFamily="18" charset="0"/>
              </a:rPr>
              <a:t>.</a:t>
            </a:r>
            <a:endParaRPr lang="zh-CN" altLang="zh-CN" sz="2500" b="1">
              <a:ea typeface="华文新魏" pitchFamily="2" charset="-122"/>
              <a:cs typeface="Times New Roman" pitchFamily="18" charset="0"/>
            </a:endParaRP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blinds(horizontal)">
                                      <p:cBhvr>
                                        <p:cTn id="17" dur="500"/>
                                        <p:tgtEl>
                                          <p:spTgt spid="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up)">
                                      <p:cBhvr>
                                        <p:cTn id="27" dur="500"/>
                                        <p:tgtEl>
                                          <p:spTgt spid="10"/>
                                        </p:tgtEl>
                                      </p:cBhvr>
                                    </p:animEffect>
                                  </p:childTnLst>
                                </p:cTn>
                              </p:par>
                            </p:childTnLst>
                          </p:cTn>
                        </p:par>
                        <p:par>
                          <p:cTn id="28" fill="hold" nodeType="afterGroup">
                            <p:stCondLst>
                              <p:cond delay="500"/>
                            </p:stCondLst>
                            <p:childTnLst>
                              <p:par>
                                <p:cTn id="29" presetID="16" presetClass="entr" presetSubtype="21" fill="hold" nodeType="afterEffect">
                                  <p:stCondLst>
                                    <p:cond delay="0"/>
                                  </p:stCondLst>
                                  <p:childTnLst>
                                    <p:set>
                                      <p:cBhvr>
                                        <p:cTn id="30" dur="1" fill="hold">
                                          <p:stCondLst>
                                            <p:cond delay="0"/>
                                          </p:stCondLst>
                                        </p:cTn>
                                        <p:tgtEl>
                                          <p:spTgt spid="21506"/>
                                        </p:tgtEl>
                                        <p:attrNameLst>
                                          <p:attrName>style.visibility</p:attrName>
                                        </p:attrNameLst>
                                      </p:cBhvr>
                                      <p:to>
                                        <p:strVal val="visible"/>
                                      </p:to>
                                    </p:set>
                                    <p:animEffect transition="in" filter="barn(inVertical)">
                                      <p:cBhvr>
                                        <p:cTn id="31" dur="500"/>
                                        <p:tgtEl>
                                          <p:spTgt spid="21506"/>
                                        </p:tgtEl>
                                      </p:cBhvr>
                                    </p:animEffect>
                                  </p:childTnLst>
                                </p:cTn>
                              </p:par>
                            </p:childTnLst>
                          </p:cTn>
                        </p:par>
                        <p:par>
                          <p:cTn id="32" fill="hold" nodeType="afterGroup">
                            <p:stCondLst>
                              <p:cond delay="1000"/>
                            </p:stCondLst>
                            <p:childTnLst>
                              <p:par>
                                <p:cTn id="33" presetID="22" presetClass="entr" presetSubtype="1" fill="hold" grpId="0" nodeType="after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up)">
                                      <p:cBhvr>
                                        <p:cTn id="3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P spid="2" grpId="0"/>
      <p:bldP spid="9" grpId="0" autoUpdateAnimBg="0"/>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a:spLocks noRot="1" noChangeAspect="1" noMove="1" noResize="1" noEditPoints="1" noAdjustHandles="1" noChangeArrowheads="1" noChangeShapeType="1" noTextEdit="1"/>
          </p:cNvSpPr>
          <p:nvPr/>
        </p:nvSpPr>
        <p:spPr bwMode="auto">
          <a:xfrm>
            <a:off x="4584701" y="2905214"/>
            <a:ext cx="6720952" cy="1712328"/>
          </a:xfrm>
          <a:prstGeom prst="rect">
            <a:avLst/>
          </a:prstGeom>
          <a:blipFill rotWithShape="1">
            <a:blip r:embed="rId3"/>
            <a:stretch>
              <a:fillRect l="-1451" t="-3214" r="-1451" b="-7857"/>
            </a:stretch>
          </a:bli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pPr>
              <a:defRPr/>
            </a:pPr>
            <a:r>
              <a:rPr lang="zh-CN" altLang="en-US">
                <a:noFill/>
              </a:rPr>
              <a:t> </a:t>
            </a:r>
          </a:p>
        </p:txBody>
      </p:sp>
      <p:sp>
        <p:nvSpPr>
          <p:cNvPr id="14339" name="Rectangle 40"/>
          <p:cNvSpPr>
            <a:spLocks noChangeArrowheads="1"/>
          </p:cNvSpPr>
          <p:nvPr/>
        </p:nvSpPr>
        <p:spPr bwMode="auto">
          <a:xfrm>
            <a:off x="179388" y="338138"/>
            <a:ext cx="3997325" cy="2786062"/>
          </a:xfrm>
          <a:prstGeom prst="rect">
            <a:avLst/>
          </a:prstGeom>
          <a:noFill/>
          <a:ln w="9525">
            <a:noFill/>
            <a:miter lim="800000"/>
            <a:headEnd/>
            <a:tailEnd/>
          </a:ln>
          <a:effectLst/>
        </p:spPr>
        <p:txBody>
          <a:bodyPr>
            <a:spAutoFit/>
          </a:bodyPr>
          <a:lstStyle/>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已知</a:t>
            </a:r>
            <a:r>
              <a:rPr lang="en-US" altLang="zh-CN" sz="2500" b="1">
                <a:ea typeface="华文新魏" pitchFamily="2" charset="-122"/>
                <a:cs typeface="Times New Roman" pitchFamily="18" charset="0"/>
              </a:rPr>
              <a:t>[MnBr</a:t>
            </a:r>
            <a:r>
              <a:rPr lang="en-US" altLang="zh-CN" sz="2500" b="1" baseline="-25000">
                <a:ea typeface="华文新魏" pitchFamily="2" charset="-122"/>
                <a:cs typeface="Times New Roman" pitchFamily="18" charset="0"/>
              </a:rPr>
              <a:t>4</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2-</a:t>
            </a:r>
            <a:r>
              <a:rPr lang="zh-CN" altLang="zh-CN" sz="2500" b="1">
                <a:ea typeface="华文新魏" pitchFamily="2" charset="-122"/>
                <a:cs typeface="Times New Roman" pitchFamily="18" charset="0"/>
              </a:rPr>
              <a:t>和</a:t>
            </a:r>
            <a:r>
              <a:rPr lang="en-US" altLang="zh-CN" sz="2500" b="1">
                <a:ea typeface="华文新魏" pitchFamily="2" charset="-122"/>
                <a:cs typeface="Times New Roman" pitchFamily="18" charset="0"/>
              </a:rPr>
              <a:t>[Mn(CN)</a:t>
            </a:r>
            <a:r>
              <a:rPr lang="en-US" altLang="zh-CN" sz="2500" b="1" baseline="-25000">
                <a:ea typeface="华文新魏" pitchFamily="2" charset="-122"/>
                <a:cs typeface="Times New Roman" pitchFamily="18" charset="0"/>
              </a:rPr>
              <a:t>6</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3-</a:t>
            </a:r>
            <a:r>
              <a:rPr lang="zh-CN" altLang="zh-CN" sz="2500" b="1">
                <a:ea typeface="华文新魏" pitchFamily="2" charset="-122"/>
                <a:cs typeface="Times New Roman" pitchFamily="18" charset="0"/>
              </a:rPr>
              <a:t>的磁矩分别为</a:t>
            </a:r>
            <a:r>
              <a:rPr lang="en-US" altLang="zh-CN" sz="2500" b="1">
                <a:ea typeface="华文新魏" pitchFamily="2" charset="-122"/>
                <a:cs typeface="Times New Roman" pitchFamily="18" charset="0"/>
              </a:rPr>
              <a:t>5.9</a:t>
            </a:r>
            <a:r>
              <a:rPr lang="zh-CN" altLang="zh-CN" sz="2500" b="1">
                <a:ea typeface="华文新魏" pitchFamily="2" charset="-122"/>
                <a:cs typeface="Times New Roman" pitchFamily="18" charset="0"/>
              </a:rPr>
              <a:t>和</a:t>
            </a:r>
            <a:r>
              <a:rPr lang="en-US" altLang="zh-CN" sz="2500" b="1">
                <a:ea typeface="华文新魏" pitchFamily="2" charset="-122"/>
                <a:cs typeface="Times New Roman" pitchFamily="18" charset="0"/>
              </a:rPr>
              <a:t>2.8 B.M.</a:t>
            </a:r>
            <a:r>
              <a:rPr lang="zh-CN" altLang="zh-CN" sz="2500" b="1">
                <a:ea typeface="华文新魏" pitchFamily="2" charset="-122"/>
                <a:cs typeface="Times New Roman" pitchFamily="18" charset="0"/>
              </a:rPr>
              <a:t>，试根据价键理论推测这两种配离子中</a:t>
            </a:r>
            <a:r>
              <a:rPr lang="en-US" altLang="zh-CN" sz="2500" b="1">
                <a:ea typeface="华文新魏" pitchFamily="2" charset="-122"/>
                <a:cs typeface="Times New Roman" pitchFamily="18" charset="0"/>
              </a:rPr>
              <a:t>d</a:t>
            </a:r>
            <a:r>
              <a:rPr lang="zh-CN" altLang="zh-CN" sz="2500" b="1">
                <a:ea typeface="华文新魏" pitchFamily="2" charset="-122"/>
                <a:cs typeface="Times New Roman" pitchFamily="18" charset="0"/>
              </a:rPr>
              <a:t>电子的分布情况、中心离子的杂化类型以及它们的空间构型</a:t>
            </a:r>
            <a:r>
              <a:rPr lang="en-US" altLang="zh-CN" sz="2500" b="1">
                <a:ea typeface="华文新魏" pitchFamily="2" charset="-122"/>
                <a:cs typeface="Times New Roman" pitchFamily="18" charset="0"/>
              </a:rPr>
              <a:t>.</a:t>
            </a:r>
            <a:endParaRPr lang="zh-CN" altLang="zh-CN" sz="2500" b="1">
              <a:ea typeface="华文新魏" pitchFamily="2" charset="-122"/>
              <a:cs typeface="Times New Roman" pitchFamily="18" charset="0"/>
            </a:endParaRPr>
          </a:p>
        </p:txBody>
      </p:sp>
      <p:sp>
        <p:nvSpPr>
          <p:cNvPr id="14340" name="Text Box 39"/>
          <p:cNvSpPr txBox="1">
            <a:spLocks noChangeArrowheads="1"/>
          </p:cNvSpPr>
          <p:nvPr/>
        </p:nvSpPr>
        <p:spPr bwMode="auto">
          <a:xfrm>
            <a:off x="179388" y="358775"/>
            <a:ext cx="1836737" cy="477838"/>
          </a:xfrm>
          <a:prstGeom prst="rect">
            <a:avLst/>
          </a:prstGeom>
          <a:noFill/>
          <a:ln w="9525" algn="ctr">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习题</a:t>
            </a:r>
            <a:r>
              <a:rPr lang="en-US" altLang="zh-CN" sz="2500" b="1">
                <a:solidFill>
                  <a:srgbClr val="FFFF00"/>
                </a:solidFill>
                <a:ea typeface="华文新魏" pitchFamily="2" charset="-122"/>
                <a:cs typeface="Times New Roman" pitchFamily="18" charset="0"/>
              </a:rPr>
              <a:t>8-9</a:t>
            </a:r>
            <a:r>
              <a:rPr lang="zh-CN" altLang="en-US" sz="2500" b="1">
                <a:solidFill>
                  <a:srgbClr val="FFFF00"/>
                </a:solidFill>
                <a:ea typeface="华文新魏" pitchFamily="2" charset="-122"/>
                <a:cs typeface="Times New Roman" pitchFamily="18" charset="0"/>
              </a:rPr>
              <a:t>：</a:t>
            </a:r>
          </a:p>
        </p:txBody>
      </p:sp>
      <p:sp>
        <p:nvSpPr>
          <p:cNvPr id="14341" name="Rectangle 38"/>
          <p:cNvSpPr>
            <a:spLocks noChangeArrowheads="1"/>
          </p:cNvSpPr>
          <p:nvPr/>
        </p:nvSpPr>
        <p:spPr bwMode="auto">
          <a:xfrm>
            <a:off x="4608513" y="238125"/>
            <a:ext cx="6627812" cy="2786063"/>
          </a:xfrm>
          <a:prstGeom prst="rect">
            <a:avLst/>
          </a:prstGeom>
          <a:noFill/>
          <a:ln w="9525">
            <a:noFill/>
            <a:miter lim="800000"/>
            <a:headEnd/>
            <a:tailEnd/>
          </a:ln>
          <a:effectLst/>
        </p:spPr>
        <p:txBody>
          <a:bodyPr>
            <a:spAutoFit/>
          </a:bodyPr>
          <a:lstStyle/>
          <a:p>
            <a:pPr eaLnBrk="0" hangingPunct="0"/>
            <a:r>
              <a:rPr lang="zh-CN" altLang="en-US" sz="2500" b="1">
                <a:ea typeface="华文新魏" pitchFamily="2" charset="-122"/>
                <a:cs typeface="Times New Roman" pitchFamily="18" charset="0"/>
              </a:rPr>
              <a:t>                  先写出中心离子的自由离子价电子构型</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确定未成对电子数</a:t>
            </a:r>
            <a:r>
              <a:rPr lang="en-US" altLang="zh-CN" sz="2500" b="1">
                <a:ea typeface="华文新魏" pitchFamily="2" charset="-122"/>
                <a:cs typeface="Times New Roman" pitchFamily="18" charset="0"/>
              </a:rPr>
              <a:t>n. </a:t>
            </a:r>
            <a:r>
              <a:rPr lang="zh-CN" altLang="en-US" sz="2500" b="1">
                <a:ea typeface="华文新魏" pitchFamily="2" charset="-122"/>
                <a:cs typeface="Times New Roman" pitchFamily="18" charset="0"/>
              </a:rPr>
              <a:t>再根据磁矩的实验值</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计算配离子中的未成对电子数</a:t>
            </a:r>
            <a:r>
              <a:rPr lang="en-US" altLang="zh-CN" sz="2500" b="1">
                <a:ea typeface="华文新魏" pitchFamily="2" charset="-122"/>
                <a:cs typeface="Times New Roman" pitchFamily="18" charset="0"/>
              </a:rPr>
              <a:t>n, </a:t>
            </a:r>
            <a:r>
              <a:rPr lang="zh-CN" altLang="en-US" sz="2500" b="1">
                <a:ea typeface="华文新魏" pitchFamily="2" charset="-122"/>
                <a:cs typeface="Times New Roman" pitchFamily="18" charset="0"/>
              </a:rPr>
              <a:t>看看这个</a:t>
            </a:r>
            <a:r>
              <a:rPr lang="en-US" altLang="zh-CN" sz="2500" b="1">
                <a:ea typeface="华文新魏" pitchFamily="2" charset="-122"/>
                <a:cs typeface="Times New Roman" pitchFamily="18" charset="0"/>
              </a:rPr>
              <a:t>n</a:t>
            </a:r>
            <a:r>
              <a:rPr lang="zh-CN" altLang="en-US" sz="2500" b="1">
                <a:ea typeface="华文新魏" pitchFamily="2" charset="-122"/>
                <a:cs typeface="Times New Roman" pitchFamily="18" charset="0"/>
              </a:rPr>
              <a:t>值有没有变化</a:t>
            </a:r>
            <a:r>
              <a:rPr lang="en-US" altLang="zh-CN" sz="2500" b="1">
                <a:ea typeface="华文新魏" pitchFamily="2" charset="-122"/>
                <a:cs typeface="Times New Roman" pitchFamily="18" charset="0"/>
              </a:rPr>
              <a:t>.</a:t>
            </a:r>
            <a:r>
              <a:rPr lang="zh-CN" altLang="en-US" sz="2500" b="1">
                <a:ea typeface="华文新魏" pitchFamily="2" charset="-122"/>
                <a:cs typeface="Times New Roman" pitchFamily="18" charset="0"/>
              </a:rPr>
              <a:t>    如果</a:t>
            </a:r>
            <a:r>
              <a:rPr lang="en-US" altLang="zh-CN" sz="2500" b="1">
                <a:ea typeface="华文新魏" pitchFamily="2" charset="-122"/>
                <a:cs typeface="Times New Roman" pitchFamily="18" charset="0"/>
              </a:rPr>
              <a:t>n</a:t>
            </a:r>
            <a:r>
              <a:rPr lang="zh-CN" altLang="en-US" sz="2500" b="1">
                <a:ea typeface="华文新魏" pitchFamily="2" charset="-122"/>
                <a:cs typeface="Times New Roman" pitchFamily="18" charset="0"/>
              </a:rPr>
              <a:t>保持不变</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说明保持了自由离子的电子构型</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是外轨配键</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如果</a:t>
            </a:r>
            <a:r>
              <a:rPr lang="en-US" altLang="zh-CN" sz="2500" b="1">
                <a:ea typeface="华文新魏" pitchFamily="2" charset="-122"/>
                <a:cs typeface="Times New Roman" pitchFamily="18" charset="0"/>
              </a:rPr>
              <a:t>n</a:t>
            </a:r>
            <a:r>
              <a:rPr lang="zh-CN" altLang="en-US" sz="2500" b="1">
                <a:ea typeface="华文新魏" pitchFamily="2" charset="-122"/>
                <a:cs typeface="Times New Roman" pitchFamily="18" charset="0"/>
              </a:rPr>
              <a:t>变小了</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说明发生了电子归并</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是内轨配键</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然后根据配位数</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确定杂化类型和空间构型</a:t>
            </a:r>
            <a:r>
              <a:rPr lang="en-US" altLang="zh-CN" sz="2500" b="1">
                <a:ea typeface="华文新魏" pitchFamily="2" charset="-122"/>
                <a:cs typeface="Times New Roman" pitchFamily="18" charset="0"/>
              </a:rPr>
              <a:t>.</a:t>
            </a:r>
            <a:endParaRPr lang="zh-CN" altLang="en-US" sz="2500" b="1">
              <a:ea typeface="华文新魏" pitchFamily="2" charset="-122"/>
              <a:cs typeface="Times New Roman" pitchFamily="18" charset="0"/>
            </a:endParaRPr>
          </a:p>
        </p:txBody>
      </p:sp>
      <p:sp>
        <p:nvSpPr>
          <p:cNvPr id="14342" name="Rectangle 38"/>
          <p:cNvSpPr>
            <a:spLocks noChangeArrowheads="1"/>
          </p:cNvSpPr>
          <p:nvPr/>
        </p:nvSpPr>
        <p:spPr bwMode="auto">
          <a:xfrm>
            <a:off x="4608513" y="239713"/>
            <a:ext cx="1800225" cy="476250"/>
          </a:xfrm>
          <a:prstGeom prst="rect">
            <a:avLst/>
          </a:prstGeom>
          <a:noFill/>
          <a:ln w="9525">
            <a:noFill/>
            <a:miter lim="800000"/>
            <a:headEnd/>
            <a:tailEnd/>
          </a:ln>
          <a:effectLst/>
        </p:spPr>
        <p:txBody>
          <a:bodyPr>
            <a:spAutoFit/>
          </a:bodyPr>
          <a:lstStyle/>
          <a:p>
            <a:pPr marL="342900" indent="-342900" eaLnBrk="0" hangingPunct="0"/>
            <a:r>
              <a:rPr lang="zh-CN" altLang="zh-CN" sz="2500" b="1">
                <a:solidFill>
                  <a:srgbClr val="FFFF00"/>
                </a:solidFill>
                <a:ea typeface="华文新魏" pitchFamily="2" charset="-122"/>
                <a:cs typeface="Times New Roman" pitchFamily="18" charset="0"/>
              </a:rPr>
              <a:t>解题思路：</a:t>
            </a:r>
          </a:p>
        </p:txBody>
      </p:sp>
      <p:sp>
        <p:nvSpPr>
          <p:cNvPr id="9" name="Rectangle 38"/>
          <p:cNvSpPr>
            <a:spLocks noChangeArrowheads="1"/>
          </p:cNvSpPr>
          <p:nvPr/>
        </p:nvSpPr>
        <p:spPr bwMode="auto">
          <a:xfrm>
            <a:off x="4584700" y="2911475"/>
            <a:ext cx="2735263" cy="473075"/>
          </a:xfrm>
          <a:prstGeom prst="rect">
            <a:avLst/>
          </a:prstGeom>
          <a:noFill/>
          <a:ln w="9525">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参考答案</a:t>
            </a:r>
            <a:r>
              <a:rPr lang="en-US" altLang="zh-CN" sz="2500">
                <a:solidFill>
                  <a:srgbClr val="FFFF00"/>
                </a:solidFill>
                <a:ea typeface="华文新魏" pitchFamily="2" charset="-122"/>
                <a:cs typeface="Times New Roman" pitchFamily="18" charset="0"/>
              </a:rPr>
              <a:t>(</a:t>
            </a:r>
            <a:r>
              <a:rPr lang="zh-CN" altLang="en-US" sz="2500">
                <a:solidFill>
                  <a:srgbClr val="FFFF00"/>
                </a:solidFill>
                <a:ea typeface="华文新魏" pitchFamily="2" charset="-122"/>
                <a:cs typeface="Times New Roman" pitchFamily="18" charset="0"/>
              </a:rPr>
              <a:t>续</a:t>
            </a:r>
            <a:r>
              <a:rPr lang="en-US" altLang="zh-CN" sz="2500">
                <a:solidFill>
                  <a:srgbClr val="FFFF00"/>
                </a:solidFill>
                <a:ea typeface="华文新魏" pitchFamily="2" charset="-122"/>
                <a:cs typeface="Times New Roman" pitchFamily="18" charset="0"/>
              </a:rPr>
              <a:t>) </a:t>
            </a:r>
            <a:r>
              <a:rPr lang="zh-CN" altLang="en-US" sz="2500" b="1">
                <a:solidFill>
                  <a:srgbClr val="FFFF00"/>
                </a:solidFill>
                <a:ea typeface="华文新魏" pitchFamily="2" charset="-122"/>
                <a:cs typeface="Times New Roman" pitchFamily="18" charset="0"/>
              </a:rPr>
              <a:t>：</a:t>
            </a:r>
          </a:p>
        </p:txBody>
      </p:sp>
      <p:sp>
        <p:nvSpPr>
          <p:cNvPr id="11" name="矩形 10"/>
          <p:cNvSpPr>
            <a:spLocks noChangeArrowheads="1"/>
          </p:cNvSpPr>
          <p:nvPr/>
        </p:nvSpPr>
        <p:spPr bwMode="auto">
          <a:xfrm>
            <a:off x="4616450" y="5705475"/>
            <a:ext cx="2703513" cy="477838"/>
          </a:xfrm>
          <a:prstGeom prst="rect">
            <a:avLst/>
          </a:prstGeom>
          <a:noFill/>
          <a:ln w="9525">
            <a:noFill/>
            <a:miter lim="800000"/>
            <a:headEnd/>
            <a:tailEnd/>
          </a:ln>
        </p:spPr>
        <p:txBody>
          <a:bodyPr>
            <a:spAutoFit/>
          </a:bodyPr>
          <a:lstStyle/>
          <a:p>
            <a:pPr eaLnBrk="0" hangingPunct="0"/>
            <a:r>
              <a:rPr lang="zh-CN" altLang="en-US" sz="2500" b="1">
                <a:ea typeface="华文新魏" pitchFamily="2" charset="-122"/>
                <a:cs typeface="Times New Roman" pitchFamily="18" charset="0"/>
              </a:rPr>
              <a:t>为正八面体</a:t>
            </a:r>
            <a:r>
              <a:rPr lang="en-US" altLang="zh-CN" sz="2500" b="1">
                <a:ea typeface="华文新魏" pitchFamily="2" charset="-122"/>
                <a:cs typeface="Times New Roman" pitchFamily="18" charset="0"/>
              </a:rPr>
              <a:t>.</a:t>
            </a:r>
            <a:endParaRPr lang="zh-CN" altLang="zh-CN" sz="2500" b="1">
              <a:ea typeface="华文新魏" pitchFamily="2" charset="-122"/>
              <a:cs typeface="Times New Roman" pitchFamily="18" charset="0"/>
            </a:endParaRPr>
          </a:p>
        </p:txBody>
      </p:sp>
      <p:pic>
        <p:nvPicPr>
          <p:cNvPr id="22530" name="图片 7"/>
          <p:cNvPicPr>
            <a:picLocks noChangeAspect="1" noChangeArrowheads="1"/>
          </p:cNvPicPr>
          <p:nvPr/>
        </p:nvPicPr>
        <p:blipFill>
          <a:blip r:embed="rId4"/>
          <a:srcRect l="25066" t="51118" r="40375" b="33986"/>
          <a:stretch>
            <a:fillRect/>
          </a:stretch>
        </p:blipFill>
        <p:spPr bwMode="auto">
          <a:xfrm>
            <a:off x="5629275" y="4611688"/>
            <a:ext cx="4164013" cy="1135062"/>
          </a:xfrm>
          <a:prstGeom prst="rect">
            <a:avLst/>
          </a:prstGeom>
          <a:noFill/>
          <a:ln w="9525">
            <a:noFill/>
            <a:miter lim="800000"/>
            <a:headEnd/>
            <a:tailEnd/>
          </a:ln>
        </p:spPr>
      </p:pic>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up)">
                                      <p:cBhvr>
                                        <p:cTn id="11" dur="500"/>
                                        <p:tgtEl>
                                          <p:spTgt spid="10"/>
                                        </p:tgtEl>
                                      </p:cBhvr>
                                    </p:animEffect>
                                  </p:childTnLst>
                                </p:cTn>
                              </p:par>
                            </p:childTnLst>
                          </p:cTn>
                        </p:par>
                        <p:par>
                          <p:cTn id="12" fill="hold" nodeType="afterGroup">
                            <p:stCondLst>
                              <p:cond delay="1000"/>
                            </p:stCondLst>
                            <p:childTnLst>
                              <p:par>
                                <p:cTn id="13" presetID="22" presetClass="entr" presetSubtype="4" fill="hold" nodeType="afterEffect">
                                  <p:stCondLst>
                                    <p:cond delay="0"/>
                                  </p:stCondLst>
                                  <p:childTnLst>
                                    <p:set>
                                      <p:cBhvr>
                                        <p:cTn id="14" dur="1" fill="hold">
                                          <p:stCondLst>
                                            <p:cond delay="0"/>
                                          </p:stCondLst>
                                        </p:cTn>
                                        <p:tgtEl>
                                          <p:spTgt spid="22530"/>
                                        </p:tgtEl>
                                        <p:attrNameLst>
                                          <p:attrName>style.visibility</p:attrName>
                                        </p:attrNameLst>
                                      </p:cBhvr>
                                      <p:to>
                                        <p:strVal val="visible"/>
                                      </p:to>
                                    </p:set>
                                    <p:animEffect transition="in" filter="wipe(down)">
                                      <p:cBhvr>
                                        <p:cTn id="15" dur="500"/>
                                        <p:tgtEl>
                                          <p:spTgt spid="22530"/>
                                        </p:tgtEl>
                                      </p:cBhvr>
                                    </p:animEffect>
                                  </p:childTnLst>
                                </p:cTn>
                              </p:par>
                            </p:childTnLst>
                          </p:cTn>
                        </p:par>
                        <p:par>
                          <p:cTn id="16" fill="hold" nodeType="afterGroup">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up)">
                                      <p:cBhvr>
                                        <p:cTn id="1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0"/>
          <p:cNvSpPr>
            <a:spLocks noChangeArrowheads="1"/>
          </p:cNvSpPr>
          <p:nvPr/>
        </p:nvSpPr>
        <p:spPr bwMode="auto">
          <a:xfrm>
            <a:off x="179388" y="338138"/>
            <a:ext cx="3997325" cy="3170237"/>
          </a:xfrm>
          <a:prstGeom prst="rect">
            <a:avLst/>
          </a:prstGeom>
          <a:noFill/>
          <a:ln w="9525">
            <a:noFill/>
            <a:miter lim="800000"/>
            <a:headEnd/>
            <a:tailEnd/>
          </a:ln>
          <a:effectLst/>
        </p:spPr>
        <p:txBody>
          <a:bodyPr>
            <a:spAutoFit/>
          </a:bodyPr>
          <a:lstStyle/>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实验测得下列配离子的磁矩数值如下：</a:t>
            </a:r>
          </a:p>
          <a:p>
            <a:pPr algn="ctr" eaLnBrk="0" hangingPunct="0"/>
            <a:r>
              <a:rPr lang="en-US" altLang="zh-CN" sz="2500" b="1">
                <a:ea typeface="华文新魏" pitchFamily="2" charset="-122"/>
                <a:cs typeface="Times New Roman" pitchFamily="18" charset="0"/>
              </a:rPr>
              <a:t>[CoF</a:t>
            </a:r>
            <a:r>
              <a:rPr lang="en-US" altLang="zh-CN" sz="2500" b="1" baseline="-25000">
                <a:ea typeface="华文新魏" pitchFamily="2" charset="-122"/>
                <a:cs typeface="Times New Roman" pitchFamily="18" charset="0"/>
              </a:rPr>
              <a:t>6</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3-            </a:t>
            </a:r>
            <a:r>
              <a:rPr lang="en-US" altLang="zh-CN" sz="2500" b="1">
                <a:ea typeface="华文新魏" pitchFamily="2" charset="-122"/>
                <a:cs typeface="Times New Roman" pitchFamily="18" charset="0"/>
              </a:rPr>
              <a:t>4.5 B.M. [Fe(CN)</a:t>
            </a:r>
            <a:r>
              <a:rPr lang="en-US" altLang="zh-CN" sz="2500" b="1" baseline="-25000">
                <a:ea typeface="华文新魏" pitchFamily="2" charset="-122"/>
                <a:cs typeface="Times New Roman" pitchFamily="18" charset="0"/>
              </a:rPr>
              <a:t>6</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4-       </a:t>
            </a:r>
            <a:r>
              <a:rPr lang="en-US" altLang="zh-CN" sz="2500" b="1">
                <a:ea typeface="华文新魏" pitchFamily="2" charset="-122"/>
                <a:cs typeface="Times New Roman" pitchFamily="18" charset="0"/>
              </a:rPr>
              <a:t> 0 B.M.</a:t>
            </a:r>
            <a:endParaRPr lang="zh-CN" altLang="zh-CN" sz="2500" b="1">
              <a:ea typeface="华文新魏" pitchFamily="2" charset="-122"/>
              <a:cs typeface="Times New Roman" pitchFamily="18" charset="0"/>
            </a:endParaRPr>
          </a:p>
          <a:p>
            <a:pPr eaLnBrk="0" hangingPunct="0"/>
            <a:r>
              <a:rPr lang="zh-CN" altLang="zh-CN" sz="2500" b="1">
                <a:ea typeface="华文新魏" pitchFamily="2" charset="-122"/>
                <a:cs typeface="Times New Roman" pitchFamily="18" charset="0"/>
              </a:rPr>
              <a:t>试指出中心离子的配位数和配离子的杂化类型</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判断哪个是内轨型</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哪个是外轨型</a:t>
            </a:r>
            <a:r>
              <a:rPr lang="en-US" altLang="zh-CN" sz="2500" b="1">
                <a:ea typeface="华文新魏" pitchFamily="2" charset="-122"/>
                <a:cs typeface="Times New Roman" pitchFamily="18" charset="0"/>
              </a:rPr>
              <a:t>?</a:t>
            </a:r>
            <a:r>
              <a:rPr lang="zh-CN" altLang="zh-CN" sz="2500" b="1">
                <a:ea typeface="华文新魏" pitchFamily="2" charset="-122"/>
                <a:cs typeface="Times New Roman" pitchFamily="18" charset="0"/>
              </a:rPr>
              <a:t>并预测其空间构型</a:t>
            </a:r>
            <a:r>
              <a:rPr lang="en-US" altLang="zh-CN" sz="2500" b="1">
                <a:ea typeface="华文新魏" pitchFamily="2" charset="-122"/>
                <a:cs typeface="Times New Roman" pitchFamily="18" charset="0"/>
              </a:rPr>
              <a:t>.</a:t>
            </a:r>
            <a:endParaRPr lang="zh-CN" altLang="zh-CN" sz="2500" b="1">
              <a:ea typeface="华文新魏" pitchFamily="2" charset="-122"/>
              <a:cs typeface="Times New Roman" pitchFamily="18" charset="0"/>
            </a:endParaRPr>
          </a:p>
        </p:txBody>
      </p:sp>
      <p:sp>
        <p:nvSpPr>
          <p:cNvPr id="15363" name="Text Box 39"/>
          <p:cNvSpPr txBox="1">
            <a:spLocks noChangeArrowheads="1"/>
          </p:cNvSpPr>
          <p:nvPr/>
        </p:nvSpPr>
        <p:spPr bwMode="auto">
          <a:xfrm>
            <a:off x="179388" y="358775"/>
            <a:ext cx="1836737" cy="477838"/>
          </a:xfrm>
          <a:prstGeom prst="rect">
            <a:avLst/>
          </a:prstGeom>
          <a:noFill/>
          <a:ln w="9525" algn="ctr">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习题</a:t>
            </a:r>
            <a:r>
              <a:rPr lang="en-US" altLang="zh-CN" sz="2500" b="1">
                <a:solidFill>
                  <a:srgbClr val="FFFF00"/>
                </a:solidFill>
                <a:ea typeface="华文新魏" pitchFamily="2" charset="-122"/>
                <a:cs typeface="Times New Roman" pitchFamily="18" charset="0"/>
              </a:rPr>
              <a:t>8-10</a:t>
            </a:r>
            <a:r>
              <a:rPr lang="zh-CN" altLang="en-US" sz="2500" b="1">
                <a:solidFill>
                  <a:srgbClr val="FFFF00"/>
                </a:solidFill>
                <a:ea typeface="华文新魏" pitchFamily="2" charset="-122"/>
                <a:cs typeface="Times New Roman" pitchFamily="18" charset="0"/>
              </a:rPr>
              <a:t>：</a:t>
            </a:r>
          </a:p>
        </p:txBody>
      </p:sp>
      <p:sp>
        <p:nvSpPr>
          <p:cNvPr id="5" name="Rectangle 38"/>
          <p:cNvSpPr>
            <a:spLocks noChangeArrowheads="1"/>
          </p:cNvSpPr>
          <p:nvPr/>
        </p:nvSpPr>
        <p:spPr bwMode="auto">
          <a:xfrm>
            <a:off x="4608513" y="334963"/>
            <a:ext cx="6627812" cy="2786062"/>
          </a:xfrm>
          <a:prstGeom prst="rect">
            <a:avLst/>
          </a:prstGeom>
          <a:noFill/>
          <a:ln w="9525">
            <a:noFill/>
            <a:miter lim="800000"/>
            <a:headEnd/>
            <a:tailEnd/>
          </a:ln>
          <a:effectLst/>
        </p:spPr>
        <p:txBody>
          <a:bodyPr>
            <a:spAutoFit/>
          </a:bodyPr>
          <a:lstStyle/>
          <a:p>
            <a:pPr eaLnBrk="0" hangingPunct="0"/>
            <a:r>
              <a:rPr lang="zh-CN" altLang="en-US" sz="2500" b="1">
                <a:ea typeface="华文新魏" pitchFamily="2" charset="-122"/>
                <a:cs typeface="Times New Roman" pitchFamily="18" charset="0"/>
              </a:rPr>
              <a:t>                  先先写出中心离子的自由离子价电子构型</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确定未成对电子数</a:t>
            </a:r>
            <a:r>
              <a:rPr lang="en-US" altLang="zh-CN" sz="2500" b="1">
                <a:ea typeface="华文新魏" pitchFamily="2" charset="-122"/>
                <a:cs typeface="Times New Roman" pitchFamily="18" charset="0"/>
              </a:rPr>
              <a:t>n. </a:t>
            </a:r>
            <a:r>
              <a:rPr lang="zh-CN" altLang="en-US" sz="2500" b="1">
                <a:ea typeface="华文新魏" pitchFamily="2" charset="-122"/>
                <a:cs typeface="Times New Roman" pitchFamily="18" charset="0"/>
              </a:rPr>
              <a:t>再根据磁矩的实验值</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计算配离子中的未成对电子数</a:t>
            </a:r>
            <a:r>
              <a:rPr lang="en-US" altLang="zh-CN" sz="2500" b="1">
                <a:ea typeface="华文新魏" pitchFamily="2" charset="-122"/>
                <a:cs typeface="Times New Roman" pitchFamily="18" charset="0"/>
              </a:rPr>
              <a:t>n, </a:t>
            </a:r>
            <a:r>
              <a:rPr lang="zh-CN" altLang="en-US" sz="2500" b="1">
                <a:ea typeface="华文新魏" pitchFamily="2" charset="-122"/>
                <a:cs typeface="Times New Roman" pitchFamily="18" charset="0"/>
              </a:rPr>
              <a:t>看看这个</a:t>
            </a:r>
            <a:r>
              <a:rPr lang="en-US" altLang="zh-CN" sz="2500" b="1">
                <a:ea typeface="华文新魏" pitchFamily="2" charset="-122"/>
                <a:cs typeface="Times New Roman" pitchFamily="18" charset="0"/>
              </a:rPr>
              <a:t>n</a:t>
            </a:r>
            <a:r>
              <a:rPr lang="zh-CN" altLang="en-US" sz="2500" b="1">
                <a:ea typeface="华文新魏" pitchFamily="2" charset="-122"/>
                <a:cs typeface="Times New Roman" pitchFamily="18" charset="0"/>
              </a:rPr>
              <a:t>值有没有变化</a:t>
            </a:r>
            <a:r>
              <a:rPr lang="en-US" altLang="zh-CN" sz="2500" b="1">
                <a:ea typeface="华文新魏" pitchFamily="2" charset="-122"/>
                <a:cs typeface="Times New Roman" pitchFamily="18" charset="0"/>
              </a:rPr>
              <a:t>.</a:t>
            </a:r>
            <a:r>
              <a:rPr lang="zh-CN" altLang="en-US" sz="2500" b="1">
                <a:ea typeface="华文新魏" pitchFamily="2" charset="-122"/>
                <a:cs typeface="Times New Roman" pitchFamily="18" charset="0"/>
              </a:rPr>
              <a:t>   如果</a:t>
            </a:r>
            <a:r>
              <a:rPr lang="en-US" altLang="zh-CN" sz="2500" b="1">
                <a:ea typeface="华文新魏" pitchFamily="2" charset="-122"/>
                <a:cs typeface="Times New Roman" pitchFamily="18" charset="0"/>
              </a:rPr>
              <a:t>n</a:t>
            </a:r>
            <a:r>
              <a:rPr lang="zh-CN" altLang="en-US" sz="2500" b="1">
                <a:ea typeface="华文新魏" pitchFamily="2" charset="-122"/>
                <a:cs typeface="Times New Roman" pitchFamily="18" charset="0"/>
              </a:rPr>
              <a:t>保持不变</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说明保持了自由离子的电子构型</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是外轨配键</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如果</a:t>
            </a:r>
            <a:r>
              <a:rPr lang="en-US" altLang="zh-CN" sz="2500" b="1">
                <a:ea typeface="华文新魏" pitchFamily="2" charset="-122"/>
                <a:cs typeface="Times New Roman" pitchFamily="18" charset="0"/>
              </a:rPr>
              <a:t>n</a:t>
            </a:r>
            <a:r>
              <a:rPr lang="zh-CN" altLang="en-US" sz="2500" b="1">
                <a:ea typeface="华文新魏" pitchFamily="2" charset="-122"/>
                <a:cs typeface="Times New Roman" pitchFamily="18" charset="0"/>
              </a:rPr>
              <a:t>变小了</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说明发生了电子归并</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是内轨配键</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然后根据配位数</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确定杂化类型和空间构型</a:t>
            </a:r>
            <a:r>
              <a:rPr lang="en-US" altLang="zh-CN" sz="2500" b="1">
                <a:ea typeface="华文新魏" pitchFamily="2" charset="-122"/>
                <a:cs typeface="Times New Roman" pitchFamily="18" charset="0"/>
              </a:rPr>
              <a:t>.</a:t>
            </a:r>
            <a:endParaRPr lang="zh-CN" altLang="en-US" sz="2500" b="1">
              <a:ea typeface="华文新魏" pitchFamily="2" charset="-122"/>
              <a:cs typeface="Times New Roman" pitchFamily="18" charset="0"/>
            </a:endParaRPr>
          </a:p>
        </p:txBody>
      </p:sp>
      <p:sp>
        <p:nvSpPr>
          <p:cNvPr id="2" name="Rectangle 38"/>
          <p:cNvSpPr>
            <a:spLocks noChangeArrowheads="1"/>
          </p:cNvSpPr>
          <p:nvPr/>
        </p:nvSpPr>
        <p:spPr bwMode="auto">
          <a:xfrm>
            <a:off x="4608513" y="344488"/>
            <a:ext cx="1800225" cy="476250"/>
          </a:xfrm>
          <a:prstGeom prst="rect">
            <a:avLst/>
          </a:prstGeom>
          <a:noFill/>
          <a:ln w="9525">
            <a:noFill/>
            <a:miter lim="800000"/>
            <a:headEnd/>
            <a:tailEnd/>
          </a:ln>
          <a:effectLst/>
        </p:spPr>
        <p:txBody>
          <a:bodyPr>
            <a:spAutoFit/>
          </a:bodyPr>
          <a:lstStyle/>
          <a:p>
            <a:pPr marL="342900" indent="-342900" eaLnBrk="0" hangingPunct="0"/>
            <a:r>
              <a:rPr lang="zh-CN" altLang="zh-CN" sz="2500" b="1">
                <a:solidFill>
                  <a:srgbClr val="FFFF00"/>
                </a:solidFill>
                <a:ea typeface="华文新魏" pitchFamily="2" charset="-122"/>
                <a:cs typeface="Times New Roman" pitchFamily="18" charset="0"/>
              </a:rPr>
              <a:t>解题思路：</a:t>
            </a:r>
          </a:p>
        </p:txBody>
      </p:sp>
      <p:sp>
        <p:nvSpPr>
          <p:cNvPr id="9" name="Rectangle 38"/>
          <p:cNvSpPr>
            <a:spLocks noChangeArrowheads="1"/>
          </p:cNvSpPr>
          <p:nvPr/>
        </p:nvSpPr>
        <p:spPr bwMode="auto">
          <a:xfrm>
            <a:off x="4584700" y="3025775"/>
            <a:ext cx="2735263" cy="473075"/>
          </a:xfrm>
          <a:prstGeom prst="rect">
            <a:avLst/>
          </a:prstGeom>
          <a:noFill/>
          <a:ln w="9525">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参考答案：</a:t>
            </a:r>
          </a:p>
        </p:txBody>
      </p:sp>
      <p:sp>
        <p:nvSpPr>
          <p:cNvPr id="10" name="矩形 9"/>
          <p:cNvSpPr>
            <a:spLocks noRot="1" noChangeAspect="1" noMove="1" noResize="1" noEditPoints="1" noAdjustHandles="1" noChangeArrowheads="1" noChangeShapeType="1" noTextEdit="1"/>
          </p:cNvSpPr>
          <p:nvPr/>
        </p:nvSpPr>
        <p:spPr bwMode="auto">
          <a:xfrm>
            <a:off x="4608513" y="3406775"/>
            <a:ext cx="6624637" cy="2097049"/>
          </a:xfrm>
          <a:prstGeom prst="rect">
            <a:avLst/>
          </a:prstGeom>
          <a:blipFill rotWithShape="1">
            <a:blip r:embed="rId3"/>
            <a:stretch>
              <a:fillRect l="-1564" t="-2616" r="-1472" b="-6105"/>
            </a:stretch>
          </a:bli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pPr>
              <a:defRPr/>
            </a:pPr>
            <a:r>
              <a:rPr lang="zh-CN" altLang="en-US">
                <a:noFill/>
              </a:rPr>
              <a:t> </a:t>
            </a: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blinds(horizontal)">
                                      <p:cBhvr>
                                        <p:cTn id="17" dur="500"/>
                                        <p:tgtEl>
                                          <p:spTgt spid="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up)">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P spid="2" grpId="0"/>
      <p:bldP spid="9"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40"/>
          <p:cNvSpPr>
            <a:spLocks noChangeArrowheads="1"/>
          </p:cNvSpPr>
          <p:nvPr/>
        </p:nvSpPr>
        <p:spPr bwMode="auto">
          <a:xfrm>
            <a:off x="179388" y="338138"/>
            <a:ext cx="3997325" cy="3170237"/>
          </a:xfrm>
          <a:prstGeom prst="rect">
            <a:avLst/>
          </a:prstGeom>
          <a:noFill/>
          <a:ln w="9525">
            <a:noFill/>
            <a:miter lim="800000"/>
            <a:headEnd/>
            <a:tailEnd/>
          </a:ln>
          <a:effectLst/>
        </p:spPr>
        <p:txBody>
          <a:bodyPr>
            <a:spAutoFit/>
          </a:bodyPr>
          <a:lstStyle/>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实验测得下列配离子的磁矩数值如下：</a:t>
            </a:r>
          </a:p>
          <a:p>
            <a:pPr algn="ctr" eaLnBrk="0" hangingPunct="0"/>
            <a:r>
              <a:rPr lang="en-US" altLang="zh-CN" sz="2500" b="1">
                <a:ea typeface="华文新魏" pitchFamily="2" charset="-122"/>
                <a:cs typeface="Times New Roman" pitchFamily="18" charset="0"/>
              </a:rPr>
              <a:t>[CoF</a:t>
            </a:r>
            <a:r>
              <a:rPr lang="en-US" altLang="zh-CN" sz="2500" b="1" baseline="-25000">
                <a:ea typeface="华文新魏" pitchFamily="2" charset="-122"/>
                <a:cs typeface="Times New Roman" pitchFamily="18" charset="0"/>
              </a:rPr>
              <a:t>6</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3-            </a:t>
            </a:r>
            <a:r>
              <a:rPr lang="en-US" altLang="zh-CN" sz="2500" b="1">
                <a:ea typeface="华文新魏" pitchFamily="2" charset="-122"/>
                <a:cs typeface="Times New Roman" pitchFamily="18" charset="0"/>
              </a:rPr>
              <a:t>4.5 B.M. [Fe(CN)</a:t>
            </a:r>
            <a:r>
              <a:rPr lang="en-US" altLang="zh-CN" sz="2500" b="1" baseline="-25000">
                <a:ea typeface="华文新魏" pitchFamily="2" charset="-122"/>
                <a:cs typeface="Times New Roman" pitchFamily="18" charset="0"/>
              </a:rPr>
              <a:t>6</a:t>
            </a:r>
            <a:r>
              <a:rPr lang="en-US" altLang="zh-CN" sz="2500" b="1">
                <a:ea typeface="华文新魏" pitchFamily="2" charset="-122"/>
                <a:cs typeface="Times New Roman" pitchFamily="18" charset="0"/>
              </a:rPr>
              <a:t>]</a:t>
            </a:r>
            <a:r>
              <a:rPr lang="en-US" altLang="zh-CN" sz="2500" b="1" baseline="30000">
                <a:ea typeface="华文新魏" pitchFamily="2" charset="-122"/>
                <a:cs typeface="Times New Roman" pitchFamily="18" charset="0"/>
              </a:rPr>
              <a:t>4-       </a:t>
            </a:r>
            <a:r>
              <a:rPr lang="en-US" altLang="zh-CN" sz="2500" b="1">
                <a:ea typeface="华文新魏" pitchFamily="2" charset="-122"/>
                <a:cs typeface="Times New Roman" pitchFamily="18" charset="0"/>
              </a:rPr>
              <a:t> 0 B.M.</a:t>
            </a:r>
            <a:endParaRPr lang="zh-CN" altLang="zh-CN" sz="2500" b="1">
              <a:ea typeface="华文新魏" pitchFamily="2" charset="-122"/>
              <a:cs typeface="Times New Roman" pitchFamily="18" charset="0"/>
            </a:endParaRPr>
          </a:p>
          <a:p>
            <a:pPr eaLnBrk="0" hangingPunct="0"/>
            <a:r>
              <a:rPr lang="zh-CN" altLang="zh-CN" sz="2500" b="1">
                <a:ea typeface="华文新魏" pitchFamily="2" charset="-122"/>
                <a:cs typeface="Times New Roman" pitchFamily="18" charset="0"/>
              </a:rPr>
              <a:t>试指出中心离子的配位数和配离子的杂化类型</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判断哪个是内轨型</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哪个是外轨型</a:t>
            </a:r>
            <a:r>
              <a:rPr lang="en-US" altLang="zh-CN" sz="2500" b="1">
                <a:ea typeface="华文新魏" pitchFamily="2" charset="-122"/>
                <a:cs typeface="Times New Roman" pitchFamily="18" charset="0"/>
              </a:rPr>
              <a:t>?</a:t>
            </a:r>
            <a:r>
              <a:rPr lang="zh-CN" altLang="zh-CN" sz="2500" b="1">
                <a:ea typeface="华文新魏" pitchFamily="2" charset="-122"/>
                <a:cs typeface="Times New Roman" pitchFamily="18" charset="0"/>
              </a:rPr>
              <a:t>并预测其空间构型</a:t>
            </a:r>
            <a:r>
              <a:rPr lang="en-US" altLang="zh-CN" sz="2500" b="1">
                <a:ea typeface="华文新魏" pitchFamily="2" charset="-122"/>
                <a:cs typeface="Times New Roman" pitchFamily="18" charset="0"/>
              </a:rPr>
              <a:t>.</a:t>
            </a:r>
            <a:endParaRPr lang="zh-CN" altLang="zh-CN" sz="2500" b="1">
              <a:ea typeface="华文新魏" pitchFamily="2" charset="-122"/>
              <a:cs typeface="Times New Roman" pitchFamily="18" charset="0"/>
            </a:endParaRPr>
          </a:p>
        </p:txBody>
      </p:sp>
      <p:sp>
        <p:nvSpPr>
          <p:cNvPr id="16387" name="Text Box 39"/>
          <p:cNvSpPr txBox="1">
            <a:spLocks noChangeArrowheads="1"/>
          </p:cNvSpPr>
          <p:nvPr/>
        </p:nvSpPr>
        <p:spPr bwMode="auto">
          <a:xfrm>
            <a:off x="179388" y="358775"/>
            <a:ext cx="1836737" cy="477838"/>
          </a:xfrm>
          <a:prstGeom prst="rect">
            <a:avLst/>
          </a:prstGeom>
          <a:noFill/>
          <a:ln w="9525" algn="ctr">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习题</a:t>
            </a:r>
            <a:r>
              <a:rPr lang="en-US" altLang="zh-CN" sz="2500" b="1">
                <a:solidFill>
                  <a:srgbClr val="FFFF00"/>
                </a:solidFill>
                <a:ea typeface="华文新魏" pitchFamily="2" charset="-122"/>
                <a:cs typeface="Times New Roman" pitchFamily="18" charset="0"/>
              </a:rPr>
              <a:t>8-10</a:t>
            </a:r>
            <a:r>
              <a:rPr lang="zh-CN" altLang="en-US" sz="2500" b="1">
                <a:solidFill>
                  <a:srgbClr val="FFFF00"/>
                </a:solidFill>
                <a:ea typeface="华文新魏" pitchFamily="2" charset="-122"/>
                <a:cs typeface="Times New Roman" pitchFamily="18" charset="0"/>
              </a:rPr>
              <a:t>：</a:t>
            </a:r>
          </a:p>
        </p:txBody>
      </p:sp>
      <p:sp>
        <p:nvSpPr>
          <p:cNvPr id="16388" name="Rectangle 38"/>
          <p:cNvSpPr>
            <a:spLocks noChangeArrowheads="1"/>
          </p:cNvSpPr>
          <p:nvPr/>
        </p:nvSpPr>
        <p:spPr bwMode="auto">
          <a:xfrm>
            <a:off x="4608513" y="334963"/>
            <a:ext cx="6627812" cy="2786062"/>
          </a:xfrm>
          <a:prstGeom prst="rect">
            <a:avLst/>
          </a:prstGeom>
          <a:noFill/>
          <a:ln w="9525">
            <a:noFill/>
            <a:miter lim="800000"/>
            <a:headEnd/>
            <a:tailEnd/>
          </a:ln>
          <a:effectLst/>
        </p:spPr>
        <p:txBody>
          <a:bodyPr>
            <a:spAutoFit/>
          </a:bodyPr>
          <a:lstStyle/>
          <a:p>
            <a:pPr eaLnBrk="0" hangingPunct="0"/>
            <a:r>
              <a:rPr lang="zh-CN" altLang="en-US" sz="2500" b="1">
                <a:ea typeface="华文新魏" pitchFamily="2" charset="-122"/>
                <a:cs typeface="Times New Roman" pitchFamily="18" charset="0"/>
              </a:rPr>
              <a:t>                  先先写出中心离子的自由离子价电子构型</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确定未成对电子数</a:t>
            </a:r>
            <a:r>
              <a:rPr lang="en-US" altLang="zh-CN" sz="2500" b="1">
                <a:ea typeface="华文新魏" pitchFamily="2" charset="-122"/>
                <a:cs typeface="Times New Roman" pitchFamily="18" charset="0"/>
              </a:rPr>
              <a:t>n. </a:t>
            </a:r>
            <a:r>
              <a:rPr lang="zh-CN" altLang="en-US" sz="2500" b="1">
                <a:ea typeface="华文新魏" pitchFamily="2" charset="-122"/>
                <a:cs typeface="Times New Roman" pitchFamily="18" charset="0"/>
              </a:rPr>
              <a:t>再根据磁矩的实验值</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计算配离子中的未成对电子数</a:t>
            </a:r>
            <a:r>
              <a:rPr lang="en-US" altLang="zh-CN" sz="2500" b="1">
                <a:ea typeface="华文新魏" pitchFamily="2" charset="-122"/>
                <a:cs typeface="Times New Roman" pitchFamily="18" charset="0"/>
              </a:rPr>
              <a:t>n, </a:t>
            </a:r>
            <a:r>
              <a:rPr lang="zh-CN" altLang="en-US" sz="2500" b="1">
                <a:ea typeface="华文新魏" pitchFamily="2" charset="-122"/>
                <a:cs typeface="Times New Roman" pitchFamily="18" charset="0"/>
              </a:rPr>
              <a:t>看看这个</a:t>
            </a:r>
            <a:r>
              <a:rPr lang="en-US" altLang="zh-CN" sz="2500" b="1">
                <a:ea typeface="华文新魏" pitchFamily="2" charset="-122"/>
                <a:cs typeface="Times New Roman" pitchFamily="18" charset="0"/>
              </a:rPr>
              <a:t>n</a:t>
            </a:r>
            <a:r>
              <a:rPr lang="zh-CN" altLang="en-US" sz="2500" b="1">
                <a:ea typeface="华文新魏" pitchFamily="2" charset="-122"/>
                <a:cs typeface="Times New Roman" pitchFamily="18" charset="0"/>
              </a:rPr>
              <a:t>值有没有变化</a:t>
            </a:r>
            <a:r>
              <a:rPr lang="en-US" altLang="zh-CN" sz="2500" b="1">
                <a:ea typeface="华文新魏" pitchFamily="2" charset="-122"/>
                <a:cs typeface="Times New Roman" pitchFamily="18" charset="0"/>
              </a:rPr>
              <a:t>.</a:t>
            </a:r>
            <a:r>
              <a:rPr lang="zh-CN" altLang="en-US" sz="2500" b="1">
                <a:ea typeface="华文新魏" pitchFamily="2" charset="-122"/>
                <a:cs typeface="Times New Roman" pitchFamily="18" charset="0"/>
              </a:rPr>
              <a:t>   如果</a:t>
            </a:r>
            <a:r>
              <a:rPr lang="en-US" altLang="zh-CN" sz="2500" b="1">
                <a:ea typeface="华文新魏" pitchFamily="2" charset="-122"/>
                <a:cs typeface="Times New Roman" pitchFamily="18" charset="0"/>
              </a:rPr>
              <a:t>n</a:t>
            </a:r>
            <a:r>
              <a:rPr lang="zh-CN" altLang="en-US" sz="2500" b="1">
                <a:ea typeface="华文新魏" pitchFamily="2" charset="-122"/>
                <a:cs typeface="Times New Roman" pitchFamily="18" charset="0"/>
              </a:rPr>
              <a:t>保持不变</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说明保持了自由离子的电子构型</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是外轨配键</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如果</a:t>
            </a:r>
            <a:r>
              <a:rPr lang="en-US" altLang="zh-CN" sz="2500" b="1">
                <a:ea typeface="华文新魏" pitchFamily="2" charset="-122"/>
                <a:cs typeface="Times New Roman" pitchFamily="18" charset="0"/>
              </a:rPr>
              <a:t>n</a:t>
            </a:r>
            <a:r>
              <a:rPr lang="zh-CN" altLang="en-US" sz="2500" b="1">
                <a:ea typeface="华文新魏" pitchFamily="2" charset="-122"/>
                <a:cs typeface="Times New Roman" pitchFamily="18" charset="0"/>
              </a:rPr>
              <a:t>变小了</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说明发生了电子归并</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是内轨配键</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然后根据配位数</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确定杂化类型和空间构型</a:t>
            </a:r>
            <a:r>
              <a:rPr lang="en-US" altLang="zh-CN" sz="2500" b="1">
                <a:ea typeface="华文新魏" pitchFamily="2" charset="-122"/>
                <a:cs typeface="Times New Roman" pitchFamily="18" charset="0"/>
              </a:rPr>
              <a:t>.</a:t>
            </a:r>
            <a:endParaRPr lang="zh-CN" altLang="en-US" sz="2500" b="1">
              <a:ea typeface="华文新魏" pitchFamily="2" charset="-122"/>
              <a:cs typeface="Times New Roman" pitchFamily="18" charset="0"/>
            </a:endParaRPr>
          </a:p>
        </p:txBody>
      </p:sp>
      <p:sp>
        <p:nvSpPr>
          <p:cNvPr id="16389" name="Rectangle 38"/>
          <p:cNvSpPr>
            <a:spLocks noChangeArrowheads="1"/>
          </p:cNvSpPr>
          <p:nvPr/>
        </p:nvSpPr>
        <p:spPr bwMode="auto">
          <a:xfrm>
            <a:off x="4608513" y="344488"/>
            <a:ext cx="1800225" cy="476250"/>
          </a:xfrm>
          <a:prstGeom prst="rect">
            <a:avLst/>
          </a:prstGeom>
          <a:noFill/>
          <a:ln w="9525">
            <a:noFill/>
            <a:miter lim="800000"/>
            <a:headEnd/>
            <a:tailEnd/>
          </a:ln>
          <a:effectLst/>
        </p:spPr>
        <p:txBody>
          <a:bodyPr>
            <a:spAutoFit/>
          </a:bodyPr>
          <a:lstStyle/>
          <a:p>
            <a:pPr marL="342900" indent="-342900" eaLnBrk="0" hangingPunct="0"/>
            <a:r>
              <a:rPr lang="zh-CN" altLang="zh-CN" sz="2500" b="1">
                <a:solidFill>
                  <a:srgbClr val="FFFF00"/>
                </a:solidFill>
                <a:ea typeface="华文新魏" pitchFamily="2" charset="-122"/>
                <a:cs typeface="Times New Roman" pitchFamily="18" charset="0"/>
              </a:rPr>
              <a:t>解题思路：</a:t>
            </a:r>
          </a:p>
        </p:txBody>
      </p:sp>
      <p:sp>
        <p:nvSpPr>
          <p:cNvPr id="9" name="Rectangle 38"/>
          <p:cNvSpPr>
            <a:spLocks noChangeArrowheads="1"/>
          </p:cNvSpPr>
          <p:nvPr/>
        </p:nvSpPr>
        <p:spPr bwMode="auto">
          <a:xfrm>
            <a:off x="4584700" y="3025775"/>
            <a:ext cx="2735263" cy="473075"/>
          </a:xfrm>
          <a:prstGeom prst="rect">
            <a:avLst/>
          </a:prstGeom>
          <a:noFill/>
          <a:ln w="9525">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参考答案</a:t>
            </a:r>
            <a:r>
              <a:rPr lang="en-US" altLang="zh-CN" sz="2500">
                <a:solidFill>
                  <a:srgbClr val="FFFF00"/>
                </a:solidFill>
                <a:ea typeface="华文新魏" pitchFamily="2" charset="-122"/>
                <a:cs typeface="Times New Roman" pitchFamily="18" charset="0"/>
              </a:rPr>
              <a:t>(</a:t>
            </a:r>
            <a:r>
              <a:rPr lang="zh-CN" altLang="en-US" sz="2500">
                <a:solidFill>
                  <a:srgbClr val="FFFF00"/>
                </a:solidFill>
                <a:ea typeface="华文新魏" pitchFamily="2" charset="-122"/>
                <a:cs typeface="Times New Roman" pitchFamily="18" charset="0"/>
              </a:rPr>
              <a:t>续</a:t>
            </a:r>
            <a:r>
              <a:rPr lang="en-US" altLang="zh-CN" sz="2500">
                <a:solidFill>
                  <a:srgbClr val="FFFF00"/>
                </a:solidFill>
                <a:ea typeface="华文新魏" pitchFamily="2" charset="-122"/>
                <a:cs typeface="Times New Roman" pitchFamily="18" charset="0"/>
              </a:rPr>
              <a:t>) </a:t>
            </a:r>
            <a:r>
              <a:rPr lang="zh-CN" altLang="en-US" sz="2500" b="1">
                <a:solidFill>
                  <a:srgbClr val="FFFF00"/>
                </a:solidFill>
                <a:ea typeface="华文新魏" pitchFamily="2" charset="-122"/>
                <a:cs typeface="Times New Roman" pitchFamily="18" charset="0"/>
              </a:rPr>
              <a:t>：</a:t>
            </a:r>
          </a:p>
        </p:txBody>
      </p:sp>
      <p:sp>
        <p:nvSpPr>
          <p:cNvPr id="10" name="矩形 9"/>
          <p:cNvSpPr>
            <a:spLocks noRot="1" noChangeAspect="1" noMove="1" noResize="1" noEditPoints="1" noAdjustHandles="1" noChangeArrowheads="1" noChangeShapeType="1" noTextEdit="1"/>
          </p:cNvSpPr>
          <p:nvPr/>
        </p:nvSpPr>
        <p:spPr bwMode="auto">
          <a:xfrm>
            <a:off x="4608513" y="3406775"/>
            <a:ext cx="6624637" cy="2097049"/>
          </a:xfrm>
          <a:prstGeom prst="rect">
            <a:avLst/>
          </a:prstGeom>
          <a:blipFill rotWithShape="1">
            <a:blip r:embed="rId3"/>
            <a:stretch>
              <a:fillRect l="-1564" t="-2616" r="-1472" b="-6105"/>
            </a:stretch>
          </a:bli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pPr>
              <a:defRPr/>
            </a:pPr>
            <a:r>
              <a:rPr lang="zh-CN" altLang="en-US">
                <a:noFill/>
              </a:rPr>
              <a:t> </a:t>
            </a: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up)">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0"/>
          <p:cNvSpPr>
            <a:spLocks noChangeArrowheads="1"/>
          </p:cNvSpPr>
          <p:nvPr/>
        </p:nvSpPr>
        <p:spPr bwMode="auto">
          <a:xfrm>
            <a:off x="179388" y="338138"/>
            <a:ext cx="3997325" cy="2016125"/>
          </a:xfrm>
          <a:prstGeom prst="rect">
            <a:avLst/>
          </a:prstGeom>
          <a:noFill/>
          <a:ln w="9525">
            <a:noFill/>
            <a:miter lim="800000"/>
            <a:headEnd/>
            <a:tailEnd/>
          </a:ln>
          <a:effectLst/>
        </p:spPr>
        <p:txBody>
          <a:bodyPr>
            <a:spAutoFit/>
          </a:bodyPr>
          <a:lstStyle/>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试判断下列分子哪些是极性分子</a:t>
            </a:r>
            <a:r>
              <a:rPr lang="en-US" altLang="zh-CN" sz="2500" b="1">
                <a:ea typeface="华文新魏" pitchFamily="2" charset="-122"/>
                <a:cs typeface="Times New Roman" pitchFamily="18" charset="0"/>
              </a:rPr>
              <a:t>?</a:t>
            </a:r>
            <a:r>
              <a:rPr lang="zh-CN" altLang="zh-CN" sz="2500" b="1">
                <a:ea typeface="华文新魏" pitchFamily="2" charset="-122"/>
                <a:cs typeface="Times New Roman" pitchFamily="18" charset="0"/>
              </a:rPr>
              <a:t>哪些是非极性分子</a:t>
            </a:r>
            <a:r>
              <a:rPr lang="en-US" altLang="zh-CN" sz="2500" b="1">
                <a:ea typeface="华文新魏" pitchFamily="2" charset="-122"/>
                <a:cs typeface="Times New Roman" pitchFamily="18" charset="0"/>
              </a:rPr>
              <a:t>?</a:t>
            </a:r>
          </a:p>
          <a:p>
            <a:pPr eaLnBrk="0" hangingPunct="0"/>
            <a:r>
              <a:rPr lang="en-US" altLang="zh-CN" sz="2500" b="1">
                <a:ea typeface="华文新魏" pitchFamily="2" charset="-122"/>
                <a:cs typeface="Times New Roman" pitchFamily="18" charset="0"/>
              </a:rPr>
              <a:t>BeCl</a:t>
            </a:r>
            <a:r>
              <a:rPr lang="en-US" altLang="zh-CN" sz="2500" b="1" baseline="-25000">
                <a:ea typeface="华文新魏" pitchFamily="2" charset="-122"/>
                <a:cs typeface="Times New Roman" pitchFamily="18" charset="0"/>
              </a:rPr>
              <a:t>2</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H</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S</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HCl</a:t>
            </a:r>
            <a:r>
              <a:rPr lang="zh-CN" altLang="zh-CN" sz="2500" b="1">
                <a:ea typeface="华文新魏" pitchFamily="2" charset="-122"/>
                <a:cs typeface="Times New Roman" pitchFamily="18" charset="0"/>
              </a:rPr>
              <a:t>，</a:t>
            </a:r>
            <a:endParaRPr lang="en-US" altLang="zh-CN" sz="2500" b="1">
              <a:ea typeface="华文新魏" pitchFamily="2" charset="-122"/>
              <a:cs typeface="Times New Roman" pitchFamily="18" charset="0"/>
            </a:endParaRPr>
          </a:p>
          <a:p>
            <a:pPr eaLnBrk="0" hangingPunct="0"/>
            <a:r>
              <a:rPr lang="en-US" altLang="zh-CN" sz="2500" b="1">
                <a:ea typeface="华文新魏" pitchFamily="2" charset="-122"/>
                <a:cs typeface="Times New Roman" pitchFamily="18" charset="0"/>
              </a:rPr>
              <a:t>       CCl</a:t>
            </a:r>
            <a:r>
              <a:rPr lang="en-US" altLang="zh-CN" sz="2500" b="1" baseline="-25000">
                <a:ea typeface="华文新魏" pitchFamily="2" charset="-122"/>
                <a:cs typeface="Times New Roman" pitchFamily="18" charset="0"/>
              </a:rPr>
              <a:t>4</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CHCl</a:t>
            </a:r>
            <a:r>
              <a:rPr lang="en-US" altLang="zh-CN" sz="2500" b="1" baseline="-25000">
                <a:ea typeface="华文新魏" pitchFamily="2" charset="-122"/>
                <a:cs typeface="Times New Roman" pitchFamily="18" charset="0"/>
              </a:rPr>
              <a:t>3</a:t>
            </a:r>
            <a:endParaRPr lang="zh-CN" altLang="zh-CN" sz="2500" b="1">
              <a:ea typeface="华文新魏" pitchFamily="2" charset="-122"/>
              <a:cs typeface="Times New Roman" pitchFamily="18" charset="0"/>
            </a:endParaRPr>
          </a:p>
        </p:txBody>
      </p:sp>
      <p:sp>
        <p:nvSpPr>
          <p:cNvPr id="17411" name="Text Box 39"/>
          <p:cNvSpPr txBox="1">
            <a:spLocks noChangeArrowheads="1"/>
          </p:cNvSpPr>
          <p:nvPr/>
        </p:nvSpPr>
        <p:spPr bwMode="auto">
          <a:xfrm>
            <a:off x="179388" y="358775"/>
            <a:ext cx="1836737" cy="477838"/>
          </a:xfrm>
          <a:prstGeom prst="rect">
            <a:avLst/>
          </a:prstGeom>
          <a:noFill/>
          <a:ln w="9525" algn="ctr">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习题</a:t>
            </a:r>
            <a:r>
              <a:rPr lang="en-US" altLang="zh-CN" sz="2500" b="1">
                <a:solidFill>
                  <a:srgbClr val="FFFF00"/>
                </a:solidFill>
                <a:ea typeface="华文新魏" pitchFamily="2" charset="-122"/>
                <a:cs typeface="Times New Roman" pitchFamily="18" charset="0"/>
              </a:rPr>
              <a:t>8-11</a:t>
            </a:r>
            <a:r>
              <a:rPr lang="zh-CN" altLang="en-US" sz="2500" b="1">
                <a:solidFill>
                  <a:srgbClr val="FFFF00"/>
                </a:solidFill>
                <a:ea typeface="华文新魏" pitchFamily="2" charset="-122"/>
                <a:cs typeface="Times New Roman" pitchFamily="18" charset="0"/>
              </a:rPr>
              <a:t>：</a:t>
            </a:r>
          </a:p>
        </p:txBody>
      </p:sp>
      <p:sp>
        <p:nvSpPr>
          <p:cNvPr id="5" name="Rectangle 38"/>
          <p:cNvSpPr>
            <a:spLocks noChangeArrowheads="1"/>
          </p:cNvSpPr>
          <p:nvPr/>
        </p:nvSpPr>
        <p:spPr bwMode="auto">
          <a:xfrm>
            <a:off x="4608513" y="334963"/>
            <a:ext cx="6627812" cy="1631950"/>
          </a:xfrm>
          <a:prstGeom prst="rect">
            <a:avLst/>
          </a:prstGeom>
          <a:noFill/>
          <a:ln w="9525">
            <a:noFill/>
            <a:miter lim="800000"/>
            <a:headEnd/>
            <a:tailEnd/>
          </a:ln>
          <a:effectLst/>
        </p:spPr>
        <p:txBody>
          <a:bodyPr>
            <a:spAutoFit/>
          </a:bodyPr>
          <a:lstStyle/>
          <a:p>
            <a:pPr eaLnBrk="0" hangingPunct="0"/>
            <a:r>
              <a:rPr lang="zh-CN" altLang="en-US" sz="2500" b="1">
                <a:ea typeface="华文新魏" pitchFamily="2" charset="-122"/>
                <a:cs typeface="Times New Roman" pitchFamily="18" charset="0"/>
              </a:rPr>
              <a:t>                  影响分子极性的因素：键的极性与分子的空间构型</a:t>
            </a:r>
            <a:r>
              <a:rPr lang="en-US" altLang="zh-CN" sz="2500" b="1">
                <a:ea typeface="华文新魏" pitchFamily="2" charset="-122"/>
                <a:cs typeface="Times New Roman" pitchFamily="18" charset="0"/>
              </a:rPr>
              <a:t>.</a:t>
            </a:r>
            <a:r>
              <a:rPr lang="zh-CN" altLang="en-US" sz="2500" b="1">
                <a:ea typeface="华文新魏" pitchFamily="2" charset="-122"/>
                <a:cs typeface="Times New Roman" pitchFamily="18" charset="0"/>
              </a:rPr>
              <a:t>对于双原子分子，主要看键的极性；对于多原子分子，主要看其空间构型是否对称</a:t>
            </a:r>
            <a:r>
              <a:rPr lang="en-US" altLang="zh-CN" sz="2500" b="1">
                <a:ea typeface="华文新魏" pitchFamily="2" charset="-122"/>
                <a:cs typeface="Times New Roman" pitchFamily="18" charset="0"/>
              </a:rPr>
              <a:t>.</a:t>
            </a:r>
            <a:endParaRPr lang="zh-CN" altLang="en-US" sz="2500" b="1">
              <a:ea typeface="华文新魏" pitchFamily="2" charset="-122"/>
              <a:cs typeface="Times New Roman" pitchFamily="18" charset="0"/>
            </a:endParaRPr>
          </a:p>
        </p:txBody>
      </p:sp>
      <p:sp>
        <p:nvSpPr>
          <p:cNvPr id="2" name="Rectangle 38"/>
          <p:cNvSpPr>
            <a:spLocks noChangeArrowheads="1"/>
          </p:cNvSpPr>
          <p:nvPr/>
        </p:nvSpPr>
        <p:spPr bwMode="auto">
          <a:xfrm>
            <a:off x="4608513" y="344488"/>
            <a:ext cx="1800225" cy="476250"/>
          </a:xfrm>
          <a:prstGeom prst="rect">
            <a:avLst/>
          </a:prstGeom>
          <a:noFill/>
          <a:ln w="9525">
            <a:noFill/>
            <a:miter lim="800000"/>
            <a:headEnd/>
            <a:tailEnd/>
          </a:ln>
          <a:effectLst/>
        </p:spPr>
        <p:txBody>
          <a:bodyPr>
            <a:spAutoFit/>
          </a:bodyPr>
          <a:lstStyle/>
          <a:p>
            <a:pPr marL="342900" indent="-342900" eaLnBrk="0" hangingPunct="0"/>
            <a:r>
              <a:rPr lang="zh-CN" altLang="zh-CN" sz="2500" b="1">
                <a:solidFill>
                  <a:srgbClr val="FFFF00"/>
                </a:solidFill>
                <a:ea typeface="华文新魏" pitchFamily="2" charset="-122"/>
                <a:cs typeface="Times New Roman" pitchFamily="18" charset="0"/>
              </a:rPr>
              <a:t>解题思路：</a:t>
            </a:r>
          </a:p>
        </p:txBody>
      </p:sp>
      <p:sp>
        <p:nvSpPr>
          <p:cNvPr id="9" name="Rectangle 38"/>
          <p:cNvSpPr>
            <a:spLocks noChangeArrowheads="1"/>
          </p:cNvSpPr>
          <p:nvPr/>
        </p:nvSpPr>
        <p:spPr bwMode="auto">
          <a:xfrm>
            <a:off x="4584700" y="3025775"/>
            <a:ext cx="2735263" cy="473075"/>
          </a:xfrm>
          <a:prstGeom prst="rect">
            <a:avLst/>
          </a:prstGeom>
          <a:noFill/>
          <a:ln w="9525">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参考答案：</a:t>
            </a:r>
          </a:p>
        </p:txBody>
      </p:sp>
      <p:sp>
        <p:nvSpPr>
          <p:cNvPr id="10" name="矩形 9"/>
          <p:cNvSpPr>
            <a:spLocks noChangeArrowheads="1"/>
          </p:cNvSpPr>
          <p:nvPr/>
        </p:nvSpPr>
        <p:spPr bwMode="auto">
          <a:xfrm>
            <a:off x="4608513" y="3003550"/>
            <a:ext cx="6624637" cy="862013"/>
          </a:xfrm>
          <a:prstGeom prst="rect">
            <a:avLst/>
          </a:prstGeom>
          <a:noFill/>
          <a:ln w="9525">
            <a:noFill/>
            <a:miter lim="800000"/>
            <a:headEnd/>
            <a:tailEnd/>
          </a:ln>
        </p:spPr>
        <p:txBody>
          <a:bodyPr>
            <a:spAutoFit/>
          </a:bodyPr>
          <a:lstStyle/>
          <a:p>
            <a:r>
              <a:rPr lang="en-US" altLang="zh-CN" sz="2500" b="1">
                <a:ea typeface="华文新魏" pitchFamily="2" charset="-122"/>
                <a:cs typeface="Times New Roman" pitchFamily="18" charset="0"/>
              </a:rPr>
              <a:t>                     H</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S</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HCl</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CHCl</a:t>
            </a:r>
            <a:r>
              <a:rPr lang="en-US" altLang="zh-CN" sz="2500" b="1" baseline="-25000">
                <a:ea typeface="华文新魏" pitchFamily="2" charset="-122"/>
                <a:cs typeface="Times New Roman" pitchFamily="18" charset="0"/>
              </a:rPr>
              <a:t>3</a:t>
            </a:r>
            <a:r>
              <a:rPr lang="zh-CN" altLang="zh-CN" sz="2500" b="1">
                <a:ea typeface="华文新魏" pitchFamily="2" charset="-122"/>
                <a:cs typeface="Times New Roman" pitchFamily="18" charset="0"/>
              </a:rPr>
              <a:t>是极性分子，</a:t>
            </a:r>
            <a:r>
              <a:rPr lang="en-US" altLang="zh-CN" sz="2500" b="1">
                <a:ea typeface="华文新魏" pitchFamily="2" charset="-122"/>
                <a:cs typeface="Times New Roman" pitchFamily="18" charset="0"/>
              </a:rPr>
              <a:t>BeCl</a:t>
            </a:r>
            <a:r>
              <a:rPr lang="en-US" altLang="zh-CN" sz="2500" b="1" baseline="-25000">
                <a:ea typeface="华文新魏" pitchFamily="2" charset="-122"/>
                <a:cs typeface="Times New Roman" pitchFamily="18" charset="0"/>
              </a:rPr>
              <a:t>2</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CCl</a:t>
            </a:r>
            <a:r>
              <a:rPr lang="en-US" altLang="zh-CN" sz="2500" b="1" baseline="-25000">
                <a:ea typeface="华文新魏" pitchFamily="2" charset="-122"/>
                <a:cs typeface="Times New Roman" pitchFamily="18" charset="0"/>
              </a:rPr>
              <a:t>4</a:t>
            </a:r>
            <a:r>
              <a:rPr lang="zh-CN" altLang="zh-CN" sz="2500" b="1">
                <a:ea typeface="华文新魏" pitchFamily="2" charset="-122"/>
                <a:cs typeface="Times New Roman" pitchFamily="18" charset="0"/>
              </a:rPr>
              <a:t>是非极性分子</a:t>
            </a:r>
            <a:r>
              <a:rPr lang="en-US" altLang="zh-CN" sz="2500" b="1">
                <a:ea typeface="华文新魏" pitchFamily="2" charset="-122"/>
                <a:cs typeface="Times New Roman" pitchFamily="18" charset="0"/>
              </a:rPr>
              <a:t>.</a:t>
            </a:r>
            <a:endParaRPr lang="zh-CN" altLang="zh-CN" sz="2500" b="1">
              <a:ea typeface="华文新魏" pitchFamily="2" charset="-122"/>
              <a:cs typeface="Times New Roman" pitchFamily="18" charset="0"/>
            </a:endParaRP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blinds(horizontal)">
                                      <p:cBhvr>
                                        <p:cTn id="17" dur="500"/>
                                        <p:tgtEl>
                                          <p:spTgt spid="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up)">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P spid="2" grpId="0"/>
      <p:bldP spid="9" grpId="0" autoUpdateAnimBg="0"/>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0"/>
          <p:cNvSpPr>
            <a:spLocks noChangeArrowheads="1"/>
          </p:cNvSpPr>
          <p:nvPr/>
        </p:nvSpPr>
        <p:spPr bwMode="auto">
          <a:xfrm>
            <a:off x="179388" y="338138"/>
            <a:ext cx="3997325" cy="1246187"/>
          </a:xfrm>
          <a:prstGeom prst="rect">
            <a:avLst/>
          </a:prstGeom>
          <a:noFill/>
          <a:ln w="9525">
            <a:noFill/>
            <a:miter lim="800000"/>
            <a:headEnd/>
            <a:tailEnd/>
          </a:ln>
          <a:effectLst/>
        </p:spPr>
        <p:txBody>
          <a:bodyPr>
            <a:spAutoFit/>
          </a:bodyPr>
          <a:lstStyle/>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下列各分子中何者偶极矩为零</a:t>
            </a:r>
            <a:r>
              <a:rPr lang="en-US" altLang="zh-CN" sz="2500" b="1">
                <a:ea typeface="华文新魏" pitchFamily="2" charset="-122"/>
                <a:cs typeface="Times New Roman" pitchFamily="18" charset="0"/>
              </a:rPr>
              <a:t>?</a:t>
            </a:r>
            <a:endParaRPr lang="zh-CN" altLang="zh-CN" sz="2500" b="1">
              <a:ea typeface="华文新魏" pitchFamily="2" charset="-122"/>
              <a:cs typeface="Times New Roman" pitchFamily="18" charset="0"/>
            </a:endParaRPr>
          </a:p>
          <a:p>
            <a:pPr eaLnBrk="0" hangingPunct="0"/>
            <a:r>
              <a:rPr lang="en-US" altLang="zh-CN" sz="2500" b="1">
                <a:ea typeface="华文新魏" pitchFamily="2" charset="-122"/>
                <a:cs typeface="Times New Roman" pitchFamily="18" charset="0"/>
              </a:rPr>
              <a:t>          NF</a:t>
            </a:r>
            <a:r>
              <a:rPr lang="en-US" altLang="zh-CN" sz="2500" b="1" baseline="-25000">
                <a:ea typeface="华文新魏" pitchFamily="2" charset="-122"/>
                <a:cs typeface="Times New Roman" pitchFamily="18" charset="0"/>
              </a:rPr>
              <a:t>3</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 CS</a:t>
            </a:r>
            <a:r>
              <a:rPr lang="en-US" altLang="zh-CN" sz="2500" b="1" baseline="-25000">
                <a:ea typeface="华文新魏" pitchFamily="2" charset="-122"/>
                <a:cs typeface="Times New Roman" pitchFamily="18" charset="0"/>
              </a:rPr>
              <a:t>2</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C</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H</a:t>
            </a:r>
            <a:r>
              <a:rPr lang="en-US" altLang="zh-CN" sz="2500" b="1" baseline="-25000">
                <a:ea typeface="华文新魏" pitchFamily="2" charset="-122"/>
                <a:cs typeface="Times New Roman" pitchFamily="18" charset="0"/>
              </a:rPr>
              <a:t>4</a:t>
            </a:r>
            <a:endParaRPr lang="zh-CN" altLang="zh-CN" sz="2500" b="1">
              <a:ea typeface="华文新魏" pitchFamily="2" charset="-122"/>
              <a:cs typeface="Times New Roman" pitchFamily="18" charset="0"/>
            </a:endParaRPr>
          </a:p>
        </p:txBody>
      </p:sp>
      <p:sp>
        <p:nvSpPr>
          <p:cNvPr id="18435" name="Text Box 39"/>
          <p:cNvSpPr txBox="1">
            <a:spLocks noChangeArrowheads="1"/>
          </p:cNvSpPr>
          <p:nvPr/>
        </p:nvSpPr>
        <p:spPr bwMode="auto">
          <a:xfrm>
            <a:off x="179388" y="358775"/>
            <a:ext cx="1836737" cy="477838"/>
          </a:xfrm>
          <a:prstGeom prst="rect">
            <a:avLst/>
          </a:prstGeom>
          <a:noFill/>
          <a:ln w="9525" algn="ctr">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习题</a:t>
            </a:r>
            <a:r>
              <a:rPr lang="en-US" altLang="zh-CN" sz="2500" b="1">
                <a:solidFill>
                  <a:srgbClr val="FFFF00"/>
                </a:solidFill>
                <a:ea typeface="华文新魏" pitchFamily="2" charset="-122"/>
                <a:cs typeface="Times New Roman" pitchFamily="18" charset="0"/>
              </a:rPr>
              <a:t>8-12</a:t>
            </a:r>
            <a:r>
              <a:rPr lang="zh-CN" altLang="en-US" sz="2500" b="1">
                <a:solidFill>
                  <a:srgbClr val="FFFF00"/>
                </a:solidFill>
                <a:ea typeface="华文新魏" pitchFamily="2" charset="-122"/>
                <a:cs typeface="Times New Roman" pitchFamily="18" charset="0"/>
              </a:rPr>
              <a:t>：</a:t>
            </a:r>
          </a:p>
        </p:txBody>
      </p:sp>
      <p:sp>
        <p:nvSpPr>
          <p:cNvPr id="5" name="Rectangle 38"/>
          <p:cNvSpPr>
            <a:spLocks noChangeArrowheads="1"/>
          </p:cNvSpPr>
          <p:nvPr/>
        </p:nvSpPr>
        <p:spPr bwMode="auto">
          <a:xfrm>
            <a:off x="4608513" y="334963"/>
            <a:ext cx="6627812" cy="1246187"/>
          </a:xfrm>
          <a:prstGeom prst="rect">
            <a:avLst/>
          </a:prstGeom>
          <a:noFill/>
          <a:ln w="9525">
            <a:noFill/>
            <a:miter lim="800000"/>
            <a:headEnd/>
            <a:tailEnd/>
          </a:ln>
          <a:effectLst/>
        </p:spPr>
        <p:txBody>
          <a:bodyPr>
            <a:spAutoFit/>
          </a:bodyPr>
          <a:lstStyle/>
          <a:p>
            <a:pPr eaLnBrk="0" hangingPunct="0"/>
            <a:r>
              <a:rPr lang="zh-CN" altLang="en-US" sz="2500" b="1">
                <a:ea typeface="华文新魏" pitchFamily="2" charset="-122"/>
                <a:cs typeface="Times New Roman" pitchFamily="18" charset="0"/>
              </a:rPr>
              <a:t>                   根据多原子分子的空间构型是否对称来判断其偶极矩是否为零</a:t>
            </a:r>
            <a:r>
              <a:rPr lang="en-US" altLang="zh-CN" sz="2500" b="1">
                <a:ea typeface="华文新魏" pitchFamily="2" charset="-122"/>
                <a:cs typeface="Times New Roman" pitchFamily="18" charset="0"/>
              </a:rPr>
              <a:t>.</a:t>
            </a:r>
            <a:r>
              <a:rPr lang="zh-CN" altLang="en-US" sz="2500" b="1">
                <a:ea typeface="华文新魏" pitchFamily="2" charset="-122"/>
                <a:cs typeface="Times New Roman" pitchFamily="18" charset="0"/>
              </a:rPr>
              <a:t>空间构型对称，则其偶极矩为零</a:t>
            </a:r>
            <a:r>
              <a:rPr lang="en-US" altLang="zh-CN" sz="2500" b="1">
                <a:ea typeface="华文新魏" pitchFamily="2" charset="-122"/>
                <a:cs typeface="Times New Roman" pitchFamily="18" charset="0"/>
              </a:rPr>
              <a:t>.</a:t>
            </a:r>
            <a:endParaRPr lang="zh-CN" altLang="en-US" sz="2500" b="1">
              <a:ea typeface="华文新魏" pitchFamily="2" charset="-122"/>
              <a:cs typeface="Times New Roman" pitchFamily="18" charset="0"/>
            </a:endParaRPr>
          </a:p>
        </p:txBody>
      </p:sp>
      <p:sp>
        <p:nvSpPr>
          <p:cNvPr id="2" name="Rectangle 38"/>
          <p:cNvSpPr>
            <a:spLocks noChangeArrowheads="1"/>
          </p:cNvSpPr>
          <p:nvPr/>
        </p:nvSpPr>
        <p:spPr bwMode="auto">
          <a:xfrm>
            <a:off x="4608513" y="344488"/>
            <a:ext cx="1800225" cy="476250"/>
          </a:xfrm>
          <a:prstGeom prst="rect">
            <a:avLst/>
          </a:prstGeom>
          <a:noFill/>
          <a:ln w="9525">
            <a:noFill/>
            <a:miter lim="800000"/>
            <a:headEnd/>
            <a:tailEnd/>
          </a:ln>
          <a:effectLst/>
        </p:spPr>
        <p:txBody>
          <a:bodyPr>
            <a:spAutoFit/>
          </a:bodyPr>
          <a:lstStyle/>
          <a:p>
            <a:pPr marL="342900" indent="-342900" eaLnBrk="0" hangingPunct="0"/>
            <a:r>
              <a:rPr lang="zh-CN" altLang="zh-CN" sz="2500" b="1">
                <a:solidFill>
                  <a:srgbClr val="FFFF00"/>
                </a:solidFill>
                <a:ea typeface="华文新魏" pitchFamily="2" charset="-122"/>
                <a:cs typeface="Times New Roman" pitchFamily="18" charset="0"/>
              </a:rPr>
              <a:t>解题思路：</a:t>
            </a:r>
          </a:p>
        </p:txBody>
      </p:sp>
      <p:sp>
        <p:nvSpPr>
          <p:cNvPr id="9" name="Rectangle 38"/>
          <p:cNvSpPr>
            <a:spLocks noChangeArrowheads="1"/>
          </p:cNvSpPr>
          <p:nvPr/>
        </p:nvSpPr>
        <p:spPr bwMode="auto">
          <a:xfrm>
            <a:off x="4584700" y="3025775"/>
            <a:ext cx="2735263" cy="473075"/>
          </a:xfrm>
          <a:prstGeom prst="rect">
            <a:avLst/>
          </a:prstGeom>
          <a:noFill/>
          <a:ln w="9525">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参考答案：</a:t>
            </a:r>
          </a:p>
        </p:txBody>
      </p:sp>
      <p:sp>
        <p:nvSpPr>
          <p:cNvPr id="10" name="矩形 9"/>
          <p:cNvSpPr>
            <a:spLocks noChangeArrowheads="1"/>
          </p:cNvSpPr>
          <p:nvPr/>
        </p:nvSpPr>
        <p:spPr bwMode="auto">
          <a:xfrm>
            <a:off x="4608513" y="3003550"/>
            <a:ext cx="6624637" cy="477838"/>
          </a:xfrm>
          <a:prstGeom prst="rect">
            <a:avLst/>
          </a:prstGeom>
          <a:noFill/>
          <a:ln w="9525">
            <a:noFill/>
            <a:miter lim="800000"/>
            <a:headEnd/>
            <a:tailEnd/>
          </a:ln>
        </p:spPr>
        <p:txBody>
          <a:bodyPr>
            <a:spAutoFit/>
          </a:bodyPr>
          <a:lstStyle/>
          <a:p>
            <a:r>
              <a:rPr lang="en-US" altLang="zh-CN" sz="2500" b="1">
                <a:ea typeface="华文新魏" pitchFamily="2" charset="-122"/>
                <a:cs typeface="Times New Roman" pitchFamily="18" charset="0"/>
              </a:rPr>
              <a:t>                     CS</a:t>
            </a:r>
            <a:r>
              <a:rPr lang="en-US" altLang="zh-CN" sz="2500" b="1" baseline="-25000">
                <a:ea typeface="华文新魏" pitchFamily="2" charset="-122"/>
                <a:cs typeface="Times New Roman" pitchFamily="18" charset="0"/>
              </a:rPr>
              <a:t>2</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C</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H</a:t>
            </a:r>
            <a:r>
              <a:rPr lang="en-US" altLang="zh-CN" sz="2500" b="1" baseline="-25000">
                <a:ea typeface="华文新魏" pitchFamily="2" charset="-122"/>
                <a:cs typeface="Times New Roman" pitchFamily="18" charset="0"/>
              </a:rPr>
              <a:t>4</a:t>
            </a:r>
            <a:r>
              <a:rPr lang="zh-CN" altLang="zh-CN" sz="2500" b="1">
                <a:ea typeface="华文新魏" pitchFamily="2" charset="-122"/>
                <a:cs typeface="Times New Roman" pitchFamily="18" charset="0"/>
              </a:rPr>
              <a:t>偶极矩为零</a:t>
            </a:r>
            <a:r>
              <a:rPr lang="en-US" altLang="zh-CN" sz="2500" b="1">
                <a:ea typeface="华文新魏" pitchFamily="2" charset="-122"/>
                <a:cs typeface="Times New Roman" pitchFamily="18" charset="0"/>
              </a:rPr>
              <a:t>.</a:t>
            </a:r>
            <a:endParaRPr lang="zh-CN" altLang="zh-CN" sz="2500" b="1">
              <a:ea typeface="华文新魏" pitchFamily="2" charset="-122"/>
              <a:cs typeface="Times New Roman" pitchFamily="18" charset="0"/>
            </a:endParaRP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blinds(horizontal)">
                                      <p:cBhvr>
                                        <p:cTn id="17" dur="500"/>
                                        <p:tgtEl>
                                          <p:spTgt spid="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up)">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P spid="2" grpId="0"/>
      <p:bldP spid="9" grpId="0" autoUpdateAnimBg="0"/>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0"/>
          <p:cNvSpPr>
            <a:spLocks noChangeArrowheads="1"/>
          </p:cNvSpPr>
          <p:nvPr/>
        </p:nvSpPr>
        <p:spPr bwMode="auto">
          <a:xfrm>
            <a:off x="179388" y="338138"/>
            <a:ext cx="3997325" cy="2400300"/>
          </a:xfrm>
          <a:prstGeom prst="rect">
            <a:avLst/>
          </a:prstGeom>
          <a:noFill/>
          <a:ln w="9525">
            <a:noFill/>
            <a:miter lim="800000"/>
            <a:headEnd/>
            <a:tailEnd/>
          </a:ln>
          <a:effectLst/>
        </p:spPr>
        <p:txBody>
          <a:bodyPr>
            <a:spAutoFit/>
          </a:bodyPr>
          <a:lstStyle/>
          <a:p>
            <a:pPr eaLnBrk="0" hangingPunct="0"/>
            <a:r>
              <a:rPr lang="zh-CN" altLang="en-US" sz="2500" b="1">
                <a:ea typeface="华文新魏" pitchFamily="2" charset="-122"/>
                <a:cs typeface="Times New Roman" pitchFamily="18" charset="0"/>
              </a:rPr>
              <a:t>                    判断下列各组物质中不同种分子间存在着什么形式的分子间力</a:t>
            </a:r>
            <a:r>
              <a:rPr lang="en-US" altLang="zh-CN" sz="2500" b="1">
                <a:ea typeface="华文新魏" pitchFamily="2" charset="-122"/>
                <a:cs typeface="Times New Roman" pitchFamily="18" charset="0"/>
              </a:rPr>
              <a:t>?</a:t>
            </a:r>
          </a:p>
          <a:p>
            <a:pPr eaLnBrk="0" hangingPunct="0"/>
            <a:r>
              <a:rPr lang="en-US" altLang="zh-CN" sz="2500" b="1">
                <a:ea typeface="华文新魏" pitchFamily="2" charset="-122"/>
                <a:cs typeface="Times New Roman" pitchFamily="18" charset="0"/>
              </a:rPr>
              <a:t>    ①</a:t>
            </a:r>
            <a:r>
              <a:rPr lang="zh-CN" altLang="en-US" sz="2500" b="1">
                <a:ea typeface="华文新魏" pitchFamily="2" charset="-122"/>
                <a:cs typeface="Times New Roman" pitchFamily="18" charset="0"/>
              </a:rPr>
              <a:t>苯和四氯化碳；</a:t>
            </a:r>
            <a:endParaRPr lang="en-US" altLang="zh-CN" sz="2500" b="1">
              <a:ea typeface="华文新魏" pitchFamily="2" charset="-122"/>
              <a:cs typeface="Times New Roman" pitchFamily="18" charset="0"/>
            </a:endParaRPr>
          </a:p>
          <a:p>
            <a:pPr eaLnBrk="0" hangingPunct="0"/>
            <a:r>
              <a:rPr lang="zh-CN" altLang="en-US" sz="2500" b="1">
                <a:ea typeface="华文新魏" pitchFamily="2" charset="-122"/>
                <a:cs typeface="Times New Roman" pitchFamily="18" charset="0"/>
              </a:rPr>
              <a:t>    ②氦气和水；</a:t>
            </a:r>
            <a:endParaRPr lang="en-US" altLang="zh-CN" sz="2500" b="1">
              <a:ea typeface="华文新魏" pitchFamily="2" charset="-122"/>
              <a:cs typeface="Times New Roman" pitchFamily="18" charset="0"/>
            </a:endParaRPr>
          </a:p>
          <a:p>
            <a:pPr eaLnBrk="0" hangingPunct="0"/>
            <a:r>
              <a:rPr lang="zh-CN" altLang="en-US" sz="2500" b="1">
                <a:ea typeface="华文新魏" pitchFamily="2" charset="-122"/>
                <a:cs typeface="Times New Roman" pitchFamily="18" charset="0"/>
              </a:rPr>
              <a:t>    ③甲醇和水</a:t>
            </a:r>
            <a:r>
              <a:rPr lang="en-US" altLang="zh-CN" sz="2500" b="1">
                <a:ea typeface="华文新魏" pitchFamily="2" charset="-122"/>
                <a:cs typeface="Times New Roman" pitchFamily="18" charset="0"/>
              </a:rPr>
              <a:t>.</a:t>
            </a:r>
            <a:endParaRPr lang="zh-CN" altLang="en-US" sz="2500" b="1">
              <a:ea typeface="华文新魏" pitchFamily="2" charset="-122"/>
              <a:cs typeface="Times New Roman" pitchFamily="18" charset="0"/>
            </a:endParaRPr>
          </a:p>
        </p:txBody>
      </p:sp>
      <p:sp>
        <p:nvSpPr>
          <p:cNvPr id="19459" name="Text Box 39"/>
          <p:cNvSpPr txBox="1">
            <a:spLocks noChangeArrowheads="1"/>
          </p:cNvSpPr>
          <p:nvPr/>
        </p:nvSpPr>
        <p:spPr bwMode="auto">
          <a:xfrm>
            <a:off x="179388" y="358775"/>
            <a:ext cx="1836737" cy="477838"/>
          </a:xfrm>
          <a:prstGeom prst="rect">
            <a:avLst/>
          </a:prstGeom>
          <a:noFill/>
          <a:ln w="9525" algn="ctr">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习题</a:t>
            </a:r>
            <a:r>
              <a:rPr lang="en-US" altLang="zh-CN" sz="2500" b="1">
                <a:solidFill>
                  <a:srgbClr val="FFFF00"/>
                </a:solidFill>
                <a:ea typeface="华文新魏" pitchFamily="2" charset="-122"/>
                <a:cs typeface="Times New Roman" pitchFamily="18" charset="0"/>
              </a:rPr>
              <a:t>8-13</a:t>
            </a:r>
            <a:r>
              <a:rPr lang="zh-CN" altLang="en-US" sz="2500" b="1">
                <a:solidFill>
                  <a:srgbClr val="FFFF00"/>
                </a:solidFill>
                <a:ea typeface="华文新魏" pitchFamily="2" charset="-122"/>
                <a:cs typeface="Times New Roman" pitchFamily="18" charset="0"/>
              </a:rPr>
              <a:t>：</a:t>
            </a:r>
          </a:p>
        </p:txBody>
      </p:sp>
      <p:sp>
        <p:nvSpPr>
          <p:cNvPr id="5" name="Rectangle 38"/>
          <p:cNvSpPr>
            <a:spLocks noChangeArrowheads="1"/>
          </p:cNvSpPr>
          <p:nvPr/>
        </p:nvSpPr>
        <p:spPr bwMode="auto">
          <a:xfrm>
            <a:off x="4608513" y="334963"/>
            <a:ext cx="6627812" cy="1631950"/>
          </a:xfrm>
          <a:prstGeom prst="rect">
            <a:avLst/>
          </a:prstGeom>
          <a:noFill/>
          <a:ln w="9525">
            <a:noFill/>
            <a:miter lim="800000"/>
            <a:headEnd/>
            <a:tailEnd/>
          </a:ln>
          <a:effectLst/>
        </p:spPr>
        <p:txBody>
          <a:bodyPr>
            <a:spAutoFit/>
          </a:bodyPr>
          <a:lstStyle/>
          <a:p>
            <a:pPr eaLnBrk="0" hangingPunct="0"/>
            <a:r>
              <a:rPr lang="zh-CN" altLang="en-US" sz="2500" b="1">
                <a:ea typeface="华文新魏" pitchFamily="2" charset="-122"/>
                <a:cs typeface="Times New Roman" pitchFamily="18" charset="0"/>
              </a:rPr>
              <a:t>                   非极性分子间只存在色散力；非极性分子与极性分子间存在色散力和诱导力；极性分子间存在色散力、诱导力和取向力，有时还有氢键</a:t>
            </a:r>
            <a:r>
              <a:rPr lang="en-US" altLang="zh-CN" sz="2500" b="1">
                <a:ea typeface="华文新魏" pitchFamily="2" charset="-122"/>
                <a:cs typeface="Times New Roman" pitchFamily="18" charset="0"/>
              </a:rPr>
              <a:t>.</a:t>
            </a:r>
            <a:endParaRPr lang="zh-CN" altLang="en-US" sz="2500" b="1">
              <a:ea typeface="华文新魏" pitchFamily="2" charset="-122"/>
              <a:cs typeface="Times New Roman" pitchFamily="18" charset="0"/>
            </a:endParaRPr>
          </a:p>
        </p:txBody>
      </p:sp>
      <p:sp>
        <p:nvSpPr>
          <p:cNvPr id="2" name="Rectangle 38"/>
          <p:cNvSpPr>
            <a:spLocks noChangeArrowheads="1"/>
          </p:cNvSpPr>
          <p:nvPr/>
        </p:nvSpPr>
        <p:spPr bwMode="auto">
          <a:xfrm>
            <a:off x="4608513" y="344488"/>
            <a:ext cx="1800225" cy="476250"/>
          </a:xfrm>
          <a:prstGeom prst="rect">
            <a:avLst/>
          </a:prstGeom>
          <a:noFill/>
          <a:ln w="9525">
            <a:noFill/>
            <a:miter lim="800000"/>
            <a:headEnd/>
            <a:tailEnd/>
          </a:ln>
          <a:effectLst/>
        </p:spPr>
        <p:txBody>
          <a:bodyPr>
            <a:spAutoFit/>
          </a:bodyPr>
          <a:lstStyle/>
          <a:p>
            <a:pPr marL="342900" indent="-342900" eaLnBrk="0" hangingPunct="0"/>
            <a:r>
              <a:rPr lang="zh-CN" altLang="zh-CN" sz="2500" b="1">
                <a:solidFill>
                  <a:srgbClr val="FFFF00"/>
                </a:solidFill>
                <a:ea typeface="华文新魏" pitchFamily="2" charset="-122"/>
                <a:cs typeface="Times New Roman" pitchFamily="18" charset="0"/>
              </a:rPr>
              <a:t>解题思路：</a:t>
            </a:r>
          </a:p>
        </p:txBody>
      </p:sp>
      <p:sp>
        <p:nvSpPr>
          <p:cNvPr id="9" name="Rectangle 38"/>
          <p:cNvSpPr>
            <a:spLocks noChangeArrowheads="1"/>
          </p:cNvSpPr>
          <p:nvPr/>
        </p:nvSpPr>
        <p:spPr bwMode="auto">
          <a:xfrm>
            <a:off x="4584700" y="3025775"/>
            <a:ext cx="2735263" cy="473075"/>
          </a:xfrm>
          <a:prstGeom prst="rect">
            <a:avLst/>
          </a:prstGeom>
          <a:noFill/>
          <a:ln w="9525">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参考答案：</a:t>
            </a:r>
          </a:p>
        </p:txBody>
      </p:sp>
      <p:sp>
        <p:nvSpPr>
          <p:cNvPr id="10" name="矩形 9"/>
          <p:cNvSpPr>
            <a:spLocks noChangeArrowheads="1"/>
          </p:cNvSpPr>
          <p:nvPr/>
        </p:nvSpPr>
        <p:spPr bwMode="auto">
          <a:xfrm>
            <a:off x="4608513" y="3003550"/>
            <a:ext cx="6624637" cy="1631950"/>
          </a:xfrm>
          <a:prstGeom prst="rect">
            <a:avLst/>
          </a:prstGeom>
          <a:noFill/>
          <a:ln w="9525">
            <a:noFill/>
            <a:miter lim="800000"/>
            <a:headEnd/>
            <a:tailEnd/>
          </a:ln>
        </p:spPr>
        <p:txBody>
          <a:bodyPr>
            <a:spAutoFit/>
          </a:bodyPr>
          <a:lstStyle/>
          <a:p>
            <a:endParaRPr lang="en-US" altLang="zh-CN" sz="2500" b="1">
              <a:ea typeface="华文新魏" pitchFamily="2" charset="-122"/>
              <a:cs typeface="Times New Roman" pitchFamily="18" charset="0"/>
            </a:endParaRPr>
          </a:p>
          <a:p>
            <a:r>
              <a:rPr lang="zh-CN" altLang="en-US" sz="2500" b="1">
                <a:ea typeface="华文新魏" pitchFamily="2" charset="-122"/>
                <a:cs typeface="Times New Roman" pitchFamily="18" charset="0"/>
              </a:rPr>
              <a:t>①苯和四氯化碳：色散力；</a:t>
            </a:r>
          </a:p>
          <a:p>
            <a:r>
              <a:rPr lang="zh-CN" altLang="en-US" sz="2500" b="1">
                <a:ea typeface="华文新魏" pitchFamily="2" charset="-122"/>
                <a:cs typeface="Times New Roman" pitchFamily="18" charset="0"/>
              </a:rPr>
              <a:t>②氦气和水：色散力，诱导力；</a:t>
            </a:r>
          </a:p>
          <a:p>
            <a:r>
              <a:rPr lang="zh-CN" altLang="en-US" sz="2500" b="1">
                <a:ea typeface="华文新魏" pitchFamily="2" charset="-122"/>
                <a:cs typeface="Times New Roman" pitchFamily="18" charset="0"/>
              </a:rPr>
              <a:t>③甲醇和水：色散力，诱导力，取向力，氢键；</a:t>
            </a: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blinds(horizontal)">
                                      <p:cBhvr>
                                        <p:cTn id="17" dur="500"/>
                                        <p:tgtEl>
                                          <p:spTgt spid="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up)">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P spid="2" grpId="0"/>
      <p:bldP spid="9" grpId="0" autoUpdateAnimBg="0"/>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a:spLocks noChangeArrowheads="1"/>
          </p:cNvSpPr>
          <p:nvPr/>
        </p:nvSpPr>
        <p:spPr bwMode="auto">
          <a:xfrm>
            <a:off x="4537075" y="1843088"/>
            <a:ext cx="6696075" cy="4324350"/>
          </a:xfrm>
          <a:prstGeom prst="rect">
            <a:avLst/>
          </a:prstGeom>
          <a:noFill/>
          <a:ln w="9525">
            <a:noFill/>
            <a:miter lim="800000"/>
            <a:headEnd/>
            <a:tailEnd/>
          </a:ln>
        </p:spPr>
        <p:txBody>
          <a:bodyPr>
            <a:spAutoFit/>
          </a:bodyPr>
          <a:lstStyle/>
          <a:p>
            <a:endParaRPr lang="en-US" altLang="zh-CN" sz="2500" b="1">
              <a:ea typeface="华文新魏" pitchFamily="2" charset="-122"/>
              <a:cs typeface="Times New Roman" pitchFamily="18" charset="0"/>
            </a:endParaRPr>
          </a:p>
          <a:p>
            <a:r>
              <a:rPr lang="zh-CN" altLang="en-US" sz="2500" b="1">
                <a:ea typeface="华文新魏" pitchFamily="2" charset="-122"/>
                <a:cs typeface="Times New Roman" pitchFamily="18" charset="0"/>
              </a:rPr>
              <a:t>①非极性分子间只存在色散力</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分子量↑</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变形性↑</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色散力↑</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熔沸点↑</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卤素单质自上而下</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分子量逐渐增大</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因而熔沸点逐渐升高</a:t>
            </a:r>
            <a:r>
              <a:rPr lang="en-US" altLang="zh-CN" sz="2500" b="1">
                <a:ea typeface="华文新魏" pitchFamily="2" charset="-122"/>
                <a:cs typeface="Times New Roman" pitchFamily="18" charset="0"/>
              </a:rPr>
              <a:t>. </a:t>
            </a:r>
            <a:endParaRPr lang="zh-CN" altLang="en-US" sz="2500" b="1">
              <a:ea typeface="华文新魏" pitchFamily="2" charset="-122"/>
              <a:cs typeface="Times New Roman" pitchFamily="18" charset="0"/>
            </a:endParaRPr>
          </a:p>
          <a:p>
            <a:r>
              <a:rPr lang="zh-CN" altLang="en-US" sz="2500" b="1">
                <a:ea typeface="华文新魏" pitchFamily="2" charset="-122"/>
                <a:cs typeface="Times New Roman" pitchFamily="18" charset="0"/>
              </a:rPr>
              <a:t>②极性分子间存在色散力、诱导力、取向力</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按</a:t>
            </a:r>
            <a:r>
              <a:rPr lang="en-US" altLang="zh-CN" sz="2500" b="1">
                <a:ea typeface="华文新魏" pitchFamily="2" charset="-122"/>
                <a:cs typeface="Times New Roman" pitchFamily="18" charset="0"/>
              </a:rPr>
              <a:t>HCl-HBr-HI</a:t>
            </a:r>
            <a:r>
              <a:rPr lang="zh-CN" altLang="en-US" sz="2500" b="1">
                <a:ea typeface="华文新魏" pitchFamily="2" charset="-122"/>
                <a:cs typeface="Times New Roman" pitchFamily="18" charset="0"/>
              </a:rPr>
              <a:t>顺序</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分子量↑</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变形性↑</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色散力↑</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按</a:t>
            </a:r>
            <a:r>
              <a:rPr lang="en-US" altLang="zh-CN" sz="2500" b="1">
                <a:ea typeface="华文新魏" pitchFamily="2" charset="-122"/>
                <a:cs typeface="Times New Roman" pitchFamily="18" charset="0"/>
              </a:rPr>
              <a:t>HCl-HBr-HI</a:t>
            </a:r>
            <a:r>
              <a:rPr lang="zh-CN" altLang="en-US" sz="2500" b="1">
                <a:ea typeface="华文新魏" pitchFamily="2" charset="-122"/>
                <a:cs typeface="Times New Roman" pitchFamily="18" charset="0"/>
              </a:rPr>
              <a:t>顺序</a:t>
            </a:r>
            <a:r>
              <a:rPr lang="en-US" altLang="zh-CN" sz="2500" b="1">
                <a:ea typeface="华文新魏" pitchFamily="2" charset="-122"/>
                <a:cs typeface="Times New Roman" pitchFamily="18" charset="0"/>
              </a:rPr>
              <a:t>, μ↓, </a:t>
            </a:r>
            <a:r>
              <a:rPr lang="zh-CN" altLang="en-US" sz="2500" b="1">
                <a:ea typeface="华文新魏" pitchFamily="2" charset="-122"/>
                <a:cs typeface="Times New Roman" pitchFamily="18" charset="0"/>
              </a:rPr>
              <a:t>分子极性↓</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取向力↓</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诱导力↓</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而色散力</a:t>
            </a:r>
            <a:r>
              <a:rPr lang="en-US" altLang="zh-CN" sz="2500" b="1">
                <a:ea typeface="华文新魏" pitchFamily="2" charset="-122"/>
                <a:cs typeface="Times New Roman" pitchFamily="18" charset="0"/>
              </a:rPr>
              <a:t>&gt;&gt;</a:t>
            </a:r>
            <a:r>
              <a:rPr lang="zh-CN" altLang="en-US" sz="2500" b="1">
                <a:ea typeface="华文新魏" pitchFamily="2" charset="-122"/>
                <a:cs typeface="Times New Roman" pitchFamily="18" charset="0"/>
              </a:rPr>
              <a:t>取向力</a:t>
            </a:r>
            <a:r>
              <a:rPr lang="en-US" altLang="zh-CN" sz="2500" b="1">
                <a:ea typeface="华文新魏" pitchFamily="2" charset="-122"/>
                <a:cs typeface="Times New Roman" pitchFamily="18" charset="0"/>
              </a:rPr>
              <a:t>&gt;</a:t>
            </a:r>
            <a:r>
              <a:rPr lang="zh-CN" altLang="en-US" sz="2500" b="1">
                <a:ea typeface="华文新魏" pitchFamily="2" charset="-122"/>
                <a:cs typeface="Times New Roman" pitchFamily="18" charset="0"/>
              </a:rPr>
              <a:t>诱导力</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分子间力以色散力为主</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∴按</a:t>
            </a:r>
            <a:r>
              <a:rPr lang="en-US" altLang="zh-CN" sz="2500" b="1">
                <a:ea typeface="华文新魏" pitchFamily="2" charset="-122"/>
                <a:cs typeface="Times New Roman" pitchFamily="18" charset="0"/>
              </a:rPr>
              <a:t>HCl-HBr-HI</a:t>
            </a:r>
            <a:r>
              <a:rPr lang="zh-CN" altLang="en-US" sz="2500" b="1">
                <a:ea typeface="华文新魏" pitchFamily="2" charset="-122"/>
                <a:cs typeface="Times New Roman" pitchFamily="18" charset="0"/>
              </a:rPr>
              <a:t>顺序</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熔沸点↑</a:t>
            </a:r>
            <a:r>
              <a:rPr lang="en-US" altLang="zh-CN" sz="2500" b="1">
                <a:ea typeface="华文新魏" pitchFamily="2" charset="-122"/>
                <a:cs typeface="Times New Roman" pitchFamily="18" charset="0"/>
              </a:rPr>
              <a:t>. </a:t>
            </a:r>
            <a:endParaRPr lang="zh-CN" altLang="en-US" sz="2500" b="1">
              <a:ea typeface="华文新魏" pitchFamily="2" charset="-122"/>
              <a:cs typeface="Times New Roman" pitchFamily="18" charset="0"/>
            </a:endParaRPr>
          </a:p>
          <a:p>
            <a:r>
              <a:rPr lang="zh-CN" altLang="en-US" sz="2500" b="1">
                <a:ea typeface="华文新魏" pitchFamily="2" charset="-122"/>
                <a:cs typeface="Times New Roman" pitchFamily="18" charset="0"/>
              </a:rPr>
              <a:t>③非极性分子间只存在色散力</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分子量↑</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变形性↑</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色散力↑</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沸点↑</a:t>
            </a:r>
            <a:r>
              <a:rPr lang="en-US" altLang="zh-CN" sz="2500" b="1">
                <a:ea typeface="华文新魏" pitchFamily="2" charset="-122"/>
                <a:cs typeface="Times New Roman" pitchFamily="18" charset="0"/>
              </a:rPr>
              <a:t>. </a:t>
            </a:r>
            <a:endParaRPr lang="zh-CN" altLang="en-US" sz="2500" b="1">
              <a:ea typeface="华文新魏" pitchFamily="2" charset="-122"/>
              <a:cs typeface="Times New Roman" pitchFamily="18" charset="0"/>
            </a:endParaRPr>
          </a:p>
        </p:txBody>
      </p:sp>
      <p:sp>
        <p:nvSpPr>
          <p:cNvPr id="4" name="Rectangle 40"/>
          <p:cNvSpPr>
            <a:spLocks noChangeArrowheads="1"/>
          </p:cNvSpPr>
          <p:nvPr/>
        </p:nvSpPr>
        <p:spPr bwMode="auto">
          <a:xfrm>
            <a:off x="144463" y="338138"/>
            <a:ext cx="4032250" cy="3554412"/>
          </a:xfrm>
          <a:prstGeom prst="rect">
            <a:avLst/>
          </a:prstGeom>
          <a:noFill/>
          <a:ln w="9525">
            <a:noFill/>
            <a:miter lim="800000"/>
            <a:headEnd/>
            <a:tailEnd/>
          </a:ln>
          <a:effectLst/>
        </p:spPr>
        <p:txBody>
          <a:bodyPr>
            <a:spAutoFit/>
          </a:bodyPr>
          <a:lstStyle/>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从分子间力说明下列事实：</a:t>
            </a:r>
          </a:p>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①常温下</a:t>
            </a:r>
            <a:r>
              <a:rPr lang="en-US" altLang="zh-CN" sz="2500" b="1">
                <a:ea typeface="华文新魏" pitchFamily="2" charset="-122"/>
                <a:cs typeface="Times New Roman" pitchFamily="18" charset="0"/>
              </a:rPr>
              <a:t>F</a:t>
            </a:r>
            <a:r>
              <a:rPr lang="en-US" altLang="zh-CN" sz="2500" b="1" baseline="-25000">
                <a:ea typeface="华文新魏" pitchFamily="2" charset="-122"/>
                <a:cs typeface="Times New Roman" pitchFamily="18" charset="0"/>
              </a:rPr>
              <a:t>2</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Cl</a:t>
            </a:r>
            <a:r>
              <a:rPr lang="en-US" altLang="zh-CN" sz="2500" b="1" baseline="-25000">
                <a:ea typeface="华文新魏" pitchFamily="2" charset="-122"/>
                <a:cs typeface="Times New Roman" pitchFamily="18" charset="0"/>
              </a:rPr>
              <a:t>2</a:t>
            </a:r>
            <a:r>
              <a:rPr lang="zh-CN" altLang="zh-CN" sz="2500" b="1">
                <a:ea typeface="华文新魏" pitchFamily="2" charset="-122"/>
                <a:cs typeface="Times New Roman" pitchFamily="18" charset="0"/>
              </a:rPr>
              <a:t>是气体，溴是液体而碘是固体；</a:t>
            </a:r>
          </a:p>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②</a:t>
            </a:r>
            <a:r>
              <a:rPr lang="en-US" altLang="zh-CN" sz="2500" b="1">
                <a:ea typeface="华文新魏" pitchFamily="2" charset="-122"/>
                <a:cs typeface="Times New Roman" pitchFamily="18" charset="0"/>
              </a:rPr>
              <a:t>HCl</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HBr</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HI</a:t>
            </a:r>
            <a:r>
              <a:rPr lang="zh-CN" altLang="zh-CN" sz="2500" b="1">
                <a:ea typeface="华文新魏" pitchFamily="2" charset="-122"/>
                <a:cs typeface="Times New Roman" pitchFamily="18" charset="0"/>
              </a:rPr>
              <a:t>的熔点和沸点随分子量增大而升高；</a:t>
            </a:r>
            <a:endParaRPr lang="en-US" altLang="zh-CN" sz="2500" b="1">
              <a:ea typeface="华文新魏" pitchFamily="2" charset="-122"/>
              <a:cs typeface="Times New Roman" pitchFamily="18" charset="0"/>
            </a:endParaRPr>
          </a:p>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③稀有气体</a:t>
            </a:r>
            <a:r>
              <a:rPr lang="en-US" altLang="zh-CN" sz="2500" b="1">
                <a:ea typeface="华文新魏" pitchFamily="2" charset="-122"/>
                <a:cs typeface="Times New Roman" pitchFamily="18" charset="0"/>
              </a:rPr>
              <a:t>He</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Ne</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Ar</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Kr</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Xe</a:t>
            </a:r>
            <a:r>
              <a:rPr lang="zh-CN" altLang="zh-CN" sz="2500" b="1">
                <a:ea typeface="华文新魏" pitchFamily="2" charset="-122"/>
                <a:cs typeface="Times New Roman" pitchFamily="18" charset="0"/>
              </a:rPr>
              <a:t>沸点随分子量增大而升高</a:t>
            </a:r>
            <a:r>
              <a:rPr lang="en-US" altLang="zh-CN" sz="2500" b="1">
                <a:ea typeface="华文新魏" pitchFamily="2" charset="-122"/>
                <a:cs typeface="Times New Roman" pitchFamily="18" charset="0"/>
              </a:rPr>
              <a:t>.</a:t>
            </a:r>
            <a:endParaRPr lang="zh-CN" altLang="zh-CN" sz="2500" b="1">
              <a:ea typeface="华文新魏" pitchFamily="2" charset="-122"/>
              <a:cs typeface="Times New Roman" pitchFamily="18" charset="0"/>
            </a:endParaRPr>
          </a:p>
        </p:txBody>
      </p:sp>
      <p:sp>
        <p:nvSpPr>
          <p:cNvPr id="20484" name="Text Box 39"/>
          <p:cNvSpPr txBox="1">
            <a:spLocks noChangeArrowheads="1"/>
          </p:cNvSpPr>
          <p:nvPr/>
        </p:nvSpPr>
        <p:spPr bwMode="auto">
          <a:xfrm>
            <a:off x="179388" y="358775"/>
            <a:ext cx="1836737" cy="477838"/>
          </a:xfrm>
          <a:prstGeom prst="rect">
            <a:avLst/>
          </a:prstGeom>
          <a:noFill/>
          <a:ln w="9525" algn="ctr">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习题</a:t>
            </a:r>
            <a:r>
              <a:rPr lang="en-US" altLang="zh-CN" sz="2500" b="1">
                <a:solidFill>
                  <a:srgbClr val="FFFF00"/>
                </a:solidFill>
                <a:ea typeface="华文新魏" pitchFamily="2" charset="-122"/>
                <a:cs typeface="Times New Roman" pitchFamily="18" charset="0"/>
              </a:rPr>
              <a:t>8-14</a:t>
            </a:r>
            <a:r>
              <a:rPr lang="zh-CN" altLang="en-US" sz="2500" b="1">
                <a:solidFill>
                  <a:srgbClr val="FFFF00"/>
                </a:solidFill>
                <a:ea typeface="华文新魏" pitchFamily="2" charset="-122"/>
                <a:cs typeface="Times New Roman" pitchFamily="18" charset="0"/>
              </a:rPr>
              <a:t>：</a:t>
            </a:r>
          </a:p>
        </p:txBody>
      </p:sp>
      <p:sp>
        <p:nvSpPr>
          <p:cNvPr id="5" name="Rectangle 38"/>
          <p:cNvSpPr>
            <a:spLocks noChangeArrowheads="1"/>
          </p:cNvSpPr>
          <p:nvPr/>
        </p:nvSpPr>
        <p:spPr bwMode="auto">
          <a:xfrm>
            <a:off x="4608513" y="334963"/>
            <a:ext cx="6627812" cy="1631950"/>
          </a:xfrm>
          <a:prstGeom prst="rect">
            <a:avLst/>
          </a:prstGeom>
          <a:noFill/>
          <a:ln w="9525">
            <a:noFill/>
            <a:miter lim="800000"/>
            <a:headEnd/>
            <a:tailEnd/>
          </a:ln>
          <a:effectLst/>
        </p:spPr>
        <p:txBody>
          <a:bodyPr>
            <a:spAutoFit/>
          </a:bodyPr>
          <a:lstStyle/>
          <a:p>
            <a:pPr eaLnBrk="0" hangingPunct="0"/>
            <a:r>
              <a:rPr lang="zh-CN" altLang="en-US" sz="2500" b="1">
                <a:ea typeface="华文新魏" pitchFamily="2" charset="-122"/>
                <a:cs typeface="Times New Roman" pitchFamily="18" charset="0"/>
              </a:rPr>
              <a:t>                   非极性分子间只存在色散力</a:t>
            </a:r>
            <a:r>
              <a:rPr lang="en-US" altLang="zh-CN" sz="2500" b="1">
                <a:ea typeface="华文新魏" pitchFamily="2" charset="-122"/>
                <a:cs typeface="Times New Roman" pitchFamily="18" charset="0"/>
              </a:rPr>
              <a:t>.</a:t>
            </a:r>
            <a:r>
              <a:rPr lang="zh-CN" altLang="en-US" sz="2500" b="1">
                <a:ea typeface="华文新魏" pitchFamily="2" charset="-122"/>
                <a:cs typeface="Times New Roman" pitchFamily="18" charset="0"/>
              </a:rPr>
              <a:t>分子量↑，变形性↑，色散力↑，熔沸点↑</a:t>
            </a:r>
            <a:r>
              <a:rPr lang="en-US" altLang="zh-CN" sz="2500" b="1">
                <a:ea typeface="华文新魏" pitchFamily="2" charset="-122"/>
                <a:cs typeface="Times New Roman" pitchFamily="18" charset="0"/>
              </a:rPr>
              <a:t>.</a:t>
            </a:r>
            <a:r>
              <a:rPr lang="zh-CN" altLang="en-US" sz="2500" b="1">
                <a:ea typeface="华文新魏" pitchFamily="2" charset="-122"/>
                <a:cs typeface="Times New Roman" pitchFamily="18" charset="0"/>
              </a:rPr>
              <a:t>极性分子间存在色散力、诱导力、取向力等，其中色散力为主要作用力</a:t>
            </a:r>
            <a:r>
              <a:rPr lang="en-US" altLang="zh-CN" sz="2500" b="1">
                <a:ea typeface="华文新魏" pitchFamily="2" charset="-122"/>
                <a:cs typeface="Times New Roman" pitchFamily="18" charset="0"/>
              </a:rPr>
              <a:t>.</a:t>
            </a:r>
            <a:endParaRPr lang="zh-CN" altLang="en-US" sz="2500" b="1">
              <a:ea typeface="华文新魏" pitchFamily="2" charset="-122"/>
              <a:cs typeface="Times New Roman" pitchFamily="18" charset="0"/>
            </a:endParaRPr>
          </a:p>
        </p:txBody>
      </p:sp>
      <p:sp>
        <p:nvSpPr>
          <p:cNvPr id="2" name="Rectangle 38"/>
          <p:cNvSpPr>
            <a:spLocks noChangeArrowheads="1"/>
          </p:cNvSpPr>
          <p:nvPr/>
        </p:nvSpPr>
        <p:spPr bwMode="auto">
          <a:xfrm>
            <a:off x="4608513" y="344488"/>
            <a:ext cx="1800225" cy="476250"/>
          </a:xfrm>
          <a:prstGeom prst="rect">
            <a:avLst/>
          </a:prstGeom>
          <a:noFill/>
          <a:ln w="9525">
            <a:noFill/>
            <a:miter lim="800000"/>
            <a:headEnd/>
            <a:tailEnd/>
          </a:ln>
          <a:effectLst/>
        </p:spPr>
        <p:txBody>
          <a:bodyPr>
            <a:spAutoFit/>
          </a:bodyPr>
          <a:lstStyle/>
          <a:p>
            <a:pPr marL="342900" indent="-342900" eaLnBrk="0" hangingPunct="0"/>
            <a:r>
              <a:rPr lang="zh-CN" altLang="zh-CN" sz="2500" b="1">
                <a:solidFill>
                  <a:srgbClr val="FFFF00"/>
                </a:solidFill>
                <a:ea typeface="华文新魏" pitchFamily="2" charset="-122"/>
                <a:cs typeface="Times New Roman" pitchFamily="18" charset="0"/>
              </a:rPr>
              <a:t>解题思路：</a:t>
            </a:r>
          </a:p>
        </p:txBody>
      </p:sp>
      <p:sp>
        <p:nvSpPr>
          <p:cNvPr id="9" name="Rectangle 38"/>
          <p:cNvSpPr>
            <a:spLocks noChangeArrowheads="1"/>
          </p:cNvSpPr>
          <p:nvPr/>
        </p:nvSpPr>
        <p:spPr bwMode="auto">
          <a:xfrm>
            <a:off x="4584700" y="1865313"/>
            <a:ext cx="2735263" cy="473075"/>
          </a:xfrm>
          <a:prstGeom prst="rect">
            <a:avLst/>
          </a:prstGeom>
          <a:noFill/>
          <a:ln w="9525">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参考答案：</a:t>
            </a: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blinds(horizontal)">
                                      <p:cBhvr>
                                        <p:cTn id="17" dur="500"/>
                                        <p:tgtEl>
                                          <p:spTgt spid="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up)">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 grpId="0"/>
      <p:bldP spid="5" grpId="0" build="p"/>
      <p:bldP spid="2" grpId="0"/>
      <p:bldP spid="9"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0"/>
          <p:cNvSpPr>
            <a:spLocks noChangeArrowheads="1"/>
          </p:cNvSpPr>
          <p:nvPr/>
        </p:nvSpPr>
        <p:spPr bwMode="auto">
          <a:xfrm>
            <a:off x="179388" y="338138"/>
            <a:ext cx="3997325" cy="1246187"/>
          </a:xfrm>
          <a:prstGeom prst="rect">
            <a:avLst/>
          </a:prstGeom>
          <a:noFill/>
          <a:ln w="9525">
            <a:noFill/>
            <a:miter lim="800000"/>
            <a:headEnd/>
            <a:tailEnd/>
          </a:ln>
          <a:effectLst/>
        </p:spPr>
        <p:txBody>
          <a:bodyPr>
            <a:spAutoFit/>
          </a:bodyPr>
          <a:lstStyle/>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写出</a:t>
            </a:r>
            <a:r>
              <a:rPr lang="en-US" altLang="zh-CN" sz="2500" b="1">
                <a:ea typeface="华文新魏" pitchFamily="2" charset="-122"/>
                <a:cs typeface="Times New Roman" pitchFamily="18" charset="0"/>
              </a:rPr>
              <a:t>K</a:t>
            </a:r>
            <a:r>
              <a:rPr lang="en-US" altLang="zh-CN" sz="2500" b="1" baseline="30000">
                <a:ea typeface="华文新魏" pitchFamily="2" charset="-122"/>
                <a:cs typeface="Times New Roman" pitchFamily="18" charset="0"/>
              </a:rPr>
              <a:t>+</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Ti</a:t>
            </a:r>
            <a:r>
              <a:rPr lang="en-US" altLang="zh-CN" sz="2500" b="1" baseline="30000">
                <a:ea typeface="华文新魏" pitchFamily="2" charset="-122"/>
                <a:cs typeface="Times New Roman" pitchFamily="18" charset="0"/>
              </a:rPr>
              <a:t>3+</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Sc</a:t>
            </a:r>
            <a:r>
              <a:rPr lang="en-US" altLang="zh-CN" sz="2500" b="1" baseline="30000">
                <a:ea typeface="华文新魏" pitchFamily="2" charset="-122"/>
                <a:cs typeface="Times New Roman" pitchFamily="18" charset="0"/>
              </a:rPr>
              <a:t>3+</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Br</a:t>
            </a:r>
            <a:r>
              <a:rPr lang="en-US" altLang="zh-CN" sz="2500" b="1" baseline="30000">
                <a:ea typeface="华文新魏" pitchFamily="2" charset="-122"/>
                <a:cs typeface="Times New Roman" pitchFamily="18" charset="0"/>
              </a:rPr>
              <a:t>-</a:t>
            </a:r>
            <a:r>
              <a:rPr lang="zh-CN" altLang="zh-CN" sz="2500" b="1">
                <a:ea typeface="华文新魏" pitchFamily="2" charset="-122"/>
                <a:cs typeface="Times New Roman" pitchFamily="18" charset="0"/>
              </a:rPr>
              <a:t>离子半径由大到小的顺序</a:t>
            </a:r>
            <a:r>
              <a:rPr lang="en-US" altLang="zh-CN" sz="2500" b="1">
                <a:ea typeface="华文新魏" pitchFamily="2" charset="-122"/>
                <a:cs typeface="Times New Roman" pitchFamily="18" charset="0"/>
              </a:rPr>
              <a:t>.</a:t>
            </a:r>
            <a:endParaRPr lang="zh-CN" altLang="zh-CN" sz="2500" b="1">
              <a:ea typeface="华文新魏" pitchFamily="2" charset="-122"/>
              <a:cs typeface="Times New Roman" pitchFamily="18" charset="0"/>
            </a:endParaRPr>
          </a:p>
        </p:txBody>
      </p:sp>
      <p:sp>
        <p:nvSpPr>
          <p:cNvPr id="21507" name="Text Box 39"/>
          <p:cNvSpPr txBox="1">
            <a:spLocks noChangeArrowheads="1"/>
          </p:cNvSpPr>
          <p:nvPr/>
        </p:nvSpPr>
        <p:spPr bwMode="auto">
          <a:xfrm>
            <a:off x="179388" y="358775"/>
            <a:ext cx="1836737" cy="477838"/>
          </a:xfrm>
          <a:prstGeom prst="rect">
            <a:avLst/>
          </a:prstGeom>
          <a:noFill/>
          <a:ln w="9525" algn="ctr">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习题</a:t>
            </a:r>
            <a:r>
              <a:rPr lang="en-US" altLang="zh-CN" sz="2500" b="1">
                <a:solidFill>
                  <a:srgbClr val="FFFF00"/>
                </a:solidFill>
                <a:ea typeface="华文新魏" pitchFamily="2" charset="-122"/>
                <a:cs typeface="Times New Roman" pitchFamily="18" charset="0"/>
              </a:rPr>
              <a:t>8-15</a:t>
            </a:r>
            <a:r>
              <a:rPr lang="zh-CN" altLang="en-US" sz="2500" b="1">
                <a:solidFill>
                  <a:srgbClr val="FFFF00"/>
                </a:solidFill>
                <a:ea typeface="华文新魏" pitchFamily="2" charset="-122"/>
                <a:cs typeface="Times New Roman" pitchFamily="18" charset="0"/>
              </a:rPr>
              <a:t>：</a:t>
            </a:r>
          </a:p>
        </p:txBody>
      </p:sp>
      <p:sp>
        <p:nvSpPr>
          <p:cNvPr id="5" name="Rectangle 38"/>
          <p:cNvSpPr>
            <a:spLocks noChangeArrowheads="1"/>
          </p:cNvSpPr>
          <p:nvPr/>
        </p:nvSpPr>
        <p:spPr bwMode="auto">
          <a:xfrm>
            <a:off x="4608513" y="334963"/>
            <a:ext cx="6627812" cy="1631950"/>
          </a:xfrm>
          <a:prstGeom prst="rect">
            <a:avLst/>
          </a:prstGeom>
          <a:noFill/>
          <a:ln w="9525">
            <a:noFill/>
            <a:miter lim="800000"/>
            <a:headEnd/>
            <a:tailEnd/>
          </a:ln>
          <a:effectLst/>
        </p:spPr>
        <p:txBody>
          <a:bodyPr>
            <a:spAutoFit/>
          </a:bodyPr>
          <a:lstStyle/>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离子半径大小的变化规律：同周期不同元素离子，核电荷数</a:t>
            </a:r>
            <a:r>
              <a:rPr lang="en-US" altLang="zh-CN" sz="2500" b="1">
                <a:ea typeface="华文新魏" pitchFamily="2" charset="-122"/>
                <a:cs typeface="Times New Roman" pitchFamily="18" charset="0"/>
              </a:rPr>
              <a:t>↑, </a:t>
            </a:r>
            <a:r>
              <a:rPr lang="en-US" altLang="zh-CN" sz="2500" b="1" i="1">
                <a:ea typeface="华文新魏" pitchFamily="2" charset="-122"/>
                <a:cs typeface="Times New Roman" pitchFamily="18" charset="0"/>
              </a:rPr>
              <a:t>r</a:t>
            </a:r>
            <a:r>
              <a:rPr lang="en-US" altLang="zh-CN" sz="2500" b="1" baseline="-25000">
                <a:ea typeface="华文新魏" pitchFamily="2" charset="-122"/>
                <a:cs typeface="Times New Roman" pitchFamily="18" charset="0"/>
              </a:rPr>
              <a:t>±</a:t>
            </a:r>
            <a:r>
              <a:rPr lang="en-US" altLang="zh-CN" sz="2500" b="1">
                <a:ea typeface="华文新魏" pitchFamily="2" charset="-122"/>
                <a:cs typeface="Times New Roman" pitchFamily="18" charset="0"/>
              </a:rPr>
              <a:t>↓</a:t>
            </a:r>
            <a:r>
              <a:rPr lang="zh-CN" altLang="zh-CN" sz="2500" b="1">
                <a:ea typeface="华文新魏" pitchFamily="2" charset="-122"/>
                <a:cs typeface="Times New Roman" pitchFamily="18" charset="0"/>
              </a:rPr>
              <a:t>；同族不同元素离子，周期数</a:t>
            </a:r>
            <a:r>
              <a:rPr lang="en-US" altLang="zh-CN" sz="2500" b="1">
                <a:ea typeface="华文新魏" pitchFamily="2" charset="-122"/>
                <a:cs typeface="Times New Roman" pitchFamily="18" charset="0"/>
              </a:rPr>
              <a:t>↑, </a:t>
            </a:r>
            <a:r>
              <a:rPr lang="en-US" altLang="zh-CN" sz="2500" b="1" i="1">
                <a:ea typeface="华文新魏" pitchFamily="2" charset="-122"/>
                <a:cs typeface="Times New Roman" pitchFamily="18" charset="0"/>
              </a:rPr>
              <a:t>r</a:t>
            </a:r>
            <a:r>
              <a:rPr lang="en-US" altLang="zh-CN" sz="2500" b="1" baseline="-25000">
                <a:ea typeface="华文新魏" pitchFamily="2" charset="-122"/>
                <a:cs typeface="Times New Roman" pitchFamily="18" charset="0"/>
              </a:rPr>
              <a:t>±</a:t>
            </a:r>
            <a:r>
              <a:rPr lang="en-US" altLang="zh-CN" sz="2500" b="1">
                <a:ea typeface="华文新魏" pitchFamily="2" charset="-122"/>
                <a:cs typeface="Times New Roman" pitchFamily="18" charset="0"/>
              </a:rPr>
              <a:t>↑</a:t>
            </a:r>
            <a:r>
              <a:rPr lang="zh-CN" altLang="zh-CN" sz="2500" b="1">
                <a:ea typeface="华文新魏" pitchFamily="2" charset="-122"/>
                <a:cs typeface="Times New Roman" pitchFamily="18" charset="0"/>
              </a:rPr>
              <a:t>；电子层构型相同的不同元素离子，</a:t>
            </a:r>
            <a:r>
              <a:rPr lang="en-US" altLang="zh-CN" sz="2500" b="1" i="1">
                <a:ea typeface="华文新魏" pitchFamily="2" charset="-122"/>
                <a:cs typeface="Times New Roman" pitchFamily="18" charset="0"/>
              </a:rPr>
              <a:t>r</a:t>
            </a:r>
            <a:r>
              <a:rPr lang="en-US" altLang="zh-CN" sz="2500" b="1" baseline="-25000">
                <a:ea typeface="华文新魏" pitchFamily="2" charset="-122"/>
                <a:cs typeface="Times New Roman" pitchFamily="18" charset="0"/>
              </a:rPr>
              <a:t>- </a:t>
            </a:r>
            <a:r>
              <a:rPr lang="en-US" altLang="zh-CN" sz="2500" b="1">
                <a:ea typeface="华文新魏" pitchFamily="2" charset="-122"/>
                <a:cs typeface="Times New Roman" pitchFamily="18" charset="0"/>
              </a:rPr>
              <a:t>&gt;</a:t>
            </a:r>
            <a:r>
              <a:rPr lang="en-US" altLang="zh-CN" sz="2500" b="1" i="1">
                <a:ea typeface="华文新魏" pitchFamily="2" charset="-122"/>
                <a:cs typeface="Times New Roman" pitchFamily="18" charset="0"/>
              </a:rPr>
              <a:t> r</a:t>
            </a:r>
            <a:r>
              <a:rPr lang="en-US" altLang="zh-CN" sz="2500" b="1" baseline="-25000">
                <a:ea typeface="华文新魏" pitchFamily="2" charset="-122"/>
                <a:cs typeface="Times New Roman" pitchFamily="18" charset="0"/>
              </a:rPr>
              <a:t>+</a:t>
            </a:r>
            <a:r>
              <a:rPr lang="zh-CN" altLang="zh-CN" sz="2500" b="1">
                <a:ea typeface="华文新魏" pitchFamily="2" charset="-122"/>
                <a:cs typeface="Times New Roman" pitchFamily="18" charset="0"/>
              </a:rPr>
              <a:t> ；</a:t>
            </a:r>
            <a:endParaRPr lang="zh-CN" altLang="en-US" sz="2500" b="1">
              <a:ea typeface="华文新魏" pitchFamily="2" charset="-122"/>
              <a:cs typeface="Times New Roman" pitchFamily="18" charset="0"/>
            </a:endParaRPr>
          </a:p>
        </p:txBody>
      </p:sp>
      <p:sp>
        <p:nvSpPr>
          <p:cNvPr id="2" name="Rectangle 38"/>
          <p:cNvSpPr>
            <a:spLocks noChangeArrowheads="1"/>
          </p:cNvSpPr>
          <p:nvPr/>
        </p:nvSpPr>
        <p:spPr bwMode="auto">
          <a:xfrm>
            <a:off x="4608513" y="344488"/>
            <a:ext cx="1800225" cy="476250"/>
          </a:xfrm>
          <a:prstGeom prst="rect">
            <a:avLst/>
          </a:prstGeom>
          <a:noFill/>
          <a:ln w="9525">
            <a:noFill/>
            <a:miter lim="800000"/>
            <a:headEnd/>
            <a:tailEnd/>
          </a:ln>
          <a:effectLst/>
        </p:spPr>
        <p:txBody>
          <a:bodyPr>
            <a:spAutoFit/>
          </a:bodyPr>
          <a:lstStyle/>
          <a:p>
            <a:pPr marL="342900" indent="-342900" eaLnBrk="0" hangingPunct="0"/>
            <a:r>
              <a:rPr lang="zh-CN" altLang="zh-CN" sz="2500" b="1">
                <a:solidFill>
                  <a:srgbClr val="FFFF00"/>
                </a:solidFill>
                <a:ea typeface="华文新魏" pitchFamily="2" charset="-122"/>
                <a:cs typeface="Times New Roman" pitchFamily="18" charset="0"/>
              </a:rPr>
              <a:t>解题思路：</a:t>
            </a:r>
          </a:p>
        </p:txBody>
      </p:sp>
      <p:sp>
        <p:nvSpPr>
          <p:cNvPr id="9" name="Rectangle 38"/>
          <p:cNvSpPr>
            <a:spLocks noChangeArrowheads="1"/>
          </p:cNvSpPr>
          <p:nvPr/>
        </p:nvSpPr>
        <p:spPr bwMode="auto">
          <a:xfrm>
            <a:off x="4584700" y="3025775"/>
            <a:ext cx="2735263" cy="473075"/>
          </a:xfrm>
          <a:prstGeom prst="rect">
            <a:avLst/>
          </a:prstGeom>
          <a:noFill/>
          <a:ln w="9525">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参考答案：</a:t>
            </a:r>
          </a:p>
        </p:txBody>
      </p:sp>
      <p:sp>
        <p:nvSpPr>
          <p:cNvPr id="10" name="矩形 9"/>
          <p:cNvSpPr>
            <a:spLocks noChangeArrowheads="1"/>
          </p:cNvSpPr>
          <p:nvPr/>
        </p:nvSpPr>
        <p:spPr bwMode="auto">
          <a:xfrm>
            <a:off x="4608513" y="3003550"/>
            <a:ext cx="6624637" cy="477838"/>
          </a:xfrm>
          <a:prstGeom prst="rect">
            <a:avLst/>
          </a:prstGeom>
          <a:noFill/>
          <a:ln w="9525">
            <a:noFill/>
            <a:miter lim="800000"/>
            <a:headEnd/>
            <a:tailEnd/>
          </a:ln>
        </p:spPr>
        <p:txBody>
          <a:bodyPr>
            <a:spAutoFit/>
          </a:bodyPr>
          <a:lstStyle/>
          <a:p>
            <a:r>
              <a:rPr lang="en-US" altLang="zh-CN" sz="2500" b="1">
                <a:ea typeface="华文新魏" pitchFamily="2" charset="-122"/>
                <a:cs typeface="Times New Roman" pitchFamily="18" charset="0"/>
              </a:rPr>
              <a:t>                     Br</a:t>
            </a:r>
            <a:r>
              <a:rPr lang="en-US" altLang="zh-CN" sz="2500" b="1" baseline="30000">
                <a:ea typeface="华文新魏" pitchFamily="2" charset="-122"/>
                <a:cs typeface="Times New Roman" pitchFamily="18" charset="0"/>
              </a:rPr>
              <a:t>- </a:t>
            </a:r>
            <a:r>
              <a:rPr lang="en-US" altLang="zh-CN" sz="2500" b="1">
                <a:ea typeface="华文新魏" pitchFamily="2" charset="-122"/>
                <a:cs typeface="Times New Roman" pitchFamily="18" charset="0"/>
              </a:rPr>
              <a:t>&gt; K</a:t>
            </a:r>
            <a:r>
              <a:rPr lang="en-US" altLang="zh-CN" sz="2500" b="1" baseline="30000">
                <a:ea typeface="华文新魏" pitchFamily="2" charset="-122"/>
                <a:cs typeface="Times New Roman" pitchFamily="18" charset="0"/>
              </a:rPr>
              <a:t>+ </a:t>
            </a:r>
            <a:r>
              <a:rPr lang="en-US" altLang="zh-CN" sz="2500" b="1">
                <a:ea typeface="华文新魏" pitchFamily="2" charset="-122"/>
                <a:cs typeface="Times New Roman" pitchFamily="18" charset="0"/>
              </a:rPr>
              <a:t>&gt; Sc</a:t>
            </a:r>
            <a:r>
              <a:rPr lang="en-US" altLang="zh-CN" sz="2500" b="1" baseline="30000">
                <a:ea typeface="华文新魏" pitchFamily="2" charset="-122"/>
                <a:cs typeface="Times New Roman" pitchFamily="18" charset="0"/>
              </a:rPr>
              <a:t>3+ </a:t>
            </a:r>
            <a:r>
              <a:rPr lang="en-US" altLang="zh-CN" sz="2500" b="1">
                <a:ea typeface="华文新魏" pitchFamily="2" charset="-122"/>
                <a:cs typeface="Times New Roman" pitchFamily="18" charset="0"/>
              </a:rPr>
              <a:t>&gt; Ti</a:t>
            </a:r>
            <a:r>
              <a:rPr lang="en-US" altLang="zh-CN" sz="2500" b="1" baseline="30000">
                <a:ea typeface="华文新魏" pitchFamily="2" charset="-122"/>
                <a:cs typeface="Times New Roman" pitchFamily="18" charset="0"/>
              </a:rPr>
              <a:t>3+</a:t>
            </a:r>
            <a:r>
              <a:rPr lang="en-US" altLang="zh-CN" sz="2500" b="1">
                <a:ea typeface="华文新魏" pitchFamily="2" charset="-122"/>
                <a:cs typeface="Times New Roman" pitchFamily="18" charset="0"/>
              </a:rPr>
              <a:t> </a:t>
            </a:r>
            <a:endParaRPr lang="zh-CN" altLang="zh-CN" sz="2500" b="1">
              <a:ea typeface="华文新魏" pitchFamily="2" charset="-122"/>
              <a:cs typeface="Times New Roman" pitchFamily="18" charset="0"/>
            </a:endParaRP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blinds(horizontal)">
                                      <p:cBhvr>
                                        <p:cTn id="17" dur="500"/>
                                        <p:tgtEl>
                                          <p:spTgt spid="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up)">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P spid="2" grpId="0"/>
      <p:bldP spid="9" grpId="0" autoUpdateAnimBg="0"/>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a:spLocks noChangeArrowheads="1"/>
          </p:cNvSpPr>
          <p:nvPr/>
        </p:nvSpPr>
        <p:spPr bwMode="auto">
          <a:xfrm>
            <a:off x="4608513" y="2636838"/>
            <a:ext cx="6624637" cy="3556000"/>
          </a:xfrm>
          <a:prstGeom prst="rect">
            <a:avLst/>
          </a:prstGeom>
          <a:noFill/>
          <a:ln w="9525">
            <a:noFill/>
            <a:miter lim="800000"/>
            <a:headEnd/>
            <a:tailEnd/>
          </a:ln>
        </p:spPr>
        <p:txBody>
          <a:bodyPr>
            <a:spAutoFit/>
          </a:bodyPr>
          <a:lstStyle/>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①元素的原子半径与它的简单阳、阴离子半径相比较</a:t>
            </a:r>
            <a:r>
              <a:rPr lang="en-US" altLang="zh-CN" sz="2500" b="1">
                <a:ea typeface="华文新魏" pitchFamily="2" charset="-122"/>
                <a:cs typeface="Times New Roman" pitchFamily="18" charset="0"/>
              </a:rPr>
              <a:t>:</a:t>
            </a:r>
            <a:r>
              <a:rPr lang="en-US" altLang="zh-CN" sz="2500" b="1" i="1">
                <a:ea typeface="华文新魏" pitchFamily="2" charset="-122"/>
                <a:cs typeface="Times New Roman" pitchFamily="18" charset="0"/>
              </a:rPr>
              <a:t> r</a:t>
            </a:r>
            <a:r>
              <a:rPr lang="en-US" altLang="zh-CN" sz="2500" b="1" baseline="-25000">
                <a:ea typeface="华文新魏" pitchFamily="2" charset="-122"/>
                <a:cs typeface="Times New Roman" pitchFamily="18" charset="0"/>
              </a:rPr>
              <a:t>- </a:t>
            </a:r>
            <a:r>
              <a:rPr lang="en-US" altLang="zh-CN" sz="2500" b="1">
                <a:ea typeface="华文新魏" pitchFamily="2" charset="-122"/>
                <a:cs typeface="Times New Roman" pitchFamily="18" charset="0"/>
              </a:rPr>
              <a:t>&gt;</a:t>
            </a:r>
            <a:r>
              <a:rPr lang="en-US" altLang="zh-CN" sz="2500" b="1" i="1">
                <a:ea typeface="华文新魏" pitchFamily="2" charset="-122"/>
                <a:cs typeface="Times New Roman" pitchFamily="18" charset="0"/>
              </a:rPr>
              <a:t> r</a:t>
            </a:r>
            <a:r>
              <a:rPr lang="en-US" altLang="zh-CN" sz="2500" b="1" baseline="-25000">
                <a:ea typeface="华文新魏" pitchFamily="2" charset="-122"/>
                <a:cs typeface="Times New Roman" pitchFamily="18" charset="0"/>
              </a:rPr>
              <a:t> </a:t>
            </a:r>
            <a:r>
              <a:rPr lang="en-US" altLang="zh-CN" sz="2500" b="1">
                <a:ea typeface="华文新魏" pitchFamily="2" charset="-122"/>
                <a:cs typeface="Times New Roman" pitchFamily="18" charset="0"/>
              </a:rPr>
              <a:t>&gt;</a:t>
            </a:r>
            <a:r>
              <a:rPr lang="en-US" altLang="zh-CN" sz="2500" b="1" i="1">
                <a:ea typeface="华文新魏" pitchFamily="2" charset="-122"/>
                <a:cs typeface="Times New Roman" pitchFamily="18" charset="0"/>
              </a:rPr>
              <a:t> r</a:t>
            </a:r>
            <a:r>
              <a:rPr lang="en-US" altLang="zh-CN" sz="2500" b="1" baseline="-25000">
                <a:ea typeface="华文新魏" pitchFamily="2" charset="-122"/>
                <a:cs typeface="Times New Roman" pitchFamily="18" charset="0"/>
              </a:rPr>
              <a:t>+</a:t>
            </a:r>
            <a:r>
              <a:rPr lang="en-US" altLang="zh-CN" sz="2500" b="1">
                <a:ea typeface="华文新魏" pitchFamily="2" charset="-122"/>
                <a:cs typeface="Times New Roman" pitchFamily="18" charset="0"/>
              </a:rPr>
              <a:t> .</a:t>
            </a:r>
            <a:endParaRPr lang="zh-CN" altLang="zh-CN" sz="2500" b="1">
              <a:ea typeface="华文新魏" pitchFamily="2" charset="-122"/>
              <a:cs typeface="Times New Roman" pitchFamily="18" charset="0"/>
            </a:endParaRPr>
          </a:p>
          <a:p>
            <a:pPr eaLnBrk="0" hangingPunct="0"/>
            <a:r>
              <a:rPr lang="zh-CN" altLang="zh-CN" sz="2500" b="1">
                <a:ea typeface="华文新魏" pitchFamily="2" charset="-122"/>
                <a:cs typeface="Times New Roman" pitchFamily="18" charset="0"/>
              </a:rPr>
              <a:t>②同一元素形成的不同简单离子</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电荷数愈正</a:t>
            </a:r>
            <a:r>
              <a:rPr lang="en-US" altLang="zh-CN" sz="2500" b="1">
                <a:ea typeface="华文新魏" pitchFamily="2" charset="-122"/>
                <a:cs typeface="Times New Roman" pitchFamily="18" charset="0"/>
              </a:rPr>
              <a:t>, </a:t>
            </a:r>
            <a:r>
              <a:rPr lang="en-US" altLang="zh-CN" sz="2500" b="1" i="1">
                <a:ea typeface="华文新魏" pitchFamily="2" charset="-122"/>
                <a:cs typeface="Times New Roman" pitchFamily="18" charset="0"/>
              </a:rPr>
              <a:t>r</a:t>
            </a:r>
            <a:r>
              <a:rPr lang="en-US" altLang="zh-CN" sz="2500" b="1" baseline="-25000">
                <a:ea typeface="华文新魏" pitchFamily="2" charset="-122"/>
                <a:cs typeface="Times New Roman" pitchFamily="18" charset="0"/>
              </a:rPr>
              <a:t>±</a:t>
            </a:r>
            <a:r>
              <a:rPr lang="en-US" altLang="zh-CN" sz="2500" b="1">
                <a:ea typeface="华文新魏" pitchFamily="2" charset="-122"/>
                <a:cs typeface="Times New Roman" pitchFamily="18" charset="0"/>
              </a:rPr>
              <a:t> ↓. </a:t>
            </a:r>
            <a:r>
              <a:rPr lang="zh-CN" altLang="zh-CN" sz="2500" b="1">
                <a:ea typeface="华文新魏" pitchFamily="2" charset="-122"/>
                <a:cs typeface="Times New Roman" pitchFamily="18" charset="0"/>
              </a:rPr>
              <a:t>即所带正电荷越多</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离子半径越小</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所带负电荷越多</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离子半径越大</a:t>
            </a:r>
            <a:r>
              <a:rPr lang="en-US" altLang="zh-CN" sz="2500" b="1">
                <a:ea typeface="华文新魏" pitchFamily="2" charset="-122"/>
                <a:cs typeface="Times New Roman" pitchFamily="18" charset="0"/>
              </a:rPr>
              <a:t>.</a:t>
            </a:r>
            <a:endParaRPr lang="zh-CN" altLang="zh-CN" sz="2500" b="1">
              <a:ea typeface="华文新魏" pitchFamily="2" charset="-122"/>
              <a:cs typeface="Times New Roman" pitchFamily="18" charset="0"/>
            </a:endParaRPr>
          </a:p>
          <a:p>
            <a:pPr eaLnBrk="0" hangingPunct="0"/>
            <a:r>
              <a:rPr lang="zh-CN" altLang="zh-CN" sz="2500" b="1">
                <a:ea typeface="华文新魏" pitchFamily="2" charset="-122"/>
                <a:cs typeface="Times New Roman" pitchFamily="18" charset="0"/>
              </a:rPr>
              <a:t>③同一周期电子层结构相同的阳离子</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正电荷数越多</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离子半径越小</a:t>
            </a:r>
            <a:r>
              <a:rPr lang="en-US" altLang="zh-CN" sz="2500" b="1">
                <a:ea typeface="华文新魏" pitchFamily="2" charset="-122"/>
                <a:cs typeface="Times New Roman" pitchFamily="18" charset="0"/>
              </a:rPr>
              <a:t>.</a:t>
            </a:r>
            <a:endParaRPr lang="zh-CN" altLang="zh-CN" sz="2500" b="1">
              <a:ea typeface="华文新魏" pitchFamily="2" charset="-122"/>
              <a:cs typeface="Times New Roman" pitchFamily="18" charset="0"/>
            </a:endParaRPr>
          </a:p>
          <a:p>
            <a:pPr eaLnBrk="0" hangingPunct="0"/>
            <a:r>
              <a:rPr lang="zh-CN" altLang="zh-CN" sz="2500" b="1">
                <a:ea typeface="华文新魏" pitchFamily="2" charset="-122"/>
                <a:cs typeface="Times New Roman" pitchFamily="18" charset="0"/>
              </a:rPr>
              <a:t>④同族元素电荷数相同的离子</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电子层数越多</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离子半径越大</a:t>
            </a:r>
            <a:r>
              <a:rPr lang="en-US" altLang="zh-CN" sz="2500" b="1">
                <a:ea typeface="华文新魏" pitchFamily="2" charset="-122"/>
                <a:cs typeface="Times New Roman" pitchFamily="18" charset="0"/>
              </a:rPr>
              <a:t>.</a:t>
            </a:r>
            <a:endParaRPr lang="zh-CN" altLang="zh-CN" sz="2500" b="1">
              <a:ea typeface="华文新魏" pitchFamily="2" charset="-122"/>
              <a:cs typeface="Times New Roman" pitchFamily="18" charset="0"/>
            </a:endParaRPr>
          </a:p>
        </p:txBody>
      </p:sp>
      <p:sp>
        <p:nvSpPr>
          <p:cNvPr id="4" name="Rectangle 40"/>
          <p:cNvSpPr>
            <a:spLocks noChangeArrowheads="1"/>
          </p:cNvSpPr>
          <p:nvPr/>
        </p:nvSpPr>
        <p:spPr bwMode="auto">
          <a:xfrm>
            <a:off x="179388" y="287338"/>
            <a:ext cx="3997325" cy="5478462"/>
          </a:xfrm>
          <a:prstGeom prst="rect">
            <a:avLst/>
          </a:prstGeom>
          <a:noFill/>
          <a:ln w="9525">
            <a:noFill/>
            <a:miter lim="800000"/>
            <a:headEnd/>
            <a:tailEnd/>
          </a:ln>
          <a:effectLst/>
        </p:spPr>
        <p:txBody>
          <a:bodyPr>
            <a:spAutoFit/>
          </a:bodyPr>
          <a:lstStyle/>
          <a:p>
            <a:pPr eaLnBrk="0" hangingPunct="0"/>
            <a:r>
              <a:rPr lang="zh-CN" altLang="en-US" sz="2500" b="1">
                <a:ea typeface="华文新魏" pitchFamily="2" charset="-122"/>
                <a:cs typeface="Times New Roman" pitchFamily="18" charset="0"/>
              </a:rPr>
              <a:t>                   回答下列问题：</a:t>
            </a:r>
          </a:p>
          <a:p>
            <a:pPr eaLnBrk="0" hangingPunct="0"/>
            <a:r>
              <a:rPr lang="zh-CN" altLang="en-US" sz="2500" b="1">
                <a:ea typeface="华文新魏" pitchFamily="2" charset="-122"/>
                <a:cs typeface="Times New Roman" pitchFamily="18" charset="0"/>
              </a:rPr>
              <a:t>①元素的原子半径与它的简单阳、阴离子半径相比较</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哪个大</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哪个小</a:t>
            </a:r>
            <a:r>
              <a:rPr lang="en-US" altLang="zh-CN" sz="2500" b="1">
                <a:ea typeface="华文新魏" pitchFamily="2" charset="-122"/>
                <a:cs typeface="Times New Roman" pitchFamily="18" charset="0"/>
              </a:rPr>
              <a:t>?</a:t>
            </a:r>
          </a:p>
          <a:p>
            <a:pPr eaLnBrk="0" hangingPunct="0"/>
            <a:r>
              <a:rPr lang="en-US" altLang="zh-CN" sz="2500" b="1">
                <a:ea typeface="华文新魏" pitchFamily="2" charset="-122"/>
                <a:cs typeface="Times New Roman" pitchFamily="18" charset="0"/>
              </a:rPr>
              <a:t>②</a:t>
            </a:r>
            <a:r>
              <a:rPr lang="zh-CN" altLang="en-US" sz="2500" b="1">
                <a:ea typeface="华文新魏" pitchFamily="2" charset="-122"/>
                <a:cs typeface="Times New Roman" pitchFamily="18" charset="0"/>
              </a:rPr>
              <a:t>同一元素形成的不同简单离子</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离子的正、负电荷数越多</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离子半径是越大还是越小</a:t>
            </a:r>
            <a:r>
              <a:rPr lang="en-US" altLang="zh-CN" sz="2500" b="1">
                <a:ea typeface="华文新魏" pitchFamily="2" charset="-122"/>
                <a:cs typeface="Times New Roman" pitchFamily="18" charset="0"/>
              </a:rPr>
              <a:t>?</a:t>
            </a:r>
          </a:p>
          <a:p>
            <a:pPr eaLnBrk="0" hangingPunct="0"/>
            <a:r>
              <a:rPr lang="en-US" altLang="zh-CN" sz="2500" b="1">
                <a:ea typeface="华文新魏" pitchFamily="2" charset="-122"/>
                <a:cs typeface="Times New Roman" pitchFamily="18" charset="0"/>
              </a:rPr>
              <a:t>③</a:t>
            </a:r>
            <a:r>
              <a:rPr lang="zh-CN" altLang="en-US" sz="2500" b="1">
                <a:ea typeface="华文新魏" pitchFamily="2" charset="-122"/>
                <a:cs typeface="Times New Roman" pitchFamily="18" charset="0"/>
              </a:rPr>
              <a:t>同一周期电子层结构相同的阳离子</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正电荷数越多</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离子半径是越大还是越小</a:t>
            </a:r>
            <a:r>
              <a:rPr lang="en-US" altLang="zh-CN" sz="2500" b="1">
                <a:ea typeface="华文新魏" pitchFamily="2" charset="-122"/>
                <a:cs typeface="Times New Roman" pitchFamily="18" charset="0"/>
              </a:rPr>
              <a:t>?</a:t>
            </a:r>
          </a:p>
          <a:p>
            <a:pPr eaLnBrk="0" hangingPunct="0"/>
            <a:r>
              <a:rPr lang="en-US" altLang="zh-CN" sz="2500" b="1">
                <a:ea typeface="华文新魏" pitchFamily="2" charset="-122"/>
                <a:cs typeface="Times New Roman" pitchFamily="18" charset="0"/>
              </a:rPr>
              <a:t>④</a:t>
            </a:r>
            <a:r>
              <a:rPr lang="zh-CN" altLang="en-US" sz="2500" b="1">
                <a:ea typeface="华文新魏" pitchFamily="2" charset="-122"/>
                <a:cs typeface="Times New Roman" pitchFamily="18" charset="0"/>
              </a:rPr>
              <a:t>同族元素电荷数相同的离子</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电子层数越多</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离子半径是越大还是越小</a:t>
            </a:r>
            <a:r>
              <a:rPr lang="en-US" altLang="zh-CN" sz="2500" b="1">
                <a:ea typeface="华文新魏" pitchFamily="2" charset="-122"/>
                <a:cs typeface="Times New Roman" pitchFamily="18" charset="0"/>
              </a:rPr>
              <a:t>?</a:t>
            </a:r>
          </a:p>
        </p:txBody>
      </p:sp>
      <p:sp>
        <p:nvSpPr>
          <p:cNvPr id="22532" name="Text Box 39"/>
          <p:cNvSpPr txBox="1">
            <a:spLocks noChangeArrowheads="1"/>
          </p:cNvSpPr>
          <p:nvPr/>
        </p:nvSpPr>
        <p:spPr bwMode="auto">
          <a:xfrm>
            <a:off x="179388" y="307975"/>
            <a:ext cx="1836737" cy="477838"/>
          </a:xfrm>
          <a:prstGeom prst="rect">
            <a:avLst/>
          </a:prstGeom>
          <a:noFill/>
          <a:ln w="9525" algn="ctr">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习题</a:t>
            </a:r>
            <a:r>
              <a:rPr lang="en-US" altLang="zh-CN" sz="2500" b="1">
                <a:solidFill>
                  <a:srgbClr val="FFFF00"/>
                </a:solidFill>
                <a:ea typeface="华文新魏" pitchFamily="2" charset="-122"/>
                <a:cs typeface="Times New Roman" pitchFamily="18" charset="0"/>
              </a:rPr>
              <a:t>8-16</a:t>
            </a:r>
            <a:r>
              <a:rPr lang="zh-CN" altLang="en-US" sz="2500" b="1">
                <a:solidFill>
                  <a:srgbClr val="FFFF00"/>
                </a:solidFill>
                <a:ea typeface="华文新魏" pitchFamily="2" charset="-122"/>
                <a:cs typeface="Times New Roman" pitchFamily="18" charset="0"/>
              </a:rPr>
              <a:t>：</a:t>
            </a:r>
          </a:p>
        </p:txBody>
      </p:sp>
      <p:sp>
        <p:nvSpPr>
          <p:cNvPr id="5" name="Rectangle 38"/>
          <p:cNvSpPr>
            <a:spLocks noChangeArrowheads="1"/>
          </p:cNvSpPr>
          <p:nvPr/>
        </p:nvSpPr>
        <p:spPr bwMode="auto">
          <a:xfrm>
            <a:off x="4608513" y="287338"/>
            <a:ext cx="6627812" cy="2016125"/>
          </a:xfrm>
          <a:prstGeom prst="rect">
            <a:avLst/>
          </a:prstGeom>
          <a:noFill/>
          <a:ln w="9525">
            <a:noFill/>
            <a:miter lim="800000"/>
            <a:headEnd/>
            <a:tailEnd/>
          </a:ln>
          <a:effectLst/>
        </p:spPr>
        <p:txBody>
          <a:bodyPr>
            <a:spAutoFit/>
          </a:bodyPr>
          <a:lstStyle/>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离子半径大小的变化规律：同一元素形成的不同简单离子，电荷数愈正，</a:t>
            </a:r>
            <a:r>
              <a:rPr lang="en-US" altLang="zh-CN" sz="2500" b="1" i="1">
                <a:ea typeface="华文新魏" pitchFamily="2" charset="-122"/>
                <a:cs typeface="Times New Roman" pitchFamily="18" charset="0"/>
              </a:rPr>
              <a:t>r</a:t>
            </a:r>
            <a:r>
              <a:rPr lang="en-US" altLang="zh-CN" sz="2500" b="1" baseline="-25000">
                <a:ea typeface="华文新魏" pitchFamily="2" charset="-122"/>
                <a:cs typeface="Times New Roman" pitchFamily="18" charset="0"/>
              </a:rPr>
              <a:t>±</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；同周期不同元素离子，核电荷数</a:t>
            </a:r>
            <a:r>
              <a:rPr lang="en-US" altLang="zh-CN" sz="2500" b="1">
                <a:ea typeface="华文新魏" pitchFamily="2" charset="-122"/>
                <a:cs typeface="Times New Roman" pitchFamily="18" charset="0"/>
              </a:rPr>
              <a:t>↑, </a:t>
            </a:r>
            <a:r>
              <a:rPr lang="en-US" altLang="zh-CN" sz="2500" b="1" i="1">
                <a:ea typeface="华文新魏" pitchFamily="2" charset="-122"/>
                <a:cs typeface="Times New Roman" pitchFamily="18" charset="0"/>
              </a:rPr>
              <a:t>r</a:t>
            </a:r>
            <a:r>
              <a:rPr lang="en-US" altLang="zh-CN" sz="2500" b="1" baseline="-25000">
                <a:ea typeface="华文新魏" pitchFamily="2" charset="-122"/>
                <a:cs typeface="Times New Roman" pitchFamily="18" charset="0"/>
              </a:rPr>
              <a:t>±</a:t>
            </a:r>
            <a:r>
              <a:rPr lang="en-US" altLang="zh-CN" sz="2500" b="1">
                <a:ea typeface="华文新魏" pitchFamily="2" charset="-122"/>
                <a:cs typeface="Times New Roman" pitchFamily="18" charset="0"/>
              </a:rPr>
              <a:t>↓</a:t>
            </a:r>
            <a:r>
              <a:rPr lang="zh-CN" altLang="zh-CN" sz="2500" b="1">
                <a:ea typeface="华文新魏" pitchFamily="2" charset="-122"/>
                <a:cs typeface="Times New Roman" pitchFamily="18" charset="0"/>
              </a:rPr>
              <a:t>；同族不同元素离子，周期数</a:t>
            </a:r>
            <a:r>
              <a:rPr lang="en-US" altLang="zh-CN" sz="2500" b="1">
                <a:ea typeface="华文新魏" pitchFamily="2" charset="-122"/>
                <a:cs typeface="Times New Roman" pitchFamily="18" charset="0"/>
              </a:rPr>
              <a:t>↑, </a:t>
            </a:r>
            <a:r>
              <a:rPr lang="en-US" altLang="zh-CN" sz="2500" b="1" i="1">
                <a:ea typeface="华文新魏" pitchFamily="2" charset="-122"/>
                <a:cs typeface="Times New Roman" pitchFamily="18" charset="0"/>
              </a:rPr>
              <a:t>r</a:t>
            </a:r>
            <a:r>
              <a:rPr lang="en-US" altLang="zh-CN" sz="2500" b="1" baseline="-25000">
                <a:ea typeface="华文新魏" pitchFamily="2" charset="-122"/>
                <a:cs typeface="Times New Roman" pitchFamily="18" charset="0"/>
              </a:rPr>
              <a:t>±</a:t>
            </a:r>
            <a:r>
              <a:rPr lang="en-US" altLang="zh-CN" sz="2500" b="1">
                <a:ea typeface="华文新魏" pitchFamily="2" charset="-122"/>
                <a:cs typeface="Times New Roman" pitchFamily="18" charset="0"/>
              </a:rPr>
              <a:t>↑</a:t>
            </a:r>
            <a:r>
              <a:rPr lang="zh-CN" altLang="zh-CN" sz="2500" b="1">
                <a:ea typeface="华文新魏" pitchFamily="2" charset="-122"/>
                <a:cs typeface="Times New Roman" pitchFamily="18" charset="0"/>
              </a:rPr>
              <a:t>；电子层构型相同的不同元素离子，</a:t>
            </a:r>
            <a:r>
              <a:rPr lang="en-US" altLang="zh-CN" sz="2500" b="1" i="1">
                <a:ea typeface="华文新魏" pitchFamily="2" charset="-122"/>
                <a:cs typeface="Times New Roman" pitchFamily="18" charset="0"/>
              </a:rPr>
              <a:t>r</a:t>
            </a:r>
            <a:r>
              <a:rPr lang="en-US" altLang="zh-CN" sz="2500" b="1" baseline="-25000">
                <a:ea typeface="华文新魏" pitchFamily="2" charset="-122"/>
                <a:cs typeface="Times New Roman" pitchFamily="18" charset="0"/>
              </a:rPr>
              <a:t>- </a:t>
            </a:r>
            <a:r>
              <a:rPr lang="en-US" altLang="zh-CN" sz="2500" b="1">
                <a:ea typeface="华文新魏" pitchFamily="2" charset="-122"/>
                <a:cs typeface="Times New Roman" pitchFamily="18" charset="0"/>
              </a:rPr>
              <a:t>&gt;</a:t>
            </a:r>
            <a:r>
              <a:rPr lang="en-US" altLang="zh-CN" sz="2500" b="1" i="1">
                <a:ea typeface="华文新魏" pitchFamily="2" charset="-122"/>
                <a:cs typeface="Times New Roman" pitchFamily="18" charset="0"/>
              </a:rPr>
              <a:t> r</a:t>
            </a:r>
            <a:r>
              <a:rPr lang="en-US" altLang="zh-CN" sz="2500" b="1" baseline="-25000">
                <a:ea typeface="华文新魏" pitchFamily="2" charset="-122"/>
                <a:cs typeface="Times New Roman" pitchFamily="18" charset="0"/>
              </a:rPr>
              <a:t>+</a:t>
            </a:r>
            <a:r>
              <a:rPr lang="zh-CN" altLang="zh-CN" sz="2500" b="1">
                <a:ea typeface="华文新魏" pitchFamily="2" charset="-122"/>
                <a:cs typeface="Times New Roman" pitchFamily="18" charset="0"/>
              </a:rPr>
              <a:t> ；</a:t>
            </a:r>
            <a:endParaRPr lang="zh-CN" altLang="en-US" sz="2500" b="1">
              <a:ea typeface="华文新魏" pitchFamily="2" charset="-122"/>
              <a:cs typeface="Times New Roman" pitchFamily="18" charset="0"/>
            </a:endParaRPr>
          </a:p>
        </p:txBody>
      </p:sp>
      <p:sp>
        <p:nvSpPr>
          <p:cNvPr id="2" name="Rectangle 38"/>
          <p:cNvSpPr>
            <a:spLocks noChangeArrowheads="1"/>
          </p:cNvSpPr>
          <p:nvPr/>
        </p:nvSpPr>
        <p:spPr bwMode="auto">
          <a:xfrm>
            <a:off x="4608513" y="296863"/>
            <a:ext cx="1800225" cy="476250"/>
          </a:xfrm>
          <a:prstGeom prst="rect">
            <a:avLst/>
          </a:prstGeom>
          <a:noFill/>
          <a:ln w="9525">
            <a:noFill/>
            <a:miter lim="800000"/>
            <a:headEnd/>
            <a:tailEnd/>
          </a:ln>
          <a:effectLst/>
        </p:spPr>
        <p:txBody>
          <a:bodyPr>
            <a:spAutoFit/>
          </a:bodyPr>
          <a:lstStyle/>
          <a:p>
            <a:pPr marL="342900" indent="-342900" eaLnBrk="0" hangingPunct="0"/>
            <a:r>
              <a:rPr lang="zh-CN" altLang="zh-CN" sz="2500" b="1">
                <a:solidFill>
                  <a:srgbClr val="FFFF00"/>
                </a:solidFill>
                <a:ea typeface="华文新魏" pitchFamily="2" charset="-122"/>
                <a:cs typeface="Times New Roman" pitchFamily="18" charset="0"/>
              </a:rPr>
              <a:t>解题思路：</a:t>
            </a:r>
          </a:p>
        </p:txBody>
      </p:sp>
      <p:sp>
        <p:nvSpPr>
          <p:cNvPr id="9" name="Rectangle 38"/>
          <p:cNvSpPr>
            <a:spLocks noChangeArrowheads="1"/>
          </p:cNvSpPr>
          <p:nvPr/>
        </p:nvSpPr>
        <p:spPr bwMode="auto">
          <a:xfrm>
            <a:off x="4584700" y="2659063"/>
            <a:ext cx="2735263" cy="473075"/>
          </a:xfrm>
          <a:prstGeom prst="rect">
            <a:avLst/>
          </a:prstGeom>
          <a:noFill/>
          <a:ln w="9525">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参考答案：</a:t>
            </a: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blinds(horizontal)">
                                      <p:cBhvr>
                                        <p:cTn id="17" dur="500"/>
                                        <p:tgtEl>
                                          <p:spTgt spid="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up)">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 grpId="0"/>
      <p:bldP spid="5" grpId="0" build="p"/>
      <p:bldP spid="2" grpId="0"/>
      <p:bldP spid="9"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0"/>
          <p:cNvSpPr>
            <a:spLocks noChangeArrowheads="1"/>
          </p:cNvSpPr>
          <p:nvPr/>
        </p:nvSpPr>
        <p:spPr bwMode="auto">
          <a:xfrm>
            <a:off x="179388" y="287338"/>
            <a:ext cx="3997325" cy="1246187"/>
          </a:xfrm>
          <a:prstGeom prst="rect">
            <a:avLst/>
          </a:prstGeom>
          <a:noFill/>
          <a:ln w="9525">
            <a:noFill/>
            <a:miter lim="800000"/>
            <a:headEnd/>
            <a:tailEnd/>
          </a:ln>
          <a:effectLst/>
        </p:spPr>
        <p:txBody>
          <a:bodyPr>
            <a:spAutoFit/>
          </a:bodyPr>
          <a:lstStyle/>
          <a:p>
            <a:pPr eaLnBrk="0" hangingPunct="0"/>
            <a:r>
              <a:rPr lang="zh-CN" altLang="en-US" sz="2500" b="1">
                <a:ea typeface="华文新魏" pitchFamily="2" charset="-122"/>
                <a:cs typeface="Times New Roman" pitchFamily="18" charset="0"/>
              </a:rPr>
              <a:t>                   金属阳离子有哪几种电子构型</a:t>
            </a:r>
            <a:r>
              <a:rPr lang="en-US" altLang="zh-CN" sz="2500" b="1">
                <a:ea typeface="华文新魏" pitchFamily="2" charset="-122"/>
                <a:cs typeface="Times New Roman" pitchFamily="18" charset="0"/>
              </a:rPr>
              <a:t>?</a:t>
            </a:r>
            <a:r>
              <a:rPr lang="zh-CN" altLang="en-US" sz="2500" b="1">
                <a:ea typeface="华文新魏" pitchFamily="2" charset="-122"/>
                <a:cs typeface="Times New Roman" pitchFamily="18" charset="0"/>
              </a:rPr>
              <a:t>它们在周期表中是如何分布的</a:t>
            </a:r>
            <a:r>
              <a:rPr lang="en-US" altLang="zh-CN" sz="2500" b="1">
                <a:ea typeface="华文新魏" pitchFamily="2" charset="-122"/>
                <a:cs typeface="Times New Roman" pitchFamily="18" charset="0"/>
              </a:rPr>
              <a:t>?</a:t>
            </a:r>
          </a:p>
        </p:txBody>
      </p:sp>
      <p:sp>
        <p:nvSpPr>
          <p:cNvPr id="23555" name="Text Box 39"/>
          <p:cNvSpPr txBox="1">
            <a:spLocks noChangeArrowheads="1"/>
          </p:cNvSpPr>
          <p:nvPr/>
        </p:nvSpPr>
        <p:spPr bwMode="auto">
          <a:xfrm>
            <a:off x="179388" y="307975"/>
            <a:ext cx="1836737" cy="477838"/>
          </a:xfrm>
          <a:prstGeom prst="rect">
            <a:avLst/>
          </a:prstGeom>
          <a:noFill/>
          <a:ln w="9525" algn="ctr">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习题</a:t>
            </a:r>
            <a:r>
              <a:rPr lang="en-US" altLang="zh-CN" sz="2500" b="1">
                <a:solidFill>
                  <a:srgbClr val="FFFF00"/>
                </a:solidFill>
                <a:ea typeface="华文新魏" pitchFamily="2" charset="-122"/>
                <a:cs typeface="Times New Roman" pitchFamily="18" charset="0"/>
              </a:rPr>
              <a:t>8-17</a:t>
            </a:r>
            <a:r>
              <a:rPr lang="zh-CN" altLang="en-US" sz="2500" b="1">
                <a:solidFill>
                  <a:srgbClr val="FFFF00"/>
                </a:solidFill>
                <a:ea typeface="华文新魏" pitchFamily="2" charset="-122"/>
                <a:cs typeface="Times New Roman" pitchFamily="18" charset="0"/>
              </a:rPr>
              <a:t>：</a:t>
            </a:r>
          </a:p>
        </p:txBody>
      </p:sp>
      <p:sp>
        <p:nvSpPr>
          <p:cNvPr id="5" name="Rectangle 38"/>
          <p:cNvSpPr>
            <a:spLocks noChangeArrowheads="1"/>
          </p:cNvSpPr>
          <p:nvPr/>
        </p:nvSpPr>
        <p:spPr bwMode="auto">
          <a:xfrm>
            <a:off x="4608513" y="287338"/>
            <a:ext cx="6627812" cy="1631950"/>
          </a:xfrm>
          <a:prstGeom prst="rect">
            <a:avLst/>
          </a:prstGeom>
          <a:noFill/>
          <a:ln w="9525">
            <a:noFill/>
            <a:miter lim="800000"/>
            <a:headEnd/>
            <a:tailEnd/>
          </a:ln>
          <a:effectLst/>
        </p:spPr>
        <p:txBody>
          <a:bodyPr>
            <a:spAutoFit/>
          </a:bodyPr>
          <a:lstStyle/>
          <a:p>
            <a:pPr eaLnBrk="0" hangingPunct="0"/>
            <a:r>
              <a:rPr lang="zh-CN" altLang="en-US" sz="2500" b="1">
                <a:ea typeface="华文新魏" pitchFamily="2" charset="-122"/>
                <a:cs typeface="Times New Roman" pitchFamily="18" charset="0"/>
              </a:rPr>
              <a:t>                   根据金属阳离子最外层电子数的不同，一般分为</a:t>
            </a:r>
            <a:r>
              <a:rPr lang="en-US" altLang="zh-CN" sz="2500" b="1">
                <a:ea typeface="华文新魏" pitchFamily="2" charset="-122"/>
                <a:cs typeface="Times New Roman" pitchFamily="18" charset="0"/>
              </a:rPr>
              <a:t>5</a:t>
            </a:r>
            <a:r>
              <a:rPr lang="zh-CN" altLang="en-US" sz="2500" b="1">
                <a:ea typeface="华文新魏" pitchFamily="2" charset="-122"/>
                <a:cs typeface="Times New Roman" pitchFamily="18" charset="0"/>
              </a:rPr>
              <a:t>种离子的电子构型，见下表</a:t>
            </a:r>
            <a:r>
              <a:rPr lang="en-US" altLang="zh-CN" sz="2500" b="1">
                <a:ea typeface="华文新魏" pitchFamily="2" charset="-122"/>
                <a:cs typeface="Times New Roman" pitchFamily="18" charset="0"/>
              </a:rPr>
              <a:t>. </a:t>
            </a:r>
            <a:r>
              <a:rPr lang="zh-CN" altLang="en-US" sz="2500" b="1">
                <a:ea typeface="华文新魏" pitchFamily="2" charset="-122"/>
                <a:cs typeface="Times New Roman" pitchFamily="18" charset="0"/>
              </a:rPr>
              <a:t>离子的电子构型，对离子的有效核电荷有影响，进而影响化学性质</a:t>
            </a:r>
            <a:r>
              <a:rPr lang="en-US" altLang="zh-CN" sz="2500" b="1">
                <a:ea typeface="华文新魏" pitchFamily="2" charset="-122"/>
                <a:cs typeface="Times New Roman" pitchFamily="18" charset="0"/>
              </a:rPr>
              <a:t>.</a:t>
            </a:r>
            <a:endParaRPr lang="zh-CN" altLang="en-US" sz="2500" b="1">
              <a:ea typeface="华文新魏" pitchFamily="2" charset="-122"/>
              <a:cs typeface="Times New Roman" pitchFamily="18" charset="0"/>
            </a:endParaRPr>
          </a:p>
        </p:txBody>
      </p:sp>
      <p:sp>
        <p:nvSpPr>
          <p:cNvPr id="2" name="Rectangle 38"/>
          <p:cNvSpPr>
            <a:spLocks noChangeArrowheads="1"/>
          </p:cNvSpPr>
          <p:nvPr/>
        </p:nvSpPr>
        <p:spPr bwMode="auto">
          <a:xfrm>
            <a:off x="4608513" y="296863"/>
            <a:ext cx="1800225" cy="476250"/>
          </a:xfrm>
          <a:prstGeom prst="rect">
            <a:avLst/>
          </a:prstGeom>
          <a:noFill/>
          <a:ln w="9525">
            <a:noFill/>
            <a:miter lim="800000"/>
            <a:headEnd/>
            <a:tailEnd/>
          </a:ln>
          <a:effectLst/>
        </p:spPr>
        <p:txBody>
          <a:bodyPr>
            <a:spAutoFit/>
          </a:bodyPr>
          <a:lstStyle/>
          <a:p>
            <a:pPr marL="342900" indent="-342900" eaLnBrk="0" hangingPunct="0"/>
            <a:r>
              <a:rPr lang="zh-CN" altLang="zh-CN" sz="2500" b="1">
                <a:solidFill>
                  <a:srgbClr val="FFFF00"/>
                </a:solidFill>
                <a:ea typeface="华文新魏" pitchFamily="2" charset="-122"/>
                <a:cs typeface="Times New Roman" pitchFamily="18" charset="0"/>
              </a:rPr>
              <a:t>解题思路：</a:t>
            </a:r>
          </a:p>
        </p:txBody>
      </p:sp>
      <p:sp>
        <p:nvSpPr>
          <p:cNvPr id="9" name="Rectangle 38"/>
          <p:cNvSpPr>
            <a:spLocks noChangeArrowheads="1"/>
          </p:cNvSpPr>
          <p:nvPr/>
        </p:nvSpPr>
        <p:spPr bwMode="auto">
          <a:xfrm>
            <a:off x="4584700" y="2838450"/>
            <a:ext cx="2735263" cy="473075"/>
          </a:xfrm>
          <a:prstGeom prst="rect">
            <a:avLst/>
          </a:prstGeom>
          <a:noFill/>
          <a:ln w="9525">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参考答案：</a:t>
            </a:r>
          </a:p>
        </p:txBody>
      </p:sp>
      <p:graphicFrame>
        <p:nvGraphicFramePr>
          <p:cNvPr id="3" name="表格 2"/>
          <p:cNvGraphicFramePr>
            <a:graphicFrameLocks noGrp="1"/>
          </p:cNvGraphicFramePr>
          <p:nvPr/>
        </p:nvGraphicFramePr>
        <p:xfrm>
          <a:off x="4641850" y="3340100"/>
          <a:ext cx="6577013" cy="2708275"/>
        </p:xfrm>
        <a:graphic>
          <a:graphicData uri="http://schemas.openxmlformats.org/drawingml/2006/table">
            <a:tbl>
              <a:tblPr firstRow="1" firstCol="1" bandRow="1">
                <a:tableStyleId>{5C22544A-7EE6-4342-B048-85BDC9FD1C3A}</a:tableStyleId>
              </a:tblPr>
              <a:tblGrid>
                <a:gridCol w="2093368"/>
                <a:gridCol w="4483645"/>
              </a:tblGrid>
              <a:tr h="548518">
                <a:tc>
                  <a:txBody>
                    <a:bodyPr/>
                    <a:lstStyle/>
                    <a:p>
                      <a:pPr algn="ctr">
                        <a:spcAft>
                          <a:spcPts val="0"/>
                        </a:spcAft>
                      </a:pPr>
                      <a:r>
                        <a:rPr lang="zh-CN" sz="1800" b="1" kern="100" dirty="0">
                          <a:effectLst/>
                          <a:latin typeface="Times New Roman" panose="02020603050405020304" pitchFamily="18" charset="0"/>
                          <a:ea typeface="华文新魏" panose="02010800040101010101" pitchFamily="2" charset="-122"/>
                          <a:cs typeface="Times New Roman" panose="02020603050405020304" pitchFamily="18" charset="0"/>
                        </a:rPr>
                        <a:t>金属阳离子</a:t>
                      </a:r>
                      <a:r>
                        <a:rPr lang="zh-CN" sz="1800" b="1" kern="100" dirty="0" smtClean="0">
                          <a:effectLst/>
                          <a:latin typeface="Times New Roman" panose="02020603050405020304" pitchFamily="18" charset="0"/>
                          <a:ea typeface="华文新魏" panose="02010800040101010101" pitchFamily="2" charset="-122"/>
                          <a:cs typeface="Times New Roman" panose="02020603050405020304" pitchFamily="18" charset="0"/>
                        </a:rPr>
                        <a:t>的</a:t>
                      </a:r>
                      <a:endParaRPr lang="en-US" altLang="zh-CN" sz="1800" b="1" kern="100" dirty="0" smtClean="0">
                        <a:effectLst/>
                        <a:latin typeface="Times New Roman" panose="02020603050405020304" pitchFamily="18" charset="0"/>
                        <a:ea typeface="华文新魏" panose="02010800040101010101" pitchFamily="2" charset="-122"/>
                        <a:cs typeface="Times New Roman" panose="02020603050405020304" pitchFamily="18" charset="0"/>
                      </a:endParaRPr>
                    </a:p>
                    <a:p>
                      <a:pPr algn="ctr">
                        <a:spcAft>
                          <a:spcPts val="0"/>
                        </a:spcAft>
                      </a:pPr>
                      <a:r>
                        <a:rPr lang="zh-CN" sz="1800" b="1" kern="100" dirty="0" smtClean="0">
                          <a:effectLst/>
                          <a:latin typeface="Times New Roman" panose="02020603050405020304" pitchFamily="18" charset="0"/>
                          <a:ea typeface="华文新魏" panose="02010800040101010101" pitchFamily="2" charset="-122"/>
                          <a:cs typeface="Times New Roman" panose="02020603050405020304" pitchFamily="18" charset="0"/>
                        </a:rPr>
                        <a:t>电子构型</a:t>
                      </a:r>
                      <a:endParaRPr lang="zh-CN" sz="1800" b="1" kern="100" dirty="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800" b="1" kern="100" dirty="0">
                          <a:effectLst/>
                          <a:latin typeface="Times New Roman" panose="02020603050405020304" pitchFamily="18" charset="0"/>
                          <a:ea typeface="华文新魏" panose="02010800040101010101" pitchFamily="2" charset="-122"/>
                          <a:cs typeface="Times New Roman" panose="02020603050405020304" pitchFamily="18" charset="0"/>
                        </a:rPr>
                        <a:t>周期表分布</a:t>
                      </a: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59960">
                <a:tc>
                  <a:txBody>
                    <a:bodyPr/>
                    <a:lstStyle/>
                    <a:p>
                      <a:pPr algn="ctr">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2e</a:t>
                      </a:r>
                      <a:endParaRPr lang="zh-CN" sz="18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b="1" kern="100" dirty="0">
                          <a:effectLst/>
                          <a:latin typeface="Times New Roman" panose="02020603050405020304" pitchFamily="18" charset="0"/>
                          <a:ea typeface="华文新魏" panose="02010800040101010101" pitchFamily="2" charset="-122"/>
                          <a:cs typeface="Times New Roman" panose="02020603050405020304" pitchFamily="18" charset="0"/>
                        </a:rPr>
                        <a:t>s</a:t>
                      </a:r>
                      <a:r>
                        <a:rPr lang="zh-CN" sz="1800" b="1" kern="100" dirty="0" smtClean="0">
                          <a:effectLst/>
                          <a:latin typeface="Times New Roman" panose="02020603050405020304" pitchFamily="18" charset="0"/>
                          <a:ea typeface="华文新魏" panose="02010800040101010101" pitchFamily="2" charset="-122"/>
                          <a:cs typeface="Times New Roman" panose="02020603050405020304" pitchFamily="18" charset="0"/>
                        </a:rPr>
                        <a:t>区</a:t>
                      </a:r>
                      <a:r>
                        <a:rPr lang="en-US" sz="1800" b="1" kern="100" dirty="0" smtClean="0">
                          <a:effectLst/>
                          <a:latin typeface="Times New Roman" panose="02020603050405020304" pitchFamily="18" charset="0"/>
                          <a:ea typeface="华文新魏" panose="02010800040101010101" pitchFamily="2" charset="-122"/>
                          <a:cs typeface="Times New Roman" panose="02020603050405020304" pitchFamily="18" charset="0"/>
                        </a:rPr>
                        <a:t>(</a:t>
                      </a:r>
                      <a:r>
                        <a:rPr lang="zh-CN" sz="1800" b="1" kern="100" dirty="0" smtClean="0">
                          <a:effectLst/>
                          <a:latin typeface="Times New Roman" panose="02020603050405020304" pitchFamily="18" charset="0"/>
                          <a:ea typeface="华文新魏" panose="02010800040101010101" pitchFamily="2" charset="-122"/>
                          <a:cs typeface="Times New Roman" panose="02020603050405020304" pitchFamily="18" charset="0"/>
                        </a:rPr>
                        <a:t>第二周期</a:t>
                      </a:r>
                      <a:r>
                        <a:rPr lang="en-US" sz="1800" b="1" kern="100" dirty="0" smtClean="0">
                          <a:effectLst/>
                          <a:latin typeface="Times New Roman" panose="02020603050405020304" pitchFamily="18" charset="0"/>
                          <a:ea typeface="华文新魏" panose="02010800040101010101" pitchFamily="2" charset="-122"/>
                          <a:cs typeface="Times New Roman" panose="02020603050405020304" pitchFamily="18" charset="0"/>
                        </a:rPr>
                        <a:t>)</a:t>
                      </a:r>
                      <a:endParaRPr lang="zh-CN" sz="1800" b="1" kern="100" dirty="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59960">
                <a:tc>
                  <a:txBody>
                    <a:bodyPr/>
                    <a:lstStyle/>
                    <a:p>
                      <a:pPr algn="ctr">
                        <a:spcAft>
                          <a:spcPts val="0"/>
                        </a:spcAft>
                      </a:pPr>
                      <a:r>
                        <a:rPr lang="en-US" sz="1800" b="1" kern="100" dirty="0">
                          <a:effectLst/>
                          <a:latin typeface="Times New Roman" panose="02020603050405020304" pitchFamily="18" charset="0"/>
                          <a:ea typeface="华文新魏" panose="02010800040101010101" pitchFamily="2" charset="-122"/>
                          <a:cs typeface="Times New Roman" panose="02020603050405020304" pitchFamily="18" charset="0"/>
                        </a:rPr>
                        <a:t>8e</a:t>
                      </a:r>
                      <a:endParaRPr lang="zh-CN" sz="1800" b="1" kern="100" dirty="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b="1" kern="100" dirty="0">
                          <a:effectLst/>
                          <a:latin typeface="Times New Roman" panose="02020603050405020304" pitchFamily="18" charset="0"/>
                          <a:ea typeface="华文新魏" panose="02010800040101010101" pitchFamily="2" charset="-122"/>
                          <a:cs typeface="Times New Roman" panose="02020603050405020304" pitchFamily="18" charset="0"/>
                        </a:rPr>
                        <a:t>s</a:t>
                      </a:r>
                      <a:r>
                        <a:rPr lang="zh-CN" sz="1800" b="1" kern="100" dirty="0">
                          <a:effectLst/>
                          <a:latin typeface="Times New Roman" panose="02020603050405020304" pitchFamily="18" charset="0"/>
                          <a:ea typeface="华文新魏" panose="02010800040101010101" pitchFamily="2" charset="-122"/>
                          <a:cs typeface="Times New Roman" panose="02020603050405020304" pitchFamily="18" charset="0"/>
                        </a:rPr>
                        <a:t>区，</a:t>
                      </a:r>
                      <a:r>
                        <a:rPr lang="en-US" sz="1800" b="1" kern="100" dirty="0">
                          <a:effectLst/>
                          <a:latin typeface="Times New Roman" panose="02020603050405020304" pitchFamily="18" charset="0"/>
                          <a:ea typeface="华文新魏" panose="02010800040101010101" pitchFamily="2" charset="-122"/>
                          <a:cs typeface="Times New Roman" panose="02020603050405020304" pitchFamily="18" charset="0"/>
                        </a:rPr>
                        <a:t>p</a:t>
                      </a:r>
                      <a:r>
                        <a:rPr lang="zh-CN" sz="1800" b="1" kern="100" dirty="0" smtClean="0">
                          <a:effectLst/>
                          <a:latin typeface="Times New Roman" panose="02020603050405020304" pitchFamily="18" charset="0"/>
                          <a:ea typeface="华文新魏" panose="02010800040101010101" pitchFamily="2" charset="-122"/>
                          <a:cs typeface="Times New Roman" panose="02020603050405020304" pitchFamily="18" charset="0"/>
                        </a:rPr>
                        <a:t>区</a:t>
                      </a:r>
                      <a:r>
                        <a:rPr lang="en-US" sz="1800" b="1" kern="100" dirty="0" smtClean="0">
                          <a:effectLst/>
                          <a:latin typeface="Times New Roman" panose="02020603050405020304" pitchFamily="18" charset="0"/>
                          <a:ea typeface="华文新魏" panose="02010800040101010101" pitchFamily="2" charset="-122"/>
                          <a:cs typeface="Times New Roman" panose="02020603050405020304" pitchFamily="18" charset="0"/>
                        </a:rPr>
                        <a:t>(</a:t>
                      </a:r>
                      <a:r>
                        <a:rPr lang="zh-CN" sz="1800" b="1" kern="100" dirty="0" smtClean="0">
                          <a:effectLst/>
                          <a:latin typeface="Times New Roman" panose="02020603050405020304" pitchFamily="18" charset="0"/>
                          <a:ea typeface="华文新魏" panose="02010800040101010101" pitchFamily="2" charset="-122"/>
                          <a:cs typeface="Times New Roman" panose="02020603050405020304" pitchFamily="18" charset="0"/>
                        </a:rPr>
                        <a:t>第三周期</a:t>
                      </a:r>
                      <a:r>
                        <a:rPr lang="en-US" sz="1800" b="1" kern="100" dirty="0" smtClean="0">
                          <a:effectLst/>
                          <a:latin typeface="Times New Roman" panose="02020603050405020304" pitchFamily="18" charset="0"/>
                          <a:ea typeface="华文新魏" panose="02010800040101010101" pitchFamily="2" charset="-122"/>
                          <a:cs typeface="Times New Roman" panose="02020603050405020304" pitchFamily="18" charset="0"/>
                        </a:rPr>
                        <a:t>), </a:t>
                      </a:r>
                      <a:r>
                        <a:rPr lang="en-US" sz="1800" b="1" kern="100" dirty="0">
                          <a:effectLst/>
                          <a:latin typeface="Times New Roman" panose="02020603050405020304" pitchFamily="18" charset="0"/>
                          <a:ea typeface="华文新魏" panose="02010800040101010101" pitchFamily="2" charset="-122"/>
                          <a:cs typeface="Times New Roman" panose="02020603050405020304" pitchFamily="18" charset="0"/>
                        </a:rPr>
                        <a:t>d</a:t>
                      </a:r>
                      <a:r>
                        <a:rPr lang="zh-CN" sz="1800" b="1" kern="100" dirty="0" smtClean="0">
                          <a:effectLst/>
                          <a:latin typeface="Times New Roman" panose="02020603050405020304" pitchFamily="18" charset="0"/>
                          <a:ea typeface="华文新魏" panose="02010800040101010101" pitchFamily="2" charset="-122"/>
                          <a:cs typeface="Times New Roman" panose="02020603050405020304" pitchFamily="18" charset="0"/>
                        </a:rPr>
                        <a:t>区</a:t>
                      </a:r>
                      <a:r>
                        <a:rPr lang="en-US" sz="1800" b="1" kern="100" dirty="0" smtClean="0">
                          <a:effectLst/>
                          <a:latin typeface="Times New Roman" panose="02020603050405020304" pitchFamily="18" charset="0"/>
                          <a:ea typeface="华文新魏" panose="02010800040101010101" pitchFamily="2" charset="-122"/>
                          <a:cs typeface="Times New Roman" panose="02020603050405020304" pitchFamily="18" charset="0"/>
                        </a:rPr>
                        <a:t>(</a:t>
                      </a:r>
                      <a:r>
                        <a:rPr lang="zh-CN" sz="1800" b="1" kern="100" dirty="0" smtClean="0">
                          <a:effectLst/>
                          <a:latin typeface="Times New Roman" panose="02020603050405020304" pitchFamily="18" charset="0"/>
                          <a:ea typeface="华文新魏" panose="02010800040101010101" pitchFamily="2" charset="-122"/>
                          <a:cs typeface="Times New Roman" panose="02020603050405020304" pitchFamily="18" charset="0"/>
                        </a:rPr>
                        <a:t>Ⅲ</a:t>
                      </a:r>
                      <a:r>
                        <a:rPr lang="en-US" sz="1800" b="1" kern="100" dirty="0">
                          <a:effectLst/>
                          <a:latin typeface="Times New Roman" panose="02020603050405020304" pitchFamily="18" charset="0"/>
                          <a:ea typeface="华文新魏" panose="02010800040101010101" pitchFamily="2" charset="-122"/>
                          <a:cs typeface="Times New Roman" panose="02020603050405020304" pitchFamily="18" charset="0"/>
                        </a:rPr>
                        <a:t>B</a:t>
                      </a:r>
                      <a:r>
                        <a:rPr lang="zh-CN" sz="1800" b="1" kern="100" dirty="0">
                          <a:effectLst/>
                          <a:latin typeface="Times New Roman" panose="02020603050405020304" pitchFamily="18" charset="0"/>
                          <a:ea typeface="华文新魏" panose="02010800040101010101" pitchFamily="2" charset="-122"/>
                          <a:cs typeface="Times New Roman" panose="02020603050405020304" pitchFamily="18" charset="0"/>
                        </a:rPr>
                        <a:t>族、Ⅳ</a:t>
                      </a:r>
                      <a:r>
                        <a:rPr lang="en-US" sz="1800" b="1" kern="100" dirty="0">
                          <a:effectLst/>
                          <a:latin typeface="Times New Roman" panose="02020603050405020304" pitchFamily="18" charset="0"/>
                          <a:ea typeface="华文新魏" panose="02010800040101010101" pitchFamily="2" charset="-122"/>
                          <a:cs typeface="Times New Roman" panose="02020603050405020304" pitchFamily="18" charset="0"/>
                        </a:rPr>
                        <a:t>B</a:t>
                      </a:r>
                      <a:r>
                        <a:rPr lang="zh-CN" sz="1800" b="1" kern="100" dirty="0" smtClean="0">
                          <a:effectLst/>
                          <a:latin typeface="Times New Roman" panose="02020603050405020304" pitchFamily="18" charset="0"/>
                          <a:ea typeface="华文新魏" panose="02010800040101010101" pitchFamily="2" charset="-122"/>
                          <a:cs typeface="Times New Roman" panose="02020603050405020304" pitchFamily="18" charset="0"/>
                        </a:rPr>
                        <a:t>族</a:t>
                      </a:r>
                      <a:r>
                        <a:rPr lang="en-US" sz="1800" b="1" kern="100" dirty="0" smtClean="0">
                          <a:effectLst/>
                          <a:latin typeface="Times New Roman" panose="02020603050405020304" pitchFamily="18" charset="0"/>
                          <a:ea typeface="华文新魏" panose="02010800040101010101" pitchFamily="2" charset="-122"/>
                          <a:cs typeface="Times New Roman" panose="02020603050405020304" pitchFamily="18" charset="0"/>
                        </a:rPr>
                        <a:t>)</a:t>
                      </a:r>
                      <a:endParaRPr lang="zh-CN" sz="1800" b="1" kern="100" dirty="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719918">
                <a:tc>
                  <a:txBody>
                    <a:bodyPr/>
                    <a:lstStyle/>
                    <a:p>
                      <a:pPr algn="ctr">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9~17e</a:t>
                      </a:r>
                      <a:endParaRPr lang="zh-CN" sz="18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b="1" kern="100" dirty="0">
                          <a:effectLst/>
                          <a:latin typeface="Times New Roman" panose="02020603050405020304" pitchFamily="18" charset="0"/>
                          <a:ea typeface="华文新魏" panose="02010800040101010101" pitchFamily="2" charset="-122"/>
                          <a:cs typeface="Times New Roman" panose="02020603050405020304" pitchFamily="18" charset="0"/>
                        </a:rPr>
                        <a:t>d</a:t>
                      </a:r>
                      <a:r>
                        <a:rPr lang="zh-CN" sz="1800" b="1" kern="100" dirty="0">
                          <a:effectLst/>
                          <a:latin typeface="Times New Roman" panose="02020603050405020304" pitchFamily="18" charset="0"/>
                          <a:ea typeface="华文新魏" panose="02010800040101010101" pitchFamily="2" charset="-122"/>
                          <a:cs typeface="Times New Roman" panose="02020603050405020304" pitchFamily="18" charset="0"/>
                        </a:rPr>
                        <a:t>区非族数氧化态离子，</a:t>
                      </a:r>
                      <a:r>
                        <a:rPr lang="en-US" sz="1800" b="1" kern="100" dirty="0">
                          <a:effectLst/>
                          <a:latin typeface="Times New Roman" panose="02020603050405020304" pitchFamily="18" charset="0"/>
                          <a:ea typeface="华文新魏" panose="02010800040101010101" pitchFamily="2" charset="-122"/>
                          <a:cs typeface="Times New Roman" panose="02020603050405020304" pitchFamily="18" charset="0"/>
                        </a:rPr>
                        <a:t>ds</a:t>
                      </a:r>
                      <a:r>
                        <a:rPr lang="zh-CN" sz="1800" b="1" kern="100" dirty="0">
                          <a:effectLst/>
                          <a:latin typeface="Times New Roman" panose="02020603050405020304" pitchFamily="18" charset="0"/>
                          <a:ea typeface="华文新魏" panose="02010800040101010101" pitchFamily="2" charset="-122"/>
                          <a:cs typeface="Times New Roman" panose="02020603050405020304" pitchFamily="18" charset="0"/>
                        </a:rPr>
                        <a:t>区Ⅰ</a:t>
                      </a:r>
                      <a:r>
                        <a:rPr lang="en-US" sz="1800" b="1" kern="100" dirty="0">
                          <a:effectLst/>
                          <a:latin typeface="Times New Roman" panose="02020603050405020304" pitchFamily="18" charset="0"/>
                          <a:ea typeface="华文新魏" panose="02010800040101010101" pitchFamily="2" charset="-122"/>
                          <a:cs typeface="Times New Roman" panose="02020603050405020304" pitchFamily="18" charset="0"/>
                        </a:rPr>
                        <a:t>B</a:t>
                      </a:r>
                      <a:r>
                        <a:rPr lang="zh-CN" sz="1800" b="1" kern="100" dirty="0">
                          <a:effectLst/>
                          <a:latin typeface="Times New Roman" panose="02020603050405020304" pitchFamily="18" charset="0"/>
                          <a:ea typeface="华文新魏" panose="02010800040101010101" pitchFamily="2" charset="-122"/>
                          <a:cs typeface="Times New Roman" panose="02020603050405020304" pitchFamily="18" charset="0"/>
                        </a:rPr>
                        <a:t>族非族数氧化态离子</a:t>
                      </a: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59960">
                <a:tc>
                  <a:txBody>
                    <a:bodyPr/>
                    <a:lstStyle/>
                    <a:p>
                      <a:pPr algn="ctr">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18e</a:t>
                      </a:r>
                      <a:endParaRPr lang="zh-CN" sz="18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b="1" kern="100" dirty="0">
                          <a:effectLst/>
                          <a:latin typeface="Times New Roman" panose="02020603050405020304" pitchFamily="18" charset="0"/>
                          <a:ea typeface="华文新魏" panose="02010800040101010101" pitchFamily="2" charset="-122"/>
                          <a:cs typeface="Times New Roman" panose="02020603050405020304" pitchFamily="18" charset="0"/>
                        </a:rPr>
                        <a:t>ds</a:t>
                      </a:r>
                      <a:r>
                        <a:rPr lang="zh-CN" sz="1800" b="1" kern="100" dirty="0">
                          <a:effectLst/>
                          <a:latin typeface="Times New Roman" panose="02020603050405020304" pitchFamily="18" charset="0"/>
                          <a:ea typeface="华文新魏" panose="02010800040101010101" pitchFamily="2" charset="-122"/>
                          <a:cs typeface="Times New Roman" panose="02020603050405020304" pitchFamily="18" charset="0"/>
                        </a:rPr>
                        <a:t>区族数氧化态离子，</a:t>
                      </a:r>
                      <a:r>
                        <a:rPr lang="en-US" sz="1800" b="1" kern="100" dirty="0">
                          <a:effectLst/>
                          <a:latin typeface="Times New Roman" panose="02020603050405020304" pitchFamily="18" charset="0"/>
                          <a:ea typeface="华文新魏" panose="02010800040101010101" pitchFamily="2" charset="-122"/>
                          <a:cs typeface="Times New Roman" panose="02020603050405020304" pitchFamily="18" charset="0"/>
                        </a:rPr>
                        <a:t>p</a:t>
                      </a:r>
                      <a:r>
                        <a:rPr lang="zh-CN" sz="1800" b="1" kern="100" dirty="0">
                          <a:effectLst/>
                          <a:latin typeface="Times New Roman" panose="02020603050405020304" pitchFamily="18" charset="0"/>
                          <a:ea typeface="华文新魏" panose="02010800040101010101" pitchFamily="2" charset="-122"/>
                          <a:cs typeface="Times New Roman" panose="02020603050405020304" pitchFamily="18" charset="0"/>
                        </a:rPr>
                        <a:t>区族数氧化态离子，</a:t>
                      </a: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59960">
                <a:tc>
                  <a:txBody>
                    <a:bodyPr/>
                    <a:lstStyle/>
                    <a:p>
                      <a:pPr algn="ctr">
                        <a:spcAft>
                          <a:spcPts val="0"/>
                        </a:spcAft>
                      </a:pPr>
                      <a:r>
                        <a:rPr lang="en-US" sz="1800" b="1" kern="100" dirty="0" smtClean="0">
                          <a:effectLst/>
                          <a:latin typeface="Times New Roman" panose="02020603050405020304" pitchFamily="18" charset="0"/>
                          <a:ea typeface="华文新魏" panose="02010800040101010101" pitchFamily="2" charset="-122"/>
                          <a:cs typeface="Times New Roman" panose="02020603050405020304" pitchFamily="18" charset="0"/>
                        </a:rPr>
                        <a:t>(18+2)e</a:t>
                      </a:r>
                      <a:endParaRPr lang="zh-CN" sz="1800" b="1" kern="100" dirty="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b="1" kern="100" dirty="0">
                          <a:effectLst/>
                          <a:latin typeface="Times New Roman" panose="02020603050405020304" pitchFamily="18" charset="0"/>
                          <a:ea typeface="华文新魏" panose="02010800040101010101" pitchFamily="2" charset="-122"/>
                          <a:cs typeface="Times New Roman" panose="02020603050405020304" pitchFamily="18" charset="0"/>
                        </a:rPr>
                        <a:t>p</a:t>
                      </a:r>
                      <a:r>
                        <a:rPr lang="zh-CN" sz="1800" b="1" kern="100" dirty="0" smtClean="0">
                          <a:effectLst/>
                          <a:latin typeface="Times New Roman" panose="02020603050405020304" pitchFamily="18" charset="0"/>
                          <a:ea typeface="华文新魏" panose="02010800040101010101" pitchFamily="2" charset="-122"/>
                          <a:cs typeface="Times New Roman" panose="02020603050405020304" pitchFamily="18" charset="0"/>
                        </a:rPr>
                        <a:t>区</a:t>
                      </a:r>
                      <a:r>
                        <a:rPr lang="en-US" sz="1800" b="1" kern="100" dirty="0" smtClean="0">
                          <a:effectLst/>
                          <a:latin typeface="Times New Roman" panose="02020603050405020304" pitchFamily="18" charset="0"/>
                          <a:ea typeface="华文新魏" panose="02010800040101010101" pitchFamily="2" charset="-122"/>
                          <a:cs typeface="Times New Roman" panose="02020603050405020304" pitchFamily="18" charset="0"/>
                        </a:rPr>
                        <a:t>(</a:t>
                      </a:r>
                      <a:r>
                        <a:rPr lang="zh-CN" sz="1800" b="1" kern="100" dirty="0" smtClean="0">
                          <a:effectLst/>
                          <a:latin typeface="Times New Roman" panose="02020603050405020304" pitchFamily="18" charset="0"/>
                          <a:ea typeface="华文新魏" panose="02010800040101010101" pitchFamily="2" charset="-122"/>
                          <a:cs typeface="Times New Roman" panose="02020603050405020304" pitchFamily="18" charset="0"/>
                        </a:rPr>
                        <a:t>族</a:t>
                      </a:r>
                      <a:r>
                        <a:rPr lang="zh-CN" sz="1800" b="1" kern="100" dirty="0">
                          <a:effectLst/>
                          <a:latin typeface="Times New Roman" panose="02020603050405020304" pitchFamily="18" charset="0"/>
                          <a:ea typeface="华文新魏" panose="02010800040101010101" pitchFamily="2" charset="-122"/>
                          <a:cs typeface="Times New Roman" panose="02020603050405020304" pitchFamily="18" charset="0"/>
                        </a:rPr>
                        <a:t>数</a:t>
                      </a:r>
                      <a:r>
                        <a:rPr lang="en-US" sz="1800" b="1" kern="100" dirty="0">
                          <a:effectLst/>
                          <a:latin typeface="Times New Roman" panose="02020603050405020304" pitchFamily="18" charset="0"/>
                          <a:ea typeface="华文新魏" panose="02010800040101010101" pitchFamily="2" charset="-122"/>
                          <a:cs typeface="Times New Roman" panose="02020603050405020304" pitchFamily="18" charset="0"/>
                        </a:rPr>
                        <a:t>-</a:t>
                      </a:r>
                      <a:r>
                        <a:rPr lang="en-US" sz="1800" b="1" kern="100" dirty="0" smtClean="0">
                          <a:effectLst/>
                          <a:latin typeface="Times New Roman" panose="02020603050405020304" pitchFamily="18" charset="0"/>
                          <a:ea typeface="华文新魏" panose="02010800040101010101" pitchFamily="2" charset="-122"/>
                          <a:cs typeface="Times New Roman" panose="02020603050405020304" pitchFamily="18" charset="0"/>
                        </a:rPr>
                        <a:t>2)</a:t>
                      </a:r>
                      <a:r>
                        <a:rPr lang="zh-CN" sz="1800" b="1" kern="100" dirty="0" smtClean="0">
                          <a:effectLst/>
                          <a:latin typeface="Times New Roman" panose="02020603050405020304" pitchFamily="18" charset="0"/>
                          <a:ea typeface="华文新魏" panose="02010800040101010101" pitchFamily="2" charset="-122"/>
                          <a:cs typeface="Times New Roman" panose="02020603050405020304" pitchFamily="18" charset="0"/>
                        </a:rPr>
                        <a:t>氧</a:t>
                      </a:r>
                      <a:r>
                        <a:rPr lang="zh-CN" sz="1800" b="1" kern="100" dirty="0">
                          <a:effectLst/>
                          <a:latin typeface="Times New Roman" panose="02020603050405020304" pitchFamily="18" charset="0"/>
                          <a:ea typeface="华文新魏" panose="02010800040101010101" pitchFamily="2" charset="-122"/>
                          <a:cs typeface="Times New Roman" panose="02020603050405020304" pitchFamily="18" charset="0"/>
                        </a:rPr>
                        <a:t>化态离子</a:t>
                      </a: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blinds(horizontal)">
                                      <p:cBhvr>
                                        <p:cTn id="17" dur="500"/>
                                        <p:tgtEl>
                                          <p:spTgt spid="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21"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barn(inVertical)">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P spid="2" grpId="0"/>
      <p:bldP spid="9"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a:spLocks noChangeArrowheads="1"/>
          </p:cNvSpPr>
          <p:nvPr/>
        </p:nvSpPr>
        <p:spPr bwMode="auto">
          <a:xfrm>
            <a:off x="4608513" y="3003550"/>
            <a:ext cx="6624637" cy="477838"/>
          </a:xfrm>
          <a:prstGeom prst="rect">
            <a:avLst/>
          </a:prstGeom>
          <a:noFill/>
          <a:ln w="9525">
            <a:noFill/>
            <a:miter lim="800000"/>
            <a:headEnd/>
            <a:tailEnd/>
          </a:ln>
        </p:spPr>
        <p:txBody>
          <a:bodyPr>
            <a:spAutoFit/>
          </a:bodyPr>
          <a:lstStyle/>
          <a:p>
            <a:r>
              <a:rPr lang="en-US" altLang="zh-CN" sz="2500" b="1">
                <a:ea typeface="华文新魏" pitchFamily="2" charset="-122"/>
                <a:cs typeface="Times New Roman" pitchFamily="18" charset="0"/>
              </a:rPr>
              <a:t>                     65pm</a:t>
            </a:r>
            <a:r>
              <a:rPr lang="zh-CN" altLang="en-US" sz="2500" b="1">
                <a:ea typeface="华文新魏" pitchFamily="2" charset="-122"/>
                <a:cs typeface="Times New Roman" pitchFamily="18" charset="0"/>
              </a:rPr>
              <a:t>，</a:t>
            </a:r>
            <a:r>
              <a:rPr lang="en-US" altLang="zh-CN" sz="2500" b="1">
                <a:ea typeface="华文新魏" pitchFamily="2" charset="-122"/>
                <a:cs typeface="Times New Roman" pitchFamily="18" charset="0"/>
              </a:rPr>
              <a:t>181pm</a:t>
            </a:r>
            <a:r>
              <a:rPr lang="zh-CN" altLang="en-US" sz="2500" b="1">
                <a:ea typeface="华文新魏" pitchFamily="2" charset="-122"/>
                <a:cs typeface="Times New Roman" pitchFamily="18" charset="0"/>
              </a:rPr>
              <a:t>，</a:t>
            </a:r>
            <a:r>
              <a:rPr lang="en-US" altLang="zh-CN" sz="2500" b="1">
                <a:ea typeface="华文新魏" pitchFamily="2" charset="-122"/>
                <a:cs typeface="Times New Roman" pitchFamily="18" charset="0"/>
              </a:rPr>
              <a:t>133pm</a:t>
            </a:r>
            <a:r>
              <a:rPr lang="zh-CN" altLang="en-US" sz="2500" b="1">
                <a:ea typeface="华文新魏" pitchFamily="2" charset="-122"/>
                <a:cs typeface="Times New Roman" pitchFamily="18" charset="0"/>
              </a:rPr>
              <a:t>，</a:t>
            </a:r>
            <a:r>
              <a:rPr lang="en-US" altLang="zh-CN" sz="2500" b="1">
                <a:ea typeface="华文新魏" pitchFamily="2" charset="-122"/>
                <a:cs typeface="Times New Roman" pitchFamily="18" charset="0"/>
              </a:rPr>
              <a:t>216pm </a:t>
            </a:r>
            <a:endParaRPr lang="zh-CN" altLang="zh-CN" sz="2500" b="1">
              <a:ea typeface="华文新魏" pitchFamily="2" charset="-122"/>
              <a:cs typeface="Times New Roman" pitchFamily="18" charset="0"/>
            </a:endParaRPr>
          </a:p>
        </p:txBody>
      </p:sp>
      <p:sp>
        <p:nvSpPr>
          <p:cNvPr id="4" name="Rectangle 40"/>
          <p:cNvSpPr>
            <a:spLocks noChangeArrowheads="1"/>
          </p:cNvSpPr>
          <p:nvPr/>
        </p:nvSpPr>
        <p:spPr bwMode="auto">
          <a:xfrm>
            <a:off x="73025" y="338138"/>
            <a:ext cx="4103688" cy="2632075"/>
          </a:xfrm>
          <a:prstGeom prst="rect">
            <a:avLst/>
          </a:prstGeom>
          <a:noFill/>
          <a:ln w="9525">
            <a:noFill/>
            <a:miter lim="800000"/>
            <a:headEnd/>
            <a:tailEnd/>
          </a:ln>
          <a:effectLst/>
        </p:spPr>
        <p:txBody>
          <a:bodyPr>
            <a:spAutoFit/>
          </a:bodyPr>
          <a:lstStyle/>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已知</a:t>
            </a:r>
            <a:r>
              <a:rPr lang="en-US" altLang="zh-CN" sz="2500" b="1">
                <a:ea typeface="华文新魏" pitchFamily="2" charset="-122"/>
                <a:cs typeface="Times New Roman" pitchFamily="18" charset="0"/>
              </a:rPr>
              <a:t>O</a:t>
            </a:r>
            <a:r>
              <a:rPr lang="en-US" altLang="zh-CN" sz="2500" b="1" baseline="30000">
                <a:ea typeface="华文新魏" pitchFamily="2" charset="-122"/>
                <a:cs typeface="Times New Roman" pitchFamily="18" charset="0"/>
              </a:rPr>
              <a:t>2-</a:t>
            </a:r>
            <a:r>
              <a:rPr lang="zh-CN" altLang="zh-CN" sz="2500" b="1">
                <a:ea typeface="华文新魏" pitchFamily="2" charset="-122"/>
                <a:cs typeface="Times New Roman" pitchFamily="18" charset="0"/>
              </a:rPr>
              <a:t>的离子半径为</a:t>
            </a:r>
            <a:r>
              <a:rPr lang="en-US" altLang="zh-CN" sz="2500" b="1">
                <a:ea typeface="华文新魏" pitchFamily="2" charset="-122"/>
                <a:cs typeface="Times New Roman" pitchFamily="18" charset="0"/>
              </a:rPr>
              <a:t>140pm, </a:t>
            </a:r>
            <a:r>
              <a:rPr lang="zh-CN" altLang="zh-CN" sz="2500" b="1">
                <a:ea typeface="华文新魏" pitchFamily="2" charset="-122"/>
                <a:cs typeface="Times New Roman" pitchFamily="18" charset="0"/>
              </a:rPr>
              <a:t>试根据下列化合物的核间距数据</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推算出</a:t>
            </a:r>
            <a:r>
              <a:rPr lang="en-US" altLang="zh-CN" sz="2500" b="1">
                <a:ea typeface="华文新魏" pitchFamily="2" charset="-122"/>
                <a:cs typeface="Times New Roman" pitchFamily="18" charset="0"/>
              </a:rPr>
              <a:t>Mg</a:t>
            </a:r>
            <a:r>
              <a:rPr lang="en-US" altLang="zh-CN" sz="2500" b="1" baseline="30000">
                <a:ea typeface="华文新魏" pitchFamily="2" charset="-122"/>
                <a:cs typeface="Times New Roman" pitchFamily="18" charset="0"/>
              </a:rPr>
              <a:t>2+</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Cl</a:t>
            </a:r>
            <a:r>
              <a:rPr lang="en-US" altLang="zh-CN" sz="2500" b="1" baseline="30000">
                <a:ea typeface="华文新魏" pitchFamily="2" charset="-122"/>
                <a:cs typeface="Times New Roman" pitchFamily="18" charset="0"/>
              </a:rPr>
              <a:t>-</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K</a:t>
            </a:r>
            <a:r>
              <a:rPr lang="en-US" altLang="zh-CN" sz="2500" b="1" baseline="30000">
                <a:ea typeface="华文新魏" pitchFamily="2" charset="-122"/>
                <a:cs typeface="Times New Roman" pitchFamily="18" charset="0"/>
              </a:rPr>
              <a:t>+</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I</a:t>
            </a:r>
            <a:r>
              <a:rPr lang="en-US" altLang="zh-CN" sz="2500" b="1" baseline="30000">
                <a:ea typeface="华文新魏" pitchFamily="2" charset="-122"/>
                <a:cs typeface="Times New Roman" pitchFamily="18" charset="0"/>
              </a:rPr>
              <a:t>-</a:t>
            </a:r>
            <a:r>
              <a:rPr lang="zh-CN" altLang="zh-CN" sz="2500" b="1">
                <a:ea typeface="华文新魏" pitchFamily="2" charset="-122"/>
                <a:cs typeface="Times New Roman" pitchFamily="18" charset="0"/>
              </a:rPr>
              <a:t>的离子半径</a:t>
            </a:r>
            <a:r>
              <a:rPr lang="en-US" altLang="zh-CN" sz="2500" b="1">
                <a:ea typeface="华文新魏" pitchFamily="2" charset="-122"/>
                <a:cs typeface="Times New Roman" pitchFamily="18" charset="0"/>
              </a:rPr>
              <a:t>.</a:t>
            </a:r>
          </a:p>
          <a:p>
            <a:pPr eaLnBrk="0" hangingPunct="0"/>
            <a:r>
              <a:rPr lang="zh-CN" altLang="zh-CN" sz="2000" b="1">
                <a:ea typeface="华文新魏" pitchFamily="2" charset="-122"/>
                <a:cs typeface="Times New Roman" pitchFamily="18" charset="0"/>
              </a:rPr>
              <a:t>化合物</a:t>
            </a:r>
            <a:r>
              <a:rPr lang="en-US" altLang="zh-CN" sz="2000" b="1">
                <a:ea typeface="华文新魏" pitchFamily="2" charset="-122"/>
                <a:cs typeface="Times New Roman" pitchFamily="18" charset="0"/>
              </a:rPr>
              <a:t>         MgO   MgCl</a:t>
            </a:r>
            <a:r>
              <a:rPr lang="en-US" altLang="zh-CN" sz="2000" b="1" baseline="-25000">
                <a:ea typeface="华文新魏" pitchFamily="2" charset="-122"/>
                <a:cs typeface="Times New Roman" pitchFamily="18" charset="0"/>
              </a:rPr>
              <a:t>2</a:t>
            </a:r>
            <a:r>
              <a:rPr lang="en-US" altLang="zh-CN" sz="2000" b="1">
                <a:ea typeface="华文新魏" pitchFamily="2" charset="-122"/>
                <a:cs typeface="Times New Roman" pitchFamily="18" charset="0"/>
              </a:rPr>
              <a:t>  KCl    KI</a:t>
            </a:r>
          </a:p>
          <a:p>
            <a:pPr eaLnBrk="0" hangingPunct="0"/>
            <a:r>
              <a:rPr lang="zh-CN" altLang="zh-CN" sz="2000" b="1">
                <a:ea typeface="华文新魏" pitchFamily="2" charset="-122"/>
                <a:cs typeface="Times New Roman" pitchFamily="18" charset="0"/>
              </a:rPr>
              <a:t>核间距</a:t>
            </a:r>
            <a:r>
              <a:rPr lang="en-US" altLang="zh-CN" sz="2000" b="1">
                <a:ea typeface="华文新魏" pitchFamily="2" charset="-122"/>
                <a:cs typeface="Times New Roman" pitchFamily="18" charset="0"/>
              </a:rPr>
              <a:t>/pm    205      246     314   349</a:t>
            </a:r>
            <a:endParaRPr lang="zh-CN" altLang="zh-CN" sz="2000" b="1">
              <a:ea typeface="华文新魏" pitchFamily="2" charset="-122"/>
              <a:cs typeface="Times New Roman" pitchFamily="18" charset="0"/>
            </a:endParaRPr>
          </a:p>
        </p:txBody>
      </p:sp>
      <p:sp>
        <p:nvSpPr>
          <p:cNvPr id="24580" name="Text Box 39"/>
          <p:cNvSpPr txBox="1">
            <a:spLocks noChangeArrowheads="1"/>
          </p:cNvSpPr>
          <p:nvPr/>
        </p:nvSpPr>
        <p:spPr bwMode="auto">
          <a:xfrm>
            <a:off x="112713" y="341313"/>
            <a:ext cx="1836737" cy="477837"/>
          </a:xfrm>
          <a:prstGeom prst="rect">
            <a:avLst/>
          </a:prstGeom>
          <a:noFill/>
          <a:ln w="9525" algn="ctr">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习题</a:t>
            </a:r>
            <a:r>
              <a:rPr lang="en-US" altLang="zh-CN" sz="2500" b="1">
                <a:solidFill>
                  <a:srgbClr val="FFFF00"/>
                </a:solidFill>
                <a:ea typeface="华文新魏" pitchFamily="2" charset="-122"/>
                <a:cs typeface="Times New Roman" pitchFamily="18" charset="0"/>
              </a:rPr>
              <a:t>8-18</a:t>
            </a:r>
            <a:r>
              <a:rPr lang="zh-CN" altLang="en-US" sz="2500" b="1">
                <a:solidFill>
                  <a:srgbClr val="FFFF00"/>
                </a:solidFill>
                <a:ea typeface="华文新魏" pitchFamily="2" charset="-122"/>
                <a:cs typeface="Times New Roman" pitchFamily="18" charset="0"/>
              </a:rPr>
              <a:t>：</a:t>
            </a:r>
          </a:p>
        </p:txBody>
      </p:sp>
      <p:sp>
        <p:nvSpPr>
          <p:cNvPr id="5" name="Rectangle 38"/>
          <p:cNvSpPr>
            <a:spLocks noChangeArrowheads="1"/>
          </p:cNvSpPr>
          <p:nvPr/>
        </p:nvSpPr>
        <p:spPr bwMode="auto">
          <a:xfrm>
            <a:off x="4608513" y="334963"/>
            <a:ext cx="6627812" cy="2016125"/>
          </a:xfrm>
          <a:prstGeom prst="rect">
            <a:avLst/>
          </a:prstGeom>
          <a:noFill/>
          <a:ln w="9525">
            <a:noFill/>
            <a:miter lim="800000"/>
            <a:headEnd/>
            <a:tailEnd/>
          </a:ln>
          <a:effectLst/>
        </p:spPr>
        <p:txBody>
          <a:bodyPr>
            <a:spAutoFit/>
          </a:bodyPr>
          <a:lstStyle/>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离子和原子一样，没有明确的电子云界面，真实半径的大小无法确定</a:t>
            </a:r>
            <a:r>
              <a:rPr lang="en-US" altLang="zh-CN" sz="2500" b="1">
                <a:ea typeface="华文新魏" pitchFamily="2" charset="-122"/>
                <a:cs typeface="Times New Roman" pitchFamily="18" charset="0"/>
              </a:rPr>
              <a:t>.</a:t>
            </a:r>
            <a:r>
              <a:rPr lang="zh-CN" altLang="zh-CN" sz="2500" b="1">
                <a:ea typeface="华文新魏" pitchFamily="2" charset="-122"/>
                <a:cs typeface="Times New Roman" pitchFamily="18" charset="0"/>
              </a:rPr>
              <a:t>通过</a:t>
            </a:r>
            <a:r>
              <a:rPr lang="en-US" altLang="zh-CN" sz="2500" b="1" i="1">
                <a:ea typeface="华文新魏" pitchFamily="2" charset="-122"/>
                <a:cs typeface="Times New Roman" pitchFamily="18" charset="0"/>
              </a:rPr>
              <a:t>X</a:t>
            </a:r>
            <a:r>
              <a:rPr lang="zh-CN" altLang="zh-CN" sz="2500" b="1">
                <a:ea typeface="华文新魏" pitchFamily="2" charset="-122"/>
                <a:cs typeface="Times New Roman" pitchFamily="18" charset="0"/>
              </a:rPr>
              <a:t>射线衍射法可测得正负离子的核间距</a:t>
            </a:r>
            <a:r>
              <a:rPr lang="en-US" altLang="zh-CN" sz="2500" b="1" i="1">
                <a:ea typeface="华文新魏" pitchFamily="2" charset="-122"/>
                <a:cs typeface="Times New Roman" pitchFamily="18" charset="0"/>
              </a:rPr>
              <a:t>d</a:t>
            </a:r>
            <a:r>
              <a:rPr lang="zh-CN" altLang="zh-CN" sz="2500" b="1">
                <a:ea typeface="华文新魏" pitchFamily="2" charset="-122"/>
                <a:cs typeface="Times New Roman" pitchFamily="18" charset="0"/>
              </a:rPr>
              <a:t>，已知其中一种离子的半径时，根据</a:t>
            </a:r>
            <a:r>
              <a:rPr lang="en-US" altLang="zh-CN" sz="2500" b="1" i="1">
                <a:ea typeface="华文新魏" pitchFamily="2" charset="-122"/>
                <a:cs typeface="Times New Roman" pitchFamily="18" charset="0"/>
              </a:rPr>
              <a:t>d</a:t>
            </a:r>
            <a:r>
              <a:rPr lang="en-US" altLang="zh-CN" sz="2500" b="1">
                <a:ea typeface="华文新魏" pitchFamily="2" charset="-122"/>
                <a:cs typeface="Times New Roman" pitchFamily="18" charset="0"/>
              </a:rPr>
              <a:t>= </a:t>
            </a:r>
            <a:r>
              <a:rPr lang="en-US" altLang="zh-CN" sz="2500" b="1" i="1">
                <a:ea typeface="华文新魏" pitchFamily="2" charset="-122"/>
                <a:cs typeface="Times New Roman" pitchFamily="18" charset="0"/>
              </a:rPr>
              <a:t>r</a:t>
            </a:r>
            <a:r>
              <a:rPr lang="en-US" altLang="zh-CN" sz="2500" b="1" baseline="-25000">
                <a:ea typeface="华文新魏" pitchFamily="2" charset="-122"/>
                <a:cs typeface="Times New Roman" pitchFamily="18" charset="0"/>
              </a:rPr>
              <a:t>+ </a:t>
            </a:r>
            <a:r>
              <a:rPr lang="en-US" altLang="zh-CN" sz="2500" b="1">
                <a:ea typeface="华文新魏" pitchFamily="2" charset="-122"/>
                <a:cs typeface="Times New Roman" pitchFamily="18" charset="0"/>
              </a:rPr>
              <a:t>+ </a:t>
            </a:r>
            <a:r>
              <a:rPr lang="en-US" altLang="zh-CN" sz="2500" b="1" i="1">
                <a:ea typeface="华文新魏" pitchFamily="2" charset="-122"/>
                <a:cs typeface="Times New Roman" pitchFamily="18" charset="0"/>
              </a:rPr>
              <a:t>r</a:t>
            </a:r>
            <a:r>
              <a:rPr lang="en-US" altLang="zh-CN" sz="2500" b="1" baseline="-25000">
                <a:ea typeface="华文新魏" pitchFamily="2" charset="-122"/>
                <a:cs typeface="Times New Roman" pitchFamily="18" charset="0"/>
              </a:rPr>
              <a:t>-</a:t>
            </a:r>
            <a:r>
              <a:rPr lang="zh-CN" altLang="zh-CN" sz="2500" b="1">
                <a:ea typeface="华文新魏" pitchFamily="2" charset="-122"/>
                <a:cs typeface="Times New Roman" pitchFamily="18" charset="0"/>
              </a:rPr>
              <a:t>，可求得另一种离子的半径</a:t>
            </a:r>
            <a:r>
              <a:rPr lang="en-US" altLang="zh-CN" sz="2500" b="1">
                <a:ea typeface="华文新魏" pitchFamily="2" charset="-122"/>
                <a:cs typeface="Times New Roman" pitchFamily="18" charset="0"/>
              </a:rPr>
              <a:t>.</a:t>
            </a:r>
            <a:endParaRPr lang="zh-CN" altLang="zh-CN" sz="2500" b="1">
              <a:ea typeface="华文新魏" pitchFamily="2" charset="-122"/>
              <a:cs typeface="Times New Roman" pitchFamily="18" charset="0"/>
            </a:endParaRPr>
          </a:p>
        </p:txBody>
      </p:sp>
      <p:sp>
        <p:nvSpPr>
          <p:cNvPr id="2" name="Rectangle 38"/>
          <p:cNvSpPr>
            <a:spLocks noChangeArrowheads="1"/>
          </p:cNvSpPr>
          <p:nvPr/>
        </p:nvSpPr>
        <p:spPr bwMode="auto">
          <a:xfrm>
            <a:off x="4608513" y="344488"/>
            <a:ext cx="1800225" cy="476250"/>
          </a:xfrm>
          <a:prstGeom prst="rect">
            <a:avLst/>
          </a:prstGeom>
          <a:noFill/>
          <a:ln w="9525">
            <a:noFill/>
            <a:miter lim="800000"/>
            <a:headEnd/>
            <a:tailEnd/>
          </a:ln>
          <a:effectLst/>
        </p:spPr>
        <p:txBody>
          <a:bodyPr>
            <a:spAutoFit/>
          </a:bodyPr>
          <a:lstStyle/>
          <a:p>
            <a:pPr marL="342900" indent="-342900" eaLnBrk="0" hangingPunct="0"/>
            <a:r>
              <a:rPr lang="zh-CN" altLang="zh-CN" sz="2500" b="1">
                <a:solidFill>
                  <a:srgbClr val="FFFF00"/>
                </a:solidFill>
                <a:ea typeface="华文新魏" pitchFamily="2" charset="-122"/>
                <a:cs typeface="Times New Roman" pitchFamily="18" charset="0"/>
              </a:rPr>
              <a:t>解题思路：</a:t>
            </a:r>
          </a:p>
        </p:txBody>
      </p:sp>
      <p:sp>
        <p:nvSpPr>
          <p:cNvPr id="9" name="Rectangle 38"/>
          <p:cNvSpPr>
            <a:spLocks noChangeArrowheads="1"/>
          </p:cNvSpPr>
          <p:nvPr/>
        </p:nvSpPr>
        <p:spPr bwMode="auto">
          <a:xfrm>
            <a:off x="4584700" y="3025775"/>
            <a:ext cx="2735263" cy="473075"/>
          </a:xfrm>
          <a:prstGeom prst="rect">
            <a:avLst/>
          </a:prstGeom>
          <a:noFill/>
          <a:ln w="9525">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参考答案：</a:t>
            </a: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blinds(horizontal)">
                                      <p:cBhvr>
                                        <p:cTn id="17" dur="500"/>
                                        <p:tgtEl>
                                          <p:spTgt spid="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up)">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 grpId="0"/>
      <p:bldP spid="5" grpId="0" build="p"/>
      <p:bldP spid="2" grpId="0"/>
      <p:bldP spid="9"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0"/>
          <p:cNvSpPr>
            <a:spLocks noChangeArrowheads="1"/>
          </p:cNvSpPr>
          <p:nvPr/>
        </p:nvSpPr>
        <p:spPr bwMode="auto">
          <a:xfrm>
            <a:off x="73025" y="338138"/>
            <a:ext cx="4103688" cy="2016125"/>
          </a:xfrm>
          <a:prstGeom prst="rect">
            <a:avLst/>
          </a:prstGeom>
          <a:noFill/>
          <a:ln w="9525">
            <a:noFill/>
            <a:miter lim="800000"/>
            <a:headEnd/>
            <a:tailEnd/>
          </a:ln>
          <a:effectLst/>
        </p:spPr>
        <p:txBody>
          <a:bodyPr>
            <a:spAutoFit/>
          </a:bodyPr>
          <a:lstStyle/>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分别写出下列离子的电子排布式，并指出各属何种电子构型：</a:t>
            </a:r>
          </a:p>
          <a:p>
            <a:pPr eaLnBrk="0" hangingPunct="0"/>
            <a:r>
              <a:rPr lang="en-US" altLang="zh-CN" sz="2500" b="1">
                <a:ea typeface="华文新魏" pitchFamily="2" charset="-122"/>
                <a:cs typeface="Times New Roman" pitchFamily="18" charset="0"/>
              </a:rPr>
              <a:t>   Rb</a:t>
            </a:r>
            <a:r>
              <a:rPr lang="en-US" altLang="zh-CN" sz="2500" b="1" baseline="30000">
                <a:ea typeface="华文新魏" pitchFamily="2" charset="-122"/>
                <a:cs typeface="Times New Roman" pitchFamily="18" charset="0"/>
              </a:rPr>
              <a:t>+</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Mn</a:t>
            </a:r>
            <a:r>
              <a:rPr lang="en-US" altLang="zh-CN" sz="2500" b="1" baseline="30000">
                <a:ea typeface="华文新魏" pitchFamily="2" charset="-122"/>
                <a:cs typeface="Times New Roman" pitchFamily="18" charset="0"/>
              </a:rPr>
              <a:t>2+</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I</a:t>
            </a:r>
            <a:r>
              <a:rPr lang="en-US" altLang="zh-CN" sz="2500" b="1" baseline="30000">
                <a:ea typeface="华文新魏" pitchFamily="2" charset="-122"/>
                <a:cs typeface="Times New Roman" pitchFamily="18" charset="0"/>
              </a:rPr>
              <a:t>-</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Zn</a:t>
            </a:r>
            <a:r>
              <a:rPr lang="en-US" altLang="zh-CN" sz="2500" b="1" baseline="30000">
                <a:ea typeface="华文新魏" pitchFamily="2" charset="-122"/>
                <a:cs typeface="Times New Roman" pitchFamily="18" charset="0"/>
              </a:rPr>
              <a:t>2+</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Bi</a:t>
            </a:r>
            <a:r>
              <a:rPr lang="en-US" altLang="zh-CN" sz="2500" b="1" baseline="30000">
                <a:ea typeface="华文新魏" pitchFamily="2" charset="-122"/>
                <a:cs typeface="Times New Roman" pitchFamily="18" charset="0"/>
              </a:rPr>
              <a:t>3+</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Ag</a:t>
            </a:r>
            <a:r>
              <a:rPr lang="en-US" altLang="zh-CN" sz="2500" b="1" baseline="30000">
                <a:ea typeface="华文新魏" pitchFamily="2" charset="-122"/>
                <a:cs typeface="Times New Roman" pitchFamily="18" charset="0"/>
              </a:rPr>
              <a:t>+</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Pb</a:t>
            </a:r>
            <a:r>
              <a:rPr lang="en-US" altLang="zh-CN" sz="2500" b="1" baseline="30000">
                <a:ea typeface="华文新魏" pitchFamily="2" charset="-122"/>
                <a:cs typeface="Times New Roman" pitchFamily="18" charset="0"/>
              </a:rPr>
              <a:t>2+</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Pb</a:t>
            </a:r>
            <a:r>
              <a:rPr lang="en-US" altLang="zh-CN" sz="2500" b="1" baseline="30000">
                <a:ea typeface="华文新魏" pitchFamily="2" charset="-122"/>
                <a:cs typeface="Times New Roman" pitchFamily="18" charset="0"/>
              </a:rPr>
              <a:t>4+</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Li</a:t>
            </a:r>
            <a:r>
              <a:rPr lang="en-US" altLang="zh-CN" sz="2500" b="1" baseline="30000">
                <a:ea typeface="华文新魏" pitchFamily="2" charset="-122"/>
                <a:cs typeface="Times New Roman" pitchFamily="18" charset="0"/>
              </a:rPr>
              <a:t>+</a:t>
            </a:r>
            <a:endParaRPr lang="zh-CN" altLang="zh-CN" sz="2500" b="1">
              <a:ea typeface="华文新魏" pitchFamily="2" charset="-122"/>
              <a:cs typeface="Times New Roman" pitchFamily="18" charset="0"/>
            </a:endParaRPr>
          </a:p>
        </p:txBody>
      </p:sp>
      <p:sp>
        <p:nvSpPr>
          <p:cNvPr id="25603" name="Text Box 39"/>
          <p:cNvSpPr txBox="1">
            <a:spLocks noChangeArrowheads="1"/>
          </p:cNvSpPr>
          <p:nvPr/>
        </p:nvSpPr>
        <p:spPr bwMode="auto">
          <a:xfrm>
            <a:off x="112713" y="341313"/>
            <a:ext cx="1836737" cy="477837"/>
          </a:xfrm>
          <a:prstGeom prst="rect">
            <a:avLst/>
          </a:prstGeom>
          <a:noFill/>
          <a:ln w="9525" algn="ctr">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习题</a:t>
            </a:r>
            <a:r>
              <a:rPr lang="en-US" altLang="zh-CN" sz="2500" b="1">
                <a:solidFill>
                  <a:srgbClr val="FFFF00"/>
                </a:solidFill>
                <a:ea typeface="华文新魏" pitchFamily="2" charset="-122"/>
                <a:cs typeface="Times New Roman" pitchFamily="18" charset="0"/>
              </a:rPr>
              <a:t>8-19</a:t>
            </a:r>
            <a:r>
              <a:rPr lang="zh-CN" altLang="en-US" sz="2500" b="1">
                <a:solidFill>
                  <a:srgbClr val="FFFF00"/>
                </a:solidFill>
                <a:ea typeface="华文新魏" pitchFamily="2" charset="-122"/>
                <a:cs typeface="Times New Roman" pitchFamily="18" charset="0"/>
              </a:rPr>
              <a:t>：</a:t>
            </a:r>
          </a:p>
        </p:txBody>
      </p:sp>
      <p:sp>
        <p:nvSpPr>
          <p:cNvPr id="5" name="Rectangle 38"/>
          <p:cNvSpPr>
            <a:spLocks noChangeArrowheads="1"/>
          </p:cNvSpPr>
          <p:nvPr/>
        </p:nvSpPr>
        <p:spPr bwMode="auto">
          <a:xfrm>
            <a:off x="4608513" y="334963"/>
            <a:ext cx="6627812" cy="1631950"/>
          </a:xfrm>
          <a:prstGeom prst="rect">
            <a:avLst/>
          </a:prstGeom>
          <a:noFill/>
          <a:ln w="9525">
            <a:noFill/>
            <a:miter lim="800000"/>
            <a:headEnd/>
            <a:tailEnd/>
          </a:ln>
          <a:effectLst/>
        </p:spPr>
        <p:txBody>
          <a:bodyPr>
            <a:spAutoFit/>
          </a:bodyPr>
          <a:lstStyle/>
          <a:p>
            <a:pPr eaLnBrk="0" hangingPunct="0"/>
            <a:r>
              <a:rPr lang="zh-CN" altLang="en-US" sz="2500" b="1">
                <a:ea typeface="华文新魏" pitchFamily="2" charset="-122"/>
                <a:cs typeface="Times New Roman" pitchFamily="18" charset="0"/>
              </a:rPr>
              <a:t>                    先写出基态原子的电子排布式，再由所带电荷考虑电子得失，写出离子的电子排布式</a:t>
            </a:r>
            <a:r>
              <a:rPr lang="en-US" altLang="zh-CN" sz="2500" b="1">
                <a:ea typeface="华文新魏" pitchFamily="2" charset="-122"/>
                <a:cs typeface="Times New Roman" pitchFamily="18" charset="0"/>
              </a:rPr>
              <a:t>.</a:t>
            </a:r>
            <a:r>
              <a:rPr lang="zh-CN" altLang="en-US" sz="2500" b="1">
                <a:ea typeface="华文新魏" pitchFamily="2" charset="-122"/>
                <a:cs typeface="Times New Roman" pitchFamily="18" charset="0"/>
              </a:rPr>
              <a:t>根据离子的电子排布式中最外层电子的数目，判断其电子构型</a:t>
            </a:r>
            <a:r>
              <a:rPr lang="en-US" altLang="zh-CN" sz="2500" b="1">
                <a:ea typeface="华文新魏" pitchFamily="2" charset="-122"/>
                <a:cs typeface="Times New Roman" pitchFamily="18" charset="0"/>
              </a:rPr>
              <a:t>.</a:t>
            </a:r>
            <a:endParaRPr lang="zh-CN" altLang="zh-CN" sz="2500" b="1">
              <a:ea typeface="华文新魏" pitchFamily="2" charset="-122"/>
              <a:cs typeface="Times New Roman" pitchFamily="18" charset="0"/>
            </a:endParaRPr>
          </a:p>
        </p:txBody>
      </p:sp>
      <p:sp>
        <p:nvSpPr>
          <p:cNvPr id="2" name="Rectangle 38"/>
          <p:cNvSpPr>
            <a:spLocks noChangeArrowheads="1"/>
          </p:cNvSpPr>
          <p:nvPr/>
        </p:nvSpPr>
        <p:spPr bwMode="auto">
          <a:xfrm>
            <a:off x="4608513" y="344488"/>
            <a:ext cx="1800225" cy="476250"/>
          </a:xfrm>
          <a:prstGeom prst="rect">
            <a:avLst/>
          </a:prstGeom>
          <a:noFill/>
          <a:ln w="9525">
            <a:noFill/>
            <a:miter lim="800000"/>
            <a:headEnd/>
            <a:tailEnd/>
          </a:ln>
          <a:effectLst/>
        </p:spPr>
        <p:txBody>
          <a:bodyPr>
            <a:spAutoFit/>
          </a:bodyPr>
          <a:lstStyle/>
          <a:p>
            <a:pPr marL="342900" indent="-342900" eaLnBrk="0" hangingPunct="0"/>
            <a:r>
              <a:rPr lang="zh-CN" altLang="zh-CN" sz="2500" b="1">
                <a:solidFill>
                  <a:srgbClr val="FFFF00"/>
                </a:solidFill>
                <a:ea typeface="华文新魏" pitchFamily="2" charset="-122"/>
                <a:cs typeface="Times New Roman" pitchFamily="18" charset="0"/>
              </a:rPr>
              <a:t>解题思路：</a:t>
            </a:r>
          </a:p>
        </p:txBody>
      </p:sp>
      <p:sp>
        <p:nvSpPr>
          <p:cNvPr id="9" name="Rectangle 38"/>
          <p:cNvSpPr>
            <a:spLocks noChangeArrowheads="1"/>
          </p:cNvSpPr>
          <p:nvPr/>
        </p:nvSpPr>
        <p:spPr bwMode="auto">
          <a:xfrm>
            <a:off x="4619625" y="1881188"/>
            <a:ext cx="2735263" cy="473075"/>
          </a:xfrm>
          <a:prstGeom prst="rect">
            <a:avLst/>
          </a:prstGeom>
          <a:noFill/>
          <a:ln w="9525">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参考答案：</a:t>
            </a:r>
          </a:p>
        </p:txBody>
      </p:sp>
      <p:graphicFrame>
        <p:nvGraphicFramePr>
          <p:cNvPr id="3" name="表格 2"/>
          <p:cNvGraphicFramePr>
            <a:graphicFrameLocks noGrp="1"/>
          </p:cNvGraphicFramePr>
          <p:nvPr/>
        </p:nvGraphicFramePr>
        <p:xfrm>
          <a:off x="4681538" y="2376488"/>
          <a:ext cx="6496050" cy="3671887"/>
        </p:xfrm>
        <a:graphic>
          <a:graphicData uri="http://schemas.openxmlformats.org/drawingml/2006/table">
            <a:tbl>
              <a:tblPr firstRow="1" firstCol="1" bandRow="1">
                <a:tableStyleId>{5C22544A-7EE6-4342-B048-85BDC9FD1C3A}</a:tableStyleId>
              </a:tblPr>
              <a:tblGrid>
                <a:gridCol w="1033238"/>
                <a:gridCol w="3161510"/>
                <a:gridCol w="2301303"/>
              </a:tblGrid>
              <a:tr h="367189">
                <a:tc>
                  <a:txBody>
                    <a:bodyPr/>
                    <a:lstStyle/>
                    <a:p>
                      <a:pPr algn="ctr">
                        <a:lnSpc>
                          <a:spcPct val="110000"/>
                        </a:lnSpc>
                        <a:spcAft>
                          <a:spcPts val="0"/>
                        </a:spcAft>
                      </a:pPr>
                      <a:r>
                        <a:rPr lang="zh-CN" sz="1800" b="1" kern="100" dirty="0">
                          <a:effectLst/>
                          <a:latin typeface="Times New Roman" panose="02020603050405020304" pitchFamily="18" charset="0"/>
                          <a:ea typeface="华文新魏" panose="02010800040101010101" pitchFamily="2" charset="-122"/>
                          <a:cs typeface="Times New Roman" panose="02020603050405020304" pitchFamily="18" charset="0"/>
                        </a:rPr>
                        <a:t>离子</a:t>
                      </a: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zh-CN" sz="1800" b="1" kern="100" dirty="0">
                          <a:effectLst/>
                          <a:latin typeface="Times New Roman" panose="02020603050405020304" pitchFamily="18" charset="0"/>
                          <a:ea typeface="华文新魏" panose="02010800040101010101" pitchFamily="2" charset="-122"/>
                          <a:cs typeface="Times New Roman" panose="02020603050405020304" pitchFamily="18" charset="0"/>
                        </a:rPr>
                        <a:t>离子的电子排布式</a:t>
                      </a: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zh-CN" sz="1800" b="1" kern="100">
                          <a:effectLst/>
                          <a:latin typeface="Times New Roman" panose="02020603050405020304" pitchFamily="18" charset="0"/>
                          <a:ea typeface="华文新魏" panose="02010800040101010101" pitchFamily="2" charset="-122"/>
                          <a:cs typeface="Times New Roman" panose="02020603050405020304" pitchFamily="18" charset="0"/>
                        </a:rPr>
                        <a:t>离子的电子构型</a:t>
                      </a: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67189">
                <a:tc>
                  <a:txBody>
                    <a:bodyPr/>
                    <a:lstStyle/>
                    <a:p>
                      <a:pPr algn="ctr">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Rb</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a:t>
                      </a:r>
                      <a:endParaRPr lang="zh-CN" sz="18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[Ar] 3d</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10</a:t>
                      </a: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4s</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2</a:t>
                      </a: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4p</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6</a:t>
                      </a:r>
                      <a:endParaRPr lang="zh-CN" sz="18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8e</a:t>
                      </a:r>
                      <a:endParaRPr lang="zh-CN" sz="18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67189">
                <a:tc>
                  <a:txBody>
                    <a:bodyPr/>
                    <a:lstStyle/>
                    <a:p>
                      <a:pPr algn="ctr">
                        <a:lnSpc>
                          <a:spcPct val="110000"/>
                        </a:lnSpc>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Mn</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2+</a:t>
                      </a:r>
                      <a:endParaRPr lang="zh-CN" sz="18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[Ne]3s</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2</a:t>
                      </a: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3p</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6</a:t>
                      </a: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3d</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5</a:t>
                      </a:r>
                      <a:endParaRPr lang="zh-CN" sz="18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9~17e</a:t>
                      </a:r>
                      <a:endParaRPr lang="zh-CN" sz="18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67189">
                <a:tc>
                  <a:txBody>
                    <a:bodyPr/>
                    <a:lstStyle/>
                    <a:p>
                      <a:pPr algn="ctr">
                        <a:lnSpc>
                          <a:spcPct val="110000"/>
                        </a:lnSpc>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I</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a:t>
                      </a:r>
                      <a:endParaRPr lang="zh-CN" sz="18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[Kr]4d</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10</a:t>
                      </a: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5s</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2</a:t>
                      </a: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5p</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6</a:t>
                      </a:r>
                      <a:endParaRPr lang="zh-CN" sz="18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8e</a:t>
                      </a:r>
                      <a:endParaRPr lang="zh-CN" sz="18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67189">
                <a:tc>
                  <a:txBody>
                    <a:bodyPr/>
                    <a:lstStyle/>
                    <a:p>
                      <a:pPr algn="ctr">
                        <a:lnSpc>
                          <a:spcPct val="110000"/>
                        </a:lnSpc>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Zn</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2+</a:t>
                      </a:r>
                      <a:endParaRPr lang="zh-CN" sz="18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[Ne]3s</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2</a:t>
                      </a: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3p</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6</a:t>
                      </a: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3d</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10</a:t>
                      </a:r>
                      <a:endParaRPr lang="zh-CN" sz="18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18e</a:t>
                      </a:r>
                      <a:endParaRPr lang="zh-CN" sz="18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67189">
                <a:tc>
                  <a:txBody>
                    <a:bodyPr/>
                    <a:lstStyle/>
                    <a:p>
                      <a:pPr algn="ctr">
                        <a:lnSpc>
                          <a:spcPct val="110000"/>
                        </a:lnSpc>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Bi</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3+</a:t>
                      </a:r>
                      <a:endParaRPr lang="zh-CN" sz="18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[Kr]4d</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10</a:t>
                      </a: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4f</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14</a:t>
                      </a: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5s</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2</a:t>
                      </a: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5p</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6</a:t>
                      </a: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5d</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10</a:t>
                      </a: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6s</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2</a:t>
                      </a:r>
                      <a:endParaRPr lang="zh-CN" sz="18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en-US" sz="1800" b="1" kern="100" dirty="0" smtClean="0">
                          <a:effectLst/>
                          <a:latin typeface="Times New Roman" panose="02020603050405020304" pitchFamily="18" charset="0"/>
                          <a:ea typeface="华文新魏" panose="02010800040101010101" pitchFamily="2" charset="-122"/>
                          <a:cs typeface="Times New Roman" panose="02020603050405020304" pitchFamily="18" charset="0"/>
                        </a:rPr>
                        <a:t>(18+2)e</a:t>
                      </a:r>
                      <a:endParaRPr lang="zh-CN" sz="1800" b="1" kern="100" dirty="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67189">
                <a:tc>
                  <a:txBody>
                    <a:bodyPr/>
                    <a:lstStyle/>
                    <a:p>
                      <a:pPr algn="ctr">
                        <a:lnSpc>
                          <a:spcPct val="110000"/>
                        </a:lnSpc>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Ag</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a:t>
                      </a:r>
                      <a:endParaRPr lang="zh-CN" sz="18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[Ar] 3d</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10</a:t>
                      </a: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4s</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2</a:t>
                      </a: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4p</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6</a:t>
                      </a: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4d</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10</a:t>
                      </a:r>
                      <a:endParaRPr lang="zh-CN" sz="18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18e</a:t>
                      </a:r>
                      <a:endParaRPr lang="zh-CN" sz="18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67189">
                <a:tc>
                  <a:txBody>
                    <a:bodyPr/>
                    <a:lstStyle/>
                    <a:p>
                      <a:pPr algn="ctr">
                        <a:lnSpc>
                          <a:spcPct val="110000"/>
                        </a:lnSpc>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Pb</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2+</a:t>
                      </a:r>
                      <a:endParaRPr lang="zh-CN" sz="18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[Kr]4d</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10</a:t>
                      </a: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4f</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14</a:t>
                      </a: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5s</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2</a:t>
                      </a: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5p</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6</a:t>
                      </a: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5d</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10</a:t>
                      </a: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6s</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2</a:t>
                      </a:r>
                      <a:endParaRPr lang="zh-CN" sz="18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en-US" sz="1800" b="1" kern="100" dirty="0" smtClean="0">
                          <a:effectLst/>
                          <a:latin typeface="Times New Roman" panose="02020603050405020304" pitchFamily="18" charset="0"/>
                          <a:ea typeface="华文新魏" panose="02010800040101010101" pitchFamily="2" charset="-122"/>
                          <a:cs typeface="Times New Roman" panose="02020603050405020304" pitchFamily="18" charset="0"/>
                        </a:rPr>
                        <a:t>(18+2)e</a:t>
                      </a:r>
                      <a:endParaRPr lang="zh-CN" sz="1800" b="1" kern="100" dirty="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67189">
                <a:tc>
                  <a:txBody>
                    <a:bodyPr/>
                    <a:lstStyle/>
                    <a:p>
                      <a:pPr algn="ctr">
                        <a:lnSpc>
                          <a:spcPct val="110000"/>
                        </a:lnSpc>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Pb</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4+</a:t>
                      </a:r>
                      <a:endParaRPr lang="zh-CN" sz="18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[Kr]4d</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10</a:t>
                      </a: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4f</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14</a:t>
                      </a: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5s</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2</a:t>
                      </a: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5p</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6</a:t>
                      </a: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5d</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10</a:t>
                      </a:r>
                      <a:endParaRPr lang="zh-CN" sz="18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18e</a:t>
                      </a:r>
                      <a:endParaRPr lang="zh-CN" sz="18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67189">
                <a:tc>
                  <a:txBody>
                    <a:bodyPr/>
                    <a:lstStyle/>
                    <a:p>
                      <a:pPr algn="ctr">
                        <a:lnSpc>
                          <a:spcPct val="110000"/>
                        </a:lnSpc>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Li</a:t>
                      </a:r>
                      <a:r>
                        <a:rPr lang="en-US" sz="1800" b="1" kern="100" baseline="30000">
                          <a:effectLst/>
                          <a:latin typeface="Times New Roman" panose="02020603050405020304" pitchFamily="18" charset="0"/>
                          <a:ea typeface="华文新魏" panose="02010800040101010101" pitchFamily="2" charset="-122"/>
                          <a:cs typeface="Times New Roman" panose="02020603050405020304" pitchFamily="18" charset="0"/>
                        </a:rPr>
                        <a:t>+</a:t>
                      </a:r>
                      <a:endParaRPr lang="zh-CN" sz="18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en-US" sz="1800" b="1" kern="100" dirty="0">
                          <a:effectLst/>
                          <a:latin typeface="Times New Roman" panose="02020603050405020304" pitchFamily="18" charset="0"/>
                          <a:ea typeface="华文新魏" panose="02010800040101010101" pitchFamily="2" charset="-122"/>
                          <a:cs typeface="Times New Roman" panose="02020603050405020304" pitchFamily="18" charset="0"/>
                        </a:rPr>
                        <a:t>1s</a:t>
                      </a:r>
                      <a:r>
                        <a:rPr lang="en-US" sz="1800" b="1" kern="100" baseline="30000" dirty="0">
                          <a:effectLst/>
                          <a:latin typeface="Times New Roman" panose="02020603050405020304" pitchFamily="18" charset="0"/>
                          <a:ea typeface="华文新魏" panose="02010800040101010101" pitchFamily="2" charset="-122"/>
                          <a:cs typeface="Times New Roman" panose="02020603050405020304" pitchFamily="18" charset="0"/>
                        </a:rPr>
                        <a:t>2</a:t>
                      </a:r>
                      <a:endParaRPr lang="zh-CN" sz="1800" b="1" kern="100" dirty="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en-US" sz="1800" b="1" kern="100" dirty="0">
                          <a:effectLst/>
                          <a:latin typeface="Times New Roman" panose="02020603050405020304" pitchFamily="18" charset="0"/>
                          <a:ea typeface="华文新魏" panose="02010800040101010101" pitchFamily="2" charset="-122"/>
                          <a:cs typeface="Times New Roman" panose="02020603050405020304" pitchFamily="18" charset="0"/>
                        </a:rPr>
                        <a:t>2e</a:t>
                      </a:r>
                      <a:endParaRPr lang="zh-CN" sz="1800" b="1" kern="100" dirty="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blinds(horizontal)">
                                      <p:cBhvr>
                                        <p:cTn id="17" dur="500"/>
                                        <p:tgtEl>
                                          <p:spTgt spid="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21"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barn(inVertical)">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P spid="2" grpId="0"/>
      <p:bldP spid="9"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8"/>
          <p:cNvSpPr>
            <a:spLocks noChangeArrowheads="1"/>
          </p:cNvSpPr>
          <p:nvPr/>
        </p:nvSpPr>
        <p:spPr bwMode="auto">
          <a:xfrm>
            <a:off x="6008688" y="358775"/>
            <a:ext cx="5300662" cy="1246188"/>
          </a:xfrm>
          <a:prstGeom prst="rect">
            <a:avLst/>
          </a:prstGeom>
          <a:noFill/>
          <a:ln w="9525">
            <a:noFill/>
            <a:miter lim="800000"/>
            <a:headEnd/>
            <a:tailEnd/>
          </a:ln>
          <a:effectLst/>
        </p:spPr>
        <p:txBody>
          <a:bodyPr>
            <a:spAutoFit/>
          </a:bodyPr>
          <a:lstStyle/>
          <a:p>
            <a:pPr eaLnBrk="0" hangingPunct="0"/>
            <a:r>
              <a:rPr lang="zh-CN" altLang="en-US" sz="2500" b="1">
                <a:solidFill>
                  <a:srgbClr val="FFFFFF"/>
                </a:solidFill>
                <a:ea typeface="华文新魏" pitchFamily="2" charset="-122"/>
                <a:cs typeface="Times New Roman" pitchFamily="18" charset="0"/>
              </a:rPr>
              <a:t>                   气态正负离子结合成</a:t>
            </a:r>
            <a:r>
              <a:rPr lang="en-US" altLang="zh-CN" sz="2500" b="1">
                <a:solidFill>
                  <a:srgbClr val="FFFFFF"/>
                </a:solidFill>
                <a:ea typeface="华文新魏" pitchFamily="2" charset="-122"/>
                <a:cs typeface="Times New Roman" pitchFamily="18" charset="0"/>
              </a:rPr>
              <a:t>1mol</a:t>
            </a:r>
            <a:r>
              <a:rPr lang="zh-CN" altLang="en-US" sz="2500" b="1">
                <a:solidFill>
                  <a:srgbClr val="FFFFFF"/>
                </a:solidFill>
                <a:ea typeface="华文新魏" pitchFamily="2" charset="-122"/>
                <a:cs typeface="Times New Roman" pitchFamily="18" charset="0"/>
              </a:rPr>
              <a:t>离子晶体时所放出的能量，称为离子晶体的晶格能</a:t>
            </a:r>
            <a:r>
              <a:rPr lang="en-US" altLang="zh-CN" sz="2500" b="1">
                <a:solidFill>
                  <a:srgbClr val="FFFFFF"/>
                </a:solidFill>
                <a:ea typeface="华文新魏" pitchFamily="2" charset="-122"/>
                <a:cs typeface="Times New Roman" pitchFamily="18" charset="0"/>
              </a:rPr>
              <a:t>.</a:t>
            </a:r>
            <a:endParaRPr lang="zh-CN" altLang="zh-CN" sz="2500" b="1">
              <a:solidFill>
                <a:srgbClr val="FFFFFF"/>
              </a:solidFill>
              <a:ea typeface="华文新魏" pitchFamily="2" charset="-122"/>
              <a:cs typeface="Times New Roman" pitchFamily="18" charset="0"/>
            </a:endParaRPr>
          </a:p>
        </p:txBody>
      </p:sp>
      <p:sp>
        <p:nvSpPr>
          <p:cNvPr id="62504" name="Rectangle 40"/>
          <p:cNvSpPr>
            <a:spLocks noChangeArrowheads="1"/>
          </p:cNvSpPr>
          <p:nvPr/>
        </p:nvSpPr>
        <p:spPr bwMode="auto">
          <a:xfrm>
            <a:off x="227013" y="358775"/>
            <a:ext cx="5327650" cy="2400300"/>
          </a:xfrm>
          <a:prstGeom prst="rect">
            <a:avLst/>
          </a:prstGeom>
          <a:noFill/>
          <a:ln w="9525">
            <a:noFill/>
            <a:miter lim="800000"/>
            <a:headEnd/>
            <a:tailEnd/>
          </a:ln>
          <a:effectLst/>
        </p:spPr>
        <p:txBody>
          <a:bodyPr>
            <a:spAutoFit/>
          </a:bodyPr>
          <a:lstStyle/>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指出下面哪个式子对应的热量变化可以表示氧化钙的晶格能：</a:t>
            </a:r>
          </a:p>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① </a:t>
            </a:r>
            <a:r>
              <a:rPr lang="en-US" altLang="zh-CN" sz="2500" b="1">
                <a:ea typeface="华文新魏" pitchFamily="2" charset="-122"/>
                <a:cs typeface="Times New Roman" pitchFamily="18" charset="0"/>
              </a:rPr>
              <a:t>Ca(s) + O</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(g) = CaO(s)     </a:t>
            </a:r>
            <a:endParaRPr lang="zh-CN" altLang="zh-CN" sz="2500" b="1">
              <a:ea typeface="华文新魏" pitchFamily="2" charset="-122"/>
              <a:cs typeface="Times New Roman" pitchFamily="18" charset="0"/>
            </a:endParaRPr>
          </a:p>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②</a:t>
            </a:r>
            <a:r>
              <a:rPr lang="en-US" altLang="zh-CN" sz="2500" b="1">
                <a:ea typeface="华文新魏" pitchFamily="2" charset="-122"/>
                <a:cs typeface="Times New Roman" pitchFamily="18" charset="0"/>
              </a:rPr>
              <a:t> Ca(g) + O</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(g) = CaO(s)</a:t>
            </a:r>
            <a:endParaRPr lang="zh-CN" altLang="zh-CN" sz="2500" b="1">
              <a:ea typeface="华文新魏" pitchFamily="2" charset="-122"/>
              <a:cs typeface="Times New Roman" pitchFamily="18" charset="0"/>
            </a:endParaRPr>
          </a:p>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③</a:t>
            </a:r>
            <a:r>
              <a:rPr lang="en-US" altLang="zh-CN" sz="2500" b="1">
                <a:ea typeface="华文新魏" pitchFamily="2" charset="-122"/>
                <a:cs typeface="Times New Roman" pitchFamily="18" charset="0"/>
              </a:rPr>
              <a:t> Ca</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(s) + O</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 (g) = CaO(s)     </a:t>
            </a:r>
            <a:endParaRPr lang="zh-CN" altLang="zh-CN" sz="2500" b="1">
              <a:ea typeface="华文新魏" pitchFamily="2" charset="-122"/>
              <a:cs typeface="Times New Roman" pitchFamily="18" charset="0"/>
            </a:endParaRPr>
          </a:p>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④</a:t>
            </a:r>
            <a:r>
              <a:rPr lang="en-US" altLang="zh-CN" sz="2500" b="1">
                <a:ea typeface="华文新魏" pitchFamily="2" charset="-122"/>
                <a:cs typeface="Times New Roman" pitchFamily="18" charset="0"/>
              </a:rPr>
              <a:t> Ca</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(g) + O</a:t>
            </a:r>
            <a:r>
              <a:rPr lang="en-US" altLang="zh-CN" sz="2500" b="1" baseline="30000">
                <a:ea typeface="华文新魏" pitchFamily="2" charset="-122"/>
                <a:cs typeface="Times New Roman" pitchFamily="18" charset="0"/>
              </a:rPr>
              <a:t>2-</a:t>
            </a:r>
            <a:r>
              <a:rPr lang="en-US" altLang="zh-CN" sz="2500" b="1">
                <a:ea typeface="华文新魏" pitchFamily="2" charset="-122"/>
                <a:cs typeface="Times New Roman" pitchFamily="18" charset="0"/>
              </a:rPr>
              <a:t> (g) = CaO(s)</a:t>
            </a:r>
            <a:endParaRPr lang="zh-CN" altLang="zh-CN" sz="2500" b="1">
              <a:ea typeface="华文新魏" pitchFamily="2" charset="-122"/>
              <a:cs typeface="Times New Roman" pitchFamily="18" charset="0"/>
            </a:endParaRPr>
          </a:p>
        </p:txBody>
      </p:sp>
      <p:sp>
        <p:nvSpPr>
          <p:cNvPr id="62502" name="Rectangle 38"/>
          <p:cNvSpPr>
            <a:spLocks noChangeArrowheads="1"/>
          </p:cNvSpPr>
          <p:nvPr/>
        </p:nvSpPr>
        <p:spPr bwMode="auto">
          <a:xfrm>
            <a:off x="5945188" y="374650"/>
            <a:ext cx="2735262" cy="473075"/>
          </a:xfrm>
          <a:prstGeom prst="rect">
            <a:avLst/>
          </a:prstGeom>
          <a:noFill/>
          <a:ln w="9525">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解题思路：</a:t>
            </a:r>
          </a:p>
        </p:txBody>
      </p:sp>
      <p:sp>
        <p:nvSpPr>
          <p:cNvPr id="26629" name="Text Box 39"/>
          <p:cNvSpPr txBox="1">
            <a:spLocks noChangeArrowheads="1"/>
          </p:cNvSpPr>
          <p:nvPr/>
        </p:nvSpPr>
        <p:spPr bwMode="auto">
          <a:xfrm>
            <a:off x="179388" y="358775"/>
            <a:ext cx="1909762" cy="477838"/>
          </a:xfrm>
          <a:prstGeom prst="rect">
            <a:avLst/>
          </a:prstGeom>
          <a:noFill/>
          <a:ln w="9525" algn="ctr">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习题</a:t>
            </a:r>
            <a:r>
              <a:rPr lang="en-US" altLang="zh-CN" sz="2500" b="1">
                <a:solidFill>
                  <a:srgbClr val="FFFF00"/>
                </a:solidFill>
                <a:ea typeface="华文新魏" pitchFamily="2" charset="-122"/>
                <a:cs typeface="Times New Roman" pitchFamily="18" charset="0"/>
              </a:rPr>
              <a:t>8-20</a:t>
            </a:r>
            <a:r>
              <a:rPr lang="zh-CN" altLang="en-US" sz="2500" b="1">
                <a:solidFill>
                  <a:srgbClr val="FFFF00"/>
                </a:solidFill>
                <a:ea typeface="华文新魏" pitchFamily="2" charset="-122"/>
                <a:cs typeface="Times New Roman" pitchFamily="18" charset="0"/>
              </a:rPr>
              <a:t>：</a:t>
            </a:r>
          </a:p>
        </p:txBody>
      </p:sp>
      <p:sp>
        <p:nvSpPr>
          <p:cNvPr id="5" name="Rectangle 38"/>
          <p:cNvSpPr>
            <a:spLocks noChangeArrowheads="1"/>
          </p:cNvSpPr>
          <p:nvPr/>
        </p:nvSpPr>
        <p:spPr bwMode="auto">
          <a:xfrm>
            <a:off x="5988050" y="3240088"/>
            <a:ext cx="2735263" cy="473075"/>
          </a:xfrm>
          <a:prstGeom prst="rect">
            <a:avLst/>
          </a:prstGeom>
          <a:noFill/>
          <a:ln w="9525">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参考答案：</a:t>
            </a:r>
          </a:p>
        </p:txBody>
      </p:sp>
      <p:sp>
        <p:nvSpPr>
          <p:cNvPr id="7" name="Rectangle 38"/>
          <p:cNvSpPr>
            <a:spLocks noChangeArrowheads="1"/>
          </p:cNvSpPr>
          <p:nvPr/>
        </p:nvSpPr>
        <p:spPr bwMode="auto">
          <a:xfrm>
            <a:off x="6929438" y="3254375"/>
            <a:ext cx="2506662" cy="477838"/>
          </a:xfrm>
          <a:prstGeom prst="rect">
            <a:avLst/>
          </a:prstGeom>
          <a:noFill/>
          <a:ln w="9525">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en-US" altLang="zh-CN" sz="2500" b="1" i="1">
                <a:solidFill>
                  <a:srgbClr val="FFFFFF"/>
                </a:solidFill>
                <a:ea typeface="华文新魏" pitchFamily="2" charset="-122"/>
                <a:cs typeface="Times New Roman" pitchFamily="18" charset="0"/>
              </a:rPr>
              <a:t>       </a:t>
            </a:r>
            <a:r>
              <a:rPr lang="zh-CN" altLang="zh-CN" sz="2500" b="1">
                <a:ea typeface="华文新魏" pitchFamily="2" charset="-122"/>
                <a:cs typeface="Times New Roman" pitchFamily="18" charset="0"/>
              </a:rPr>
              <a:t>④</a:t>
            </a:r>
            <a:endParaRPr lang="zh-CN" altLang="en-US" sz="2500" b="1">
              <a:solidFill>
                <a:srgbClr val="FFFFFF"/>
              </a:solidFill>
              <a:ea typeface="华文新魏" pitchFamily="2" charset="-122"/>
              <a:cs typeface="Times New Roman" pitchFamily="18" charset="0"/>
            </a:endParaRP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2504"/>
                                        </p:tgtEl>
                                        <p:attrNameLst>
                                          <p:attrName>style.visibility</p:attrName>
                                        </p:attrNameLst>
                                      </p:cBhvr>
                                      <p:to>
                                        <p:strVal val="visible"/>
                                      </p:to>
                                    </p:set>
                                    <p:animEffect transition="in" filter="blinds(horizontal)">
                                      <p:cBhvr>
                                        <p:cTn id="7" dur="500"/>
                                        <p:tgtEl>
                                          <p:spTgt spid="625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2502"/>
                                        </p:tgtEl>
                                        <p:attrNameLst>
                                          <p:attrName>style.visibility</p:attrName>
                                        </p:attrNameLst>
                                      </p:cBhvr>
                                      <p:to>
                                        <p:strVal val="visible"/>
                                      </p:to>
                                    </p:set>
                                    <p:animEffect transition="in" filter="blinds(horizontal)">
                                      <p:cBhvr>
                                        <p:cTn id="12" dur="500"/>
                                        <p:tgtEl>
                                          <p:spTgt spid="6250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098"/>
                                        </p:tgtEl>
                                        <p:attrNameLst>
                                          <p:attrName>style.visibility</p:attrName>
                                        </p:attrNameLst>
                                      </p:cBhvr>
                                      <p:to>
                                        <p:strVal val="visible"/>
                                      </p:to>
                                    </p:set>
                                    <p:animEffect transition="in" filter="wipe(up)">
                                      <p:cBhvr>
                                        <p:cTn id="17" dur="500"/>
                                        <p:tgtEl>
                                          <p:spTgt spid="409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linds(horizontal)">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 grpId="0"/>
      <p:bldP spid="62504" grpId="0" autoUpdateAnimBg="0"/>
      <p:bldP spid="62502" grpId="0" autoUpdateAnimBg="0"/>
      <p:bldP spid="5" grpId="0" autoUpdateAnimBg="0"/>
      <p:bldP spid="7"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8"/>
          <p:cNvSpPr>
            <a:spLocks noChangeArrowheads="1"/>
          </p:cNvSpPr>
          <p:nvPr/>
        </p:nvSpPr>
        <p:spPr bwMode="auto">
          <a:xfrm>
            <a:off x="6008688" y="358775"/>
            <a:ext cx="5300662" cy="2016125"/>
          </a:xfrm>
          <a:prstGeom prst="rect">
            <a:avLst/>
          </a:prstGeom>
          <a:noFill/>
          <a:ln w="9525">
            <a:noFill/>
            <a:miter lim="800000"/>
            <a:headEnd/>
            <a:tailEnd/>
          </a:ln>
          <a:effectLst/>
        </p:spPr>
        <p:txBody>
          <a:bodyPr>
            <a:spAutoFit/>
          </a:bodyPr>
          <a:lstStyle/>
          <a:p>
            <a:pPr eaLnBrk="0" hangingPunct="0"/>
            <a:r>
              <a:rPr lang="zh-CN" altLang="en-US" sz="2500" b="1">
                <a:solidFill>
                  <a:srgbClr val="FFFFFF"/>
                </a:solidFill>
                <a:ea typeface="华文新魏" pitchFamily="2" charset="-122"/>
                <a:cs typeface="Times New Roman" pitchFamily="18" charset="0"/>
              </a:rPr>
              <a:t>                  根据玻恩</a:t>
            </a:r>
            <a:r>
              <a:rPr lang="en-US" altLang="zh-CN" sz="2500" b="1">
                <a:solidFill>
                  <a:srgbClr val="FFFFFF"/>
                </a:solidFill>
                <a:ea typeface="华文新魏" pitchFamily="2" charset="-122"/>
                <a:cs typeface="Times New Roman" pitchFamily="18" charset="0"/>
              </a:rPr>
              <a:t>-</a:t>
            </a:r>
            <a:r>
              <a:rPr lang="zh-CN" altLang="en-US" sz="2500" b="1">
                <a:solidFill>
                  <a:srgbClr val="FFFFFF"/>
                </a:solidFill>
                <a:ea typeface="华文新魏" pitchFamily="2" charset="-122"/>
                <a:cs typeface="Times New Roman" pitchFamily="18" charset="0"/>
              </a:rPr>
              <a:t>哈伯循环</a:t>
            </a:r>
            <a:r>
              <a:rPr lang="en-US" altLang="zh-CN" sz="2500" b="1">
                <a:solidFill>
                  <a:srgbClr val="FFFFFF"/>
                </a:solidFill>
                <a:ea typeface="华文新魏" pitchFamily="2" charset="-122"/>
                <a:cs typeface="Times New Roman" pitchFamily="18" charset="0"/>
              </a:rPr>
              <a:t>, </a:t>
            </a:r>
            <a:r>
              <a:rPr lang="zh-CN" altLang="en-US" sz="2500" b="1">
                <a:solidFill>
                  <a:srgbClr val="FFFFFF"/>
                </a:solidFill>
                <a:ea typeface="华文新魏" pitchFamily="2" charset="-122"/>
                <a:cs typeface="Times New Roman" pitchFamily="18" charset="0"/>
              </a:rPr>
              <a:t>计算晶格能的方法</a:t>
            </a:r>
            <a:r>
              <a:rPr lang="en-US" altLang="zh-CN" sz="2500" b="1">
                <a:solidFill>
                  <a:srgbClr val="FFFFFF"/>
                </a:solidFill>
                <a:ea typeface="华文新魏" pitchFamily="2" charset="-122"/>
                <a:cs typeface="Times New Roman" pitchFamily="18" charset="0"/>
              </a:rPr>
              <a:t>, </a:t>
            </a:r>
            <a:r>
              <a:rPr lang="zh-CN" altLang="en-US" sz="2500" b="1">
                <a:solidFill>
                  <a:srgbClr val="FFFFFF"/>
                </a:solidFill>
                <a:ea typeface="华文新魏" pitchFamily="2" charset="-122"/>
                <a:cs typeface="Times New Roman" pitchFamily="18" charset="0"/>
              </a:rPr>
              <a:t>来求解相关热化学量</a:t>
            </a:r>
            <a:r>
              <a:rPr lang="en-US" altLang="zh-CN" sz="2500" b="1">
                <a:solidFill>
                  <a:srgbClr val="FFFFFF"/>
                </a:solidFill>
                <a:ea typeface="华文新魏" pitchFamily="2" charset="-122"/>
                <a:cs typeface="Times New Roman" pitchFamily="18" charset="0"/>
              </a:rPr>
              <a:t>. </a:t>
            </a:r>
            <a:r>
              <a:rPr lang="zh-CN" altLang="en-US" sz="2500" b="1">
                <a:solidFill>
                  <a:srgbClr val="FFFFFF"/>
                </a:solidFill>
                <a:ea typeface="华文新魏" pitchFamily="2" charset="-122"/>
                <a:cs typeface="Times New Roman" pitchFamily="18" charset="0"/>
              </a:rPr>
              <a:t>可参考教材图例</a:t>
            </a:r>
            <a:r>
              <a:rPr lang="en-US" altLang="zh-CN" sz="2500" b="1">
                <a:solidFill>
                  <a:srgbClr val="FFFFFF"/>
                </a:solidFill>
                <a:ea typeface="华文新魏" pitchFamily="2" charset="-122"/>
                <a:cs typeface="Times New Roman" pitchFamily="18" charset="0"/>
              </a:rPr>
              <a:t>. </a:t>
            </a:r>
          </a:p>
          <a:p>
            <a:pPr eaLnBrk="0" hangingPunct="0"/>
            <a:r>
              <a:rPr lang="en-US" altLang="zh-CN" sz="2500" b="1">
                <a:ea typeface="华文新魏" pitchFamily="2" charset="-122"/>
                <a:cs typeface="Times New Roman" pitchFamily="18" charset="0"/>
              </a:rPr>
              <a:t>    KI</a:t>
            </a:r>
            <a:r>
              <a:rPr lang="zh-CN" altLang="zh-CN" sz="2500" b="1">
                <a:ea typeface="华文新魏" pitchFamily="2" charset="-122"/>
                <a:cs typeface="Times New Roman" pitchFamily="18" charset="0"/>
              </a:rPr>
              <a:t>的生成热</a:t>
            </a:r>
            <a:r>
              <a:rPr lang="en-US" altLang="zh-CN" sz="2500" b="1">
                <a:ea typeface="华文新魏" pitchFamily="2" charset="-122"/>
                <a:cs typeface="Times New Roman" pitchFamily="18" charset="0"/>
              </a:rPr>
              <a:t>Δ</a:t>
            </a:r>
            <a:r>
              <a:rPr lang="en-US" altLang="zh-CN" sz="2500" b="1" baseline="-25000">
                <a:ea typeface="华文新魏" pitchFamily="2" charset="-122"/>
                <a:cs typeface="Times New Roman" pitchFamily="18" charset="0"/>
              </a:rPr>
              <a:t>f</a:t>
            </a:r>
            <a:r>
              <a:rPr lang="en-US" altLang="zh-CN" sz="2500" b="1" i="1">
                <a:ea typeface="华文新魏" pitchFamily="2" charset="-122"/>
                <a:cs typeface="Times New Roman" pitchFamily="18" charset="0"/>
              </a:rPr>
              <a:t>H</a:t>
            </a:r>
            <a:r>
              <a:rPr lang="en-US" altLang="zh-CN" sz="2500" b="1" baseline="-25000">
                <a:ea typeface="华文新魏" pitchFamily="2" charset="-122"/>
                <a:cs typeface="Times New Roman" pitchFamily="18" charset="0"/>
              </a:rPr>
              <a:t>m</a:t>
            </a:r>
            <a:r>
              <a:rPr lang="en-US" altLang="zh-CN" sz="2500" baseline="30000">
                <a:ea typeface="华文新魏" pitchFamily="2" charset="-122"/>
                <a:cs typeface="Times New Roman" pitchFamily="18" charset="0"/>
                <a:sym typeface="Symbol" pitchFamily="18" charset="2"/>
              </a:rPr>
              <a:t> </a:t>
            </a:r>
            <a:r>
              <a:rPr lang="en-US" altLang="zh-CN" sz="2500" b="1">
                <a:ea typeface="华文新魏" pitchFamily="2" charset="-122"/>
                <a:cs typeface="Times New Roman" pitchFamily="18" charset="0"/>
              </a:rPr>
              <a:t>= </a:t>
            </a:r>
            <a:r>
              <a:rPr lang="en-US" altLang="zh-CN" sz="2500" b="1"/>
              <a:t>(Δ</a:t>
            </a:r>
            <a:r>
              <a:rPr lang="en-US" altLang="zh-CN" sz="2500" b="1" baseline="-25000"/>
              <a:t>r</a:t>
            </a:r>
            <a:r>
              <a:rPr lang="en-US" altLang="zh-CN" sz="2500" b="1" i="1"/>
              <a:t>H</a:t>
            </a:r>
            <a:r>
              <a:rPr lang="en-US" altLang="zh-CN" sz="2500" b="1" baseline="-25000"/>
              <a:t>m1</a:t>
            </a:r>
            <a:r>
              <a:rPr lang="en-US" altLang="zh-CN" sz="2500" b="1" baseline="30000">
                <a:sym typeface="Symbol" pitchFamily="18" charset="2"/>
              </a:rPr>
              <a:t> </a:t>
            </a:r>
            <a:r>
              <a:rPr lang="en-US" altLang="zh-CN" sz="2500" b="1">
                <a:ea typeface="华文新魏" pitchFamily="2" charset="-122"/>
              </a:rPr>
              <a:t>+ </a:t>
            </a:r>
            <a:r>
              <a:rPr lang="en-US" altLang="zh-CN" sz="2500" b="1" i="1">
                <a:ea typeface="华文新魏" pitchFamily="2" charset="-122"/>
              </a:rPr>
              <a:t>I</a:t>
            </a:r>
            <a:r>
              <a:rPr lang="en-US" altLang="zh-CN" sz="2500" b="1" baseline="-25000">
                <a:ea typeface="华文新魏" pitchFamily="2" charset="-122"/>
              </a:rPr>
              <a:t>1</a:t>
            </a:r>
            <a:r>
              <a:rPr lang="en-US" altLang="zh-CN" sz="2500" b="1"/>
              <a:t>) + (0.5</a:t>
            </a:r>
            <a:r>
              <a:rPr lang="en-US" altLang="zh-CN" sz="2500" b="1">
                <a:ea typeface="华文新魏" pitchFamily="2" charset="-122"/>
              </a:rPr>
              <a:t>Δ</a:t>
            </a:r>
            <a:r>
              <a:rPr lang="en-US" altLang="zh-CN" sz="2500" b="1" baseline="-25000">
                <a:ea typeface="华文新魏" pitchFamily="2" charset="-122"/>
              </a:rPr>
              <a:t>r</a:t>
            </a:r>
            <a:r>
              <a:rPr lang="en-US" altLang="zh-CN" sz="2500" b="1" i="1">
                <a:ea typeface="华文新魏" pitchFamily="2" charset="-122"/>
              </a:rPr>
              <a:t>H</a:t>
            </a:r>
            <a:r>
              <a:rPr lang="en-US" altLang="zh-CN" sz="2500" b="1" baseline="-25000">
                <a:ea typeface="华文新魏" pitchFamily="2" charset="-122"/>
              </a:rPr>
              <a:t>m2</a:t>
            </a:r>
            <a:r>
              <a:rPr lang="en-US" altLang="zh-CN" sz="2500" b="1" baseline="30000">
                <a:sym typeface="Symbol" pitchFamily="18" charset="2"/>
              </a:rPr>
              <a:t> </a:t>
            </a:r>
            <a:r>
              <a:rPr lang="en-US" altLang="zh-CN" sz="2500" b="1">
                <a:ea typeface="华文新魏" pitchFamily="2" charset="-122"/>
              </a:rPr>
              <a:t>+0.5</a:t>
            </a:r>
            <a:r>
              <a:rPr lang="en-US" altLang="zh-CN" sz="2500" b="1" i="1">
                <a:ea typeface="华文新魏" pitchFamily="2" charset="-122"/>
              </a:rPr>
              <a:t>D</a:t>
            </a:r>
            <a:r>
              <a:rPr lang="en-US" altLang="zh-CN" sz="2500" b="1" baseline="-25000">
                <a:ea typeface="华文新魏" pitchFamily="2" charset="-122"/>
              </a:rPr>
              <a:t>I-I </a:t>
            </a:r>
            <a:r>
              <a:rPr lang="en-US" altLang="zh-CN" sz="2500" b="1">
                <a:ea typeface="华文新魏" pitchFamily="2" charset="-122"/>
              </a:rPr>
              <a:t>-</a:t>
            </a:r>
            <a:r>
              <a:rPr lang="en-US" altLang="zh-CN" sz="2500" b="1" i="1">
                <a:ea typeface="华文新魏" pitchFamily="2" charset="-122"/>
              </a:rPr>
              <a:t>E</a:t>
            </a:r>
            <a:r>
              <a:rPr lang="en-US" altLang="zh-CN" sz="2500" b="1" i="1" baseline="-25000">
                <a:ea typeface="华文新魏" pitchFamily="2" charset="-122"/>
              </a:rPr>
              <a:t>A</a:t>
            </a:r>
            <a:r>
              <a:rPr lang="en-US" altLang="zh-CN" sz="2500" b="1" baseline="-25000">
                <a:ea typeface="华文新魏" pitchFamily="2" charset="-122"/>
              </a:rPr>
              <a:t>1</a:t>
            </a:r>
            <a:r>
              <a:rPr lang="en-US" altLang="zh-CN" sz="2500" b="1"/>
              <a:t>) - U</a:t>
            </a:r>
            <a:endParaRPr lang="zh-CN" altLang="zh-CN" sz="2500" b="1">
              <a:solidFill>
                <a:srgbClr val="FFFFFF"/>
              </a:solidFill>
              <a:ea typeface="华文新魏" pitchFamily="2" charset="-122"/>
            </a:endParaRPr>
          </a:p>
        </p:txBody>
      </p:sp>
      <p:sp>
        <p:nvSpPr>
          <p:cNvPr id="62504" name="Rectangle 40"/>
          <p:cNvSpPr>
            <a:spLocks noChangeArrowheads="1"/>
          </p:cNvSpPr>
          <p:nvPr/>
        </p:nvSpPr>
        <p:spPr bwMode="auto">
          <a:xfrm>
            <a:off x="227013" y="358775"/>
            <a:ext cx="5327650" cy="2832100"/>
          </a:xfrm>
          <a:prstGeom prst="rect">
            <a:avLst/>
          </a:prstGeom>
          <a:noFill/>
          <a:ln w="9525">
            <a:noFill/>
            <a:miter lim="800000"/>
            <a:headEnd/>
            <a:tailEnd/>
          </a:ln>
          <a:effectLst/>
        </p:spPr>
        <p:txBody>
          <a:bodyPr>
            <a:spAutoFit/>
          </a:bodyPr>
          <a:lstStyle/>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已知</a:t>
            </a:r>
            <a:r>
              <a:rPr lang="en-US" altLang="zh-CN" sz="2500" b="1">
                <a:ea typeface="华文新魏" pitchFamily="2" charset="-122"/>
                <a:cs typeface="Times New Roman" pitchFamily="18" charset="0"/>
              </a:rPr>
              <a:t>KI</a:t>
            </a:r>
            <a:r>
              <a:rPr lang="zh-CN" altLang="zh-CN" sz="2500" b="1">
                <a:ea typeface="华文新魏" pitchFamily="2" charset="-122"/>
                <a:cs typeface="Times New Roman" pitchFamily="18" charset="0"/>
              </a:rPr>
              <a:t>的晶格能</a:t>
            </a:r>
            <a:r>
              <a:rPr lang="en-US" altLang="zh-CN" sz="2500" b="1">
                <a:ea typeface="华文新魏" pitchFamily="2" charset="-122"/>
                <a:cs typeface="Times New Roman" pitchFamily="18" charset="0"/>
              </a:rPr>
              <a:t>U = 649 kJ·mo1</a:t>
            </a:r>
            <a:r>
              <a:rPr lang="en-US" altLang="zh-CN" sz="2500" b="1" baseline="30000">
                <a:ea typeface="华文新魏" pitchFamily="2" charset="-122"/>
                <a:cs typeface="Times New Roman" pitchFamily="18" charset="0"/>
              </a:rPr>
              <a:t>-1</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钾的升华热</a:t>
            </a:r>
            <a:r>
              <a:rPr lang="en-US" altLang="zh-CN" sz="2500" b="1">
                <a:ea typeface="华文新魏" pitchFamily="2" charset="-122"/>
                <a:cs typeface="Times New Roman" pitchFamily="18" charset="0"/>
              </a:rPr>
              <a:t>Δ</a:t>
            </a:r>
            <a:r>
              <a:rPr lang="en-US" altLang="zh-CN" sz="2500" b="1" baseline="-25000">
                <a:ea typeface="华文新魏" pitchFamily="2" charset="-122"/>
                <a:cs typeface="Times New Roman" pitchFamily="18" charset="0"/>
              </a:rPr>
              <a:t>r</a:t>
            </a:r>
            <a:r>
              <a:rPr lang="en-US" altLang="zh-CN" sz="2500" b="1" i="1">
                <a:ea typeface="华文新魏" pitchFamily="2" charset="-122"/>
                <a:cs typeface="Times New Roman" pitchFamily="18" charset="0"/>
              </a:rPr>
              <a:t>H</a:t>
            </a:r>
            <a:r>
              <a:rPr lang="en-US" altLang="zh-CN" sz="2500" b="1" baseline="-25000">
                <a:ea typeface="华文新魏" pitchFamily="2" charset="-122"/>
                <a:cs typeface="Times New Roman" pitchFamily="18" charset="0"/>
              </a:rPr>
              <a:t>m1</a:t>
            </a:r>
            <a:r>
              <a:rPr lang="en-US" altLang="zh-CN" sz="2500" b="1" baseline="30000">
                <a:ea typeface="华文新魏" pitchFamily="2" charset="-122"/>
                <a:cs typeface="Times New Roman" pitchFamily="18" charset="0"/>
                <a:sym typeface="Symbol" pitchFamily="18" charset="2"/>
              </a:rPr>
              <a:t></a:t>
            </a:r>
            <a:r>
              <a:rPr lang="en-US" altLang="zh-CN" sz="2500" b="1" baseline="-25000">
                <a:ea typeface="华文新魏" pitchFamily="2" charset="-122"/>
                <a:cs typeface="Times New Roman" pitchFamily="18" charset="0"/>
              </a:rPr>
              <a:t> </a:t>
            </a:r>
            <a:r>
              <a:rPr lang="en-US" altLang="zh-CN" sz="2500" b="1">
                <a:ea typeface="华文新魏" pitchFamily="2" charset="-122"/>
                <a:cs typeface="Times New Roman" pitchFamily="18" charset="0"/>
              </a:rPr>
              <a:t>= 90 kJ·mo1</a:t>
            </a:r>
            <a:r>
              <a:rPr lang="en-US" altLang="zh-CN" sz="2500" b="1" baseline="30000">
                <a:ea typeface="华文新魏" pitchFamily="2" charset="-122"/>
                <a:cs typeface="Times New Roman" pitchFamily="18" charset="0"/>
              </a:rPr>
              <a:t>-1</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钾的电离能</a:t>
            </a:r>
            <a:r>
              <a:rPr lang="en-US" altLang="zh-CN" sz="2500" b="1" i="1">
                <a:ea typeface="华文新魏" pitchFamily="2" charset="-122"/>
                <a:cs typeface="Times New Roman" pitchFamily="18" charset="0"/>
              </a:rPr>
              <a:t>I</a:t>
            </a:r>
            <a:r>
              <a:rPr lang="en-US" altLang="zh-CN" sz="2500" b="1" baseline="-25000">
                <a:ea typeface="华文新魏" pitchFamily="2" charset="-122"/>
                <a:cs typeface="Times New Roman" pitchFamily="18" charset="0"/>
              </a:rPr>
              <a:t>1 </a:t>
            </a:r>
            <a:r>
              <a:rPr lang="en-US" altLang="zh-CN" sz="2500" b="1">
                <a:ea typeface="华文新魏" pitchFamily="2" charset="-122"/>
                <a:cs typeface="Times New Roman" pitchFamily="18" charset="0"/>
              </a:rPr>
              <a:t>= 418.9 kJ·mo1</a:t>
            </a:r>
            <a:r>
              <a:rPr lang="en-US" altLang="zh-CN" sz="2500" b="1" baseline="30000">
                <a:ea typeface="华文新魏" pitchFamily="2" charset="-122"/>
                <a:cs typeface="Times New Roman" pitchFamily="18" charset="0"/>
              </a:rPr>
              <a:t>-1</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碘分子的解离能</a:t>
            </a:r>
            <a:r>
              <a:rPr lang="en-US" altLang="zh-CN" sz="2500" b="1" i="1">
                <a:ea typeface="华文新魏" pitchFamily="2" charset="-122"/>
                <a:cs typeface="Times New Roman" pitchFamily="18" charset="0"/>
              </a:rPr>
              <a:t>D</a:t>
            </a:r>
            <a:r>
              <a:rPr lang="en-US" altLang="zh-CN" sz="2500" b="1" baseline="-25000">
                <a:ea typeface="华文新魏" pitchFamily="2" charset="-122"/>
                <a:cs typeface="Times New Roman" pitchFamily="18" charset="0"/>
              </a:rPr>
              <a:t>I-I </a:t>
            </a:r>
            <a:r>
              <a:rPr lang="en-US" altLang="zh-CN" sz="2500" b="1">
                <a:ea typeface="华文新魏" pitchFamily="2" charset="-122"/>
                <a:cs typeface="Times New Roman" pitchFamily="18" charset="0"/>
              </a:rPr>
              <a:t>= 152.55 kJ·mo1</a:t>
            </a:r>
            <a:r>
              <a:rPr lang="en-US" altLang="zh-CN" sz="2500" b="1" baseline="30000">
                <a:ea typeface="华文新魏" pitchFamily="2" charset="-122"/>
                <a:cs typeface="Times New Roman" pitchFamily="18" charset="0"/>
              </a:rPr>
              <a:t>-1</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碘的电子亲合能</a:t>
            </a:r>
            <a:r>
              <a:rPr lang="en-US" altLang="zh-CN" sz="2500" b="1" i="1">
                <a:ea typeface="华文新魏" pitchFamily="2" charset="-122"/>
                <a:cs typeface="Times New Roman" pitchFamily="18" charset="0"/>
              </a:rPr>
              <a:t>E</a:t>
            </a:r>
            <a:r>
              <a:rPr lang="en-US" altLang="zh-CN" sz="2500" b="1" i="1" baseline="-25000">
                <a:ea typeface="华文新魏" pitchFamily="2" charset="-122"/>
                <a:cs typeface="Times New Roman" pitchFamily="18" charset="0"/>
              </a:rPr>
              <a:t>A</a:t>
            </a:r>
            <a:r>
              <a:rPr lang="en-US" altLang="zh-CN" sz="2500" b="1" baseline="-25000">
                <a:ea typeface="华文新魏" pitchFamily="2" charset="-122"/>
                <a:cs typeface="Times New Roman" pitchFamily="18" charset="0"/>
              </a:rPr>
              <a:t>1 </a:t>
            </a:r>
            <a:r>
              <a:rPr lang="en-US" altLang="zh-CN" sz="2500" b="1">
                <a:ea typeface="华文新魏" pitchFamily="2" charset="-122"/>
                <a:cs typeface="Times New Roman" pitchFamily="18" charset="0"/>
              </a:rPr>
              <a:t>= 295 kJ·mo1</a:t>
            </a:r>
            <a:r>
              <a:rPr lang="en-US" altLang="zh-CN" sz="2500" b="1" baseline="30000">
                <a:ea typeface="华文新魏" pitchFamily="2" charset="-122"/>
                <a:cs typeface="Times New Roman" pitchFamily="18" charset="0"/>
              </a:rPr>
              <a:t>-1</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碘的升华热</a:t>
            </a:r>
            <a:r>
              <a:rPr lang="en-US" altLang="zh-CN" sz="2500" b="1">
                <a:ea typeface="华文新魏" pitchFamily="2" charset="-122"/>
                <a:cs typeface="Times New Roman" pitchFamily="18" charset="0"/>
              </a:rPr>
              <a:t>Δ</a:t>
            </a:r>
            <a:r>
              <a:rPr lang="en-US" altLang="zh-CN" sz="2500" b="1" baseline="-25000">
                <a:ea typeface="华文新魏" pitchFamily="2" charset="-122"/>
                <a:cs typeface="Times New Roman" pitchFamily="18" charset="0"/>
              </a:rPr>
              <a:t>r</a:t>
            </a:r>
            <a:r>
              <a:rPr lang="en-US" altLang="zh-CN" sz="2500" b="1" i="1">
                <a:ea typeface="华文新魏" pitchFamily="2" charset="-122"/>
                <a:cs typeface="Times New Roman" pitchFamily="18" charset="0"/>
              </a:rPr>
              <a:t>H</a:t>
            </a:r>
            <a:r>
              <a:rPr lang="en-US" altLang="zh-CN" sz="2500" b="1" baseline="-25000">
                <a:ea typeface="华文新魏" pitchFamily="2" charset="-122"/>
                <a:cs typeface="Times New Roman" pitchFamily="18" charset="0"/>
              </a:rPr>
              <a:t>m2</a:t>
            </a:r>
            <a:r>
              <a:rPr lang="en-US" altLang="zh-CN" sz="2500" b="1" baseline="30000">
                <a:sym typeface="Symbol" pitchFamily="18" charset="2"/>
              </a:rPr>
              <a:t> </a:t>
            </a:r>
            <a:r>
              <a:rPr lang="en-US" altLang="zh-CN" sz="2500" b="1">
                <a:ea typeface="华文新魏" pitchFamily="2" charset="-122"/>
              </a:rPr>
              <a:t>= 62.3 kJ·mo1</a:t>
            </a:r>
            <a:r>
              <a:rPr lang="en-US" altLang="zh-CN" sz="2500" b="1" baseline="30000">
                <a:ea typeface="华文新魏" pitchFamily="2" charset="-122"/>
              </a:rPr>
              <a:t>-1</a:t>
            </a:r>
            <a:r>
              <a:rPr lang="en-US" altLang="zh-CN" sz="2500" b="1">
                <a:ea typeface="华文新魏" pitchFamily="2" charset="-122"/>
              </a:rPr>
              <a:t>. </a:t>
            </a:r>
            <a:r>
              <a:rPr lang="zh-CN" altLang="zh-CN" sz="2500" b="1">
                <a:ea typeface="华文新魏" pitchFamily="2" charset="-122"/>
              </a:rPr>
              <a:t>求</a:t>
            </a:r>
            <a:r>
              <a:rPr lang="en-US" altLang="zh-CN" sz="2500" b="1">
                <a:ea typeface="华文新魏" pitchFamily="2" charset="-122"/>
              </a:rPr>
              <a:t>KI</a:t>
            </a:r>
            <a:r>
              <a:rPr lang="zh-CN" altLang="zh-CN" sz="2500" b="1">
                <a:ea typeface="华文新魏" pitchFamily="2" charset="-122"/>
              </a:rPr>
              <a:t>的生成热</a:t>
            </a:r>
            <a:r>
              <a:rPr lang="en-US" altLang="zh-CN" sz="2500" b="1">
                <a:ea typeface="华文新魏" pitchFamily="2" charset="-122"/>
              </a:rPr>
              <a:t>Δ</a:t>
            </a:r>
            <a:r>
              <a:rPr lang="en-US" altLang="zh-CN" sz="2500" b="1" baseline="-25000">
                <a:ea typeface="华文新魏" pitchFamily="2" charset="-122"/>
              </a:rPr>
              <a:t>f</a:t>
            </a:r>
            <a:r>
              <a:rPr lang="en-US" altLang="zh-CN" sz="2500" b="1" i="1">
                <a:ea typeface="华文新魏" pitchFamily="2" charset="-122"/>
              </a:rPr>
              <a:t>H</a:t>
            </a:r>
            <a:r>
              <a:rPr lang="en-US" altLang="zh-CN" sz="2500" b="1" baseline="-25000">
                <a:ea typeface="华文新魏" pitchFamily="2" charset="-122"/>
              </a:rPr>
              <a:t>m</a:t>
            </a:r>
            <a:r>
              <a:rPr lang="en-US" altLang="zh-CN" sz="2500" b="1" baseline="30000">
                <a:sym typeface="Symbol" pitchFamily="18" charset="2"/>
              </a:rPr>
              <a:t> </a:t>
            </a:r>
            <a:r>
              <a:rPr lang="en-US" altLang="zh-CN" sz="2500" b="1" baseline="30000">
                <a:ea typeface="华文新魏" pitchFamily="2" charset="-122"/>
              </a:rPr>
              <a:t> </a:t>
            </a:r>
            <a:r>
              <a:rPr lang="en-US" altLang="zh-CN" sz="2500" b="1">
                <a:ea typeface="华文新魏" pitchFamily="2" charset="-122"/>
              </a:rPr>
              <a:t>. </a:t>
            </a:r>
            <a:endParaRPr lang="zh-CN" altLang="zh-CN" sz="2500" b="1">
              <a:ea typeface="华文新魏" pitchFamily="2" charset="-122"/>
            </a:endParaRPr>
          </a:p>
        </p:txBody>
      </p:sp>
      <p:sp>
        <p:nvSpPr>
          <p:cNvPr id="62502" name="Rectangle 38"/>
          <p:cNvSpPr>
            <a:spLocks noChangeArrowheads="1"/>
          </p:cNvSpPr>
          <p:nvPr/>
        </p:nvSpPr>
        <p:spPr bwMode="auto">
          <a:xfrm>
            <a:off x="5945188" y="374650"/>
            <a:ext cx="2735262" cy="473075"/>
          </a:xfrm>
          <a:prstGeom prst="rect">
            <a:avLst/>
          </a:prstGeom>
          <a:noFill/>
          <a:ln w="9525">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解题思路：</a:t>
            </a:r>
          </a:p>
        </p:txBody>
      </p:sp>
      <p:sp>
        <p:nvSpPr>
          <p:cNvPr id="27653" name="Text Box 39"/>
          <p:cNvSpPr txBox="1">
            <a:spLocks noChangeArrowheads="1"/>
          </p:cNvSpPr>
          <p:nvPr/>
        </p:nvSpPr>
        <p:spPr bwMode="auto">
          <a:xfrm>
            <a:off x="179388" y="358775"/>
            <a:ext cx="1909762" cy="477838"/>
          </a:xfrm>
          <a:prstGeom prst="rect">
            <a:avLst/>
          </a:prstGeom>
          <a:noFill/>
          <a:ln w="9525" algn="ctr">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习题</a:t>
            </a:r>
            <a:r>
              <a:rPr lang="en-US" altLang="zh-CN" sz="2500" b="1">
                <a:solidFill>
                  <a:srgbClr val="FFFF00"/>
                </a:solidFill>
                <a:ea typeface="华文新魏" pitchFamily="2" charset="-122"/>
                <a:cs typeface="Times New Roman" pitchFamily="18" charset="0"/>
              </a:rPr>
              <a:t>8-21</a:t>
            </a:r>
            <a:r>
              <a:rPr lang="zh-CN" altLang="en-US" sz="2500" b="1">
                <a:solidFill>
                  <a:srgbClr val="FFFF00"/>
                </a:solidFill>
                <a:ea typeface="华文新魏" pitchFamily="2" charset="-122"/>
                <a:cs typeface="Times New Roman" pitchFamily="18" charset="0"/>
              </a:rPr>
              <a:t>：</a:t>
            </a:r>
          </a:p>
        </p:txBody>
      </p:sp>
      <p:sp>
        <p:nvSpPr>
          <p:cNvPr id="5" name="Rectangle 38"/>
          <p:cNvSpPr>
            <a:spLocks noChangeArrowheads="1"/>
          </p:cNvSpPr>
          <p:nvPr/>
        </p:nvSpPr>
        <p:spPr bwMode="auto">
          <a:xfrm>
            <a:off x="5988050" y="3240088"/>
            <a:ext cx="2735263" cy="473075"/>
          </a:xfrm>
          <a:prstGeom prst="rect">
            <a:avLst/>
          </a:prstGeom>
          <a:noFill/>
          <a:ln w="9525">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参考答案：</a:t>
            </a:r>
          </a:p>
        </p:txBody>
      </p:sp>
      <p:sp>
        <p:nvSpPr>
          <p:cNvPr id="7" name="Rectangle 38"/>
          <p:cNvSpPr>
            <a:spLocks noChangeArrowheads="1"/>
          </p:cNvSpPr>
          <p:nvPr/>
        </p:nvSpPr>
        <p:spPr bwMode="auto">
          <a:xfrm>
            <a:off x="6929438" y="3254375"/>
            <a:ext cx="4232275" cy="477838"/>
          </a:xfrm>
          <a:prstGeom prst="rect">
            <a:avLst/>
          </a:prstGeom>
          <a:noFill/>
          <a:ln w="9525">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en-US" altLang="zh-CN" sz="2500" b="1" i="1">
                <a:solidFill>
                  <a:srgbClr val="FFFFFF"/>
                </a:solidFill>
                <a:ea typeface="华文新魏" pitchFamily="2" charset="-122"/>
                <a:cs typeface="Times New Roman" pitchFamily="18" charset="0"/>
              </a:rPr>
              <a:t>       </a:t>
            </a:r>
            <a:r>
              <a:rPr lang="en-US" altLang="zh-CN" sz="2500" b="1">
                <a:ea typeface="华文新魏" pitchFamily="2" charset="-122"/>
                <a:cs typeface="Times New Roman" pitchFamily="18" charset="0"/>
              </a:rPr>
              <a:t>-327.68kJ·mol</a:t>
            </a:r>
            <a:r>
              <a:rPr lang="en-US" altLang="zh-CN" sz="2500" b="1" baseline="30000">
                <a:ea typeface="华文新魏" pitchFamily="2" charset="-122"/>
                <a:cs typeface="Times New Roman" pitchFamily="18" charset="0"/>
              </a:rPr>
              <a:t>-1</a:t>
            </a:r>
            <a:endParaRPr lang="zh-CN" altLang="en-US" sz="2500" b="1">
              <a:solidFill>
                <a:srgbClr val="FFFFFF"/>
              </a:solidFill>
              <a:ea typeface="华文新魏" pitchFamily="2" charset="-122"/>
              <a:cs typeface="Times New Roman" pitchFamily="18" charset="0"/>
            </a:endParaRP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2504"/>
                                        </p:tgtEl>
                                        <p:attrNameLst>
                                          <p:attrName>style.visibility</p:attrName>
                                        </p:attrNameLst>
                                      </p:cBhvr>
                                      <p:to>
                                        <p:strVal val="visible"/>
                                      </p:to>
                                    </p:set>
                                    <p:animEffect transition="in" filter="blinds(horizontal)">
                                      <p:cBhvr>
                                        <p:cTn id="7" dur="500"/>
                                        <p:tgtEl>
                                          <p:spTgt spid="625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2502"/>
                                        </p:tgtEl>
                                        <p:attrNameLst>
                                          <p:attrName>style.visibility</p:attrName>
                                        </p:attrNameLst>
                                      </p:cBhvr>
                                      <p:to>
                                        <p:strVal val="visible"/>
                                      </p:to>
                                    </p:set>
                                    <p:animEffect transition="in" filter="blinds(horizontal)">
                                      <p:cBhvr>
                                        <p:cTn id="12" dur="500"/>
                                        <p:tgtEl>
                                          <p:spTgt spid="6250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098"/>
                                        </p:tgtEl>
                                        <p:attrNameLst>
                                          <p:attrName>style.visibility</p:attrName>
                                        </p:attrNameLst>
                                      </p:cBhvr>
                                      <p:to>
                                        <p:strVal val="visible"/>
                                      </p:to>
                                    </p:set>
                                    <p:animEffect transition="in" filter="wipe(up)">
                                      <p:cBhvr>
                                        <p:cTn id="17" dur="500"/>
                                        <p:tgtEl>
                                          <p:spTgt spid="409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linds(horizontal)">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 grpId="0"/>
      <p:bldP spid="62504" grpId="0" autoUpdateAnimBg="0"/>
      <p:bldP spid="62502" grpId="0" autoUpdateAnimBg="0"/>
      <p:bldP spid="5" grpId="0" autoUpdateAnimBg="0"/>
      <p:bldP spid="7"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0"/>
          <p:cNvSpPr>
            <a:spLocks noChangeArrowheads="1"/>
          </p:cNvSpPr>
          <p:nvPr/>
        </p:nvSpPr>
        <p:spPr bwMode="auto">
          <a:xfrm>
            <a:off x="73025" y="338138"/>
            <a:ext cx="4103688" cy="1631950"/>
          </a:xfrm>
          <a:prstGeom prst="rect">
            <a:avLst/>
          </a:prstGeom>
          <a:noFill/>
          <a:ln w="9525">
            <a:noFill/>
            <a:miter lim="800000"/>
            <a:headEnd/>
            <a:tailEnd/>
          </a:ln>
          <a:effectLst/>
        </p:spPr>
        <p:txBody>
          <a:bodyPr>
            <a:spAutoFit/>
          </a:bodyPr>
          <a:lstStyle/>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指出下列各组离子中，何者极化率最大？</a:t>
            </a:r>
          </a:p>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①</a:t>
            </a:r>
            <a:r>
              <a:rPr lang="en-US" altLang="zh-CN" sz="2500" b="1">
                <a:ea typeface="华文新魏" pitchFamily="2" charset="-122"/>
                <a:cs typeface="Times New Roman" pitchFamily="18" charset="0"/>
              </a:rPr>
              <a:t>  Na</a:t>
            </a:r>
            <a:r>
              <a:rPr lang="en-US" altLang="zh-CN" sz="2500" b="1" baseline="30000">
                <a:ea typeface="华文新魏" pitchFamily="2" charset="-122"/>
                <a:cs typeface="Times New Roman" pitchFamily="18" charset="0"/>
              </a:rPr>
              <a:t>+</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I</a:t>
            </a:r>
            <a:r>
              <a:rPr lang="en-US" altLang="zh-CN" sz="2500" b="1" baseline="30000">
                <a:ea typeface="华文新魏" pitchFamily="2" charset="-122"/>
                <a:cs typeface="Times New Roman" pitchFamily="18" charset="0"/>
              </a:rPr>
              <a:t>-</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Rb</a:t>
            </a:r>
            <a:r>
              <a:rPr lang="en-US" altLang="zh-CN" sz="2500" b="1" baseline="30000">
                <a:ea typeface="华文新魏" pitchFamily="2" charset="-122"/>
                <a:cs typeface="Times New Roman" pitchFamily="18" charset="0"/>
              </a:rPr>
              <a:t>+</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Cl</a:t>
            </a:r>
            <a:r>
              <a:rPr lang="en-US" altLang="zh-CN" sz="2500" b="1" baseline="30000">
                <a:ea typeface="华文新魏" pitchFamily="2" charset="-122"/>
                <a:cs typeface="Times New Roman" pitchFamily="18" charset="0"/>
              </a:rPr>
              <a:t>-</a:t>
            </a:r>
            <a:r>
              <a:rPr lang="en-US" altLang="zh-CN" sz="2500" b="1">
                <a:ea typeface="华文新魏" pitchFamily="2" charset="-122"/>
                <a:cs typeface="Times New Roman" pitchFamily="18" charset="0"/>
              </a:rPr>
              <a:t>       </a:t>
            </a:r>
          </a:p>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②</a:t>
            </a:r>
            <a:r>
              <a:rPr lang="en-US" altLang="zh-CN" sz="2500" b="1">
                <a:ea typeface="华文新魏" pitchFamily="2" charset="-122"/>
                <a:cs typeface="Times New Roman" pitchFamily="18" charset="0"/>
              </a:rPr>
              <a:t>  O</a:t>
            </a:r>
            <a:r>
              <a:rPr lang="en-US" altLang="zh-CN" sz="2500" b="1" baseline="30000">
                <a:ea typeface="华文新魏" pitchFamily="2" charset="-122"/>
                <a:cs typeface="Times New Roman" pitchFamily="18" charset="0"/>
              </a:rPr>
              <a:t>2-</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F</a:t>
            </a:r>
            <a:r>
              <a:rPr lang="en-US" altLang="zh-CN" sz="2500" b="1" baseline="30000">
                <a:ea typeface="华文新魏" pitchFamily="2" charset="-122"/>
                <a:cs typeface="Times New Roman" pitchFamily="18" charset="0"/>
              </a:rPr>
              <a:t>-</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S</a:t>
            </a:r>
            <a:r>
              <a:rPr lang="en-US" altLang="zh-CN" sz="2500" b="1" baseline="30000">
                <a:ea typeface="华文新魏" pitchFamily="2" charset="-122"/>
                <a:cs typeface="Times New Roman" pitchFamily="18" charset="0"/>
              </a:rPr>
              <a:t>2-</a:t>
            </a:r>
            <a:endParaRPr lang="zh-CN" altLang="zh-CN" sz="2500" b="1">
              <a:solidFill>
                <a:srgbClr val="FFFFFF"/>
              </a:solidFill>
              <a:ea typeface="华文新魏" pitchFamily="2" charset="-122"/>
              <a:cs typeface="Times New Roman" pitchFamily="18" charset="0"/>
            </a:endParaRPr>
          </a:p>
        </p:txBody>
      </p:sp>
      <p:sp>
        <p:nvSpPr>
          <p:cNvPr id="28675" name="Text Box 39"/>
          <p:cNvSpPr txBox="1">
            <a:spLocks noChangeArrowheads="1"/>
          </p:cNvSpPr>
          <p:nvPr/>
        </p:nvSpPr>
        <p:spPr bwMode="auto">
          <a:xfrm>
            <a:off x="112713" y="341313"/>
            <a:ext cx="1836737" cy="477837"/>
          </a:xfrm>
          <a:prstGeom prst="rect">
            <a:avLst/>
          </a:prstGeom>
          <a:noFill/>
          <a:ln w="9525" algn="ctr">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习题</a:t>
            </a:r>
            <a:r>
              <a:rPr lang="en-US" altLang="zh-CN" sz="2500" b="1">
                <a:solidFill>
                  <a:srgbClr val="FFFF00"/>
                </a:solidFill>
                <a:ea typeface="华文新魏" pitchFamily="2" charset="-122"/>
                <a:cs typeface="Times New Roman" pitchFamily="18" charset="0"/>
              </a:rPr>
              <a:t>8-22</a:t>
            </a:r>
            <a:r>
              <a:rPr lang="zh-CN" altLang="en-US" sz="2500" b="1">
                <a:solidFill>
                  <a:srgbClr val="FFFF00"/>
                </a:solidFill>
                <a:ea typeface="华文新魏" pitchFamily="2" charset="-122"/>
                <a:cs typeface="Times New Roman" pitchFamily="18" charset="0"/>
              </a:rPr>
              <a:t>：</a:t>
            </a:r>
          </a:p>
        </p:txBody>
      </p:sp>
      <p:sp>
        <p:nvSpPr>
          <p:cNvPr id="5" name="Rectangle 38"/>
          <p:cNvSpPr>
            <a:spLocks noChangeArrowheads="1"/>
          </p:cNvSpPr>
          <p:nvPr/>
        </p:nvSpPr>
        <p:spPr bwMode="auto">
          <a:xfrm>
            <a:off x="4608513" y="334963"/>
            <a:ext cx="6627812" cy="1246187"/>
          </a:xfrm>
          <a:prstGeom prst="rect">
            <a:avLst/>
          </a:prstGeom>
          <a:noFill/>
          <a:ln w="9525">
            <a:noFill/>
            <a:miter lim="800000"/>
            <a:headEnd/>
            <a:tailEnd/>
          </a:ln>
          <a:effectLst/>
        </p:spPr>
        <p:txBody>
          <a:bodyPr>
            <a:spAutoFit/>
          </a:bodyPr>
          <a:lstStyle/>
          <a:p>
            <a:pPr eaLnBrk="0" hangingPunct="0"/>
            <a:r>
              <a:rPr lang="zh-CN" altLang="en-US" sz="2500" b="1">
                <a:solidFill>
                  <a:srgbClr val="FFFFFF"/>
                </a:solidFill>
                <a:ea typeface="华文新魏" pitchFamily="2" charset="-122"/>
                <a:cs typeface="Times New Roman" pitchFamily="18" charset="0"/>
              </a:rPr>
              <a:t>                     ⑴离子半径越大</a:t>
            </a:r>
            <a:r>
              <a:rPr lang="en-US" altLang="zh-CN" sz="2500" b="1">
                <a:solidFill>
                  <a:srgbClr val="FFFFFF"/>
                </a:solidFill>
                <a:ea typeface="华文新魏" pitchFamily="2" charset="-122"/>
                <a:cs typeface="Times New Roman" pitchFamily="18" charset="0"/>
              </a:rPr>
              <a:t>, </a:t>
            </a:r>
            <a:r>
              <a:rPr lang="zh-CN" altLang="en-US" sz="2500" b="1">
                <a:solidFill>
                  <a:srgbClr val="FFFFFF"/>
                </a:solidFill>
                <a:ea typeface="华文新魏" pitchFamily="2" charset="-122"/>
                <a:cs typeface="Times New Roman" pitchFamily="18" charset="0"/>
              </a:rPr>
              <a:t>离子变形性越大</a:t>
            </a:r>
            <a:r>
              <a:rPr lang="en-US" altLang="zh-CN" sz="2500" b="1">
                <a:solidFill>
                  <a:srgbClr val="FFFFFF"/>
                </a:solidFill>
                <a:ea typeface="华文新魏" pitchFamily="2" charset="-122"/>
                <a:cs typeface="Times New Roman" pitchFamily="18" charset="0"/>
              </a:rPr>
              <a:t>, </a:t>
            </a:r>
            <a:r>
              <a:rPr lang="zh-CN" altLang="en-US" sz="2500" b="1">
                <a:solidFill>
                  <a:srgbClr val="FFFFFF"/>
                </a:solidFill>
                <a:ea typeface="华文新魏" pitchFamily="2" charset="-122"/>
                <a:cs typeface="Times New Roman" pitchFamily="18" charset="0"/>
              </a:rPr>
              <a:t>离子极化率越大</a:t>
            </a:r>
            <a:r>
              <a:rPr lang="en-US" altLang="zh-CN" sz="2500" b="1">
                <a:solidFill>
                  <a:srgbClr val="FFFFFF"/>
                </a:solidFill>
                <a:ea typeface="华文新魏" pitchFamily="2" charset="-122"/>
                <a:cs typeface="Times New Roman" pitchFamily="18" charset="0"/>
              </a:rPr>
              <a:t>; </a:t>
            </a:r>
            <a:r>
              <a:rPr lang="zh-CN" altLang="en-US" sz="2500" b="1">
                <a:solidFill>
                  <a:srgbClr val="FFFFFF"/>
                </a:solidFill>
                <a:ea typeface="华文新魏" pitchFamily="2" charset="-122"/>
                <a:cs typeface="Times New Roman" pitchFamily="18" charset="0"/>
              </a:rPr>
              <a:t>⑵离子电荷数越负</a:t>
            </a:r>
            <a:r>
              <a:rPr lang="en-US" altLang="zh-CN" sz="2500" b="1">
                <a:solidFill>
                  <a:srgbClr val="FFFFFF"/>
                </a:solidFill>
                <a:ea typeface="华文新魏" pitchFamily="2" charset="-122"/>
                <a:cs typeface="Times New Roman" pitchFamily="18" charset="0"/>
              </a:rPr>
              <a:t>, </a:t>
            </a:r>
            <a:r>
              <a:rPr lang="zh-CN" altLang="en-US" sz="2500" b="1">
                <a:solidFill>
                  <a:srgbClr val="FFFFFF"/>
                </a:solidFill>
                <a:ea typeface="华文新魏" pitchFamily="2" charset="-122"/>
                <a:cs typeface="Times New Roman" pitchFamily="18" charset="0"/>
              </a:rPr>
              <a:t>离子变形性越大</a:t>
            </a:r>
            <a:r>
              <a:rPr lang="en-US" altLang="zh-CN" sz="2500" b="1">
                <a:solidFill>
                  <a:srgbClr val="FFFFFF"/>
                </a:solidFill>
                <a:ea typeface="华文新魏" pitchFamily="2" charset="-122"/>
                <a:cs typeface="Times New Roman" pitchFamily="18" charset="0"/>
              </a:rPr>
              <a:t>, </a:t>
            </a:r>
            <a:r>
              <a:rPr lang="zh-CN" altLang="en-US" sz="2500" b="1">
                <a:solidFill>
                  <a:srgbClr val="FFFFFF"/>
                </a:solidFill>
                <a:ea typeface="华文新魏" pitchFamily="2" charset="-122"/>
                <a:cs typeface="Times New Roman" pitchFamily="18" charset="0"/>
              </a:rPr>
              <a:t>离子极化率越大</a:t>
            </a:r>
            <a:r>
              <a:rPr lang="en-US" altLang="zh-CN" sz="2500" b="1">
                <a:solidFill>
                  <a:srgbClr val="FFFFFF"/>
                </a:solidFill>
                <a:ea typeface="华文新魏" pitchFamily="2" charset="-122"/>
                <a:cs typeface="Times New Roman" pitchFamily="18" charset="0"/>
              </a:rPr>
              <a:t>.</a:t>
            </a:r>
            <a:endParaRPr lang="zh-CN" altLang="zh-CN" sz="2500" b="1">
              <a:solidFill>
                <a:srgbClr val="FFFFFF"/>
              </a:solidFill>
              <a:ea typeface="华文新魏" pitchFamily="2" charset="-122"/>
              <a:cs typeface="Times New Roman" pitchFamily="18" charset="0"/>
            </a:endParaRPr>
          </a:p>
        </p:txBody>
      </p:sp>
      <p:sp>
        <p:nvSpPr>
          <p:cNvPr id="2" name="Rectangle 38"/>
          <p:cNvSpPr>
            <a:spLocks noChangeArrowheads="1"/>
          </p:cNvSpPr>
          <p:nvPr/>
        </p:nvSpPr>
        <p:spPr bwMode="auto">
          <a:xfrm>
            <a:off x="4608513" y="344488"/>
            <a:ext cx="1800225" cy="476250"/>
          </a:xfrm>
          <a:prstGeom prst="rect">
            <a:avLst/>
          </a:prstGeom>
          <a:noFill/>
          <a:ln w="9525">
            <a:noFill/>
            <a:miter lim="800000"/>
            <a:headEnd/>
            <a:tailEnd/>
          </a:ln>
          <a:effectLst/>
        </p:spPr>
        <p:txBody>
          <a:bodyPr>
            <a:spAutoFit/>
          </a:bodyPr>
          <a:lstStyle/>
          <a:p>
            <a:pPr marL="342900" indent="-342900" eaLnBrk="0" hangingPunct="0"/>
            <a:r>
              <a:rPr lang="zh-CN" altLang="zh-CN" sz="2500" b="1">
                <a:solidFill>
                  <a:srgbClr val="FFFF00"/>
                </a:solidFill>
                <a:ea typeface="华文新魏" pitchFamily="2" charset="-122"/>
                <a:cs typeface="Times New Roman" pitchFamily="18" charset="0"/>
              </a:rPr>
              <a:t>解题思路：</a:t>
            </a:r>
          </a:p>
        </p:txBody>
      </p:sp>
      <p:sp>
        <p:nvSpPr>
          <p:cNvPr id="9" name="Rectangle 38"/>
          <p:cNvSpPr>
            <a:spLocks noChangeArrowheads="1"/>
          </p:cNvSpPr>
          <p:nvPr/>
        </p:nvSpPr>
        <p:spPr bwMode="auto">
          <a:xfrm>
            <a:off x="4584700" y="3025775"/>
            <a:ext cx="2735263" cy="473075"/>
          </a:xfrm>
          <a:prstGeom prst="rect">
            <a:avLst/>
          </a:prstGeom>
          <a:noFill/>
          <a:ln w="9525">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参考答案：</a:t>
            </a:r>
          </a:p>
        </p:txBody>
      </p:sp>
      <p:sp>
        <p:nvSpPr>
          <p:cNvPr id="10" name="矩形 9"/>
          <p:cNvSpPr>
            <a:spLocks noChangeArrowheads="1"/>
          </p:cNvSpPr>
          <p:nvPr/>
        </p:nvSpPr>
        <p:spPr bwMode="auto">
          <a:xfrm>
            <a:off x="4608513" y="3003550"/>
            <a:ext cx="6624637" cy="477838"/>
          </a:xfrm>
          <a:prstGeom prst="rect">
            <a:avLst/>
          </a:prstGeom>
          <a:noFill/>
          <a:ln w="9525">
            <a:noFill/>
            <a:miter lim="800000"/>
            <a:headEnd/>
            <a:tailEnd/>
          </a:ln>
        </p:spPr>
        <p:txBody>
          <a:bodyPr>
            <a:spAutoFit/>
          </a:bodyPr>
          <a:lstStyle/>
          <a:p>
            <a:r>
              <a:rPr lang="en-US" altLang="zh-CN" sz="2500" b="1">
                <a:solidFill>
                  <a:srgbClr val="FFFFFF"/>
                </a:solidFill>
                <a:ea typeface="华文新魏" pitchFamily="2" charset="-122"/>
                <a:cs typeface="Times New Roman" pitchFamily="18" charset="0"/>
              </a:rPr>
              <a:t>                     ① I</a:t>
            </a:r>
            <a:r>
              <a:rPr lang="en-US" altLang="zh-CN" sz="2500" b="1" baseline="30000">
                <a:solidFill>
                  <a:srgbClr val="FFFFFF"/>
                </a:solidFill>
                <a:ea typeface="华文新魏" pitchFamily="2" charset="-122"/>
                <a:cs typeface="Times New Roman" pitchFamily="18" charset="0"/>
              </a:rPr>
              <a:t>-</a:t>
            </a:r>
            <a:r>
              <a:rPr lang="zh-CN" altLang="en-US" sz="2500" b="1">
                <a:solidFill>
                  <a:srgbClr val="FFFFFF"/>
                </a:solidFill>
                <a:ea typeface="华文新魏" pitchFamily="2" charset="-122"/>
                <a:cs typeface="Times New Roman" pitchFamily="18" charset="0"/>
              </a:rPr>
              <a:t>；② </a:t>
            </a:r>
            <a:r>
              <a:rPr lang="en-US" altLang="zh-CN" sz="2500" b="1">
                <a:solidFill>
                  <a:srgbClr val="FFFFFF"/>
                </a:solidFill>
                <a:ea typeface="华文新魏" pitchFamily="2" charset="-122"/>
                <a:cs typeface="Times New Roman" pitchFamily="18" charset="0"/>
              </a:rPr>
              <a:t>S</a:t>
            </a:r>
            <a:r>
              <a:rPr lang="en-US" altLang="zh-CN" sz="2500" b="1" baseline="30000">
                <a:solidFill>
                  <a:srgbClr val="FFFFFF"/>
                </a:solidFill>
                <a:ea typeface="华文新魏" pitchFamily="2" charset="-122"/>
                <a:cs typeface="Times New Roman" pitchFamily="18" charset="0"/>
              </a:rPr>
              <a:t>2-</a:t>
            </a:r>
            <a:r>
              <a:rPr lang="zh-CN" altLang="en-US" sz="2500" b="1">
                <a:solidFill>
                  <a:srgbClr val="FFFFFF"/>
                </a:solidFill>
                <a:ea typeface="华文新魏" pitchFamily="2" charset="-122"/>
                <a:cs typeface="Times New Roman" pitchFamily="18" charset="0"/>
              </a:rPr>
              <a:t>；</a:t>
            </a:r>
            <a:endParaRPr lang="zh-CN" altLang="zh-CN" sz="2500" b="1">
              <a:solidFill>
                <a:srgbClr val="FFFFFF"/>
              </a:solidFill>
              <a:ea typeface="华文新魏" pitchFamily="2" charset="-122"/>
              <a:cs typeface="Times New Roman" pitchFamily="18" charset="0"/>
            </a:endParaRP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blinds(horizontal)">
                                      <p:cBhvr>
                                        <p:cTn id="17" dur="500"/>
                                        <p:tgtEl>
                                          <p:spTgt spid="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up)">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P spid="2" grpId="0"/>
      <p:bldP spid="9" grpId="0" autoUpdateAnimBg="0"/>
      <p:bldP spid="1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0"/>
          <p:cNvSpPr>
            <a:spLocks noChangeArrowheads="1"/>
          </p:cNvSpPr>
          <p:nvPr/>
        </p:nvSpPr>
        <p:spPr bwMode="auto">
          <a:xfrm>
            <a:off x="73025" y="338138"/>
            <a:ext cx="4103688" cy="1631950"/>
          </a:xfrm>
          <a:prstGeom prst="rect">
            <a:avLst/>
          </a:prstGeom>
          <a:noFill/>
          <a:ln w="9525">
            <a:noFill/>
            <a:miter lim="800000"/>
            <a:headEnd/>
            <a:tailEnd/>
          </a:ln>
          <a:effectLst/>
        </p:spPr>
        <p:txBody>
          <a:bodyPr>
            <a:spAutoFit/>
          </a:bodyPr>
          <a:lstStyle/>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试用离子极化讨论</a:t>
            </a:r>
            <a:r>
              <a:rPr lang="en-US" altLang="zh-CN" sz="2500" b="1">
                <a:ea typeface="华文新魏" pitchFamily="2" charset="-122"/>
                <a:cs typeface="Times New Roman" pitchFamily="18" charset="0"/>
              </a:rPr>
              <a:t>Cu</a:t>
            </a:r>
            <a:r>
              <a:rPr lang="en-US" altLang="zh-CN" sz="2500" b="1" baseline="30000">
                <a:ea typeface="华文新魏" pitchFamily="2" charset="-122"/>
                <a:cs typeface="Times New Roman" pitchFamily="18" charset="0"/>
              </a:rPr>
              <a:t>+</a:t>
            </a:r>
            <a:r>
              <a:rPr lang="zh-CN" altLang="zh-CN" sz="2500" b="1">
                <a:ea typeface="华文新魏" pitchFamily="2" charset="-122"/>
                <a:cs typeface="Times New Roman" pitchFamily="18" charset="0"/>
              </a:rPr>
              <a:t>与</a:t>
            </a:r>
            <a:r>
              <a:rPr lang="en-US" altLang="zh-CN" sz="2500" b="1">
                <a:ea typeface="华文新魏" pitchFamily="2" charset="-122"/>
                <a:cs typeface="Times New Roman" pitchFamily="18" charset="0"/>
              </a:rPr>
              <a:t>Na</a:t>
            </a:r>
            <a:r>
              <a:rPr lang="en-US" altLang="zh-CN" sz="2500" b="1" baseline="30000">
                <a:ea typeface="华文新魏" pitchFamily="2" charset="-122"/>
                <a:cs typeface="Times New Roman" pitchFamily="18" charset="0"/>
              </a:rPr>
              <a:t>+</a:t>
            </a:r>
            <a:r>
              <a:rPr lang="zh-CN" altLang="zh-CN" sz="2500" b="1">
                <a:ea typeface="华文新魏" pitchFamily="2" charset="-122"/>
                <a:cs typeface="Times New Roman" pitchFamily="18" charset="0"/>
              </a:rPr>
              <a:t>虽然半径相近</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但</a:t>
            </a:r>
            <a:r>
              <a:rPr lang="en-US" altLang="zh-CN" sz="2500" b="1">
                <a:ea typeface="华文新魏" pitchFamily="2" charset="-122"/>
                <a:cs typeface="Times New Roman" pitchFamily="18" charset="0"/>
              </a:rPr>
              <a:t>CuCl</a:t>
            </a:r>
            <a:r>
              <a:rPr lang="zh-CN" altLang="zh-CN" sz="2500" b="1">
                <a:ea typeface="华文新魏" pitchFamily="2" charset="-122"/>
                <a:cs typeface="Times New Roman" pitchFamily="18" charset="0"/>
              </a:rPr>
              <a:t>在水中溶解度比</a:t>
            </a:r>
            <a:r>
              <a:rPr lang="en-US" altLang="zh-CN" sz="2500" b="1">
                <a:ea typeface="华文新魏" pitchFamily="2" charset="-122"/>
                <a:cs typeface="Times New Roman" pitchFamily="18" charset="0"/>
              </a:rPr>
              <a:t>NaCl</a:t>
            </a:r>
            <a:r>
              <a:rPr lang="zh-CN" altLang="zh-CN" sz="2500" b="1">
                <a:ea typeface="华文新魏" pitchFamily="2" charset="-122"/>
                <a:cs typeface="Times New Roman" pitchFamily="18" charset="0"/>
              </a:rPr>
              <a:t>小得多的原因</a:t>
            </a:r>
            <a:r>
              <a:rPr lang="en-US" altLang="zh-CN" sz="2500" b="1">
                <a:ea typeface="华文新魏" pitchFamily="2" charset="-122"/>
                <a:cs typeface="Times New Roman" pitchFamily="18" charset="0"/>
              </a:rPr>
              <a:t>.</a:t>
            </a:r>
            <a:endParaRPr lang="zh-CN" altLang="zh-CN" sz="2500" b="1">
              <a:solidFill>
                <a:srgbClr val="FFFFFF"/>
              </a:solidFill>
              <a:ea typeface="华文新魏" pitchFamily="2" charset="-122"/>
              <a:cs typeface="Times New Roman" pitchFamily="18" charset="0"/>
            </a:endParaRPr>
          </a:p>
        </p:txBody>
      </p:sp>
      <p:sp>
        <p:nvSpPr>
          <p:cNvPr id="29699" name="Text Box 39"/>
          <p:cNvSpPr txBox="1">
            <a:spLocks noChangeArrowheads="1"/>
          </p:cNvSpPr>
          <p:nvPr/>
        </p:nvSpPr>
        <p:spPr bwMode="auto">
          <a:xfrm>
            <a:off x="112713" y="341313"/>
            <a:ext cx="1836737" cy="477837"/>
          </a:xfrm>
          <a:prstGeom prst="rect">
            <a:avLst/>
          </a:prstGeom>
          <a:noFill/>
          <a:ln w="9525" algn="ctr">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习题</a:t>
            </a:r>
            <a:r>
              <a:rPr lang="en-US" altLang="zh-CN" sz="2500" b="1">
                <a:solidFill>
                  <a:srgbClr val="FFFF00"/>
                </a:solidFill>
                <a:ea typeface="华文新魏" pitchFamily="2" charset="-122"/>
                <a:cs typeface="Times New Roman" pitchFamily="18" charset="0"/>
              </a:rPr>
              <a:t>8-23</a:t>
            </a:r>
            <a:r>
              <a:rPr lang="zh-CN" altLang="en-US" sz="2500" b="1">
                <a:solidFill>
                  <a:srgbClr val="FFFF00"/>
                </a:solidFill>
                <a:ea typeface="华文新魏" pitchFamily="2" charset="-122"/>
                <a:cs typeface="Times New Roman" pitchFamily="18" charset="0"/>
              </a:rPr>
              <a:t>：</a:t>
            </a:r>
          </a:p>
        </p:txBody>
      </p:sp>
      <p:sp>
        <p:nvSpPr>
          <p:cNvPr id="5" name="Rectangle 38"/>
          <p:cNvSpPr>
            <a:spLocks noChangeArrowheads="1"/>
          </p:cNvSpPr>
          <p:nvPr/>
        </p:nvSpPr>
        <p:spPr bwMode="auto">
          <a:xfrm>
            <a:off x="4608513" y="334963"/>
            <a:ext cx="6627812" cy="1246187"/>
          </a:xfrm>
          <a:prstGeom prst="rect">
            <a:avLst/>
          </a:prstGeom>
          <a:noFill/>
          <a:ln w="9525">
            <a:noFill/>
            <a:miter lim="800000"/>
            <a:headEnd/>
            <a:tailEnd/>
          </a:ln>
          <a:effectLst/>
        </p:spPr>
        <p:txBody>
          <a:bodyPr>
            <a:spAutoFit/>
          </a:bodyPr>
          <a:lstStyle/>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外层有</a:t>
            </a:r>
            <a:r>
              <a:rPr lang="en-US" altLang="zh-CN" sz="2500" b="1" i="1">
                <a:ea typeface="华文新魏" pitchFamily="2" charset="-122"/>
                <a:cs typeface="Times New Roman" pitchFamily="18" charset="0"/>
              </a:rPr>
              <a:t>d</a:t>
            </a:r>
            <a:r>
              <a:rPr lang="zh-CN" altLang="zh-CN" sz="2500" b="1">
                <a:ea typeface="华文新魏" pitchFamily="2" charset="-122"/>
                <a:cs typeface="Times New Roman" pitchFamily="18" charset="0"/>
              </a:rPr>
              <a:t>电子的</a:t>
            </a:r>
            <a:r>
              <a:rPr lang="en-US" altLang="zh-CN" sz="2500" b="1">
                <a:ea typeface="华文新魏" pitchFamily="2" charset="-122"/>
                <a:cs typeface="Times New Roman" pitchFamily="18" charset="0"/>
              </a:rPr>
              <a:t>18e</a:t>
            </a:r>
            <a:r>
              <a:rPr lang="zh-CN" altLang="zh-CN" sz="2500" b="1">
                <a:ea typeface="华文新魏" pitchFamily="2" charset="-122"/>
                <a:cs typeface="Times New Roman" pitchFamily="18" charset="0"/>
              </a:rPr>
              <a:t>构型阳离子，极化力和变形性较大，引起阴阳离子间的附加极化作用</a:t>
            </a:r>
            <a:r>
              <a:rPr lang="en-US" altLang="zh-CN" sz="2500" b="1">
                <a:ea typeface="华文新魏" pitchFamily="2" charset="-122"/>
                <a:cs typeface="Times New Roman" pitchFamily="18" charset="0"/>
              </a:rPr>
              <a:t>.</a:t>
            </a:r>
            <a:endParaRPr lang="zh-CN" altLang="zh-CN" sz="2500" b="1">
              <a:ea typeface="华文新魏" pitchFamily="2" charset="-122"/>
              <a:cs typeface="Times New Roman" pitchFamily="18" charset="0"/>
            </a:endParaRPr>
          </a:p>
        </p:txBody>
      </p:sp>
      <p:sp>
        <p:nvSpPr>
          <p:cNvPr id="2" name="Rectangle 38"/>
          <p:cNvSpPr>
            <a:spLocks noChangeArrowheads="1"/>
          </p:cNvSpPr>
          <p:nvPr/>
        </p:nvSpPr>
        <p:spPr bwMode="auto">
          <a:xfrm>
            <a:off x="4608513" y="344488"/>
            <a:ext cx="1800225" cy="476250"/>
          </a:xfrm>
          <a:prstGeom prst="rect">
            <a:avLst/>
          </a:prstGeom>
          <a:noFill/>
          <a:ln w="9525">
            <a:noFill/>
            <a:miter lim="800000"/>
            <a:headEnd/>
            <a:tailEnd/>
          </a:ln>
          <a:effectLst/>
        </p:spPr>
        <p:txBody>
          <a:bodyPr>
            <a:spAutoFit/>
          </a:bodyPr>
          <a:lstStyle/>
          <a:p>
            <a:pPr marL="342900" indent="-342900" eaLnBrk="0" hangingPunct="0"/>
            <a:r>
              <a:rPr lang="zh-CN" altLang="zh-CN" sz="2500" b="1">
                <a:solidFill>
                  <a:srgbClr val="FFFF00"/>
                </a:solidFill>
                <a:ea typeface="华文新魏" pitchFamily="2" charset="-122"/>
                <a:cs typeface="Times New Roman" pitchFamily="18" charset="0"/>
              </a:rPr>
              <a:t>解题思路：</a:t>
            </a:r>
          </a:p>
        </p:txBody>
      </p:sp>
      <p:sp>
        <p:nvSpPr>
          <p:cNvPr id="9" name="Rectangle 38"/>
          <p:cNvSpPr>
            <a:spLocks noChangeArrowheads="1"/>
          </p:cNvSpPr>
          <p:nvPr/>
        </p:nvSpPr>
        <p:spPr bwMode="auto">
          <a:xfrm>
            <a:off x="4584700" y="3025775"/>
            <a:ext cx="2735263" cy="473075"/>
          </a:xfrm>
          <a:prstGeom prst="rect">
            <a:avLst/>
          </a:prstGeom>
          <a:noFill/>
          <a:ln w="9525">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参考答案：</a:t>
            </a:r>
          </a:p>
        </p:txBody>
      </p:sp>
      <p:sp>
        <p:nvSpPr>
          <p:cNvPr id="10" name="矩形 9"/>
          <p:cNvSpPr>
            <a:spLocks noChangeArrowheads="1"/>
          </p:cNvSpPr>
          <p:nvPr/>
        </p:nvSpPr>
        <p:spPr bwMode="auto">
          <a:xfrm>
            <a:off x="4608513" y="3003550"/>
            <a:ext cx="6624637" cy="2016125"/>
          </a:xfrm>
          <a:prstGeom prst="rect">
            <a:avLst/>
          </a:prstGeom>
          <a:noFill/>
          <a:ln w="9525">
            <a:noFill/>
            <a:miter lim="800000"/>
            <a:headEnd/>
            <a:tailEnd/>
          </a:ln>
        </p:spPr>
        <p:txBody>
          <a:bodyPr>
            <a:spAutoFit/>
          </a:bodyPr>
          <a:lstStyle/>
          <a:p>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二者虽电荷相同，半径相近，但</a:t>
            </a:r>
            <a:r>
              <a:rPr lang="en-US" altLang="zh-CN" sz="2500" b="1">
                <a:ea typeface="华文新魏" pitchFamily="2" charset="-122"/>
                <a:cs typeface="Times New Roman" pitchFamily="18" charset="0"/>
              </a:rPr>
              <a:t>Na</a:t>
            </a:r>
            <a:r>
              <a:rPr lang="en-US" altLang="zh-CN" sz="2500" b="1" baseline="30000">
                <a:ea typeface="华文新魏" pitchFamily="2" charset="-122"/>
                <a:cs typeface="Times New Roman" pitchFamily="18" charset="0"/>
              </a:rPr>
              <a:t>+</a:t>
            </a:r>
            <a:r>
              <a:rPr lang="zh-CN" altLang="zh-CN" sz="2500" b="1">
                <a:ea typeface="华文新魏" pitchFamily="2" charset="-122"/>
                <a:cs typeface="Times New Roman" pitchFamily="18" charset="0"/>
              </a:rPr>
              <a:t>是</a:t>
            </a:r>
            <a:r>
              <a:rPr lang="en-US" altLang="zh-CN" sz="2500" b="1">
                <a:ea typeface="华文新魏" pitchFamily="2" charset="-122"/>
                <a:cs typeface="Times New Roman" pitchFamily="18" charset="0"/>
              </a:rPr>
              <a:t>8e</a:t>
            </a:r>
            <a:r>
              <a:rPr lang="zh-CN" altLang="zh-CN" sz="2500" b="1">
                <a:ea typeface="华文新魏" pitchFamily="2" charset="-122"/>
                <a:cs typeface="Times New Roman" pitchFamily="18" charset="0"/>
              </a:rPr>
              <a:t>构型，</a:t>
            </a:r>
            <a:r>
              <a:rPr lang="en-US" altLang="zh-CN" sz="2500" b="1">
                <a:ea typeface="华文新魏" pitchFamily="2" charset="-122"/>
                <a:cs typeface="Times New Roman" pitchFamily="18" charset="0"/>
              </a:rPr>
              <a:t>NaCl</a:t>
            </a:r>
            <a:r>
              <a:rPr lang="zh-CN" altLang="zh-CN" sz="2500" b="1">
                <a:ea typeface="华文新魏" pitchFamily="2" charset="-122"/>
                <a:cs typeface="Times New Roman" pitchFamily="18" charset="0"/>
              </a:rPr>
              <a:t>是典型的离子晶体，易溶于水；而</a:t>
            </a:r>
            <a:r>
              <a:rPr lang="en-US" altLang="zh-CN" sz="2500" b="1">
                <a:ea typeface="华文新魏" pitchFamily="2" charset="-122"/>
                <a:cs typeface="Times New Roman" pitchFamily="18" charset="0"/>
              </a:rPr>
              <a:t>Cu</a:t>
            </a:r>
            <a:r>
              <a:rPr lang="en-US" altLang="zh-CN" sz="2500" b="1" baseline="30000">
                <a:ea typeface="华文新魏" pitchFamily="2" charset="-122"/>
                <a:cs typeface="Times New Roman" pitchFamily="18" charset="0"/>
              </a:rPr>
              <a:t>+</a:t>
            </a:r>
            <a:r>
              <a:rPr lang="zh-CN" altLang="zh-CN" sz="2500" b="1">
                <a:ea typeface="华文新魏" pitchFamily="2" charset="-122"/>
                <a:cs typeface="Times New Roman" pitchFamily="18" charset="0"/>
              </a:rPr>
              <a:t>是</a:t>
            </a:r>
            <a:r>
              <a:rPr lang="en-US" altLang="zh-CN" sz="2500" b="1">
                <a:ea typeface="华文新魏" pitchFamily="2" charset="-122"/>
                <a:cs typeface="Times New Roman" pitchFamily="18" charset="0"/>
              </a:rPr>
              <a:t>18e</a:t>
            </a:r>
            <a:r>
              <a:rPr lang="zh-CN" altLang="zh-CN" sz="2500" b="1">
                <a:ea typeface="华文新魏" pitchFamily="2" charset="-122"/>
                <a:cs typeface="Times New Roman" pitchFamily="18" charset="0"/>
              </a:rPr>
              <a:t>构型，极化力和变形性都比较显著，引起正、负离子间的附加极化作用，</a:t>
            </a:r>
            <a:r>
              <a:rPr lang="en-US" altLang="zh-CN" sz="2500" b="1">
                <a:ea typeface="华文新魏" pitchFamily="2" charset="-122"/>
                <a:cs typeface="Times New Roman" pitchFamily="18" charset="0"/>
              </a:rPr>
              <a:t>CuCl</a:t>
            </a:r>
            <a:r>
              <a:rPr lang="zh-CN" altLang="zh-CN" sz="2500" b="1">
                <a:ea typeface="华文新魏" pitchFamily="2" charset="-122"/>
                <a:cs typeface="Times New Roman" pitchFamily="18" charset="0"/>
              </a:rPr>
              <a:t>的键型向共价键过渡，水中溶解度很小</a:t>
            </a:r>
            <a:r>
              <a:rPr lang="en-US" altLang="zh-CN" sz="2500" b="1">
                <a:ea typeface="华文新魏" pitchFamily="2" charset="-122"/>
                <a:cs typeface="Times New Roman" pitchFamily="18" charset="0"/>
              </a:rPr>
              <a:t>. </a:t>
            </a:r>
            <a:endParaRPr lang="zh-CN" altLang="zh-CN" sz="2500" b="1">
              <a:solidFill>
                <a:srgbClr val="FFFFFF"/>
              </a:solidFill>
              <a:ea typeface="华文新魏" pitchFamily="2" charset="-122"/>
              <a:cs typeface="Times New Roman" pitchFamily="18" charset="0"/>
            </a:endParaRP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blinds(horizontal)">
                                      <p:cBhvr>
                                        <p:cTn id="17" dur="500"/>
                                        <p:tgtEl>
                                          <p:spTgt spid="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up)">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P spid="2" grpId="0"/>
      <p:bldP spid="9" grpId="0" autoUpdateAnimBg="0"/>
      <p:bldP spid="1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0"/>
          <p:cNvSpPr>
            <a:spLocks noChangeArrowheads="1"/>
          </p:cNvSpPr>
          <p:nvPr/>
        </p:nvSpPr>
        <p:spPr bwMode="auto">
          <a:xfrm>
            <a:off x="73025" y="338138"/>
            <a:ext cx="4103688" cy="2400300"/>
          </a:xfrm>
          <a:prstGeom prst="rect">
            <a:avLst/>
          </a:prstGeom>
          <a:noFill/>
          <a:ln w="9525">
            <a:noFill/>
            <a:miter lim="800000"/>
            <a:headEnd/>
            <a:tailEnd/>
          </a:ln>
          <a:effectLst/>
        </p:spPr>
        <p:txBody>
          <a:bodyPr>
            <a:spAutoFit/>
          </a:bodyPr>
          <a:lstStyle/>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试根据晶体的构型与半径比的关系，判断下列</a:t>
            </a:r>
            <a:r>
              <a:rPr lang="en-US" altLang="zh-CN" sz="2500" b="1">
                <a:ea typeface="华文新魏" pitchFamily="2" charset="-122"/>
                <a:cs typeface="Times New Roman" pitchFamily="18" charset="0"/>
              </a:rPr>
              <a:t>AB</a:t>
            </a:r>
            <a:r>
              <a:rPr lang="zh-CN" altLang="zh-CN" sz="2500" b="1">
                <a:ea typeface="华文新魏" pitchFamily="2" charset="-122"/>
                <a:cs typeface="Times New Roman" pitchFamily="18" charset="0"/>
              </a:rPr>
              <a:t>型离子化合物的晶体构型：</a:t>
            </a:r>
          </a:p>
          <a:p>
            <a:pPr eaLnBrk="0" hangingPunct="0"/>
            <a:r>
              <a:rPr lang="en-US" altLang="zh-CN" sz="2500" b="1">
                <a:ea typeface="华文新魏" pitchFamily="2" charset="-122"/>
                <a:cs typeface="Times New Roman" pitchFamily="18" charset="0"/>
              </a:rPr>
              <a:t>  BeO</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NaBr</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CaS</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RbI</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BeS</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CsBr</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AgCl</a:t>
            </a:r>
            <a:endParaRPr lang="zh-CN" altLang="zh-CN" sz="2500" b="1">
              <a:ea typeface="华文新魏" pitchFamily="2" charset="-122"/>
              <a:cs typeface="Times New Roman" pitchFamily="18" charset="0"/>
            </a:endParaRPr>
          </a:p>
        </p:txBody>
      </p:sp>
      <p:sp>
        <p:nvSpPr>
          <p:cNvPr id="30723" name="Text Box 39"/>
          <p:cNvSpPr txBox="1">
            <a:spLocks noChangeArrowheads="1"/>
          </p:cNvSpPr>
          <p:nvPr/>
        </p:nvSpPr>
        <p:spPr bwMode="auto">
          <a:xfrm>
            <a:off x="112713" y="341313"/>
            <a:ext cx="1836737" cy="477837"/>
          </a:xfrm>
          <a:prstGeom prst="rect">
            <a:avLst/>
          </a:prstGeom>
          <a:noFill/>
          <a:ln w="9525" algn="ctr">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习题</a:t>
            </a:r>
            <a:r>
              <a:rPr lang="en-US" altLang="zh-CN" sz="2500" b="1">
                <a:solidFill>
                  <a:srgbClr val="FFFF00"/>
                </a:solidFill>
                <a:ea typeface="华文新魏" pitchFamily="2" charset="-122"/>
                <a:cs typeface="Times New Roman" pitchFamily="18" charset="0"/>
              </a:rPr>
              <a:t>8-24</a:t>
            </a:r>
            <a:r>
              <a:rPr lang="zh-CN" altLang="en-US" sz="2500" b="1">
                <a:solidFill>
                  <a:srgbClr val="FFFF00"/>
                </a:solidFill>
                <a:ea typeface="华文新魏" pitchFamily="2" charset="-122"/>
                <a:cs typeface="Times New Roman" pitchFamily="18" charset="0"/>
              </a:rPr>
              <a:t>：</a:t>
            </a:r>
          </a:p>
        </p:txBody>
      </p:sp>
      <p:sp>
        <p:nvSpPr>
          <p:cNvPr id="5" name="Rectangle 38"/>
          <p:cNvSpPr>
            <a:spLocks noChangeArrowheads="1"/>
          </p:cNvSpPr>
          <p:nvPr/>
        </p:nvSpPr>
        <p:spPr bwMode="auto">
          <a:xfrm>
            <a:off x="4608513" y="334963"/>
            <a:ext cx="6627812" cy="1246187"/>
          </a:xfrm>
          <a:prstGeom prst="rect">
            <a:avLst/>
          </a:prstGeom>
          <a:noFill/>
          <a:ln w="9525">
            <a:noFill/>
            <a:miter lim="800000"/>
            <a:headEnd/>
            <a:tailEnd/>
          </a:ln>
          <a:effectLst/>
        </p:spPr>
        <p:txBody>
          <a:bodyPr>
            <a:spAutoFit/>
          </a:bodyPr>
          <a:lstStyle/>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查表计算</a:t>
            </a:r>
            <a:r>
              <a:rPr lang="en-US" altLang="zh-CN" sz="2500" b="1">
                <a:ea typeface="华文新魏" pitchFamily="2" charset="-122"/>
                <a:cs typeface="Times New Roman" pitchFamily="18" charset="0"/>
              </a:rPr>
              <a:t>AB</a:t>
            </a:r>
            <a:r>
              <a:rPr lang="zh-CN" altLang="zh-CN" sz="2500" b="1">
                <a:ea typeface="华文新魏" pitchFamily="2" charset="-122"/>
                <a:cs typeface="Times New Roman" pitchFamily="18" charset="0"/>
              </a:rPr>
              <a:t>型离子化合物的半径比，根据</a:t>
            </a:r>
            <a:r>
              <a:rPr lang="en-US" altLang="zh-CN" sz="2500" b="1">
                <a:ea typeface="华文新魏" pitchFamily="2" charset="-122"/>
                <a:cs typeface="Times New Roman" pitchFamily="18" charset="0"/>
              </a:rPr>
              <a:t>AB</a:t>
            </a:r>
            <a:r>
              <a:rPr lang="zh-CN" altLang="zh-CN" sz="2500" b="1">
                <a:ea typeface="华文新魏" pitchFamily="2" charset="-122"/>
                <a:cs typeface="Times New Roman" pitchFamily="18" charset="0"/>
              </a:rPr>
              <a:t>型离子化合物离子半径比与晶体构型的关系</a:t>
            </a:r>
            <a:r>
              <a:rPr lang="en-US" altLang="zh-CN" sz="2500" b="1">
                <a:ea typeface="华文新魏" pitchFamily="2" charset="-122"/>
                <a:cs typeface="Times New Roman" pitchFamily="18" charset="0"/>
              </a:rPr>
              <a:t>(</a:t>
            </a:r>
            <a:r>
              <a:rPr lang="zh-CN" altLang="zh-CN" sz="2500" b="1">
                <a:ea typeface="华文新魏" pitchFamily="2" charset="-122"/>
                <a:cs typeface="Times New Roman" pitchFamily="18" charset="0"/>
              </a:rPr>
              <a:t>见下表</a:t>
            </a:r>
            <a:r>
              <a:rPr lang="en-US" altLang="zh-CN" sz="2500" b="1">
                <a:ea typeface="华文新魏" pitchFamily="2" charset="-122"/>
                <a:cs typeface="Times New Roman" pitchFamily="18" charset="0"/>
              </a:rPr>
              <a:t>)</a:t>
            </a:r>
            <a:r>
              <a:rPr lang="zh-CN" altLang="zh-CN" sz="2500" b="1">
                <a:ea typeface="华文新魏" pitchFamily="2" charset="-122"/>
                <a:cs typeface="Times New Roman" pitchFamily="18" charset="0"/>
              </a:rPr>
              <a:t>，确定其晶体构型</a:t>
            </a:r>
            <a:r>
              <a:rPr lang="en-US" altLang="zh-CN" sz="2500" b="1">
                <a:ea typeface="华文新魏" pitchFamily="2" charset="-122"/>
                <a:cs typeface="Times New Roman" pitchFamily="18" charset="0"/>
              </a:rPr>
              <a:t>.</a:t>
            </a:r>
            <a:endParaRPr lang="zh-CN" altLang="zh-CN" sz="2500" b="1">
              <a:ea typeface="华文新魏" pitchFamily="2" charset="-122"/>
              <a:cs typeface="Times New Roman" pitchFamily="18" charset="0"/>
            </a:endParaRPr>
          </a:p>
        </p:txBody>
      </p:sp>
      <p:sp>
        <p:nvSpPr>
          <p:cNvPr id="2" name="Rectangle 38"/>
          <p:cNvSpPr>
            <a:spLocks noChangeArrowheads="1"/>
          </p:cNvSpPr>
          <p:nvPr/>
        </p:nvSpPr>
        <p:spPr bwMode="auto">
          <a:xfrm>
            <a:off x="4608513" y="344488"/>
            <a:ext cx="1800225" cy="476250"/>
          </a:xfrm>
          <a:prstGeom prst="rect">
            <a:avLst/>
          </a:prstGeom>
          <a:noFill/>
          <a:ln w="9525">
            <a:noFill/>
            <a:miter lim="800000"/>
            <a:headEnd/>
            <a:tailEnd/>
          </a:ln>
          <a:effectLst/>
        </p:spPr>
        <p:txBody>
          <a:bodyPr>
            <a:spAutoFit/>
          </a:bodyPr>
          <a:lstStyle/>
          <a:p>
            <a:pPr marL="342900" indent="-342900" eaLnBrk="0" hangingPunct="0"/>
            <a:r>
              <a:rPr lang="zh-CN" altLang="zh-CN" sz="2500" b="1">
                <a:solidFill>
                  <a:srgbClr val="FFFF00"/>
                </a:solidFill>
                <a:ea typeface="华文新魏" pitchFamily="2" charset="-122"/>
                <a:cs typeface="Times New Roman" pitchFamily="18" charset="0"/>
              </a:rPr>
              <a:t>解题思路：</a:t>
            </a:r>
          </a:p>
        </p:txBody>
      </p:sp>
      <p:sp>
        <p:nvSpPr>
          <p:cNvPr id="9" name="Rectangle 38"/>
          <p:cNvSpPr>
            <a:spLocks noChangeArrowheads="1"/>
          </p:cNvSpPr>
          <p:nvPr/>
        </p:nvSpPr>
        <p:spPr bwMode="auto">
          <a:xfrm>
            <a:off x="4584700" y="3025775"/>
            <a:ext cx="2735263" cy="473075"/>
          </a:xfrm>
          <a:prstGeom prst="rect">
            <a:avLst/>
          </a:prstGeom>
          <a:noFill/>
          <a:ln w="9525">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参考答案：</a:t>
            </a:r>
          </a:p>
        </p:txBody>
      </p:sp>
      <p:sp>
        <p:nvSpPr>
          <p:cNvPr id="10" name="矩形 9"/>
          <p:cNvSpPr>
            <a:spLocks noChangeArrowheads="1"/>
          </p:cNvSpPr>
          <p:nvPr/>
        </p:nvSpPr>
        <p:spPr bwMode="auto">
          <a:xfrm>
            <a:off x="4608513" y="3003550"/>
            <a:ext cx="6624637" cy="862013"/>
          </a:xfrm>
          <a:prstGeom prst="rect">
            <a:avLst/>
          </a:prstGeom>
          <a:noFill/>
          <a:ln w="9525">
            <a:noFill/>
            <a:miter lim="800000"/>
            <a:headEnd/>
            <a:tailEnd/>
          </a:ln>
        </p:spPr>
        <p:txBody>
          <a:bodyPr>
            <a:spAutoFit/>
          </a:bodyPr>
          <a:lstStyle/>
          <a:p>
            <a:r>
              <a:rPr lang="en-US" altLang="zh-CN" sz="2500" b="1">
                <a:ea typeface="华文新魏" pitchFamily="2" charset="-122"/>
                <a:cs typeface="Times New Roman" pitchFamily="18" charset="0"/>
              </a:rPr>
              <a:t>                    BeO</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BeS</a:t>
            </a:r>
            <a:r>
              <a:rPr lang="zh-CN" altLang="zh-CN" sz="2500" b="1">
                <a:ea typeface="华文新魏" pitchFamily="2" charset="-122"/>
                <a:cs typeface="Times New Roman" pitchFamily="18" charset="0"/>
              </a:rPr>
              <a:t>是</a:t>
            </a:r>
            <a:r>
              <a:rPr lang="en-US" altLang="zh-CN" sz="2500" b="1">
                <a:ea typeface="华文新魏" pitchFamily="2" charset="-122"/>
                <a:cs typeface="Times New Roman" pitchFamily="18" charset="0"/>
              </a:rPr>
              <a:t>ZnS</a:t>
            </a:r>
            <a:r>
              <a:rPr lang="zh-CN" altLang="zh-CN" sz="2500" b="1">
                <a:ea typeface="华文新魏" pitchFamily="2" charset="-122"/>
                <a:cs typeface="Times New Roman" pitchFamily="18" charset="0"/>
              </a:rPr>
              <a:t>型；</a:t>
            </a:r>
            <a:r>
              <a:rPr lang="en-US" altLang="zh-CN" sz="2500" b="1">
                <a:ea typeface="华文新魏" pitchFamily="2" charset="-122"/>
                <a:cs typeface="Times New Roman" pitchFamily="18" charset="0"/>
              </a:rPr>
              <a:t>NaBr</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CaS</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RbI</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AgCl</a:t>
            </a:r>
            <a:r>
              <a:rPr lang="zh-CN" altLang="zh-CN" sz="2500" b="1">
                <a:ea typeface="华文新魏" pitchFamily="2" charset="-122"/>
                <a:cs typeface="Times New Roman" pitchFamily="18" charset="0"/>
              </a:rPr>
              <a:t>是</a:t>
            </a:r>
            <a:r>
              <a:rPr lang="en-US" altLang="zh-CN" sz="2500" b="1">
                <a:ea typeface="华文新魏" pitchFamily="2" charset="-122"/>
                <a:cs typeface="Times New Roman" pitchFamily="18" charset="0"/>
              </a:rPr>
              <a:t>NaCl</a:t>
            </a:r>
            <a:r>
              <a:rPr lang="zh-CN" altLang="zh-CN" sz="2500" b="1">
                <a:ea typeface="华文新魏" pitchFamily="2" charset="-122"/>
                <a:cs typeface="Times New Roman" pitchFamily="18" charset="0"/>
              </a:rPr>
              <a:t>型；</a:t>
            </a:r>
            <a:r>
              <a:rPr lang="en-US" altLang="zh-CN" sz="2500" b="1">
                <a:ea typeface="华文新魏" pitchFamily="2" charset="-122"/>
                <a:cs typeface="Times New Roman" pitchFamily="18" charset="0"/>
              </a:rPr>
              <a:t>CsBr</a:t>
            </a:r>
            <a:r>
              <a:rPr lang="zh-CN" altLang="zh-CN" sz="2500" b="1">
                <a:ea typeface="华文新魏" pitchFamily="2" charset="-122"/>
                <a:cs typeface="Times New Roman" pitchFamily="18" charset="0"/>
              </a:rPr>
              <a:t>是</a:t>
            </a:r>
            <a:r>
              <a:rPr lang="en-US" altLang="zh-CN" sz="2500" b="1">
                <a:ea typeface="华文新魏" pitchFamily="2" charset="-122"/>
                <a:cs typeface="Times New Roman" pitchFamily="18" charset="0"/>
              </a:rPr>
              <a:t>CsCl</a:t>
            </a:r>
            <a:r>
              <a:rPr lang="zh-CN" altLang="zh-CN" sz="2500" b="1">
                <a:ea typeface="华文新魏" pitchFamily="2" charset="-122"/>
                <a:cs typeface="Times New Roman" pitchFamily="18" charset="0"/>
              </a:rPr>
              <a:t>型</a:t>
            </a:r>
            <a:r>
              <a:rPr lang="en-US" altLang="zh-CN" sz="2500" b="1">
                <a:ea typeface="华文新魏" pitchFamily="2" charset="-122"/>
                <a:cs typeface="Times New Roman" pitchFamily="18" charset="0"/>
              </a:rPr>
              <a:t>.</a:t>
            </a:r>
            <a:endParaRPr lang="zh-CN" altLang="zh-CN" sz="2500" b="1">
              <a:solidFill>
                <a:srgbClr val="FFFFFF"/>
              </a:solidFill>
              <a:ea typeface="华文新魏" pitchFamily="2" charset="-122"/>
              <a:cs typeface="Times New Roman" pitchFamily="18" charset="0"/>
            </a:endParaRPr>
          </a:p>
        </p:txBody>
      </p:sp>
      <p:graphicFrame>
        <p:nvGraphicFramePr>
          <p:cNvPr id="3" name="表格 2"/>
          <p:cNvGraphicFramePr>
            <a:graphicFrameLocks noGrp="1"/>
          </p:cNvGraphicFramePr>
          <p:nvPr/>
        </p:nvGraphicFramePr>
        <p:xfrm>
          <a:off x="5113338" y="1581150"/>
          <a:ext cx="5616575" cy="1422400"/>
        </p:xfrm>
        <a:graphic>
          <a:graphicData uri="http://schemas.openxmlformats.org/drawingml/2006/table">
            <a:tbl>
              <a:tblPr firstRow="1" firstCol="1" lastRow="1" lastCol="1" bandRow="1" bandCol="1">
                <a:tableStyleId>{5C22544A-7EE6-4342-B048-85BDC9FD1C3A}</a:tableStyleId>
              </a:tblPr>
              <a:tblGrid>
                <a:gridCol w="1872192"/>
                <a:gridCol w="1872192"/>
                <a:gridCol w="1872192"/>
              </a:tblGrid>
              <a:tr h="355600">
                <a:tc>
                  <a:txBody>
                    <a:bodyPr/>
                    <a:lstStyle/>
                    <a:p>
                      <a:pPr algn="ctr">
                        <a:spcAft>
                          <a:spcPts val="0"/>
                        </a:spcAft>
                      </a:pPr>
                      <a:r>
                        <a:rPr lang="en-US" sz="1800" b="1" kern="100" dirty="0">
                          <a:effectLst/>
                          <a:latin typeface="Times New Roman" panose="02020603050405020304" pitchFamily="18" charset="0"/>
                          <a:ea typeface="华文新魏" panose="02010800040101010101" pitchFamily="2" charset="-122"/>
                          <a:cs typeface="Times New Roman" panose="02020603050405020304" pitchFamily="18" charset="0"/>
                        </a:rPr>
                        <a:t>r</a:t>
                      </a:r>
                      <a:r>
                        <a:rPr lang="en-US" sz="1800" b="1" kern="100" baseline="-25000" dirty="0">
                          <a:effectLst/>
                          <a:latin typeface="Times New Roman" panose="02020603050405020304" pitchFamily="18" charset="0"/>
                          <a:ea typeface="华文新魏" panose="02010800040101010101" pitchFamily="2" charset="-122"/>
                          <a:cs typeface="Times New Roman" panose="02020603050405020304" pitchFamily="18" charset="0"/>
                        </a:rPr>
                        <a:t>+</a:t>
                      </a:r>
                      <a:r>
                        <a:rPr lang="en-US" sz="1800" b="1" kern="100" dirty="0">
                          <a:effectLst/>
                          <a:latin typeface="Times New Roman" panose="02020603050405020304" pitchFamily="18" charset="0"/>
                          <a:ea typeface="华文新魏" panose="02010800040101010101" pitchFamily="2" charset="-122"/>
                          <a:cs typeface="Times New Roman" panose="02020603050405020304" pitchFamily="18" charset="0"/>
                        </a:rPr>
                        <a:t>/r</a:t>
                      </a:r>
                      <a:r>
                        <a:rPr lang="zh-CN" sz="1800" b="1" kern="100" baseline="-25000" dirty="0">
                          <a:effectLst/>
                          <a:latin typeface="Times New Roman" panose="02020603050405020304" pitchFamily="18" charset="0"/>
                          <a:ea typeface="华文新魏" panose="02010800040101010101" pitchFamily="2" charset="-122"/>
                          <a:cs typeface="Times New Roman" panose="02020603050405020304" pitchFamily="18" charset="0"/>
                        </a:rPr>
                        <a:t>–</a:t>
                      </a:r>
                      <a:endParaRPr lang="zh-CN" sz="2400" b="1" kern="100" dirty="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800" b="1" kern="100">
                          <a:effectLst/>
                          <a:latin typeface="Times New Roman" panose="02020603050405020304" pitchFamily="18" charset="0"/>
                          <a:ea typeface="华文新魏" panose="02010800040101010101" pitchFamily="2" charset="-122"/>
                          <a:cs typeface="Times New Roman" panose="02020603050405020304" pitchFamily="18" charset="0"/>
                        </a:rPr>
                        <a:t>配位数</a:t>
                      </a:r>
                      <a:endParaRPr lang="zh-CN" sz="24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1800" b="1" kern="100">
                          <a:effectLst/>
                          <a:latin typeface="Times New Roman" panose="02020603050405020304" pitchFamily="18" charset="0"/>
                          <a:ea typeface="华文新魏" panose="02010800040101010101" pitchFamily="2" charset="-122"/>
                          <a:cs typeface="Times New Roman" panose="02020603050405020304" pitchFamily="18" charset="0"/>
                        </a:rPr>
                        <a:t>晶体构型</a:t>
                      </a:r>
                      <a:endParaRPr lang="zh-CN" sz="24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55600">
                <a:tc>
                  <a:txBody>
                    <a:bodyPr/>
                    <a:lstStyle/>
                    <a:p>
                      <a:pPr algn="ctr">
                        <a:spcAft>
                          <a:spcPts val="0"/>
                        </a:spcAft>
                      </a:pPr>
                      <a:r>
                        <a:rPr lang="en-US" sz="1800" b="1" kern="100" dirty="0">
                          <a:effectLst/>
                          <a:latin typeface="Times New Roman" panose="02020603050405020304" pitchFamily="18" charset="0"/>
                          <a:ea typeface="华文新魏" panose="02010800040101010101" pitchFamily="2" charset="-122"/>
                          <a:cs typeface="Times New Roman" panose="02020603050405020304" pitchFamily="18" charset="0"/>
                        </a:rPr>
                        <a:t>0.225~0.414</a:t>
                      </a:r>
                      <a:endParaRPr lang="zh-CN" sz="2400" b="1" kern="100" dirty="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4</a:t>
                      </a:r>
                      <a:endParaRPr lang="zh-CN" sz="24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ZnS</a:t>
                      </a:r>
                      <a:r>
                        <a:rPr lang="zh-CN" sz="1800" b="1" kern="100">
                          <a:effectLst/>
                          <a:latin typeface="Times New Roman" panose="02020603050405020304" pitchFamily="18" charset="0"/>
                          <a:ea typeface="华文新魏" panose="02010800040101010101" pitchFamily="2" charset="-122"/>
                          <a:cs typeface="Times New Roman" panose="02020603050405020304" pitchFamily="18" charset="0"/>
                        </a:rPr>
                        <a:t>型</a:t>
                      </a:r>
                      <a:endParaRPr lang="zh-CN" sz="24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55600">
                <a:tc>
                  <a:txBody>
                    <a:bodyPr/>
                    <a:lstStyle/>
                    <a:p>
                      <a:pPr algn="ctr">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0.414~0.732</a:t>
                      </a:r>
                      <a:endParaRPr lang="zh-CN" sz="24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6</a:t>
                      </a:r>
                      <a:endParaRPr lang="zh-CN" sz="24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NaCl</a:t>
                      </a:r>
                      <a:r>
                        <a:rPr lang="zh-CN" sz="1800" b="1" kern="100">
                          <a:effectLst/>
                          <a:latin typeface="Times New Roman" panose="02020603050405020304" pitchFamily="18" charset="0"/>
                          <a:ea typeface="华文新魏" panose="02010800040101010101" pitchFamily="2" charset="-122"/>
                          <a:cs typeface="Times New Roman" panose="02020603050405020304" pitchFamily="18" charset="0"/>
                        </a:rPr>
                        <a:t>型</a:t>
                      </a:r>
                      <a:endParaRPr lang="zh-CN" sz="24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55600">
                <a:tc>
                  <a:txBody>
                    <a:bodyPr/>
                    <a:lstStyle/>
                    <a:p>
                      <a:pPr algn="ctr">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0.732~1.00</a:t>
                      </a:r>
                      <a:endParaRPr lang="zh-CN" sz="24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b="1" kern="100" dirty="0">
                          <a:effectLst/>
                          <a:latin typeface="Times New Roman" panose="02020603050405020304" pitchFamily="18" charset="0"/>
                          <a:ea typeface="华文新魏" panose="02010800040101010101" pitchFamily="2" charset="-122"/>
                          <a:cs typeface="Times New Roman" panose="02020603050405020304" pitchFamily="18" charset="0"/>
                        </a:rPr>
                        <a:t>8</a:t>
                      </a:r>
                      <a:endParaRPr lang="zh-CN" sz="2400" b="1" kern="100" dirty="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1800" b="1" kern="100" dirty="0" err="1">
                          <a:effectLst/>
                          <a:latin typeface="Times New Roman" panose="02020603050405020304" pitchFamily="18" charset="0"/>
                          <a:ea typeface="华文新魏" panose="02010800040101010101" pitchFamily="2" charset="-122"/>
                          <a:cs typeface="Times New Roman" panose="02020603050405020304" pitchFamily="18" charset="0"/>
                        </a:rPr>
                        <a:t>CsCl</a:t>
                      </a:r>
                      <a:r>
                        <a:rPr lang="zh-CN" sz="1800" b="1" kern="100" dirty="0">
                          <a:effectLst/>
                          <a:latin typeface="Times New Roman" panose="02020603050405020304" pitchFamily="18" charset="0"/>
                          <a:ea typeface="华文新魏" panose="02010800040101010101" pitchFamily="2" charset="-122"/>
                          <a:cs typeface="Times New Roman" panose="02020603050405020304" pitchFamily="18" charset="0"/>
                        </a:rPr>
                        <a:t>型</a:t>
                      </a:r>
                      <a:endParaRPr lang="zh-CN" sz="2400" b="1" kern="100" dirty="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blinds(horizontal)">
                                      <p:cBhvr>
                                        <p:cTn id="17" dur="500"/>
                                        <p:tgtEl>
                                          <p:spTgt spid="5">
                                            <p:txEl>
                                              <p:pRg st="0" end="0"/>
                                            </p:txEl>
                                          </p:spTgt>
                                        </p:tgtEl>
                                      </p:cBhvr>
                                    </p:animEffect>
                                  </p:childTnLst>
                                </p:cTn>
                              </p:par>
                            </p:childTnLst>
                          </p:cTn>
                        </p:par>
                        <p:par>
                          <p:cTn id="18" fill="hold" nodeType="afterGroup">
                            <p:stCondLst>
                              <p:cond delay="500"/>
                            </p:stCondLst>
                            <p:childTnLst>
                              <p:par>
                                <p:cTn id="19" presetID="22" presetClass="entr" presetSubtype="1" fill="hold" nodeType="after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up)">
                                      <p:cBhvr>
                                        <p:cTn id="21" dur="500"/>
                                        <p:tgtEl>
                                          <p:spTgt spid="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blinds(horizontal)">
                                      <p:cBhvr>
                                        <p:cTn id="26" dur="500"/>
                                        <p:tgtEl>
                                          <p:spTgt spid="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up)">
                                      <p:cBhvr>
                                        <p:cTn id="3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P spid="2" grpId="0"/>
      <p:bldP spid="9" grpId="0" autoUpdateAnimBg="0"/>
      <p:bldP spid="1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0"/>
          <p:cNvSpPr>
            <a:spLocks noChangeArrowheads="1"/>
          </p:cNvSpPr>
          <p:nvPr/>
        </p:nvSpPr>
        <p:spPr bwMode="auto">
          <a:xfrm>
            <a:off x="73025" y="338138"/>
            <a:ext cx="4103688" cy="2786062"/>
          </a:xfrm>
          <a:prstGeom prst="rect">
            <a:avLst/>
          </a:prstGeom>
          <a:noFill/>
          <a:ln w="9525">
            <a:noFill/>
            <a:miter lim="800000"/>
            <a:headEnd/>
            <a:tailEnd/>
          </a:ln>
          <a:effectLst/>
        </p:spPr>
        <p:txBody>
          <a:bodyPr>
            <a:spAutoFit/>
          </a:bodyPr>
          <a:lstStyle/>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试比较如下两列化合物中正离子极化能力的大小：</a:t>
            </a:r>
          </a:p>
          <a:p>
            <a:pPr eaLnBrk="0" hangingPunct="0"/>
            <a:r>
              <a:rPr lang="zh-CN" altLang="zh-CN" sz="2500" b="1">
                <a:ea typeface="华文新魏" pitchFamily="2" charset="-122"/>
                <a:cs typeface="Times New Roman" pitchFamily="18" charset="0"/>
              </a:rPr>
              <a:t>①</a:t>
            </a:r>
            <a:r>
              <a:rPr lang="en-US" altLang="zh-CN" sz="2500" b="1">
                <a:ea typeface="华文新魏" pitchFamily="2" charset="-122"/>
                <a:cs typeface="Times New Roman" pitchFamily="18" charset="0"/>
              </a:rPr>
              <a:t> ZnCl</a:t>
            </a:r>
            <a:r>
              <a:rPr lang="en-US" altLang="zh-CN" sz="2500" b="1" baseline="-25000">
                <a:ea typeface="华文新魏" pitchFamily="2" charset="-122"/>
                <a:cs typeface="Times New Roman" pitchFamily="18" charset="0"/>
              </a:rPr>
              <a:t>2</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FeCl</a:t>
            </a:r>
            <a:r>
              <a:rPr lang="en-US" altLang="zh-CN" sz="2500" b="1" baseline="-25000">
                <a:ea typeface="华文新魏" pitchFamily="2" charset="-122"/>
                <a:cs typeface="Times New Roman" pitchFamily="18" charset="0"/>
              </a:rPr>
              <a:t>2</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CaCl</a:t>
            </a:r>
            <a:r>
              <a:rPr lang="en-US" altLang="zh-CN" sz="2500" b="1" baseline="-25000">
                <a:ea typeface="华文新魏" pitchFamily="2" charset="-122"/>
                <a:cs typeface="Times New Roman" pitchFamily="18" charset="0"/>
              </a:rPr>
              <a:t>2</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KCl</a:t>
            </a:r>
            <a:r>
              <a:rPr lang="zh-CN" altLang="zh-CN" sz="2500" b="1">
                <a:ea typeface="华文新魏" pitchFamily="2" charset="-122"/>
                <a:cs typeface="Times New Roman" pitchFamily="18" charset="0"/>
              </a:rPr>
              <a:t>；</a:t>
            </a:r>
          </a:p>
          <a:p>
            <a:pPr eaLnBrk="0" hangingPunct="0"/>
            <a:r>
              <a:rPr lang="zh-CN" altLang="zh-CN" sz="2500" b="1">
                <a:ea typeface="华文新魏" pitchFamily="2" charset="-122"/>
                <a:cs typeface="Times New Roman" pitchFamily="18" charset="0"/>
              </a:rPr>
              <a:t>②</a:t>
            </a:r>
            <a:r>
              <a:rPr lang="en-US" altLang="zh-CN" sz="2500" b="1">
                <a:ea typeface="华文新魏" pitchFamily="2" charset="-122"/>
                <a:cs typeface="Times New Roman" pitchFamily="18" charset="0"/>
              </a:rPr>
              <a:t> SiCl</a:t>
            </a:r>
            <a:r>
              <a:rPr lang="en-US" altLang="zh-CN" sz="2500" b="1" baseline="-25000">
                <a:ea typeface="华文新魏" pitchFamily="2" charset="-122"/>
                <a:cs typeface="Times New Roman" pitchFamily="18" charset="0"/>
              </a:rPr>
              <a:t>4</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AlCl</a:t>
            </a:r>
            <a:r>
              <a:rPr lang="en-US" altLang="zh-CN" sz="2500" b="1" baseline="-25000">
                <a:ea typeface="华文新魏" pitchFamily="2" charset="-122"/>
                <a:cs typeface="Times New Roman" pitchFamily="18" charset="0"/>
              </a:rPr>
              <a:t>3</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PCl</a:t>
            </a:r>
            <a:r>
              <a:rPr lang="en-US" altLang="zh-CN" sz="2500" b="1" baseline="-25000">
                <a:ea typeface="华文新魏" pitchFamily="2" charset="-122"/>
                <a:cs typeface="Times New Roman" pitchFamily="18" charset="0"/>
              </a:rPr>
              <a:t>5</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MgCl</a:t>
            </a:r>
            <a:r>
              <a:rPr lang="en-US" altLang="zh-CN" sz="2500" b="1" baseline="-25000">
                <a:ea typeface="华文新魏" pitchFamily="2" charset="-122"/>
                <a:cs typeface="Times New Roman" pitchFamily="18" charset="0"/>
              </a:rPr>
              <a:t>2</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NaCl.</a:t>
            </a:r>
            <a:endParaRPr lang="zh-CN" altLang="zh-CN" sz="2500" b="1">
              <a:ea typeface="华文新魏" pitchFamily="2" charset="-122"/>
              <a:cs typeface="Times New Roman" pitchFamily="18" charset="0"/>
            </a:endParaRPr>
          </a:p>
        </p:txBody>
      </p:sp>
      <p:sp>
        <p:nvSpPr>
          <p:cNvPr id="31747" name="Text Box 39"/>
          <p:cNvSpPr txBox="1">
            <a:spLocks noChangeArrowheads="1"/>
          </p:cNvSpPr>
          <p:nvPr/>
        </p:nvSpPr>
        <p:spPr bwMode="auto">
          <a:xfrm>
            <a:off x="112713" y="341313"/>
            <a:ext cx="1836737" cy="477837"/>
          </a:xfrm>
          <a:prstGeom prst="rect">
            <a:avLst/>
          </a:prstGeom>
          <a:noFill/>
          <a:ln w="9525" algn="ctr">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习题</a:t>
            </a:r>
            <a:r>
              <a:rPr lang="en-US" altLang="zh-CN" sz="2500" b="1">
                <a:solidFill>
                  <a:srgbClr val="FFFF00"/>
                </a:solidFill>
                <a:ea typeface="华文新魏" pitchFamily="2" charset="-122"/>
                <a:cs typeface="Times New Roman" pitchFamily="18" charset="0"/>
              </a:rPr>
              <a:t>8-25</a:t>
            </a:r>
            <a:r>
              <a:rPr lang="zh-CN" altLang="en-US" sz="2500" b="1">
                <a:solidFill>
                  <a:srgbClr val="FFFF00"/>
                </a:solidFill>
                <a:ea typeface="华文新魏" pitchFamily="2" charset="-122"/>
                <a:cs typeface="Times New Roman" pitchFamily="18" charset="0"/>
              </a:rPr>
              <a:t>：</a:t>
            </a:r>
          </a:p>
        </p:txBody>
      </p:sp>
      <p:sp>
        <p:nvSpPr>
          <p:cNvPr id="5" name="Rectangle 38"/>
          <p:cNvSpPr>
            <a:spLocks noChangeArrowheads="1"/>
          </p:cNvSpPr>
          <p:nvPr/>
        </p:nvSpPr>
        <p:spPr bwMode="auto">
          <a:xfrm>
            <a:off x="4608513" y="334963"/>
            <a:ext cx="6627812" cy="2400300"/>
          </a:xfrm>
          <a:prstGeom prst="rect">
            <a:avLst/>
          </a:prstGeom>
          <a:noFill/>
          <a:ln w="9525">
            <a:noFill/>
            <a:miter lim="800000"/>
            <a:headEnd/>
            <a:tailEnd/>
          </a:ln>
          <a:effectLst/>
        </p:spPr>
        <p:txBody>
          <a:bodyPr>
            <a:spAutoFit/>
          </a:bodyPr>
          <a:lstStyle/>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根据离子极化能力大小与离子的半径、电荷、构型的关系进行比较</a:t>
            </a:r>
            <a:r>
              <a:rPr lang="en-US" altLang="zh-CN" sz="2500" b="1">
                <a:ea typeface="华文新魏" pitchFamily="2" charset="-122"/>
                <a:cs typeface="Times New Roman" pitchFamily="18" charset="0"/>
              </a:rPr>
              <a:t>.</a:t>
            </a:r>
            <a:r>
              <a:rPr lang="zh-CN" altLang="zh-CN" sz="2500" b="1">
                <a:ea typeface="华文新魏" pitchFamily="2" charset="-122"/>
                <a:cs typeface="Times New Roman" pitchFamily="18" charset="0"/>
              </a:rPr>
              <a:t>正离子的电子构型相同时，电荷愈正，半径越小，极化力越强</a:t>
            </a:r>
            <a:r>
              <a:rPr lang="en-US" altLang="zh-CN" sz="2500" b="1">
                <a:ea typeface="华文新魏" pitchFamily="2" charset="-122"/>
                <a:cs typeface="Times New Roman" pitchFamily="18" charset="0"/>
              </a:rPr>
              <a:t>.</a:t>
            </a:r>
            <a:r>
              <a:rPr lang="zh-CN" altLang="zh-CN" sz="2500" b="1">
                <a:ea typeface="华文新魏" pitchFamily="2" charset="-122"/>
                <a:cs typeface="Times New Roman" pitchFamily="18" charset="0"/>
              </a:rPr>
              <a:t>正离子的电荷相同、半径相近时，极化力大小主要与电子构型有关，其顺序为：</a:t>
            </a:r>
            <a:r>
              <a:rPr lang="en-US" altLang="zh-CN" sz="2500" b="1" u="sng">
                <a:ea typeface="华文新魏" pitchFamily="2" charset="-122"/>
                <a:cs typeface="Times New Roman" pitchFamily="18" charset="0"/>
              </a:rPr>
              <a:t>18e/(18+2)e/2e</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9~17e</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8e.</a:t>
            </a:r>
            <a:endParaRPr lang="zh-CN" altLang="zh-CN" sz="2500" b="1">
              <a:ea typeface="华文新魏" pitchFamily="2" charset="-122"/>
              <a:cs typeface="Times New Roman" pitchFamily="18" charset="0"/>
            </a:endParaRPr>
          </a:p>
        </p:txBody>
      </p:sp>
      <p:sp>
        <p:nvSpPr>
          <p:cNvPr id="2" name="Rectangle 38"/>
          <p:cNvSpPr>
            <a:spLocks noChangeArrowheads="1"/>
          </p:cNvSpPr>
          <p:nvPr/>
        </p:nvSpPr>
        <p:spPr bwMode="auto">
          <a:xfrm>
            <a:off x="4608513" y="344488"/>
            <a:ext cx="1800225" cy="476250"/>
          </a:xfrm>
          <a:prstGeom prst="rect">
            <a:avLst/>
          </a:prstGeom>
          <a:noFill/>
          <a:ln w="9525">
            <a:noFill/>
            <a:miter lim="800000"/>
            <a:headEnd/>
            <a:tailEnd/>
          </a:ln>
          <a:effectLst/>
        </p:spPr>
        <p:txBody>
          <a:bodyPr>
            <a:spAutoFit/>
          </a:bodyPr>
          <a:lstStyle/>
          <a:p>
            <a:pPr marL="342900" indent="-342900" eaLnBrk="0" hangingPunct="0"/>
            <a:r>
              <a:rPr lang="zh-CN" altLang="zh-CN" sz="2500" b="1">
                <a:solidFill>
                  <a:srgbClr val="FFFF00"/>
                </a:solidFill>
                <a:ea typeface="华文新魏" pitchFamily="2" charset="-122"/>
                <a:cs typeface="Times New Roman" pitchFamily="18" charset="0"/>
              </a:rPr>
              <a:t>解题思路：</a:t>
            </a:r>
          </a:p>
        </p:txBody>
      </p:sp>
      <p:sp>
        <p:nvSpPr>
          <p:cNvPr id="9" name="Rectangle 38"/>
          <p:cNvSpPr>
            <a:spLocks noChangeArrowheads="1"/>
          </p:cNvSpPr>
          <p:nvPr/>
        </p:nvSpPr>
        <p:spPr bwMode="auto">
          <a:xfrm>
            <a:off x="4584700" y="3025775"/>
            <a:ext cx="2735263" cy="473075"/>
          </a:xfrm>
          <a:prstGeom prst="rect">
            <a:avLst/>
          </a:prstGeom>
          <a:noFill/>
          <a:ln w="9525">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参考答案：</a:t>
            </a:r>
          </a:p>
        </p:txBody>
      </p:sp>
      <p:sp>
        <p:nvSpPr>
          <p:cNvPr id="10" name="矩形 9"/>
          <p:cNvSpPr>
            <a:spLocks noChangeArrowheads="1"/>
          </p:cNvSpPr>
          <p:nvPr/>
        </p:nvSpPr>
        <p:spPr bwMode="auto">
          <a:xfrm>
            <a:off x="4608513" y="3003550"/>
            <a:ext cx="6624637" cy="862013"/>
          </a:xfrm>
          <a:prstGeom prst="rect">
            <a:avLst/>
          </a:prstGeom>
          <a:noFill/>
          <a:ln w="9525">
            <a:noFill/>
            <a:miter lim="800000"/>
            <a:headEnd/>
            <a:tailEnd/>
          </a:ln>
        </p:spPr>
        <p:txBody>
          <a:bodyPr>
            <a:spAutoFit/>
          </a:bodyPr>
          <a:lstStyle/>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① </a:t>
            </a:r>
            <a:r>
              <a:rPr lang="en-US" altLang="zh-CN" sz="2500" b="1">
                <a:ea typeface="华文新魏" pitchFamily="2" charset="-122"/>
                <a:cs typeface="Times New Roman" pitchFamily="18" charset="0"/>
              </a:rPr>
              <a:t>ZnCl</a:t>
            </a:r>
            <a:r>
              <a:rPr lang="en-US" altLang="zh-CN" sz="2500" b="1" baseline="-25000">
                <a:ea typeface="华文新魏" pitchFamily="2" charset="-122"/>
                <a:cs typeface="Times New Roman" pitchFamily="18" charset="0"/>
              </a:rPr>
              <a:t>2</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FeCl</a:t>
            </a:r>
            <a:r>
              <a:rPr lang="en-US" altLang="zh-CN" sz="2500" b="1" baseline="-25000">
                <a:ea typeface="华文新魏" pitchFamily="2" charset="-122"/>
                <a:cs typeface="Times New Roman" pitchFamily="18" charset="0"/>
              </a:rPr>
              <a:t>2</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CaCl</a:t>
            </a:r>
            <a:r>
              <a:rPr lang="en-US" altLang="zh-CN" sz="2500" b="1" baseline="-25000">
                <a:ea typeface="华文新魏" pitchFamily="2" charset="-122"/>
                <a:cs typeface="Times New Roman" pitchFamily="18" charset="0"/>
              </a:rPr>
              <a:t>2</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KCl ; </a:t>
            </a:r>
            <a:endParaRPr lang="zh-CN" altLang="zh-CN" sz="2500" b="1">
              <a:ea typeface="华文新魏" pitchFamily="2" charset="-122"/>
              <a:cs typeface="Times New Roman" pitchFamily="18" charset="0"/>
            </a:endParaRPr>
          </a:p>
          <a:p>
            <a:pPr eaLnBrk="0" hangingPunct="0"/>
            <a:r>
              <a:rPr lang="zh-CN" altLang="zh-CN" sz="2500" b="1">
                <a:ea typeface="华文新魏" pitchFamily="2" charset="-122"/>
                <a:cs typeface="Times New Roman" pitchFamily="18" charset="0"/>
              </a:rPr>
              <a:t>② </a:t>
            </a:r>
            <a:r>
              <a:rPr lang="en-US" altLang="zh-CN" sz="2500" b="1">
                <a:ea typeface="华文新魏" pitchFamily="2" charset="-122"/>
                <a:cs typeface="Times New Roman" pitchFamily="18" charset="0"/>
              </a:rPr>
              <a:t>PCl</a:t>
            </a:r>
            <a:r>
              <a:rPr lang="en-US" altLang="zh-CN" sz="2500" b="1" baseline="-25000">
                <a:ea typeface="华文新魏" pitchFamily="2" charset="-122"/>
                <a:cs typeface="Times New Roman" pitchFamily="18" charset="0"/>
              </a:rPr>
              <a:t>5</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SiCl</a:t>
            </a:r>
            <a:r>
              <a:rPr lang="en-US" altLang="zh-CN" sz="2500" b="1" baseline="-25000">
                <a:ea typeface="华文新魏" pitchFamily="2" charset="-122"/>
                <a:cs typeface="Times New Roman" pitchFamily="18" charset="0"/>
              </a:rPr>
              <a:t>4</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AlCl</a:t>
            </a:r>
            <a:r>
              <a:rPr lang="en-US" altLang="zh-CN" sz="2500" b="1" baseline="-25000">
                <a:ea typeface="华文新魏" pitchFamily="2" charset="-122"/>
                <a:cs typeface="Times New Roman" pitchFamily="18" charset="0"/>
              </a:rPr>
              <a:t>3</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MgCl</a:t>
            </a:r>
            <a:r>
              <a:rPr lang="en-US" altLang="zh-CN" sz="2500" b="1" baseline="-25000">
                <a:ea typeface="华文新魏" pitchFamily="2" charset="-122"/>
                <a:cs typeface="Times New Roman" pitchFamily="18" charset="0"/>
              </a:rPr>
              <a:t>2</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NaCl</a:t>
            </a:r>
            <a:endParaRPr lang="zh-CN" altLang="zh-CN" sz="2500" b="1">
              <a:ea typeface="华文新魏" pitchFamily="2" charset="-122"/>
              <a:cs typeface="Times New Roman" pitchFamily="18" charset="0"/>
            </a:endParaRP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blinds(horizontal)">
                                      <p:cBhvr>
                                        <p:cTn id="17" dur="500"/>
                                        <p:tgtEl>
                                          <p:spTgt spid="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up)">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P spid="2" grpId="0"/>
      <p:bldP spid="9" grpId="0" autoUpdateAnimBg="0"/>
      <p:bldP spid="1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0"/>
          <p:cNvSpPr>
            <a:spLocks noChangeArrowheads="1"/>
          </p:cNvSpPr>
          <p:nvPr/>
        </p:nvSpPr>
        <p:spPr bwMode="auto">
          <a:xfrm>
            <a:off x="73025" y="338138"/>
            <a:ext cx="4103688" cy="2016125"/>
          </a:xfrm>
          <a:prstGeom prst="rect">
            <a:avLst/>
          </a:prstGeom>
          <a:noFill/>
          <a:ln w="9525">
            <a:noFill/>
            <a:miter lim="800000"/>
            <a:headEnd/>
            <a:tailEnd/>
          </a:ln>
          <a:effectLst/>
        </p:spPr>
        <p:txBody>
          <a:bodyPr>
            <a:spAutoFit/>
          </a:bodyPr>
          <a:lstStyle/>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下列化合物中那些存在氢键</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并指出它们是分子间氢键还是分子内氢键</a:t>
            </a:r>
            <a:r>
              <a:rPr lang="en-US" altLang="zh-CN" sz="2500" b="1">
                <a:ea typeface="华文新魏" pitchFamily="2" charset="-122"/>
                <a:cs typeface="Times New Roman" pitchFamily="18" charset="0"/>
              </a:rPr>
              <a:t>?</a:t>
            </a:r>
            <a:endParaRPr lang="zh-CN" altLang="zh-CN" sz="2500" b="1">
              <a:ea typeface="华文新魏" pitchFamily="2" charset="-122"/>
              <a:cs typeface="Times New Roman" pitchFamily="18" charset="0"/>
            </a:endParaRPr>
          </a:p>
          <a:p>
            <a:pPr eaLnBrk="0" hangingPunct="0"/>
            <a:r>
              <a:rPr lang="en-US" altLang="zh-CN" sz="2500" b="1">
                <a:ea typeface="华文新魏" pitchFamily="2" charset="-122"/>
                <a:cs typeface="Times New Roman" pitchFamily="18" charset="0"/>
              </a:rPr>
              <a:t>C</a:t>
            </a:r>
            <a:r>
              <a:rPr lang="en-US" altLang="zh-CN" sz="2500" b="1" baseline="-25000">
                <a:ea typeface="华文新魏" pitchFamily="2" charset="-122"/>
                <a:cs typeface="Times New Roman" pitchFamily="18" charset="0"/>
              </a:rPr>
              <a:t>6</a:t>
            </a:r>
            <a:r>
              <a:rPr lang="en-US" altLang="zh-CN" sz="2500" b="1">
                <a:ea typeface="华文新魏" pitchFamily="2" charset="-122"/>
                <a:cs typeface="Times New Roman" pitchFamily="18" charset="0"/>
              </a:rPr>
              <a:t>H</a:t>
            </a:r>
            <a:r>
              <a:rPr lang="en-US" altLang="zh-CN" sz="2500" b="1" baseline="-25000">
                <a:ea typeface="华文新魏" pitchFamily="2" charset="-122"/>
                <a:cs typeface="Times New Roman" pitchFamily="18" charset="0"/>
              </a:rPr>
              <a:t>6</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NH</a:t>
            </a:r>
            <a:r>
              <a:rPr lang="en-US" altLang="zh-CN" sz="2500" b="1" baseline="-25000">
                <a:ea typeface="华文新魏" pitchFamily="2" charset="-122"/>
                <a:cs typeface="Times New Roman" pitchFamily="18" charset="0"/>
              </a:rPr>
              <a:t>3</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C</a:t>
            </a:r>
            <a:r>
              <a:rPr lang="en-US" altLang="zh-CN" sz="2500" b="1" baseline="-25000">
                <a:ea typeface="华文新魏" pitchFamily="2" charset="-122"/>
                <a:cs typeface="Times New Roman" pitchFamily="18" charset="0"/>
              </a:rPr>
              <a:t>2</a:t>
            </a:r>
            <a:r>
              <a:rPr lang="en-US" altLang="zh-CN" sz="2500" b="1">
                <a:ea typeface="华文新魏" pitchFamily="2" charset="-122"/>
                <a:cs typeface="Times New Roman" pitchFamily="18" charset="0"/>
              </a:rPr>
              <a:t>H</a:t>
            </a:r>
            <a:r>
              <a:rPr lang="en-US" altLang="zh-CN" sz="2500" b="1" baseline="-25000">
                <a:ea typeface="华文新魏" pitchFamily="2" charset="-122"/>
                <a:cs typeface="Times New Roman" pitchFamily="18" charset="0"/>
              </a:rPr>
              <a:t>6</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H</a:t>
            </a:r>
            <a:r>
              <a:rPr lang="en-US" altLang="zh-CN" sz="2500" b="1" baseline="-25000">
                <a:ea typeface="华文新魏" pitchFamily="2" charset="-122"/>
                <a:cs typeface="Times New Roman" pitchFamily="18" charset="0"/>
              </a:rPr>
              <a:t>3</a:t>
            </a:r>
            <a:r>
              <a:rPr lang="en-US" altLang="zh-CN" sz="2500" b="1">
                <a:ea typeface="华文新魏" pitchFamily="2" charset="-122"/>
                <a:cs typeface="Times New Roman" pitchFamily="18" charset="0"/>
              </a:rPr>
              <a:t>BO</a:t>
            </a:r>
            <a:r>
              <a:rPr lang="en-US" altLang="zh-CN" sz="2500" b="1" baseline="-25000">
                <a:ea typeface="华文新魏" pitchFamily="2" charset="-122"/>
                <a:cs typeface="Times New Roman" pitchFamily="18" charset="0"/>
              </a:rPr>
              <a:t>3</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HNO</a:t>
            </a:r>
            <a:r>
              <a:rPr lang="en-US" altLang="zh-CN" sz="2500" b="1" baseline="-25000">
                <a:ea typeface="华文新魏" pitchFamily="2" charset="-122"/>
                <a:cs typeface="Times New Roman" pitchFamily="18" charset="0"/>
              </a:rPr>
              <a:t>3</a:t>
            </a:r>
            <a:r>
              <a:rPr lang="zh-CN" altLang="zh-CN" sz="2500" b="1">
                <a:ea typeface="华文新魏" pitchFamily="2" charset="-122"/>
                <a:cs typeface="Times New Roman" pitchFamily="18" charset="0"/>
              </a:rPr>
              <a:t>，邻硝基苯酚</a:t>
            </a:r>
          </a:p>
        </p:txBody>
      </p:sp>
      <p:sp>
        <p:nvSpPr>
          <p:cNvPr id="32771" name="Text Box 39"/>
          <p:cNvSpPr txBox="1">
            <a:spLocks noChangeArrowheads="1"/>
          </p:cNvSpPr>
          <p:nvPr/>
        </p:nvSpPr>
        <p:spPr bwMode="auto">
          <a:xfrm>
            <a:off x="36513" y="341313"/>
            <a:ext cx="1836737" cy="477837"/>
          </a:xfrm>
          <a:prstGeom prst="rect">
            <a:avLst/>
          </a:prstGeom>
          <a:noFill/>
          <a:ln w="9525" algn="ctr">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习题</a:t>
            </a:r>
            <a:r>
              <a:rPr lang="en-US" altLang="zh-CN" sz="2500" b="1">
                <a:solidFill>
                  <a:srgbClr val="FFFF00"/>
                </a:solidFill>
                <a:ea typeface="华文新魏" pitchFamily="2" charset="-122"/>
                <a:cs typeface="Times New Roman" pitchFamily="18" charset="0"/>
              </a:rPr>
              <a:t>8-26</a:t>
            </a:r>
            <a:r>
              <a:rPr lang="zh-CN" altLang="en-US" sz="2500" b="1">
                <a:solidFill>
                  <a:srgbClr val="FFFF00"/>
                </a:solidFill>
                <a:ea typeface="华文新魏" pitchFamily="2" charset="-122"/>
                <a:cs typeface="Times New Roman" pitchFamily="18" charset="0"/>
              </a:rPr>
              <a:t>：</a:t>
            </a:r>
          </a:p>
        </p:txBody>
      </p:sp>
      <p:sp>
        <p:nvSpPr>
          <p:cNvPr id="5" name="Rectangle 38"/>
          <p:cNvSpPr>
            <a:spLocks noChangeArrowheads="1"/>
          </p:cNvSpPr>
          <p:nvPr/>
        </p:nvSpPr>
        <p:spPr bwMode="auto">
          <a:xfrm>
            <a:off x="4608513" y="334963"/>
            <a:ext cx="6697662" cy="3554412"/>
          </a:xfrm>
          <a:prstGeom prst="rect">
            <a:avLst/>
          </a:prstGeom>
          <a:noFill/>
          <a:ln w="9525">
            <a:noFill/>
            <a:miter lim="800000"/>
            <a:headEnd/>
            <a:tailEnd/>
          </a:ln>
          <a:effectLst/>
        </p:spPr>
        <p:txBody>
          <a:bodyPr>
            <a:spAutoFit/>
          </a:bodyPr>
          <a:lstStyle/>
          <a:p>
            <a:pPr eaLnBrk="0" hangingPunct="0"/>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氢键通式</a:t>
            </a:r>
            <a:r>
              <a:rPr lang="en-US" altLang="zh-CN" sz="2500" b="1">
                <a:ea typeface="华文新魏" pitchFamily="2" charset="-122"/>
                <a:cs typeface="Times New Roman" pitchFamily="18" charset="0"/>
              </a:rPr>
              <a:t> X</a:t>
            </a:r>
            <a:r>
              <a:rPr lang="en-US" altLang="zh-CN" sz="2500" b="1">
                <a:ea typeface="华文新魏" pitchFamily="2" charset="-122"/>
                <a:cs typeface="Times New Roman" pitchFamily="18" charset="0"/>
                <a:sym typeface="Symbol" pitchFamily="18" charset="2"/>
              </a:rPr>
              <a:t></a:t>
            </a:r>
            <a:r>
              <a:rPr lang="en-US" altLang="zh-CN" sz="2500" b="1">
                <a:ea typeface="华文新魏" pitchFamily="2" charset="-122"/>
                <a:cs typeface="Times New Roman" pitchFamily="18" charset="0"/>
              </a:rPr>
              <a:t>H…Y</a:t>
            </a:r>
            <a:r>
              <a:rPr lang="zh-CN" altLang="zh-CN" sz="2500" b="1">
                <a:ea typeface="华文新魏" pitchFamily="2" charset="-122"/>
                <a:cs typeface="Times New Roman" pitchFamily="18" charset="0"/>
              </a:rPr>
              <a:t>中的</a:t>
            </a:r>
            <a:r>
              <a:rPr lang="en-US" altLang="zh-CN" sz="2500" b="1">
                <a:ea typeface="华文新魏" pitchFamily="2" charset="-122"/>
                <a:cs typeface="Times New Roman" pitchFamily="18" charset="0"/>
              </a:rPr>
              <a:t>X</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Y</a:t>
            </a:r>
            <a:r>
              <a:rPr lang="zh-CN" altLang="zh-CN" sz="2500" b="1">
                <a:ea typeface="华文新魏" pitchFamily="2" charset="-122"/>
                <a:cs typeface="Times New Roman" pitchFamily="18" charset="0"/>
              </a:rPr>
              <a:t>代表</a:t>
            </a:r>
            <a:r>
              <a:rPr lang="en-US" altLang="zh-CN" sz="2500" b="1">
                <a:ea typeface="华文新魏" pitchFamily="2" charset="-122"/>
                <a:cs typeface="Times New Roman" pitchFamily="18" charset="0"/>
              </a:rPr>
              <a:t>F</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O</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N</a:t>
            </a:r>
            <a:r>
              <a:rPr lang="zh-CN" altLang="zh-CN" sz="2500" b="1">
                <a:ea typeface="华文新魏" pitchFamily="2" charset="-122"/>
                <a:cs typeface="Times New Roman" pitchFamily="18" charset="0"/>
              </a:rPr>
              <a:t>等电负性大而半径较小的非金属原子</a:t>
            </a:r>
            <a:r>
              <a:rPr lang="en-US" altLang="zh-CN" sz="2500" b="1">
                <a:ea typeface="华文新魏" pitchFamily="2" charset="-122"/>
                <a:cs typeface="Times New Roman" pitchFamily="18" charset="0"/>
              </a:rPr>
              <a:t>.</a:t>
            </a:r>
            <a:r>
              <a:rPr lang="zh-CN" altLang="zh-CN" sz="2500" b="1">
                <a:ea typeface="华文新魏" pitchFamily="2" charset="-122"/>
                <a:cs typeface="Times New Roman" pitchFamily="18" charset="0"/>
              </a:rPr>
              <a:t>首先观察分子中是否存在</a:t>
            </a:r>
            <a:r>
              <a:rPr lang="en-US" altLang="zh-CN" sz="2500" b="1">
                <a:ea typeface="华文新魏" pitchFamily="2" charset="-122"/>
                <a:cs typeface="Times New Roman" pitchFamily="18" charset="0"/>
              </a:rPr>
              <a:t>F</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O</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N</a:t>
            </a:r>
            <a:r>
              <a:rPr lang="zh-CN" altLang="zh-CN" sz="2500" b="1">
                <a:ea typeface="华文新魏" pitchFamily="2" charset="-122"/>
                <a:cs typeface="Times New Roman" pitchFamily="18" charset="0"/>
              </a:rPr>
              <a:t>等原子</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再看形成氢键时</a:t>
            </a:r>
            <a:r>
              <a:rPr lang="en-US" altLang="zh-CN" sz="2500" b="1">
                <a:ea typeface="华文新魏" pitchFamily="2" charset="-122"/>
                <a:cs typeface="Times New Roman" pitchFamily="18" charset="0"/>
              </a:rPr>
              <a:t>, X</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Y</a:t>
            </a:r>
            <a:r>
              <a:rPr lang="zh-CN" altLang="zh-CN" sz="2500" b="1">
                <a:ea typeface="华文新魏" pitchFamily="2" charset="-122"/>
                <a:cs typeface="Times New Roman" pitchFamily="18" charset="0"/>
              </a:rPr>
              <a:t>是否分属于两个不同的分子</a:t>
            </a:r>
            <a:r>
              <a:rPr lang="en-US" altLang="zh-CN" sz="2500" b="1">
                <a:ea typeface="华文新魏" pitchFamily="2" charset="-122"/>
                <a:cs typeface="Times New Roman" pitchFamily="18" charset="0"/>
              </a:rPr>
              <a:t>. X</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Y</a:t>
            </a:r>
            <a:r>
              <a:rPr lang="zh-CN" altLang="zh-CN" sz="2500" b="1">
                <a:ea typeface="华文新魏" pitchFamily="2" charset="-122"/>
                <a:cs typeface="Times New Roman" pitchFamily="18" charset="0"/>
              </a:rPr>
              <a:t>分属于两个不同的分子时</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形成分子间氢键</a:t>
            </a:r>
            <a:r>
              <a:rPr lang="en-US" altLang="zh-CN" sz="2500" b="1">
                <a:ea typeface="华文新魏" pitchFamily="2" charset="-122"/>
                <a:cs typeface="Times New Roman" pitchFamily="18" charset="0"/>
              </a:rPr>
              <a:t>; X</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Y</a:t>
            </a:r>
            <a:r>
              <a:rPr lang="zh-CN" altLang="zh-CN" sz="2500" b="1">
                <a:ea typeface="华文新魏" pitchFamily="2" charset="-122"/>
                <a:cs typeface="Times New Roman" pitchFamily="18" charset="0"/>
              </a:rPr>
              <a:t>属于同一分子时</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形成分子内氢键</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苯环邻位的两个官能团之间通过氢键形成五元环或六元环时</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结构比较稳定</a:t>
            </a:r>
            <a:r>
              <a:rPr lang="en-US" altLang="zh-CN" sz="2500" b="1">
                <a:ea typeface="华文新魏" pitchFamily="2" charset="-122"/>
                <a:cs typeface="Times New Roman" pitchFamily="18" charset="0"/>
              </a:rPr>
              <a:t>, </a:t>
            </a:r>
            <a:r>
              <a:rPr lang="zh-CN" altLang="zh-CN" sz="2500" b="1">
                <a:ea typeface="华文新魏" pitchFamily="2" charset="-122"/>
                <a:cs typeface="Times New Roman" pitchFamily="18" charset="0"/>
              </a:rPr>
              <a:t>该分子倾向于形成分子内氢键</a:t>
            </a:r>
            <a:r>
              <a:rPr lang="en-US" altLang="zh-CN" sz="2500" b="1">
                <a:ea typeface="华文新魏" pitchFamily="2" charset="-122"/>
                <a:cs typeface="Times New Roman" pitchFamily="18" charset="0"/>
              </a:rPr>
              <a:t>.</a:t>
            </a:r>
            <a:endParaRPr lang="zh-CN" altLang="zh-CN" sz="2500" b="1">
              <a:ea typeface="华文新魏" pitchFamily="2" charset="-122"/>
              <a:cs typeface="Times New Roman" pitchFamily="18" charset="0"/>
            </a:endParaRPr>
          </a:p>
        </p:txBody>
      </p:sp>
      <p:sp>
        <p:nvSpPr>
          <p:cNvPr id="2" name="Rectangle 38"/>
          <p:cNvSpPr>
            <a:spLocks noChangeArrowheads="1"/>
          </p:cNvSpPr>
          <p:nvPr/>
        </p:nvSpPr>
        <p:spPr bwMode="auto">
          <a:xfrm>
            <a:off x="4608513" y="344488"/>
            <a:ext cx="1800225" cy="476250"/>
          </a:xfrm>
          <a:prstGeom prst="rect">
            <a:avLst/>
          </a:prstGeom>
          <a:noFill/>
          <a:ln w="9525">
            <a:noFill/>
            <a:miter lim="800000"/>
            <a:headEnd/>
            <a:tailEnd/>
          </a:ln>
          <a:effectLst/>
        </p:spPr>
        <p:txBody>
          <a:bodyPr>
            <a:spAutoFit/>
          </a:bodyPr>
          <a:lstStyle/>
          <a:p>
            <a:pPr marL="342900" indent="-342900" eaLnBrk="0" hangingPunct="0"/>
            <a:r>
              <a:rPr lang="zh-CN" altLang="zh-CN" sz="2500" b="1">
                <a:solidFill>
                  <a:srgbClr val="FFFF00"/>
                </a:solidFill>
                <a:ea typeface="华文新魏" pitchFamily="2" charset="-122"/>
                <a:cs typeface="Times New Roman" pitchFamily="18" charset="0"/>
              </a:rPr>
              <a:t>解题思路：</a:t>
            </a:r>
          </a:p>
        </p:txBody>
      </p:sp>
      <p:sp>
        <p:nvSpPr>
          <p:cNvPr id="9" name="Rectangle 38"/>
          <p:cNvSpPr>
            <a:spLocks noChangeArrowheads="1"/>
          </p:cNvSpPr>
          <p:nvPr/>
        </p:nvSpPr>
        <p:spPr bwMode="auto">
          <a:xfrm>
            <a:off x="4608513" y="3889375"/>
            <a:ext cx="2735262" cy="473075"/>
          </a:xfrm>
          <a:prstGeom prst="rect">
            <a:avLst/>
          </a:prstGeom>
          <a:noFill/>
          <a:ln w="9525">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参考答案：</a:t>
            </a:r>
          </a:p>
        </p:txBody>
      </p:sp>
      <p:sp>
        <p:nvSpPr>
          <p:cNvPr id="10" name="矩形 9"/>
          <p:cNvSpPr>
            <a:spLocks noChangeArrowheads="1"/>
          </p:cNvSpPr>
          <p:nvPr/>
        </p:nvSpPr>
        <p:spPr bwMode="auto">
          <a:xfrm>
            <a:off x="4608513" y="4252913"/>
            <a:ext cx="6624637" cy="860425"/>
          </a:xfrm>
          <a:prstGeom prst="rect">
            <a:avLst/>
          </a:prstGeom>
          <a:noFill/>
          <a:ln w="9525">
            <a:noFill/>
            <a:miter lim="800000"/>
            <a:headEnd/>
            <a:tailEnd/>
          </a:ln>
        </p:spPr>
        <p:txBody>
          <a:bodyPr>
            <a:spAutoFit/>
          </a:bodyPr>
          <a:lstStyle/>
          <a:p>
            <a:pPr eaLnBrk="0" hangingPunct="0"/>
            <a:r>
              <a:rPr lang="zh-CN" altLang="zh-CN" sz="2500" b="1">
                <a:ea typeface="华文新魏" pitchFamily="2" charset="-122"/>
                <a:cs typeface="Times New Roman" pitchFamily="18" charset="0"/>
              </a:rPr>
              <a:t>分子间氢键：</a:t>
            </a:r>
            <a:r>
              <a:rPr lang="en-US" altLang="zh-CN" sz="2500" b="1">
                <a:ea typeface="华文新魏" pitchFamily="2" charset="-122"/>
                <a:cs typeface="Times New Roman" pitchFamily="18" charset="0"/>
              </a:rPr>
              <a:t>NH</a:t>
            </a:r>
            <a:r>
              <a:rPr lang="en-US" altLang="zh-CN" sz="2500" b="1" baseline="-25000">
                <a:ea typeface="华文新魏" pitchFamily="2" charset="-122"/>
                <a:cs typeface="Times New Roman" pitchFamily="18" charset="0"/>
              </a:rPr>
              <a:t>3</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H</a:t>
            </a:r>
            <a:r>
              <a:rPr lang="en-US" altLang="zh-CN" sz="2500" b="1" baseline="-25000">
                <a:ea typeface="华文新魏" pitchFamily="2" charset="-122"/>
                <a:cs typeface="Times New Roman" pitchFamily="18" charset="0"/>
              </a:rPr>
              <a:t>3</a:t>
            </a:r>
            <a:r>
              <a:rPr lang="en-US" altLang="zh-CN" sz="2500" b="1">
                <a:ea typeface="华文新魏" pitchFamily="2" charset="-122"/>
                <a:cs typeface="Times New Roman" pitchFamily="18" charset="0"/>
              </a:rPr>
              <a:t>BO</a:t>
            </a:r>
            <a:r>
              <a:rPr lang="en-US" altLang="zh-CN" sz="2500" b="1" baseline="-25000">
                <a:ea typeface="华文新魏" pitchFamily="2" charset="-122"/>
                <a:cs typeface="Times New Roman" pitchFamily="18" charset="0"/>
              </a:rPr>
              <a:t>3</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HNO</a:t>
            </a:r>
            <a:r>
              <a:rPr lang="en-US" altLang="zh-CN" sz="2500" b="1" baseline="-25000">
                <a:ea typeface="华文新魏" pitchFamily="2" charset="-122"/>
                <a:cs typeface="Times New Roman" pitchFamily="18" charset="0"/>
              </a:rPr>
              <a:t>3</a:t>
            </a:r>
            <a:r>
              <a:rPr lang="zh-CN" altLang="zh-CN" sz="2500" b="1">
                <a:ea typeface="华文新魏" pitchFamily="2" charset="-122"/>
                <a:cs typeface="Times New Roman" pitchFamily="18" charset="0"/>
              </a:rPr>
              <a:t>；</a:t>
            </a:r>
            <a:r>
              <a:rPr lang="en-US" altLang="zh-CN" sz="2500" b="1">
                <a:ea typeface="华文新魏" pitchFamily="2" charset="-122"/>
                <a:cs typeface="Times New Roman" pitchFamily="18" charset="0"/>
              </a:rPr>
              <a:t>  </a:t>
            </a:r>
            <a:endParaRPr lang="zh-CN" altLang="zh-CN" sz="2500" b="1">
              <a:ea typeface="华文新魏" pitchFamily="2" charset="-122"/>
              <a:cs typeface="Times New Roman" pitchFamily="18" charset="0"/>
            </a:endParaRPr>
          </a:p>
          <a:p>
            <a:pPr eaLnBrk="0" hangingPunct="0"/>
            <a:r>
              <a:rPr lang="zh-CN" altLang="zh-CN" sz="2500" b="1">
                <a:ea typeface="华文新魏" pitchFamily="2" charset="-122"/>
                <a:cs typeface="Times New Roman" pitchFamily="18" charset="0"/>
              </a:rPr>
              <a:t>分子内氢键：邻硝基苯酚</a:t>
            </a: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blinds(horizontal)">
                                      <p:cBhvr>
                                        <p:cTn id="17" dur="500"/>
                                        <p:tgtEl>
                                          <p:spTgt spid="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up)">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P spid="2" grpId="0"/>
      <p:bldP spid="9" grpId="0" autoUpdateAnimBg="0"/>
      <p:bldP spid="1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8"/>
          <p:cNvSpPr>
            <a:spLocks noChangeArrowheads="1"/>
          </p:cNvSpPr>
          <p:nvPr/>
        </p:nvSpPr>
        <p:spPr bwMode="auto">
          <a:xfrm>
            <a:off x="5970588" y="358775"/>
            <a:ext cx="5389562" cy="2786063"/>
          </a:xfrm>
          <a:prstGeom prst="rect">
            <a:avLst/>
          </a:prstGeom>
          <a:noFill/>
          <a:ln w="9525">
            <a:noFill/>
            <a:miter lim="800000"/>
            <a:headEnd/>
            <a:tailEnd/>
          </a:ln>
          <a:effectLst/>
        </p:spPr>
        <p:txBody>
          <a:bodyPr>
            <a:spAutoFit/>
          </a:bodyPr>
          <a:lstStyle/>
          <a:p>
            <a:pPr eaLnBrk="0" hangingPunct="0"/>
            <a:r>
              <a:rPr lang="zh-CN" altLang="en-US" sz="2500" b="1">
                <a:solidFill>
                  <a:srgbClr val="FFFFFF"/>
                </a:solidFill>
                <a:ea typeface="华文新魏" pitchFamily="2" charset="-122"/>
                <a:cs typeface="Times New Roman" pitchFamily="18" charset="0"/>
              </a:rPr>
              <a:t>                   根据晶格结点上的粒子在种类</a:t>
            </a:r>
            <a:r>
              <a:rPr lang="en-US" altLang="zh-CN" sz="2500" b="1">
                <a:solidFill>
                  <a:srgbClr val="FFFFFF"/>
                </a:solidFill>
                <a:ea typeface="华文新魏" pitchFamily="2" charset="-122"/>
                <a:cs typeface="Times New Roman" pitchFamily="18" charset="0"/>
              </a:rPr>
              <a:t>, </a:t>
            </a:r>
            <a:r>
              <a:rPr lang="zh-CN" altLang="en-US" sz="2500" b="1">
                <a:solidFill>
                  <a:srgbClr val="FFFFFF"/>
                </a:solidFill>
                <a:ea typeface="华文新魏" pitchFamily="2" charset="-122"/>
                <a:cs typeface="Times New Roman" pitchFamily="18" charset="0"/>
              </a:rPr>
              <a:t>以及粒子间作用力的不同</a:t>
            </a:r>
            <a:r>
              <a:rPr lang="en-US" altLang="zh-CN" sz="2500" b="1">
                <a:solidFill>
                  <a:srgbClr val="FFFFFF"/>
                </a:solidFill>
                <a:ea typeface="华文新魏" pitchFamily="2" charset="-122"/>
                <a:cs typeface="Times New Roman" pitchFamily="18" charset="0"/>
              </a:rPr>
              <a:t>, </a:t>
            </a:r>
            <a:r>
              <a:rPr lang="zh-CN" altLang="en-US" sz="2500" b="1">
                <a:solidFill>
                  <a:srgbClr val="FFFFFF"/>
                </a:solidFill>
                <a:ea typeface="华文新魏" pitchFamily="2" charset="-122"/>
                <a:cs typeface="Times New Roman" pitchFamily="18" charset="0"/>
              </a:rPr>
              <a:t>可以分为离子晶体、原子晶体、金属晶体和分子晶体</a:t>
            </a:r>
            <a:r>
              <a:rPr lang="en-US" altLang="zh-CN" sz="2500" b="1">
                <a:solidFill>
                  <a:srgbClr val="FFFFFF"/>
                </a:solidFill>
                <a:ea typeface="华文新魏" pitchFamily="2" charset="-122"/>
                <a:cs typeface="Times New Roman" pitchFamily="18" charset="0"/>
              </a:rPr>
              <a:t>. </a:t>
            </a:r>
            <a:r>
              <a:rPr lang="zh-CN" altLang="en-US" sz="2500" b="1">
                <a:solidFill>
                  <a:srgbClr val="FFFFFF"/>
                </a:solidFill>
                <a:ea typeface="华文新魏" pitchFamily="2" charset="-122"/>
                <a:cs typeface="Times New Roman" pitchFamily="18" charset="0"/>
              </a:rPr>
              <a:t>根据粒子间作用力的不同</a:t>
            </a:r>
            <a:r>
              <a:rPr lang="en-US" altLang="zh-CN" sz="2500" b="1">
                <a:solidFill>
                  <a:srgbClr val="FFFFFF"/>
                </a:solidFill>
                <a:ea typeface="华文新魏" pitchFamily="2" charset="-122"/>
                <a:cs typeface="Times New Roman" pitchFamily="18" charset="0"/>
              </a:rPr>
              <a:t>, </a:t>
            </a:r>
            <a:r>
              <a:rPr lang="zh-CN" altLang="en-US" sz="2500" b="1">
                <a:solidFill>
                  <a:srgbClr val="FFFFFF"/>
                </a:solidFill>
                <a:ea typeface="华文新魏" pitchFamily="2" charset="-122"/>
                <a:cs typeface="Times New Roman" pitchFamily="18" charset="0"/>
              </a:rPr>
              <a:t>可以推断晶体熔点的高低</a:t>
            </a:r>
            <a:r>
              <a:rPr lang="en-US" altLang="zh-CN" sz="2500" b="1">
                <a:solidFill>
                  <a:srgbClr val="FFFFFF"/>
                </a:solidFill>
                <a:ea typeface="华文新魏" pitchFamily="2" charset="-122"/>
                <a:cs typeface="Times New Roman" pitchFamily="18" charset="0"/>
              </a:rPr>
              <a:t>, </a:t>
            </a:r>
            <a:r>
              <a:rPr lang="zh-CN" altLang="en-US" sz="2500" b="1">
                <a:solidFill>
                  <a:srgbClr val="FFFFFF"/>
                </a:solidFill>
                <a:ea typeface="华文新魏" pitchFamily="2" charset="-122"/>
                <a:cs typeface="Times New Roman" pitchFamily="18" charset="0"/>
              </a:rPr>
              <a:t>原子晶体很高</a:t>
            </a:r>
            <a:r>
              <a:rPr lang="en-US" altLang="zh-CN" sz="2500" b="1">
                <a:solidFill>
                  <a:srgbClr val="FFFFFF"/>
                </a:solidFill>
                <a:ea typeface="华文新魏" pitchFamily="2" charset="-122"/>
                <a:cs typeface="Times New Roman" pitchFamily="18" charset="0"/>
              </a:rPr>
              <a:t>, </a:t>
            </a:r>
            <a:r>
              <a:rPr lang="zh-CN" altLang="en-US" sz="2500" b="1">
                <a:solidFill>
                  <a:srgbClr val="FFFFFF"/>
                </a:solidFill>
                <a:ea typeface="华文新魏" pitchFamily="2" charset="-122"/>
                <a:cs typeface="Times New Roman" pitchFamily="18" charset="0"/>
              </a:rPr>
              <a:t>离子晶体较高</a:t>
            </a:r>
            <a:r>
              <a:rPr lang="en-US" altLang="zh-CN" sz="2500" b="1">
                <a:solidFill>
                  <a:srgbClr val="FFFFFF"/>
                </a:solidFill>
                <a:ea typeface="华文新魏" pitchFamily="2" charset="-122"/>
                <a:cs typeface="Times New Roman" pitchFamily="18" charset="0"/>
              </a:rPr>
              <a:t>, </a:t>
            </a:r>
            <a:r>
              <a:rPr lang="zh-CN" altLang="en-US" sz="2500" b="1">
                <a:solidFill>
                  <a:srgbClr val="FFFFFF"/>
                </a:solidFill>
                <a:ea typeface="华文新魏" pitchFamily="2" charset="-122"/>
                <a:cs typeface="Times New Roman" pitchFamily="18" charset="0"/>
              </a:rPr>
              <a:t>分子晶体很低</a:t>
            </a:r>
            <a:r>
              <a:rPr lang="en-US" altLang="zh-CN" sz="2500" b="1">
                <a:solidFill>
                  <a:srgbClr val="FFFFFF"/>
                </a:solidFill>
                <a:ea typeface="华文新魏" pitchFamily="2" charset="-122"/>
                <a:cs typeface="Times New Roman" pitchFamily="18" charset="0"/>
              </a:rPr>
              <a:t>, </a:t>
            </a:r>
            <a:r>
              <a:rPr lang="zh-CN" altLang="en-US" sz="2500" b="1">
                <a:solidFill>
                  <a:srgbClr val="FFFFFF"/>
                </a:solidFill>
                <a:ea typeface="华文新魏" pitchFamily="2" charset="-122"/>
                <a:cs typeface="Times New Roman" pitchFamily="18" charset="0"/>
              </a:rPr>
              <a:t>金属晶体中有的很高</a:t>
            </a:r>
            <a:r>
              <a:rPr lang="en-US" altLang="zh-CN" sz="2500" b="1">
                <a:solidFill>
                  <a:srgbClr val="FFFFFF"/>
                </a:solidFill>
                <a:ea typeface="华文新魏" pitchFamily="2" charset="-122"/>
                <a:cs typeface="Times New Roman" pitchFamily="18" charset="0"/>
              </a:rPr>
              <a:t>, </a:t>
            </a:r>
            <a:r>
              <a:rPr lang="zh-CN" altLang="en-US" sz="2500" b="1">
                <a:solidFill>
                  <a:srgbClr val="FFFFFF"/>
                </a:solidFill>
                <a:ea typeface="华文新魏" pitchFamily="2" charset="-122"/>
                <a:cs typeface="Times New Roman" pitchFamily="18" charset="0"/>
              </a:rPr>
              <a:t>有的很低</a:t>
            </a:r>
            <a:r>
              <a:rPr lang="en-US" altLang="zh-CN" sz="2500" b="1">
                <a:solidFill>
                  <a:srgbClr val="FFFFFF"/>
                </a:solidFill>
                <a:ea typeface="华文新魏" pitchFamily="2" charset="-122"/>
                <a:cs typeface="Times New Roman" pitchFamily="18" charset="0"/>
              </a:rPr>
              <a:t>. </a:t>
            </a:r>
            <a:endParaRPr lang="zh-CN" altLang="zh-CN" sz="2500" b="1">
              <a:solidFill>
                <a:srgbClr val="FFFFFF"/>
              </a:solidFill>
              <a:ea typeface="华文新魏" pitchFamily="2" charset="-122"/>
              <a:cs typeface="Times New Roman" pitchFamily="18" charset="0"/>
            </a:endParaRPr>
          </a:p>
        </p:txBody>
      </p:sp>
      <p:sp>
        <p:nvSpPr>
          <p:cNvPr id="62504" name="Rectangle 40"/>
          <p:cNvSpPr>
            <a:spLocks noChangeArrowheads="1"/>
          </p:cNvSpPr>
          <p:nvPr/>
        </p:nvSpPr>
        <p:spPr bwMode="auto">
          <a:xfrm>
            <a:off x="227013" y="358775"/>
            <a:ext cx="5327650" cy="862013"/>
          </a:xfrm>
          <a:prstGeom prst="rect">
            <a:avLst/>
          </a:prstGeom>
          <a:noFill/>
          <a:ln w="9525">
            <a:noFill/>
            <a:miter lim="800000"/>
            <a:headEnd/>
            <a:tailEnd/>
          </a:ln>
          <a:effectLst/>
        </p:spPr>
        <p:txBody>
          <a:bodyPr>
            <a:spAutoFit/>
          </a:bodyPr>
          <a:lstStyle/>
          <a:p>
            <a:pPr eaLnBrk="0" hangingPunct="0"/>
            <a:r>
              <a:rPr lang="zh-CN" altLang="en-US" sz="2500" b="1">
                <a:solidFill>
                  <a:srgbClr val="FFFFFF"/>
                </a:solidFill>
                <a:ea typeface="华文新魏" pitchFamily="2" charset="-122"/>
                <a:cs typeface="Times New Roman" pitchFamily="18" charset="0"/>
              </a:rPr>
              <a:t>                   根据所学晶体结构的知识</a:t>
            </a:r>
            <a:r>
              <a:rPr lang="en-US" altLang="zh-CN" sz="2500" b="1">
                <a:solidFill>
                  <a:srgbClr val="FFFFFF"/>
                </a:solidFill>
                <a:ea typeface="华文新魏" pitchFamily="2" charset="-122"/>
                <a:cs typeface="Times New Roman" pitchFamily="18" charset="0"/>
              </a:rPr>
              <a:t>,</a:t>
            </a:r>
            <a:r>
              <a:rPr lang="zh-CN" altLang="en-US" sz="2500" b="1">
                <a:solidFill>
                  <a:srgbClr val="FFFFFF"/>
                </a:solidFill>
                <a:ea typeface="华文新魏" pitchFamily="2" charset="-122"/>
                <a:cs typeface="Times New Roman" pitchFamily="18" charset="0"/>
              </a:rPr>
              <a:t>完成下表</a:t>
            </a:r>
            <a:r>
              <a:rPr lang="en-US" altLang="zh-CN" sz="2500" b="1">
                <a:solidFill>
                  <a:srgbClr val="FFFFFF"/>
                </a:solidFill>
                <a:ea typeface="华文新魏" pitchFamily="2" charset="-122"/>
                <a:cs typeface="Times New Roman" pitchFamily="18" charset="0"/>
              </a:rPr>
              <a:t>.</a:t>
            </a:r>
            <a:endParaRPr lang="zh-CN" altLang="zh-CN" sz="2500" b="1">
              <a:solidFill>
                <a:srgbClr val="FFFFFF"/>
              </a:solidFill>
              <a:ea typeface="华文新魏" pitchFamily="2" charset="-122"/>
              <a:cs typeface="Times New Roman" pitchFamily="18" charset="0"/>
            </a:endParaRPr>
          </a:p>
        </p:txBody>
      </p:sp>
      <p:sp>
        <p:nvSpPr>
          <p:cNvPr id="62502" name="Rectangle 38"/>
          <p:cNvSpPr>
            <a:spLocks noChangeArrowheads="1"/>
          </p:cNvSpPr>
          <p:nvPr/>
        </p:nvSpPr>
        <p:spPr bwMode="auto">
          <a:xfrm>
            <a:off x="5945188" y="374650"/>
            <a:ext cx="2735262" cy="473075"/>
          </a:xfrm>
          <a:prstGeom prst="rect">
            <a:avLst/>
          </a:prstGeom>
          <a:noFill/>
          <a:ln w="9525">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解题思路：</a:t>
            </a:r>
          </a:p>
        </p:txBody>
      </p:sp>
      <p:sp>
        <p:nvSpPr>
          <p:cNvPr id="33797" name="Text Box 39"/>
          <p:cNvSpPr txBox="1">
            <a:spLocks noChangeArrowheads="1"/>
          </p:cNvSpPr>
          <p:nvPr/>
        </p:nvSpPr>
        <p:spPr bwMode="auto">
          <a:xfrm>
            <a:off x="179388" y="358775"/>
            <a:ext cx="1909762" cy="477838"/>
          </a:xfrm>
          <a:prstGeom prst="rect">
            <a:avLst/>
          </a:prstGeom>
          <a:noFill/>
          <a:ln w="9525" algn="ctr">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习题</a:t>
            </a:r>
            <a:r>
              <a:rPr lang="en-US" altLang="zh-CN" sz="2500" b="1">
                <a:solidFill>
                  <a:srgbClr val="FFFF00"/>
                </a:solidFill>
                <a:ea typeface="华文新魏" pitchFamily="2" charset="-122"/>
                <a:cs typeface="Times New Roman" pitchFamily="18" charset="0"/>
              </a:rPr>
              <a:t>8-27</a:t>
            </a:r>
            <a:r>
              <a:rPr lang="zh-CN" altLang="en-US" sz="2500" b="1">
                <a:solidFill>
                  <a:srgbClr val="FFFF00"/>
                </a:solidFill>
                <a:ea typeface="华文新魏" pitchFamily="2" charset="-122"/>
                <a:cs typeface="Times New Roman" pitchFamily="18" charset="0"/>
              </a:rPr>
              <a:t>：</a:t>
            </a:r>
          </a:p>
        </p:txBody>
      </p:sp>
      <p:sp>
        <p:nvSpPr>
          <p:cNvPr id="5" name="Rectangle 38"/>
          <p:cNvSpPr>
            <a:spLocks noChangeArrowheads="1"/>
          </p:cNvSpPr>
          <p:nvPr/>
        </p:nvSpPr>
        <p:spPr bwMode="auto">
          <a:xfrm>
            <a:off x="5988050" y="3095625"/>
            <a:ext cx="2735263" cy="473075"/>
          </a:xfrm>
          <a:prstGeom prst="rect">
            <a:avLst/>
          </a:prstGeom>
          <a:noFill/>
          <a:ln w="9525">
            <a:noFill/>
            <a:miter lim="800000"/>
            <a:headEnd/>
            <a:tailEnd/>
          </a:ln>
          <a:effectLst/>
        </p:spPr>
        <p:txBody>
          <a:bodyPr>
            <a:spAutoFit/>
          </a:bodyPr>
          <a:lstStyle/>
          <a:p>
            <a:pPr marL="342900" indent="-342900" eaLnBrk="0" hangingPunct="0">
              <a:spcBef>
                <a:spcPct val="20000"/>
              </a:spcBef>
              <a:buClr>
                <a:srgbClr val="FFFFCC"/>
              </a:buClr>
              <a:buSzPct val="90000"/>
              <a:buFont typeface="Wingdings" pitchFamily="2" charset="2"/>
              <a:buNone/>
            </a:pPr>
            <a:r>
              <a:rPr lang="zh-CN" altLang="en-US" sz="2500" b="1">
                <a:solidFill>
                  <a:srgbClr val="FFFF00"/>
                </a:solidFill>
                <a:ea typeface="华文新魏" pitchFamily="2" charset="-122"/>
                <a:cs typeface="Times New Roman" pitchFamily="18" charset="0"/>
              </a:rPr>
              <a:t>参考答案：</a:t>
            </a:r>
          </a:p>
        </p:txBody>
      </p:sp>
      <p:graphicFrame>
        <p:nvGraphicFramePr>
          <p:cNvPr id="2" name="表格 1"/>
          <p:cNvGraphicFramePr>
            <a:graphicFrameLocks noGrp="1"/>
          </p:cNvGraphicFramePr>
          <p:nvPr/>
        </p:nvGraphicFramePr>
        <p:xfrm>
          <a:off x="6034088" y="3594100"/>
          <a:ext cx="5224462" cy="2495550"/>
        </p:xfrm>
        <a:graphic>
          <a:graphicData uri="http://schemas.openxmlformats.org/drawingml/2006/table">
            <a:tbl>
              <a:tblPr firstRow="1" firstCol="1" bandRow="1" bandCol="1">
                <a:tableStyleId>{5C22544A-7EE6-4342-B048-85BDC9FD1C3A}</a:tableStyleId>
              </a:tblPr>
              <a:tblGrid>
                <a:gridCol w="765737"/>
                <a:gridCol w="1362674"/>
                <a:gridCol w="1224020"/>
                <a:gridCol w="1152019"/>
                <a:gridCol w="720012"/>
              </a:tblGrid>
              <a:tr h="603307">
                <a:tc>
                  <a:txBody>
                    <a:bodyPr/>
                    <a:lstStyle/>
                    <a:p>
                      <a:pPr algn="ctr">
                        <a:lnSpc>
                          <a:spcPct val="110000"/>
                        </a:lnSpc>
                        <a:spcAft>
                          <a:spcPts val="0"/>
                        </a:spcAft>
                      </a:pPr>
                      <a:r>
                        <a:rPr lang="zh-CN" sz="1800" b="1" kern="100" dirty="0">
                          <a:effectLst/>
                          <a:latin typeface="Times New Roman" panose="02020603050405020304" pitchFamily="18" charset="0"/>
                          <a:ea typeface="华文新魏" panose="02010800040101010101" pitchFamily="2" charset="-122"/>
                          <a:cs typeface="Times New Roman" panose="02020603050405020304" pitchFamily="18" charset="0"/>
                        </a:rPr>
                        <a:t>物质</a:t>
                      </a: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zh-CN" sz="1800" b="1" kern="100" dirty="0">
                          <a:effectLst/>
                          <a:latin typeface="Times New Roman" panose="02020603050405020304" pitchFamily="18" charset="0"/>
                          <a:ea typeface="华文新魏" panose="02010800040101010101" pitchFamily="2" charset="-122"/>
                          <a:cs typeface="Times New Roman" panose="02020603050405020304" pitchFamily="18" charset="0"/>
                        </a:rPr>
                        <a:t>晶格结点上的粒子</a:t>
                      </a: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zh-CN" sz="1800" b="1" kern="100" dirty="0">
                          <a:effectLst/>
                          <a:latin typeface="Times New Roman" panose="02020603050405020304" pitchFamily="18" charset="0"/>
                          <a:ea typeface="华文新魏" panose="02010800040101010101" pitchFamily="2" charset="-122"/>
                          <a:cs typeface="Times New Roman" panose="02020603050405020304" pitchFamily="18" charset="0"/>
                        </a:rPr>
                        <a:t>粒子</a:t>
                      </a:r>
                      <a:r>
                        <a:rPr lang="zh-CN" sz="1800" b="1" kern="100" dirty="0" smtClean="0">
                          <a:effectLst/>
                          <a:latin typeface="Times New Roman" panose="02020603050405020304" pitchFamily="18" charset="0"/>
                          <a:ea typeface="华文新魏" panose="02010800040101010101" pitchFamily="2" charset="-122"/>
                          <a:cs typeface="Times New Roman" panose="02020603050405020304" pitchFamily="18" charset="0"/>
                        </a:rPr>
                        <a:t>间</a:t>
                      </a:r>
                      <a:endParaRPr lang="en-US" altLang="zh-CN" sz="1800" b="1" kern="100" dirty="0" smtClean="0">
                        <a:effectLst/>
                        <a:latin typeface="Times New Roman" panose="02020603050405020304" pitchFamily="18" charset="0"/>
                        <a:ea typeface="华文新魏" panose="02010800040101010101" pitchFamily="2" charset="-122"/>
                        <a:cs typeface="Times New Roman" panose="02020603050405020304" pitchFamily="18" charset="0"/>
                      </a:endParaRPr>
                    </a:p>
                    <a:p>
                      <a:pPr algn="ctr">
                        <a:lnSpc>
                          <a:spcPct val="110000"/>
                        </a:lnSpc>
                        <a:spcAft>
                          <a:spcPts val="0"/>
                        </a:spcAft>
                      </a:pPr>
                      <a:r>
                        <a:rPr lang="zh-CN" sz="1800" b="1" kern="100" dirty="0" smtClean="0">
                          <a:effectLst/>
                          <a:latin typeface="Times New Roman" panose="02020603050405020304" pitchFamily="18" charset="0"/>
                          <a:ea typeface="华文新魏" panose="02010800040101010101" pitchFamily="2" charset="-122"/>
                          <a:cs typeface="Times New Roman" panose="02020603050405020304" pitchFamily="18" charset="0"/>
                        </a:rPr>
                        <a:t>作用力</a:t>
                      </a:r>
                      <a:endParaRPr lang="zh-CN" sz="1800" b="1" kern="100" dirty="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zh-CN" sz="1800" b="1" kern="100">
                          <a:effectLst/>
                          <a:latin typeface="Times New Roman" panose="02020603050405020304" pitchFamily="18" charset="0"/>
                          <a:ea typeface="华文新魏" panose="02010800040101010101" pitchFamily="2" charset="-122"/>
                          <a:cs typeface="Times New Roman" panose="02020603050405020304" pitchFamily="18" charset="0"/>
                        </a:rPr>
                        <a:t>晶体类型</a:t>
                      </a: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zh-CN" sz="1800" b="1" kern="100">
                          <a:effectLst/>
                          <a:latin typeface="Times New Roman" panose="02020603050405020304" pitchFamily="18" charset="0"/>
                          <a:ea typeface="华文新魏" panose="02010800040101010101" pitchFamily="2" charset="-122"/>
                          <a:cs typeface="Times New Roman" panose="02020603050405020304" pitchFamily="18" charset="0"/>
                        </a:rPr>
                        <a:t>熔点</a:t>
                      </a: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93972">
                <a:tc>
                  <a:txBody>
                    <a:bodyPr/>
                    <a:lstStyle/>
                    <a:p>
                      <a:pPr algn="ctr">
                        <a:lnSpc>
                          <a:spcPct val="110000"/>
                        </a:lnSpc>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SiC</a:t>
                      </a:r>
                      <a:endParaRPr lang="zh-CN" sz="18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en-US" sz="1800" b="1" kern="100" dirty="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rPr>
                        <a:t>Si</a:t>
                      </a:r>
                      <a:r>
                        <a:rPr lang="zh-CN" sz="1800" b="1" kern="100" dirty="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rPr>
                        <a:t>、</a:t>
                      </a:r>
                      <a:r>
                        <a:rPr lang="en-US" sz="1800" b="1" kern="100" dirty="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rPr>
                        <a:t>C</a:t>
                      </a:r>
                      <a:endParaRPr lang="zh-CN" sz="1800" b="1" kern="100" dirty="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zh-CN" sz="1800" b="1" kern="100" dirty="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rPr>
                        <a:t>共价键</a:t>
                      </a: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zh-CN" sz="1800" b="1" kern="10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rPr>
                        <a:t>原子晶体</a:t>
                      </a: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zh-CN" sz="1800" b="1" kern="10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rPr>
                        <a:t>很高</a:t>
                      </a: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31907">
                <a:tc>
                  <a:txBody>
                    <a:bodyPr/>
                    <a:lstStyle/>
                    <a:p>
                      <a:pPr algn="ctr">
                        <a:lnSpc>
                          <a:spcPct val="110000"/>
                        </a:lnSpc>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Cu</a:t>
                      </a:r>
                      <a:endParaRPr lang="zh-CN" sz="18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en-US" sz="1800" b="1" kern="100" dirty="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rPr>
                        <a:t>Cu</a:t>
                      </a:r>
                      <a:r>
                        <a:rPr lang="zh-CN" sz="1800" b="1" kern="100" dirty="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rPr>
                        <a:t>、铜离子</a:t>
                      </a: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zh-CN" sz="1800" b="1" kern="100" dirty="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rPr>
                        <a:t>金属键</a:t>
                      </a: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zh-CN" sz="1800" b="1" kern="100" dirty="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rPr>
                        <a:t>金属晶体</a:t>
                      </a: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zh-CN" sz="1800" b="1" kern="10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rPr>
                        <a:t>高</a:t>
                      </a: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47860">
                <a:tc>
                  <a:txBody>
                    <a:bodyPr/>
                    <a:lstStyle/>
                    <a:p>
                      <a:pPr algn="ctr">
                        <a:lnSpc>
                          <a:spcPct val="110000"/>
                        </a:lnSpc>
                        <a:spcAft>
                          <a:spcPts val="0"/>
                        </a:spcAft>
                      </a:pPr>
                      <a:r>
                        <a:rPr lang="zh-CN" sz="1800" b="1" kern="100">
                          <a:effectLst/>
                          <a:latin typeface="Times New Roman" panose="02020603050405020304" pitchFamily="18" charset="0"/>
                          <a:ea typeface="华文新魏" panose="02010800040101010101" pitchFamily="2" charset="-122"/>
                          <a:cs typeface="Times New Roman" panose="02020603050405020304" pitchFamily="18" charset="0"/>
                        </a:rPr>
                        <a:t>冰</a:t>
                      </a: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en-US" sz="1800" b="1" kern="10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rPr>
                        <a:t>H</a:t>
                      </a:r>
                      <a:r>
                        <a:rPr lang="en-US" sz="1800" b="1" kern="100" baseline="-2500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rPr>
                        <a:t>2</a:t>
                      </a:r>
                      <a:r>
                        <a:rPr lang="en-US" sz="1800" b="1" kern="10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rPr>
                        <a:t>O</a:t>
                      </a:r>
                      <a:endParaRPr lang="zh-CN" sz="1800" b="1" kern="10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zh-CN" sz="1800" b="1" kern="10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rPr>
                        <a:t>分子间力</a:t>
                      </a:r>
                      <a:r>
                        <a:rPr lang="en-US" sz="1800" b="1" kern="10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rPr>
                        <a:t>+</a:t>
                      </a:r>
                      <a:r>
                        <a:rPr lang="zh-CN" sz="1800" b="1" kern="10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rPr>
                        <a:t>氢键</a:t>
                      </a: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en-US" sz="1800" b="1" kern="100" dirty="0" smtClean="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rPr>
                        <a:t>(</a:t>
                      </a:r>
                      <a:r>
                        <a:rPr lang="zh-CN" sz="1800" b="1" kern="100" dirty="0" smtClean="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rPr>
                        <a:t>氢键型</a:t>
                      </a:r>
                      <a:r>
                        <a:rPr lang="en-US" sz="1800" b="1" kern="100" dirty="0" smtClean="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rPr>
                        <a:t>)</a:t>
                      </a:r>
                      <a:r>
                        <a:rPr lang="zh-CN" sz="1800" b="1" kern="100" dirty="0" smtClean="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rPr>
                        <a:t>分子晶体</a:t>
                      </a:r>
                      <a:endParaRPr lang="zh-CN" sz="1800" b="1" kern="100" dirty="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zh-CN" sz="1800" b="1" kern="100" dirty="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rPr>
                        <a:t>低</a:t>
                      </a: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18504">
                <a:tc>
                  <a:txBody>
                    <a:bodyPr/>
                    <a:lstStyle/>
                    <a:p>
                      <a:pPr algn="ctr">
                        <a:lnSpc>
                          <a:spcPct val="110000"/>
                        </a:lnSpc>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BaCl</a:t>
                      </a:r>
                      <a:r>
                        <a:rPr lang="en-US" sz="1800" b="1" kern="100" baseline="-25000">
                          <a:effectLst/>
                          <a:latin typeface="Times New Roman" panose="02020603050405020304" pitchFamily="18" charset="0"/>
                          <a:ea typeface="华文新魏" panose="02010800040101010101" pitchFamily="2" charset="-122"/>
                          <a:cs typeface="Times New Roman" panose="02020603050405020304" pitchFamily="18" charset="0"/>
                        </a:rPr>
                        <a:t>2</a:t>
                      </a:r>
                      <a:endParaRPr lang="zh-CN" sz="18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en-US" sz="1800" b="1" kern="100" dirty="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rPr>
                        <a:t>Ba</a:t>
                      </a:r>
                      <a:r>
                        <a:rPr lang="en-US" sz="1800" b="1" kern="100" baseline="30000" dirty="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rPr>
                        <a:t>2+</a:t>
                      </a:r>
                      <a:r>
                        <a:rPr lang="zh-CN" sz="1800" b="1" kern="100" dirty="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rPr>
                        <a:t>、</a:t>
                      </a:r>
                      <a:r>
                        <a:rPr lang="en-US" sz="1800" b="1" kern="100" dirty="0" smtClean="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rPr>
                        <a:t>Cl</a:t>
                      </a:r>
                      <a:r>
                        <a:rPr lang="en-US" altLang="zh-CN" sz="1800" b="1" kern="100" baseline="30000" dirty="0" smtClean="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rPr>
                        <a:t>-</a:t>
                      </a:r>
                      <a:endParaRPr lang="zh-CN" sz="1800" b="1" kern="100" dirty="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zh-CN" sz="1800" b="1" kern="10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rPr>
                        <a:t>离子键</a:t>
                      </a: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zh-CN" sz="1800" b="1" kern="100" dirty="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rPr>
                        <a:t>离子晶体</a:t>
                      </a: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zh-CN" sz="1800" b="1" kern="100" dirty="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rPr>
                        <a:t>高</a:t>
                      </a: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9" name="表格 8"/>
          <p:cNvGraphicFramePr>
            <a:graphicFrameLocks noGrp="1"/>
          </p:cNvGraphicFramePr>
          <p:nvPr/>
        </p:nvGraphicFramePr>
        <p:xfrm>
          <a:off x="273050" y="1220788"/>
          <a:ext cx="5224463" cy="2222500"/>
        </p:xfrm>
        <a:graphic>
          <a:graphicData uri="http://schemas.openxmlformats.org/drawingml/2006/table">
            <a:tbl>
              <a:tblPr firstRow="1" firstCol="1" bandRow="1" bandCol="1">
                <a:tableStyleId>{5C22544A-7EE6-4342-B048-85BDC9FD1C3A}</a:tableStyleId>
              </a:tblPr>
              <a:tblGrid>
                <a:gridCol w="765738"/>
                <a:gridCol w="1362674"/>
                <a:gridCol w="1224020"/>
                <a:gridCol w="1152019"/>
                <a:gridCol w="720012"/>
              </a:tblGrid>
              <a:tr h="603597">
                <a:tc>
                  <a:txBody>
                    <a:bodyPr/>
                    <a:lstStyle/>
                    <a:p>
                      <a:pPr algn="ctr">
                        <a:lnSpc>
                          <a:spcPct val="110000"/>
                        </a:lnSpc>
                        <a:spcAft>
                          <a:spcPts val="0"/>
                        </a:spcAft>
                      </a:pPr>
                      <a:r>
                        <a:rPr lang="zh-CN" sz="1800" b="1" kern="100" dirty="0">
                          <a:effectLst/>
                          <a:latin typeface="Times New Roman" panose="02020603050405020304" pitchFamily="18" charset="0"/>
                          <a:ea typeface="华文新魏" panose="02010800040101010101" pitchFamily="2" charset="-122"/>
                          <a:cs typeface="Times New Roman" panose="02020603050405020304" pitchFamily="18" charset="0"/>
                        </a:rPr>
                        <a:t>物质</a:t>
                      </a: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zh-CN" sz="1800" b="1" kern="100" dirty="0">
                          <a:effectLst/>
                          <a:latin typeface="Times New Roman" panose="02020603050405020304" pitchFamily="18" charset="0"/>
                          <a:ea typeface="华文新魏" panose="02010800040101010101" pitchFamily="2" charset="-122"/>
                          <a:cs typeface="Times New Roman" panose="02020603050405020304" pitchFamily="18" charset="0"/>
                        </a:rPr>
                        <a:t>晶格结点上的粒子</a:t>
                      </a: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zh-CN" sz="1800" b="1" kern="100" dirty="0">
                          <a:effectLst/>
                          <a:latin typeface="Times New Roman" panose="02020603050405020304" pitchFamily="18" charset="0"/>
                          <a:ea typeface="华文新魏" panose="02010800040101010101" pitchFamily="2" charset="-122"/>
                          <a:cs typeface="Times New Roman" panose="02020603050405020304" pitchFamily="18" charset="0"/>
                        </a:rPr>
                        <a:t>粒子</a:t>
                      </a:r>
                      <a:r>
                        <a:rPr lang="zh-CN" sz="1800" b="1" kern="100" dirty="0" smtClean="0">
                          <a:effectLst/>
                          <a:latin typeface="Times New Roman" panose="02020603050405020304" pitchFamily="18" charset="0"/>
                          <a:ea typeface="华文新魏" panose="02010800040101010101" pitchFamily="2" charset="-122"/>
                          <a:cs typeface="Times New Roman" panose="02020603050405020304" pitchFamily="18" charset="0"/>
                        </a:rPr>
                        <a:t>间</a:t>
                      </a:r>
                      <a:endParaRPr lang="en-US" altLang="zh-CN" sz="1800" b="1" kern="100" dirty="0" smtClean="0">
                        <a:effectLst/>
                        <a:latin typeface="Times New Roman" panose="02020603050405020304" pitchFamily="18" charset="0"/>
                        <a:ea typeface="华文新魏" panose="02010800040101010101" pitchFamily="2" charset="-122"/>
                        <a:cs typeface="Times New Roman" panose="02020603050405020304" pitchFamily="18" charset="0"/>
                      </a:endParaRPr>
                    </a:p>
                    <a:p>
                      <a:pPr algn="ctr">
                        <a:lnSpc>
                          <a:spcPct val="110000"/>
                        </a:lnSpc>
                        <a:spcAft>
                          <a:spcPts val="0"/>
                        </a:spcAft>
                      </a:pPr>
                      <a:r>
                        <a:rPr lang="zh-CN" sz="1800" b="1" kern="100" dirty="0" smtClean="0">
                          <a:effectLst/>
                          <a:latin typeface="Times New Roman" panose="02020603050405020304" pitchFamily="18" charset="0"/>
                          <a:ea typeface="华文新魏" panose="02010800040101010101" pitchFamily="2" charset="-122"/>
                          <a:cs typeface="Times New Roman" panose="02020603050405020304" pitchFamily="18" charset="0"/>
                        </a:rPr>
                        <a:t>作用力</a:t>
                      </a:r>
                      <a:endParaRPr lang="zh-CN" sz="1800" b="1" kern="100" dirty="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zh-CN" sz="1800" b="1" kern="100">
                          <a:effectLst/>
                          <a:latin typeface="Times New Roman" panose="02020603050405020304" pitchFamily="18" charset="0"/>
                          <a:ea typeface="华文新魏" panose="02010800040101010101" pitchFamily="2" charset="-122"/>
                          <a:cs typeface="Times New Roman" panose="02020603050405020304" pitchFamily="18" charset="0"/>
                        </a:rPr>
                        <a:t>晶体类型</a:t>
                      </a: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r>
                        <a:rPr lang="zh-CN" sz="1800" b="1" kern="100">
                          <a:effectLst/>
                          <a:latin typeface="Times New Roman" panose="02020603050405020304" pitchFamily="18" charset="0"/>
                          <a:ea typeface="华文新魏" panose="02010800040101010101" pitchFamily="2" charset="-122"/>
                          <a:cs typeface="Times New Roman" panose="02020603050405020304" pitchFamily="18" charset="0"/>
                        </a:rPr>
                        <a:t>熔点</a:t>
                      </a: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04726">
                <a:tc>
                  <a:txBody>
                    <a:bodyPr/>
                    <a:lstStyle/>
                    <a:p>
                      <a:pPr algn="ctr">
                        <a:lnSpc>
                          <a:spcPct val="110000"/>
                        </a:lnSpc>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SiC</a:t>
                      </a:r>
                      <a:endParaRPr lang="zh-CN" sz="18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endParaRPr lang="zh-CN" sz="1800" b="1" kern="100" dirty="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endParaRPr lang="zh-CN" sz="1800" b="1" kern="100" dirty="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endParaRPr lang="zh-CN" sz="1800" b="1" kern="10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endParaRPr lang="zh-CN" sz="1800" b="1" kern="100" dirty="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04726">
                <a:tc>
                  <a:txBody>
                    <a:bodyPr/>
                    <a:lstStyle/>
                    <a:p>
                      <a:pPr algn="ctr">
                        <a:lnSpc>
                          <a:spcPct val="110000"/>
                        </a:lnSpc>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Cu</a:t>
                      </a:r>
                      <a:endParaRPr lang="zh-CN" sz="18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endParaRPr lang="zh-CN" sz="1800" b="1" kern="100" dirty="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endParaRPr lang="zh-CN" sz="1800" b="1" kern="100" dirty="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endParaRPr lang="zh-CN" sz="1800" b="1" kern="100" dirty="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endParaRPr lang="zh-CN" sz="1800" b="1" kern="100" dirty="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04726">
                <a:tc>
                  <a:txBody>
                    <a:bodyPr/>
                    <a:lstStyle/>
                    <a:p>
                      <a:pPr algn="ctr">
                        <a:lnSpc>
                          <a:spcPct val="110000"/>
                        </a:lnSpc>
                        <a:spcAft>
                          <a:spcPts val="0"/>
                        </a:spcAft>
                      </a:pPr>
                      <a:r>
                        <a:rPr lang="zh-CN" sz="1800" b="1" kern="100">
                          <a:effectLst/>
                          <a:latin typeface="Times New Roman" panose="02020603050405020304" pitchFamily="18" charset="0"/>
                          <a:ea typeface="华文新魏" panose="02010800040101010101" pitchFamily="2" charset="-122"/>
                          <a:cs typeface="Times New Roman" panose="02020603050405020304" pitchFamily="18" charset="0"/>
                        </a:rPr>
                        <a:t>冰</a:t>
                      </a: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endParaRPr lang="zh-CN" sz="1800" b="1" kern="10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endParaRPr lang="zh-CN" sz="1800" b="1" kern="10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endParaRPr lang="zh-CN" sz="1800" b="1" kern="100" dirty="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endParaRPr lang="zh-CN" sz="1800" b="1" kern="100" dirty="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04726">
                <a:tc>
                  <a:txBody>
                    <a:bodyPr/>
                    <a:lstStyle/>
                    <a:p>
                      <a:pPr algn="ctr">
                        <a:lnSpc>
                          <a:spcPct val="110000"/>
                        </a:lnSpc>
                        <a:spcAft>
                          <a:spcPts val="0"/>
                        </a:spcAft>
                      </a:pPr>
                      <a:r>
                        <a:rPr lang="en-US" sz="1800" b="1" kern="100">
                          <a:effectLst/>
                          <a:latin typeface="Times New Roman" panose="02020603050405020304" pitchFamily="18" charset="0"/>
                          <a:ea typeface="华文新魏" panose="02010800040101010101" pitchFamily="2" charset="-122"/>
                          <a:cs typeface="Times New Roman" panose="02020603050405020304" pitchFamily="18" charset="0"/>
                        </a:rPr>
                        <a:t>BaCl</a:t>
                      </a:r>
                      <a:r>
                        <a:rPr lang="en-US" sz="1800" b="1" kern="100" baseline="-25000">
                          <a:effectLst/>
                          <a:latin typeface="Times New Roman" panose="02020603050405020304" pitchFamily="18" charset="0"/>
                          <a:ea typeface="华文新魏" panose="02010800040101010101" pitchFamily="2" charset="-122"/>
                          <a:cs typeface="Times New Roman" panose="02020603050405020304" pitchFamily="18" charset="0"/>
                        </a:rPr>
                        <a:t>2</a:t>
                      </a:r>
                      <a:endParaRPr lang="zh-CN" sz="1800" b="1" kern="100">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endParaRPr lang="zh-CN" sz="1800" b="1" kern="100" dirty="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endParaRPr lang="zh-CN" sz="1800" b="1" kern="10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endParaRPr lang="zh-CN" sz="1800" b="1" kern="100" dirty="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0000"/>
                        </a:lnSpc>
                        <a:spcAft>
                          <a:spcPts val="0"/>
                        </a:spcAft>
                      </a:pPr>
                      <a:endParaRPr lang="zh-CN" sz="1800" b="1" kern="100" dirty="0">
                        <a:solidFill>
                          <a:srgbClr val="FF33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L="68574" marR="6857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2504"/>
                                        </p:tgtEl>
                                        <p:attrNameLst>
                                          <p:attrName>style.visibility</p:attrName>
                                        </p:attrNameLst>
                                      </p:cBhvr>
                                      <p:to>
                                        <p:strVal val="visible"/>
                                      </p:to>
                                    </p:set>
                                    <p:animEffect transition="in" filter="wipe(down)">
                                      <p:cBhvr>
                                        <p:cTn id="7" dur="500"/>
                                        <p:tgtEl>
                                          <p:spTgt spid="62504"/>
                                        </p:tgtEl>
                                      </p:cBhvr>
                                    </p:animEffect>
                                  </p:childTnLst>
                                </p:cTn>
                              </p:par>
                            </p:childTnLst>
                          </p:cTn>
                        </p:par>
                        <p:par>
                          <p:cTn id="8" fill="hold" nodeType="afterGroup">
                            <p:stCondLst>
                              <p:cond delay="500"/>
                            </p:stCondLst>
                            <p:childTnLst>
                              <p:par>
                                <p:cTn id="9" presetID="16" presetClass="entr" presetSubtype="21"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barn(inVertical)">
                                      <p:cBhvr>
                                        <p:cTn id="11" dur="500"/>
                                        <p:tgtEl>
                                          <p:spTgt spid="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62502"/>
                                        </p:tgtEl>
                                        <p:attrNameLst>
                                          <p:attrName>style.visibility</p:attrName>
                                        </p:attrNameLst>
                                      </p:cBhvr>
                                      <p:to>
                                        <p:strVal val="visible"/>
                                      </p:to>
                                    </p:set>
                                    <p:animEffect transition="in" filter="blinds(horizontal)">
                                      <p:cBhvr>
                                        <p:cTn id="16" dur="500"/>
                                        <p:tgtEl>
                                          <p:spTgt spid="6250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4098"/>
                                        </p:tgtEl>
                                        <p:attrNameLst>
                                          <p:attrName>style.visibility</p:attrName>
                                        </p:attrNameLst>
                                      </p:cBhvr>
                                      <p:to>
                                        <p:strVal val="visible"/>
                                      </p:to>
                                    </p:set>
                                    <p:animEffect transition="in" filter="wipe(up)">
                                      <p:cBhvr>
                                        <p:cTn id="21" dur="500"/>
                                        <p:tgtEl>
                                          <p:spTgt spid="409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blinds(horizontal)">
                                      <p:cBhvr>
                                        <p:cTn id="26" dur="500"/>
                                        <p:tgtEl>
                                          <p:spTgt spid="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6" presetClass="entr" presetSubtype="21"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barn(inVertical)">
                                      <p:cBhvr>
                                        <p:cTn id="3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 grpId="0"/>
      <p:bldP spid="62504" grpId="0"/>
      <p:bldP spid="62502" grpId="0" autoUpdateAnimBg="0"/>
      <p:bldP spid="5" grpId="0" autoUpdateAnimBg="0"/>
    </p:bldLst>
  </p:timing>
</p:sld>
</file>

<file path=ppt/theme/theme1.xml><?xml version="1.0" encoding="utf-8"?>
<a:theme xmlns:a="http://schemas.openxmlformats.org/drawingml/2006/main" name="医学研究PPT模板">
  <a:themeElements>
    <a:clrScheme name="医学研究PPT模板 1">
      <a:dk1>
        <a:srgbClr val="FFFFFF"/>
      </a:dk1>
      <a:lt1>
        <a:srgbClr val="FFFFFF"/>
      </a:lt1>
      <a:dk2>
        <a:srgbClr val="000000"/>
      </a:dk2>
      <a:lt2>
        <a:srgbClr val="000000"/>
      </a:lt2>
      <a:accent1>
        <a:srgbClr val="000000"/>
      </a:accent1>
      <a:accent2>
        <a:srgbClr val="FF00FF"/>
      </a:accent2>
      <a:accent3>
        <a:srgbClr val="FFFFFF"/>
      </a:accent3>
      <a:accent4>
        <a:srgbClr val="DADADA"/>
      </a:accent4>
      <a:accent5>
        <a:srgbClr val="AAAAAA"/>
      </a:accent5>
      <a:accent6>
        <a:srgbClr val="E700E7"/>
      </a:accent6>
      <a:hlink>
        <a:srgbClr val="FFCCFF"/>
      </a:hlink>
      <a:folHlink>
        <a:srgbClr val="66FF33"/>
      </a:folHlink>
    </a:clrScheme>
    <a:fontScheme name="医学研究PPT模板">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医学研究PPT模板 1">
        <a:dk1>
          <a:srgbClr val="200B5B"/>
        </a:dk1>
        <a:lt1>
          <a:srgbClr val="EAEAEA"/>
        </a:lt1>
        <a:dk2>
          <a:srgbClr val="6600FF"/>
        </a:dk2>
        <a:lt2>
          <a:srgbClr val="FFCC66"/>
        </a:lt2>
        <a:accent1>
          <a:srgbClr val="EEB00B"/>
        </a:accent1>
        <a:accent2>
          <a:srgbClr val="6600CC"/>
        </a:accent2>
        <a:accent3>
          <a:srgbClr val="B8AAFF"/>
        </a:accent3>
        <a:accent4>
          <a:srgbClr val="C8C8C8"/>
        </a:accent4>
        <a:accent5>
          <a:srgbClr val="F5D4AA"/>
        </a:accent5>
        <a:accent6>
          <a:srgbClr val="5C00B9"/>
        </a:accent6>
        <a:hlink>
          <a:srgbClr val="FF33CC"/>
        </a:hlink>
        <a:folHlink>
          <a:srgbClr val="CC99FF"/>
        </a:folHlink>
      </a:clrScheme>
      <a:clrMap bg1="dk2" tx1="lt1" bg2="dk1" tx2="lt2" accent1="accent1" accent2="accent2" accent3="accent3" accent4="accent4" accent5="accent5" accent6="accent6" hlink="hlink" folHlink="folHlink"/>
    </a:extraClrScheme>
    <a:extraClrScheme>
      <a:clrScheme name="医学研究PPT模板 2">
        <a:dk1>
          <a:srgbClr val="393939"/>
        </a:dk1>
        <a:lt1>
          <a:srgbClr val="FFFFFF"/>
        </a:lt1>
        <a:dk2>
          <a:srgbClr val="6600CC"/>
        </a:dk2>
        <a:lt2>
          <a:srgbClr val="CCCCFF"/>
        </a:lt2>
        <a:accent1>
          <a:srgbClr val="F9D87E"/>
        </a:accent1>
        <a:accent2>
          <a:srgbClr val="FFCCCC"/>
        </a:accent2>
        <a:accent3>
          <a:srgbClr val="FFFFFF"/>
        </a:accent3>
        <a:accent4>
          <a:srgbClr val="2F2F2F"/>
        </a:accent4>
        <a:accent5>
          <a:srgbClr val="FBE9C0"/>
        </a:accent5>
        <a:accent6>
          <a:srgbClr val="E7B9B9"/>
        </a:accent6>
        <a:hlink>
          <a:srgbClr val="FFCCFF"/>
        </a:hlink>
        <a:folHlink>
          <a:srgbClr val="99CCFF"/>
        </a:folHlink>
      </a:clrScheme>
      <a:clrMap bg1="lt1" tx1="dk1" bg2="lt2" tx2="dk2" accent1="accent1" accent2="accent2" accent3="accent3" accent4="accent4" accent5="accent5" accent6="accent6" hlink="hlink" folHlink="folHlink"/>
    </a:extraClrScheme>
    <a:extraClrScheme>
      <a:clrScheme name="医学研究PPT模板 3">
        <a:dk1>
          <a:srgbClr val="000000"/>
        </a:dk1>
        <a:lt1>
          <a:srgbClr val="FFFFFF"/>
        </a:lt1>
        <a:dk2>
          <a:srgbClr val="000000"/>
        </a:dk2>
        <a:lt2>
          <a:srgbClr val="FFFFFF"/>
        </a:lt2>
        <a:accent1>
          <a:srgbClr val="CBCBCB"/>
        </a:accent1>
        <a:accent2>
          <a:srgbClr val="5F5F5F"/>
        </a:accent2>
        <a:accent3>
          <a:srgbClr val="FFFFFF"/>
        </a:accent3>
        <a:accent4>
          <a:srgbClr val="000000"/>
        </a:accent4>
        <a:accent5>
          <a:srgbClr val="E2E2E2"/>
        </a:accent5>
        <a:accent6>
          <a:srgbClr val="555555"/>
        </a:accent6>
        <a:hlink>
          <a:srgbClr val="969696"/>
        </a:hlink>
        <a:folHlink>
          <a:srgbClr val="EAEAEA"/>
        </a:folHlink>
      </a:clrScheme>
      <a:clrMap bg1="lt1" tx1="dk1" bg2="lt2" tx2="dk2" accent1="accent1" accent2="accent2" accent3="accent3" accent4="accent4" accent5="accent5" accent6="accent6" hlink="hlink" folHlink="folHlink"/>
    </a:extraClrScheme>
    <a:extraClrScheme>
      <a:clrScheme name="医学研究PPT模板 4">
        <a:dk1>
          <a:srgbClr val="330000"/>
        </a:dk1>
        <a:lt1>
          <a:srgbClr val="FFFFCC"/>
        </a:lt1>
        <a:dk2>
          <a:srgbClr val="000000"/>
        </a:dk2>
        <a:lt2>
          <a:srgbClr val="FFCC00"/>
        </a:lt2>
        <a:accent1>
          <a:srgbClr val="FF9900"/>
        </a:accent1>
        <a:accent2>
          <a:srgbClr val="330099"/>
        </a:accent2>
        <a:accent3>
          <a:srgbClr val="AAAAAA"/>
        </a:accent3>
        <a:accent4>
          <a:srgbClr val="DADAAE"/>
        </a:accent4>
        <a:accent5>
          <a:srgbClr val="FFCAAA"/>
        </a:accent5>
        <a:accent6>
          <a:srgbClr val="2D008A"/>
        </a:accent6>
        <a:hlink>
          <a:srgbClr val="FF6633"/>
        </a:hlink>
        <a:folHlink>
          <a:srgbClr val="669900"/>
        </a:folHlink>
      </a:clrScheme>
      <a:clrMap bg1="dk2" tx1="lt1" bg2="dk1" tx2="lt2" accent1="accent1" accent2="accent2" accent3="accent3" accent4="accent4" accent5="accent5" accent6="accent6" hlink="hlink" folHlink="folHlink"/>
    </a:extraClrScheme>
    <a:extraClrScheme>
      <a:clrScheme name="医学研究PPT模板 5">
        <a:dk1>
          <a:srgbClr val="333300"/>
        </a:dk1>
        <a:lt1>
          <a:srgbClr val="DDDDDD"/>
        </a:lt1>
        <a:dk2>
          <a:srgbClr val="996600"/>
        </a:dk2>
        <a:lt2>
          <a:srgbClr val="FFCC66"/>
        </a:lt2>
        <a:accent1>
          <a:srgbClr val="EEB00B"/>
        </a:accent1>
        <a:accent2>
          <a:srgbClr val="330099"/>
        </a:accent2>
        <a:accent3>
          <a:srgbClr val="CAB8AA"/>
        </a:accent3>
        <a:accent4>
          <a:srgbClr val="BDBDBD"/>
        </a:accent4>
        <a:accent5>
          <a:srgbClr val="F5D4AA"/>
        </a:accent5>
        <a:accent6>
          <a:srgbClr val="2D008A"/>
        </a:accent6>
        <a:hlink>
          <a:srgbClr val="FF6633"/>
        </a:hlink>
        <a:folHlink>
          <a:srgbClr val="CC9900"/>
        </a:folHlink>
      </a:clrScheme>
      <a:clrMap bg1="dk2" tx1="lt1" bg2="dk1" tx2="lt2" accent1="accent1" accent2="accent2" accent3="accent3" accent4="accent4" accent5="accent5" accent6="accent6" hlink="hlink" folHlink="folHlink"/>
    </a:extraClrScheme>
    <a:extraClrScheme>
      <a:clrScheme name="医学研究PPT模板 6">
        <a:dk1>
          <a:srgbClr val="003300"/>
        </a:dk1>
        <a:lt1>
          <a:srgbClr val="FFFFCC"/>
        </a:lt1>
        <a:dk2>
          <a:srgbClr val="999933"/>
        </a:dk2>
        <a:lt2>
          <a:srgbClr val="FFFF66"/>
        </a:lt2>
        <a:accent1>
          <a:srgbClr val="CC9900"/>
        </a:accent1>
        <a:accent2>
          <a:srgbClr val="330099"/>
        </a:accent2>
        <a:accent3>
          <a:srgbClr val="CACAAD"/>
        </a:accent3>
        <a:accent4>
          <a:srgbClr val="DADAAE"/>
        </a:accent4>
        <a:accent5>
          <a:srgbClr val="E2CAAA"/>
        </a:accent5>
        <a:accent6>
          <a:srgbClr val="2D008A"/>
        </a:accent6>
        <a:hlink>
          <a:srgbClr val="FF9900"/>
        </a:hlink>
        <a:folHlink>
          <a:srgbClr val="FF6600"/>
        </a:folHlink>
      </a:clrScheme>
      <a:clrMap bg1="dk2" tx1="lt1" bg2="dk1" tx2="lt2" accent1="accent1" accent2="accent2" accent3="accent3" accent4="accent4" accent5="accent5" accent6="accent6" hlink="hlink" folHlink="folHlink"/>
    </a:extraClrScheme>
    <a:extraClrScheme>
      <a:clrScheme name="医学研究PPT模板 1">
        <a:dk1>
          <a:srgbClr val="000000"/>
        </a:dk1>
        <a:lt1>
          <a:srgbClr val="FFFFFF"/>
        </a:lt1>
        <a:dk2>
          <a:srgbClr val="000000"/>
        </a:dk2>
        <a:lt2>
          <a:srgbClr val="FFFFFF"/>
        </a:lt2>
        <a:accent1>
          <a:srgbClr val="CBCBCB"/>
        </a:accent1>
        <a:accent2>
          <a:srgbClr val="5F5F5F"/>
        </a:accent2>
        <a:accent3>
          <a:srgbClr val="FFFFFF"/>
        </a:accent3>
        <a:accent4>
          <a:srgbClr val="000000"/>
        </a:accent4>
        <a:accent5>
          <a:srgbClr val="E2E2E2"/>
        </a:accent5>
        <a:accent6>
          <a:srgbClr val="555555"/>
        </a:accent6>
        <a:hlink>
          <a:srgbClr val="969696"/>
        </a:hlink>
        <a:folHlink>
          <a:srgbClr val="EAEAEA"/>
        </a:folHlink>
      </a:clrScheme>
      <a:clrMap bg1="lt1" tx1="dk1" bg2="lt2" tx2="dk2" accent1="accent1" accent2="accent2" accent3="accent3" accent4="accent4" accent5="accent5" accent6="accent6" hlink="hlink" folHlink="folHlink"/>
    </a:extraClrScheme>
    <a:extraClrScheme>
      <a:clrScheme name="医学研究PPT模板 2">
        <a:dk1>
          <a:srgbClr val="000000"/>
        </a:dk1>
        <a:lt1>
          <a:srgbClr val="FFFFFF"/>
        </a:lt1>
        <a:dk2>
          <a:srgbClr val="000000"/>
        </a:dk2>
        <a:lt2>
          <a:srgbClr val="000000"/>
        </a:lt2>
        <a:accent1>
          <a:srgbClr val="FF0000"/>
        </a:accent1>
        <a:accent2>
          <a:srgbClr val="FF00FF"/>
        </a:accent2>
        <a:accent3>
          <a:srgbClr val="FFFFFF"/>
        </a:accent3>
        <a:accent4>
          <a:srgbClr val="000000"/>
        </a:accent4>
        <a:accent5>
          <a:srgbClr val="FFAAAA"/>
        </a:accent5>
        <a:accent6>
          <a:srgbClr val="E700E7"/>
        </a:accent6>
        <a:hlink>
          <a:srgbClr val="FF9900"/>
        </a:hlink>
        <a:folHlink>
          <a:srgbClr val="3333CC"/>
        </a:folHlink>
      </a:clrScheme>
      <a:clrMap bg1="lt1" tx1="dk1" bg2="lt2" tx2="dk2" accent1="accent1" accent2="accent2" accent3="accent3" accent4="accent4" accent5="accent5" accent6="accent6" hlink="hlink" folHlink="folHlink"/>
    </a:extraClrScheme>
    <a:extraClrScheme>
      <a:clrScheme name="医学研究PPT模板 3">
        <a:dk1>
          <a:srgbClr val="FFFFFF"/>
        </a:dk1>
        <a:lt1>
          <a:srgbClr val="FFFFFF"/>
        </a:lt1>
        <a:dk2>
          <a:srgbClr val="000000"/>
        </a:dk2>
        <a:lt2>
          <a:srgbClr val="000000"/>
        </a:lt2>
        <a:accent1>
          <a:srgbClr val="FF0000"/>
        </a:accent1>
        <a:accent2>
          <a:srgbClr val="FF00FF"/>
        </a:accent2>
        <a:accent3>
          <a:srgbClr val="FFFFFF"/>
        </a:accent3>
        <a:accent4>
          <a:srgbClr val="DADADA"/>
        </a:accent4>
        <a:accent5>
          <a:srgbClr val="FFAAAA"/>
        </a:accent5>
        <a:accent6>
          <a:srgbClr val="E700E7"/>
        </a:accent6>
        <a:hlink>
          <a:srgbClr val="FF9900"/>
        </a:hlink>
        <a:folHlink>
          <a:srgbClr val="3333CC"/>
        </a:folHlink>
      </a:clrScheme>
      <a:clrMap bg1="lt1" tx1="dk1" bg2="lt2" tx2="dk2" accent1="accent1" accent2="accent2" accent3="accent3" accent4="accent4" accent5="accent5" accent6="accent6" hlink="hlink" folHlink="folHlink"/>
    </a:extraClrScheme>
    <a:extraClrScheme>
      <a:clrScheme name="医学研究PPT模板 1">
        <a:dk1>
          <a:srgbClr val="FFFFFF"/>
        </a:dk1>
        <a:lt1>
          <a:srgbClr val="FFFFFF"/>
        </a:lt1>
        <a:dk2>
          <a:srgbClr val="000000"/>
        </a:dk2>
        <a:lt2>
          <a:srgbClr val="000000"/>
        </a:lt2>
        <a:accent1>
          <a:srgbClr val="000000"/>
        </a:accent1>
        <a:accent2>
          <a:srgbClr val="FF00FF"/>
        </a:accent2>
        <a:accent3>
          <a:srgbClr val="FFFFFF"/>
        </a:accent3>
        <a:accent4>
          <a:srgbClr val="DADADA"/>
        </a:accent4>
        <a:accent5>
          <a:srgbClr val="AAAAAA"/>
        </a:accent5>
        <a:accent6>
          <a:srgbClr val="E700E7"/>
        </a:accent6>
        <a:hlink>
          <a:srgbClr val="FF9900"/>
        </a:hlink>
        <a:folHlink>
          <a:srgbClr val="3333CC"/>
        </a:folHlink>
      </a:clrScheme>
      <a:clrMap bg1="lt1" tx1="dk1" bg2="lt2" tx2="dk2" accent1="accent1" accent2="accent2" accent3="accent3" accent4="accent4" accent5="accent5" accent6="accent6" hlink="hlink" folHlink="folHlink"/>
    </a:extraClrScheme>
    <a:extraClrScheme>
      <a:clrScheme name="医学研究PPT模板 1">
        <a:dk1>
          <a:srgbClr val="FFFFFF"/>
        </a:dk1>
        <a:lt1>
          <a:srgbClr val="FFFFFF"/>
        </a:lt1>
        <a:dk2>
          <a:srgbClr val="000000"/>
        </a:dk2>
        <a:lt2>
          <a:srgbClr val="000000"/>
        </a:lt2>
        <a:accent1>
          <a:srgbClr val="000000"/>
        </a:accent1>
        <a:accent2>
          <a:srgbClr val="FF00FF"/>
        </a:accent2>
        <a:accent3>
          <a:srgbClr val="FFFFFF"/>
        </a:accent3>
        <a:accent4>
          <a:srgbClr val="DADADA"/>
        </a:accent4>
        <a:accent5>
          <a:srgbClr val="AAAAAA"/>
        </a:accent5>
        <a:accent6>
          <a:srgbClr val="E700E7"/>
        </a:accent6>
        <a:hlink>
          <a:srgbClr val="FFCCFF"/>
        </a:hlink>
        <a:folHlink>
          <a:srgbClr val="66FF33"/>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医学研究PPT模板">
  <a:themeElements>
    <a:clrScheme name="医学研究PPT模板 1">
      <a:dk1>
        <a:srgbClr val="FFFFFF"/>
      </a:dk1>
      <a:lt1>
        <a:srgbClr val="FFFFFF"/>
      </a:lt1>
      <a:dk2>
        <a:srgbClr val="000000"/>
      </a:dk2>
      <a:lt2>
        <a:srgbClr val="000000"/>
      </a:lt2>
      <a:accent1>
        <a:srgbClr val="000000"/>
      </a:accent1>
      <a:accent2>
        <a:srgbClr val="FF00FF"/>
      </a:accent2>
      <a:accent3>
        <a:srgbClr val="FFFFFF"/>
      </a:accent3>
      <a:accent4>
        <a:srgbClr val="DADADA"/>
      </a:accent4>
      <a:accent5>
        <a:srgbClr val="AAAAAA"/>
      </a:accent5>
      <a:accent6>
        <a:srgbClr val="E700E7"/>
      </a:accent6>
      <a:hlink>
        <a:srgbClr val="FFCCFF"/>
      </a:hlink>
      <a:folHlink>
        <a:srgbClr val="66FF33"/>
      </a:folHlink>
    </a:clrScheme>
    <a:fontScheme name="医学研究PPT模板">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医学研究PPT模板 1">
        <a:dk1>
          <a:srgbClr val="200B5B"/>
        </a:dk1>
        <a:lt1>
          <a:srgbClr val="EAEAEA"/>
        </a:lt1>
        <a:dk2>
          <a:srgbClr val="6600FF"/>
        </a:dk2>
        <a:lt2>
          <a:srgbClr val="FFCC66"/>
        </a:lt2>
        <a:accent1>
          <a:srgbClr val="EEB00B"/>
        </a:accent1>
        <a:accent2>
          <a:srgbClr val="6600CC"/>
        </a:accent2>
        <a:accent3>
          <a:srgbClr val="B8AAFF"/>
        </a:accent3>
        <a:accent4>
          <a:srgbClr val="C8C8C8"/>
        </a:accent4>
        <a:accent5>
          <a:srgbClr val="F5D4AA"/>
        </a:accent5>
        <a:accent6>
          <a:srgbClr val="5C00B9"/>
        </a:accent6>
        <a:hlink>
          <a:srgbClr val="FF33CC"/>
        </a:hlink>
        <a:folHlink>
          <a:srgbClr val="CC99FF"/>
        </a:folHlink>
      </a:clrScheme>
      <a:clrMap bg1="dk2" tx1="lt1" bg2="dk1" tx2="lt2" accent1="accent1" accent2="accent2" accent3="accent3" accent4="accent4" accent5="accent5" accent6="accent6" hlink="hlink" folHlink="folHlink"/>
    </a:extraClrScheme>
    <a:extraClrScheme>
      <a:clrScheme name="医学研究PPT模板 2">
        <a:dk1>
          <a:srgbClr val="393939"/>
        </a:dk1>
        <a:lt1>
          <a:srgbClr val="FFFFFF"/>
        </a:lt1>
        <a:dk2>
          <a:srgbClr val="6600CC"/>
        </a:dk2>
        <a:lt2>
          <a:srgbClr val="CCCCFF"/>
        </a:lt2>
        <a:accent1>
          <a:srgbClr val="F9D87E"/>
        </a:accent1>
        <a:accent2>
          <a:srgbClr val="FFCCCC"/>
        </a:accent2>
        <a:accent3>
          <a:srgbClr val="FFFFFF"/>
        </a:accent3>
        <a:accent4>
          <a:srgbClr val="2F2F2F"/>
        </a:accent4>
        <a:accent5>
          <a:srgbClr val="FBE9C0"/>
        </a:accent5>
        <a:accent6>
          <a:srgbClr val="E7B9B9"/>
        </a:accent6>
        <a:hlink>
          <a:srgbClr val="FFCCFF"/>
        </a:hlink>
        <a:folHlink>
          <a:srgbClr val="99CCFF"/>
        </a:folHlink>
      </a:clrScheme>
      <a:clrMap bg1="lt1" tx1="dk1" bg2="lt2" tx2="dk2" accent1="accent1" accent2="accent2" accent3="accent3" accent4="accent4" accent5="accent5" accent6="accent6" hlink="hlink" folHlink="folHlink"/>
    </a:extraClrScheme>
    <a:extraClrScheme>
      <a:clrScheme name="医学研究PPT模板 3">
        <a:dk1>
          <a:srgbClr val="000000"/>
        </a:dk1>
        <a:lt1>
          <a:srgbClr val="FFFFFF"/>
        </a:lt1>
        <a:dk2>
          <a:srgbClr val="000000"/>
        </a:dk2>
        <a:lt2>
          <a:srgbClr val="FFFFFF"/>
        </a:lt2>
        <a:accent1>
          <a:srgbClr val="CBCBCB"/>
        </a:accent1>
        <a:accent2>
          <a:srgbClr val="5F5F5F"/>
        </a:accent2>
        <a:accent3>
          <a:srgbClr val="FFFFFF"/>
        </a:accent3>
        <a:accent4>
          <a:srgbClr val="000000"/>
        </a:accent4>
        <a:accent5>
          <a:srgbClr val="E2E2E2"/>
        </a:accent5>
        <a:accent6>
          <a:srgbClr val="555555"/>
        </a:accent6>
        <a:hlink>
          <a:srgbClr val="969696"/>
        </a:hlink>
        <a:folHlink>
          <a:srgbClr val="EAEAEA"/>
        </a:folHlink>
      </a:clrScheme>
      <a:clrMap bg1="lt1" tx1="dk1" bg2="lt2" tx2="dk2" accent1="accent1" accent2="accent2" accent3="accent3" accent4="accent4" accent5="accent5" accent6="accent6" hlink="hlink" folHlink="folHlink"/>
    </a:extraClrScheme>
    <a:extraClrScheme>
      <a:clrScheme name="医学研究PPT模板 4">
        <a:dk1>
          <a:srgbClr val="330000"/>
        </a:dk1>
        <a:lt1>
          <a:srgbClr val="FFFFCC"/>
        </a:lt1>
        <a:dk2>
          <a:srgbClr val="000000"/>
        </a:dk2>
        <a:lt2>
          <a:srgbClr val="FFCC00"/>
        </a:lt2>
        <a:accent1>
          <a:srgbClr val="FF9900"/>
        </a:accent1>
        <a:accent2>
          <a:srgbClr val="330099"/>
        </a:accent2>
        <a:accent3>
          <a:srgbClr val="AAAAAA"/>
        </a:accent3>
        <a:accent4>
          <a:srgbClr val="DADAAE"/>
        </a:accent4>
        <a:accent5>
          <a:srgbClr val="FFCAAA"/>
        </a:accent5>
        <a:accent6>
          <a:srgbClr val="2D008A"/>
        </a:accent6>
        <a:hlink>
          <a:srgbClr val="FF6633"/>
        </a:hlink>
        <a:folHlink>
          <a:srgbClr val="669900"/>
        </a:folHlink>
      </a:clrScheme>
      <a:clrMap bg1="dk2" tx1="lt1" bg2="dk1" tx2="lt2" accent1="accent1" accent2="accent2" accent3="accent3" accent4="accent4" accent5="accent5" accent6="accent6" hlink="hlink" folHlink="folHlink"/>
    </a:extraClrScheme>
    <a:extraClrScheme>
      <a:clrScheme name="医学研究PPT模板 5">
        <a:dk1>
          <a:srgbClr val="333300"/>
        </a:dk1>
        <a:lt1>
          <a:srgbClr val="DDDDDD"/>
        </a:lt1>
        <a:dk2>
          <a:srgbClr val="996600"/>
        </a:dk2>
        <a:lt2>
          <a:srgbClr val="FFCC66"/>
        </a:lt2>
        <a:accent1>
          <a:srgbClr val="EEB00B"/>
        </a:accent1>
        <a:accent2>
          <a:srgbClr val="330099"/>
        </a:accent2>
        <a:accent3>
          <a:srgbClr val="CAB8AA"/>
        </a:accent3>
        <a:accent4>
          <a:srgbClr val="BDBDBD"/>
        </a:accent4>
        <a:accent5>
          <a:srgbClr val="F5D4AA"/>
        </a:accent5>
        <a:accent6>
          <a:srgbClr val="2D008A"/>
        </a:accent6>
        <a:hlink>
          <a:srgbClr val="FF6633"/>
        </a:hlink>
        <a:folHlink>
          <a:srgbClr val="CC9900"/>
        </a:folHlink>
      </a:clrScheme>
      <a:clrMap bg1="dk2" tx1="lt1" bg2="dk1" tx2="lt2" accent1="accent1" accent2="accent2" accent3="accent3" accent4="accent4" accent5="accent5" accent6="accent6" hlink="hlink" folHlink="folHlink"/>
    </a:extraClrScheme>
    <a:extraClrScheme>
      <a:clrScheme name="医学研究PPT模板 6">
        <a:dk1>
          <a:srgbClr val="003300"/>
        </a:dk1>
        <a:lt1>
          <a:srgbClr val="FFFFCC"/>
        </a:lt1>
        <a:dk2>
          <a:srgbClr val="999933"/>
        </a:dk2>
        <a:lt2>
          <a:srgbClr val="FFFF66"/>
        </a:lt2>
        <a:accent1>
          <a:srgbClr val="CC9900"/>
        </a:accent1>
        <a:accent2>
          <a:srgbClr val="330099"/>
        </a:accent2>
        <a:accent3>
          <a:srgbClr val="CACAAD"/>
        </a:accent3>
        <a:accent4>
          <a:srgbClr val="DADAAE"/>
        </a:accent4>
        <a:accent5>
          <a:srgbClr val="E2CAAA"/>
        </a:accent5>
        <a:accent6>
          <a:srgbClr val="2D008A"/>
        </a:accent6>
        <a:hlink>
          <a:srgbClr val="FF9900"/>
        </a:hlink>
        <a:folHlink>
          <a:srgbClr val="FF6600"/>
        </a:folHlink>
      </a:clrScheme>
      <a:clrMap bg1="dk2" tx1="lt1" bg2="dk1" tx2="lt2" accent1="accent1" accent2="accent2" accent3="accent3" accent4="accent4" accent5="accent5" accent6="accent6" hlink="hlink" folHlink="folHlink"/>
    </a:extraClrScheme>
    <a:extraClrScheme>
      <a:clrScheme name="医学研究PPT模板 1">
        <a:dk1>
          <a:srgbClr val="000000"/>
        </a:dk1>
        <a:lt1>
          <a:srgbClr val="FFFFFF"/>
        </a:lt1>
        <a:dk2>
          <a:srgbClr val="000000"/>
        </a:dk2>
        <a:lt2>
          <a:srgbClr val="FFFFFF"/>
        </a:lt2>
        <a:accent1>
          <a:srgbClr val="CBCBCB"/>
        </a:accent1>
        <a:accent2>
          <a:srgbClr val="5F5F5F"/>
        </a:accent2>
        <a:accent3>
          <a:srgbClr val="FFFFFF"/>
        </a:accent3>
        <a:accent4>
          <a:srgbClr val="000000"/>
        </a:accent4>
        <a:accent5>
          <a:srgbClr val="E2E2E2"/>
        </a:accent5>
        <a:accent6>
          <a:srgbClr val="555555"/>
        </a:accent6>
        <a:hlink>
          <a:srgbClr val="969696"/>
        </a:hlink>
        <a:folHlink>
          <a:srgbClr val="EAEAEA"/>
        </a:folHlink>
      </a:clrScheme>
      <a:clrMap bg1="lt1" tx1="dk1" bg2="lt2" tx2="dk2" accent1="accent1" accent2="accent2" accent3="accent3" accent4="accent4" accent5="accent5" accent6="accent6" hlink="hlink" folHlink="folHlink"/>
    </a:extraClrScheme>
    <a:extraClrScheme>
      <a:clrScheme name="医学研究PPT模板 2">
        <a:dk1>
          <a:srgbClr val="000000"/>
        </a:dk1>
        <a:lt1>
          <a:srgbClr val="FFFFFF"/>
        </a:lt1>
        <a:dk2>
          <a:srgbClr val="000000"/>
        </a:dk2>
        <a:lt2>
          <a:srgbClr val="000000"/>
        </a:lt2>
        <a:accent1>
          <a:srgbClr val="FF0000"/>
        </a:accent1>
        <a:accent2>
          <a:srgbClr val="FF00FF"/>
        </a:accent2>
        <a:accent3>
          <a:srgbClr val="FFFFFF"/>
        </a:accent3>
        <a:accent4>
          <a:srgbClr val="000000"/>
        </a:accent4>
        <a:accent5>
          <a:srgbClr val="FFAAAA"/>
        </a:accent5>
        <a:accent6>
          <a:srgbClr val="E700E7"/>
        </a:accent6>
        <a:hlink>
          <a:srgbClr val="FF9900"/>
        </a:hlink>
        <a:folHlink>
          <a:srgbClr val="3333CC"/>
        </a:folHlink>
      </a:clrScheme>
      <a:clrMap bg1="lt1" tx1="dk1" bg2="lt2" tx2="dk2" accent1="accent1" accent2="accent2" accent3="accent3" accent4="accent4" accent5="accent5" accent6="accent6" hlink="hlink" folHlink="folHlink"/>
    </a:extraClrScheme>
    <a:extraClrScheme>
      <a:clrScheme name="医学研究PPT模板 3">
        <a:dk1>
          <a:srgbClr val="FFFFFF"/>
        </a:dk1>
        <a:lt1>
          <a:srgbClr val="FFFFFF"/>
        </a:lt1>
        <a:dk2>
          <a:srgbClr val="000000"/>
        </a:dk2>
        <a:lt2>
          <a:srgbClr val="000000"/>
        </a:lt2>
        <a:accent1>
          <a:srgbClr val="FF0000"/>
        </a:accent1>
        <a:accent2>
          <a:srgbClr val="FF00FF"/>
        </a:accent2>
        <a:accent3>
          <a:srgbClr val="FFFFFF"/>
        </a:accent3>
        <a:accent4>
          <a:srgbClr val="DADADA"/>
        </a:accent4>
        <a:accent5>
          <a:srgbClr val="FFAAAA"/>
        </a:accent5>
        <a:accent6>
          <a:srgbClr val="E700E7"/>
        </a:accent6>
        <a:hlink>
          <a:srgbClr val="FF9900"/>
        </a:hlink>
        <a:folHlink>
          <a:srgbClr val="3333CC"/>
        </a:folHlink>
      </a:clrScheme>
      <a:clrMap bg1="lt1" tx1="dk1" bg2="lt2" tx2="dk2" accent1="accent1" accent2="accent2" accent3="accent3" accent4="accent4" accent5="accent5" accent6="accent6" hlink="hlink" folHlink="folHlink"/>
    </a:extraClrScheme>
    <a:extraClrScheme>
      <a:clrScheme name="医学研究PPT模板 1">
        <a:dk1>
          <a:srgbClr val="FFFFFF"/>
        </a:dk1>
        <a:lt1>
          <a:srgbClr val="FFFFFF"/>
        </a:lt1>
        <a:dk2>
          <a:srgbClr val="000000"/>
        </a:dk2>
        <a:lt2>
          <a:srgbClr val="000000"/>
        </a:lt2>
        <a:accent1>
          <a:srgbClr val="000000"/>
        </a:accent1>
        <a:accent2>
          <a:srgbClr val="FF00FF"/>
        </a:accent2>
        <a:accent3>
          <a:srgbClr val="FFFFFF"/>
        </a:accent3>
        <a:accent4>
          <a:srgbClr val="DADADA"/>
        </a:accent4>
        <a:accent5>
          <a:srgbClr val="AAAAAA"/>
        </a:accent5>
        <a:accent6>
          <a:srgbClr val="E700E7"/>
        </a:accent6>
        <a:hlink>
          <a:srgbClr val="FF9900"/>
        </a:hlink>
        <a:folHlink>
          <a:srgbClr val="3333CC"/>
        </a:folHlink>
      </a:clrScheme>
      <a:clrMap bg1="lt1" tx1="dk1" bg2="lt2" tx2="dk2" accent1="accent1" accent2="accent2" accent3="accent3" accent4="accent4" accent5="accent5" accent6="accent6" hlink="hlink" folHlink="folHlink"/>
    </a:extraClrScheme>
    <a:extraClrScheme>
      <a:clrScheme name="医学研究PPT模板 1">
        <a:dk1>
          <a:srgbClr val="FFFFFF"/>
        </a:dk1>
        <a:lt1>
          <a:srgbClr val="FFFFFF"/>
        </a:lt1>
        <a:dk2>
          <a:srgbClr val="000000"/>
        </a:dk2>
        <a:lt2>
          <a:srgbClr val="000000"/>
        </a:lt2>
        <a:accent1>
          <a:srgbClr val="000000"/>
        </a:accent1>
        <a:accent2>
          <a:srgbClr val="FF00FF"/>
        </a:accent2>
        <a:accent3>
          <a:srgbClr val="FFFFFF"/>
        </a:accent3>
        <a:accent4>
          <a:srgbClr val="DADADA"/>
        </a:accent4>
        <a:accent5>
          <a:srgbClr val="AAAAAA"/>
        </a:accent5>
        <a:accent6>
          <a:srgbClr val="E700E7"/>
        </a:accent6>
        <a:hlink>
          <a:srgbClr val="FFCCFF"/>
        </a:hlink>
        <a:folHlink>
          <a:srgbClr val="66FF33"/>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3198</TotalTime>
  <Pages>0</Pages>
  <Words>4783</Words>
  <Characters>0</Characters>
  <Application>Microsoft Office PowerPoint</Application>
  <DocSecurity>0</DocSecurity>
  <PresentationFormat>自定义</PresentationFormat>
  <Lines>0</Lines>
  <Paragraphs>385</Paragraphs>
  <Slides>32</Slides>
  <Notes>32</Notes>
  <HiddenSlides>0</HiddenSlides>
  <MMClips>0</MMClips>
  <ScaleCrop>false</ScaleCrop>
  <HeadingPairs>
    <vt:vector size="6" baseType="variant">
      <vt:variant>
        <vt:lpstr>主题</vt:lpstr>
      </vt:variant>
      <vt:variant>
        <vt:i4>2</vt:i4>
      </vt:variant>
      <vt:variant>
        <vt:lpstr>嵌入 OLE 服务器</vt:lpstr>
      </vt:variant>
      <vt:variant>
        <vt:i4>1</vt:i4>
      </vt:variant>
      <vt:variant>
        <vt:lpstr>幻灯片标题</vt:lpstr>
      </vt:variant>
      <vt:variant>
        <vt:i4>32</vt:i4>
      </vt:variant>
    </vt:vector>
  </HeadingPairs>
  <TitlesOfParts>
    <vt:vector size="35" baseType="lpstr">
      <vt:lpstr>医学研究PPT模板</vt:lpstr>
      <vt:lpstr>1_医学研究PPT模板</vt:lpstr>
      <vt:lpstr>Equation</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vector>
  </TitlesOfParts>
  <LinksUpToDate>false</LinksUpToDate>
  <CharactersWithSpaces>0</CharactersWithSpaces>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ch08分子结构习题指导</dc:title>
  <dc:creator>江南大学</dc:creator>
  <cp:lastModifiedBy>ASUS</cp:lastModifiedBy>
  <cp:revision>303</cp:revision>
  <cp:lastPrinted>1601-01-01T00:00:00Z</cp:lastPrinted>
  <dcterms:created xsi:type="dcterms:W3CDTF">2012-06-20T03:37:37Z</dcterms:created>
  <dcterms:modified xsi:type="dcterms:W3CDTF">2017-08-23T23:06:39Z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2052-8.1.0.3089</vt:lpwstr>
  </property>
</Properties>
</file>