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15"/>
  </p:notesMasterIdLst>
  <p:sldIdLst>
    <p:sldId id="279" r:id="rId3"/>
    <p:sldId id="281" r:id="rId4"/>
    <p:sldId id="298" r:id="rId5"/>
    <p:sldId id="289" r:id="rId6"/>
    <p:sldId id="303" r:id="rId7"/>
    <p:sldId id="304" r:id="rId8"/>
    <p:sldId id="308" r:id="rId9"/>
    <p:sldId id="309" r:id="rId10"/>
    <p:sldId id="310" r:id="rId11"/>
    <p:sldId id="290" r:id="rId12"/>
    <p:sldId id="291" r:id="rId13"/>
    <p:sldId id="292" r:id="rId14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F8F8F8"/>
    <a:srgbClr val="FF0000"/>
    <a:srgbClr val="FF00FF"/>
    <a:srgbClr val="0000FF"/>
    <a:srgbClr val="FF3300"/>
    <a:srgbClr val="EAEAE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20" autoAdjust="0"/>
  </p:normalViewPr>
  <p:slideViewPr>
    <p:cSldViewPr>
      <p:cViewPr>
        <p:scale>
          <a:sx n="66" d="100"/>
          <a:sy n="66" d="100"/>
        </p:scale>
        <p:origin x="-456" y="-192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80F3D2B-BD7A-4947-9054-A8D96A0568FC}" type="datetimeFigureOut">
              <a:rPr lang="zh-CN" altLang="en-US"/>
              <a:pPr>
                <a:defRPr/>
              </a:pPr>
              <a:t>2017/8/21</a:t>
            </a:fld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665B184-04A3-4303-9666-6B01790CB1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商少明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5411167E-1E2A-409E-9F27-816EF4050D94}" type="datetime1">
              <a:rPr lang="zh-CN" altLang="en-US" smtClean="0"/>
              <a:pPr/>
              <a:t>2017/8/21</a:t>
            </a:fld>
            <a:endParaRPr lang="en-US" altLang="zh-CN" smtClean="0"/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CBAF22-24E3-40BE-AC06-3BE0FE9DE1A4}" type="slidenum">
              <a:rPr lang="en-US" altLang="zh-CN" smtClean="0"/>
              <a:pPr/>
              <a:t>7</a:t>
            </a:fld>
            <a:endParaRPr lang="en-US" altLang="zh-CN" smtClean="0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 smtClean="0"/>
              <a:t>l=1</a:t>
            </a:r>
            <a:r>
              <a:rPr lang="zh-CN" altLang="en-US" smtClean="0"/>
              <a:t>，哑铃形，三个伸展方向，</a:t>
            </a:r>
            <a:r>
              <a:rPr lang="en-US" altLang="zh-CN" smtClean="0"/>
              <a:t>m</a:t>
            </a:r>
            <a:r>
              <a:rPr lang="zh-CN" altLang="en-US" smtClean="0"/>
              <a:t>分别为</a:t>
            </a:r>
            <a:r>
              <a:rPr lang="en-US" altLang="zh-CN" smtClean="0"/>
              <a:t>-1</a:t>
            </a:r>
            <a:r>
              <a:rPr lang="zh-CN" altLang="en-US" smtClean="0"/>
              <a:t>、</a:t>
            </a:r>
            <a:r>
              <a:rPr lang="en-US" altLang="zh-CN" smtClean="0"/>
              <a:t>0</a:t>
            </a:r>
            <a:r>
              <a:rPr lang="zh-CN" altLang="en-US" smtClean="0"/>
              <a:t>、</a:t>
            </a:r>
            <a:r>
              <a:rPr lang="en-US" altLang="zh-CN" smtClean="0"/>
              <a:t>+1</a:t>
            </a:r>
            <a:r>
              <a:rPr lang="zh-CN" altLang="en-US" smtClean="0"/>
              <a:t>，对应</a:t>
            </a:r>
            <a:r>
              <a:rPr lang="en-US" altLang="zh-CN" smtClean="0"/>
              <a:t>y</a:t>
            </a:r>
            <a:r>
              <a:rPr lang="zh-CN" altLang="en-US" smtClean="0"/>
              <a:t>、</a:t>
            </a:r>
            <a:r>
              <a:rPr lang="en-US" altLang="zh-CN" smtClean="0"/>
              <a:t>z</a:t>
            </a:r>
            <a:r>
              <a:rPr lang="zh-CN" altLang="en-US" smtClean="0"/>
              <a:t>、</a:t>
            </a:r>
            <a:r>
              <a:rPr lang="en-US" altLang="zh-CN" smtClean="0"/>
              <a:t>x</a:t>
            </a:r>
            <a:r>
              <a:rPr lang="zh-CN" altLang="en-US" smtClean="0"/>
              <a:t>； </a:t>
            </a:r>
            <a:r>
              <a:rPr lang="en-US" altLang="zh-CN" smtClean="0"/>
              <a:t>l=2</a:t>
            </a:r>
            <a:r>
              <a:rPr lang="zh-CN" altLang="en-US" smtClean="0"/>
              <a:t>，花瓣形，五个伸展方向，</a:t>
            </a:r>
            <a:r>
              <a:rPr lang="en-US" altLang="zh-CN" smtClean="0"/>
              <a:t>m</a:t>
            </a:r>
            <a:r>
              <a:rPr lang="zh-CN" altLang="en-US" smtClean="0"/>
              <a:t>分别为</a:t>
            </a:r>
            <a:r>
              <a:rPr lang="en-US" altLang="zh-CN" smtClean="0"/>
              <a:t>-2</a:t>
            </a:r>
            <a:r>
              <a:rPr lang="zh-CN" altLang="en-US" smtClean="0"/>
              <a:t>、</a:t>
            </a:r>
            <a:r>
              <a:rPr lang="en-US" altLang="zh-CN" smtClean="0"/>
              <a:t>-1</a:t>
            </a:r>
            <a:r>
              <a:rPr lang="zh-CN" altLang="en-US" smtClean="0"/>
              <a:t>、</a:t>
            </a:r>
            <a:r>
              <a:rPr lang="en-US" altLang="zh-CN" smtClean="0"/>
              <a:t>0</a:t>
            </a:r>
            <a:r>
              <a:rPr lang="zh-CN" altLang="en-US" smtClean="0"/>
              <a:t>、</a:t>
            </a:r>
            <a:r>
              <a:rPr lang="en-US" altLang="zh-CN" smtClean="0"/>
              <a:t>+1</a:t>
            </a:r>
            <a:r>
              <a:rPr lang="zh-CN" altLang="en-US" smtClean="0"/>
              <a:t>、</a:t>
            </a:r>
            <a:r>
              <a:rPr lang="en-US" altLang="zh-CN" smtClean="0"/>
              <a:t>+2</a:t>
            </a:r>
            <a:r>
              <a:rPr lang="zh-CN" altLang="en-US" smtClean="0"/>
              <a:t>，对应</a:t>
            </a:r>
            <a:r>
              <a:rPr lang="en-US" altLang="zh-CN" smtClean="0"/>
              <a:t>xy</a:t>
            </a:r>
            <a:r>
              <a:rPr lang="zh-CN" altLang="en-US" smtClean="0"/>
              <a:t>、</a:t>
            </a:r>
            <a:r>
              <a:rPr lang="en-US" altLang="zh-CN" smtClean="0"/>
              <a:t>yz</a:t>
            </a:r>
            <a:r>
              <a:rPr lang="zh-CN" altLang="en-US" smtClean="0"/>
              <a:t>、</a:t>
            </a:r>
            <a:r>
              <a:rPr lang="en-US" altLang="zh-CN" smtClean="0"/>
              <a:t>x</a:t>
            </a:r>
            <a:r>
              <a:rPr lang="en-US" altLang="zh-CN" baseline="30000" smtClean="0"/>
              <a:t>2</a:t>
            </a:r>
            <a:r>
              <a:rPr lang="zh-CN" altLang="en-US" smtClean="0"/>
              <a:t>、</a:t>
            </a:r>
            <a:r>
              <a:rPr lang="en-US" altLang="zh-CN" smtClean="0"/>
              <a:t>xz</a:t>
            </a:r>
            <a:r>
              <a:rPr lang="zh-CN" altLang="en-US" smtClean="0"/>
              <a:t>、</a:t>
            </a:r>
            <a:r>
              <a:rPr lang="en-US" altLang="zh-CN" smtClean="0"/>
              <a:t>x</a:t>
            </a:r>
            <a:r>
              <a:rPr lang="en-US" altLang="zh-CN" baseline="30000" smtClean="0"/>
              <a:t>2</a:t>
            </a:r>
            <a:r>
              <a:rPr lang="en-US" altLang="zh-CN" smtClean="0"/>
              <a:t>-y</a:t>
            </a:r>
            <a:r>
              <a:rPr lang="en-US" altLang="zh-CN" baseline="30000" smtClean="0"/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7304BB-8075-4F3E-994E-9110DE099ED0}" type="slidenum">
              <a:rPr lang="zh-CN" altLang="en-US" smtClean="0"/>
              <a:pPr/>
              <a:t>12</a:t>
            </a:fld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72707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/>
              <a:ahLst/>
              <a:cxnLst>
                <a:cxn ang="0">
                  <a:pos x="5268" y="0"/>
                </a:cxn>
                <a:cxn ang="0">
                  <a:pos x="0" y="0"/>
                </a:cxn>
                <a:cxn ang="0">
                  <a:pos x="0" y="2976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2053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72723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/>
              </a:p>
            </p:txBody>
          </p:sp>
          <p:sp>
            <p:nvSpPr>
              <p:cNvPr id="72724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 algn="ctr">
                  <a:defRPr/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  <p:sp>
            <p:nvSpPr>
              <p:cNvPr id="72725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 algn="ctr">
                  <a:defRPr/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</p:grpSp>
        <p:sp>
          <p:nvSpPr>
            <p:cNvPr id="72708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/>
              <a:ahLst/>
              <a:cxnLst>
                <a:cxn ang="0">
                  <a:pos x="5268" y="0"/>
                </a:cxn>
                <a:cxn ang="0">
                  <a:pos x="5268" y="2976"/>
                </a:cxn>
                <a:cxn ang="0">
                  <a:pos x="0" y="2976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sp>
          <p:nvSpPr>
            <p:cNvPr id="72716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2056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72719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/>
              </a:p>
            </p:txBody>
          </p:sp>
          <p:sp>
            <p:nvSpPr>
              <p:cNvPr id="72720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  <p:sp>
            <p:nvSpPr>
              <p:cNvPr id="72721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>
                  <a:defRPr/>
                </a:pPr>
                <a:endParaRPr kumimoji="1" lang="zh-CN" altLang="en-US" sz="1600">
                  <a:ea typeface="楷体_GB2312" pitchFamily="49" charset="-122"/>
                </a:endParaRPr>
              </a:p>
            </p:txBody>
          </p:sp>
        </p:grpSp>
        <p:sp>
          <p:nvSpPr>
            <p:cNvPr id="3211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5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218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01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051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7-1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hyperlink" Target="07-3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audio" Target="../media/audio1.wav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jpeg"/><Relationship Id="rId5" Type="http://schemas.openxmlformats.org/officeDocument/2006/relationships/oleObject" Target="../embeddings/oleObject1.bin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hyperlink" Target="../../04MEDIA/ch07/2p&#27874;&#20989;&#25968;.avi" TargetMode="External"/><Relationship Id="rId7" Type="http://schemas.openxmlformats.org/officeDocument/2006/relationships/hyperlink" Target="../../04MEDIA/ch07/dz2&#36712;&#36947;&#22270;.avi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hyperlink" Target="../../04MEDIA/ch07/dyz&#36712;&#36947;&#22270;.avi" TargetMode="External"/><Relationship Id="rId5" Type="http://schemas.openxmlformats.org/officeDocument/2006/relationships/hyperlink" Target="../../04MEDIA/ch07/dxz&#36712;&#36947;&#22270;.avi" TargetMode="External"/><Relationship Id="rId4" Type="http://schemas.openxmlformats.org/officeDocument/2006/relationships/hyperlink" Target="../../04MEDIA/ch07/dx2-y2&#36712;&#36947;&#22270;.avi" TargetMode="External"/><Relationship Id="rId9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07-3.pptx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63622" y="1504893"/>
            <a:ext cx="5412059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ea typeface="黑体" pitchFamily="49" charset="-122"/>
                <a:hlinkClick r:id="rId3" action="ppaction://hlinkpres?slideindex=1&amp;slidetitle="/>
              </a:rPr>
              <a:t>7.1</a:t>
            </a:r>
            <a:r>
              <a:rPr lang="en-US" altLang="zh-CN" sz="2800" b="1" dirty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ea typeface="黑体" pitchFamily="49" charset="-122"/>
              </a:rPr>
              <a:t>原子结构基本模型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FFFFFF"/>
                </a:solidFill>
                <a:ea typeface="黑体" pitchFamily="49" charset="-122"/>
              </a:rPr>
              <a:t>7.2 </a:t>
            </a:r>
            <a:r>
              <a:rPr lang="zh-CN" altLang="en-US" sz="2800" b="1" dirty="0">
                <a:solidFill>
                  <a:srgbClr val="FFFFFF"/>
                </a:solidFill>
                <a:ea typeface="黑体" pitchFamily="49" charset="-122"/>
              </a:rPr>
              <a:t>核外电子运动状态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FFFFFF"/>
                </a:solidFill>
                <a:ea typeface="黑体" pitchFamily="49" charset="-122"/>
                <a:hlinkClick r:id="rId4" action="ppaction://hlinkpres?slideindex=1&amp;slidetitle="/>
              </a:rPr>
              <a:t>7.3</a:t>
            </a:r>
            <a:r>
              <a:rPr lang="en-US" altLang="zh-CN" sz="2800" b="1" dirty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>
                <a:solidFill>
                  <a:srgbClr val="FFFFFF"/>
                </a:solidFill>
                <a:ea typeface="黑体" pitchFamily="49" charset="-122"/>
              </a:rPr>
              <a:t>原子电子层结构和元素周期系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034">
            <a:hlinkClick r:id="" action="ppaction://hlinkshowjump?jump=nextslide" highlightClick="1"/>
          </p:cNvPr>
          <p:cNvSpPr>
            <a:spLocks noChangeAspect="1" noChangeArrowheads="1"/>
          </p:cNvSpPr>
          <p:nvPr/>
        </p:nvSpPr>
        <p:spPr bwMode="auto">
          <a:xfrm>
            <a:off x="2260600" y="1811338"/>
            <a:ext cx="544513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AutoShape 1035">
            <a:hlinkClick r:id="rId2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260600" y="2597150"/>
            <a:ext cx="544513" cy="411163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0" name="Rectangle 1039"/>
          <p:cNvSpPr>
            <a:spLocks noGrp="1" noChangeArrowheads="1"/>
          </p:cNvSpPr>
          <p:nvPr>
            <p:ph type="title"/>
          </p:nvPr>
        </p:nvSpPr>
        <p:spPr>
          <a:xfrm>
            <a:off x="260350" y="23971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solidFill>
                  <a:srgbClr val="FF3300"/>
                </a:solidFill>
                <a:ea typeface="黑体" pitchFamily="49" charset="-122"/>
              </a:rPr>
              <a:t>7.2 </a:t>
            </a:r>
            <a:r>
              <a:rPr lang="zh-CN" altLang="en-US" smtClean="0">
                <a:solidFill>
                  <a:srgbClr val="FF3300"/>
                </a:solidFill>
                <a:ea typeface="黑体" pitchFamily="49" charset="-122"/>
              </a:rPr>
              <a:t>核外电子运动状态</a:t>
            </a:r>
            <a:endParaRPr lang="zh-CN" altLang="en-US" sz="1600" b="0" smtClean="0">
              <a:ea typeface="黑体" pitchFamily="49" charset="-122"/>
            </a:endParaRPr>
          </a:p>
        </p:txBody>
      </p:sp>
      <p:sp>
        <p:nvSpPr>
          <p:cNvPr id="4101" name="AutoShape 1035">
            <a:hlinkClick r:id="rId3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260600" y="3525838"/>
            <a:ext cx="544513" cy="411162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3" name="矩形 8"/>
          <p:cNvSpPr>
            <a:spLocks noChangeArrowheads="1"/>
          </p:cNvSpPr>
          <p:nvPr/>
        </p:nvSpPr>
        <p:spPr bwMode="auto">
          <a:xfrm>
            <a:off x="2760663" y="1382713"/>
            <a:ext cx="8572500" cy="270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1">
                <a:ea typeface="黑体" pitchFamily="49" charset="-122"/>
              </a:rPr>
              <a:t>7.2.1 </a:t>
            </a:r>
            <a:r>
              <a:rPr lang="zh-CN" altLang="en-US" sz="2800" b="1">
                <a:ea typeface="黑体" pitchFamily="49" charset="-122"/>
              </a:rPr>
              <a:t>薛定谔方程和原子轨道</a:t>
            </a:r>
            <a:endParaRPr lang="zh-CN" altLang="en-US" sz="2800" b="1">
              <a:solidFill>
                <a:schemeClr val="bg2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800" b="1">
                <a:ea typeface="黑体" pitchFamily="49" charset="-122"/>
                <a:cs typeface="Times New Roman" pitchFamily="18" charset="0"/>
              </a:rPr>
              <a:t>7.2.2 </a:t>
            </a:r>
            <a:r>
              <a:rPr lang="zh-CN" altLang="en-US" sz="28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四个量子数</a:t>
            </a:r>
            <a:endParaRPr lang="en-US" altLang="zh-CN" sz="2800" b="1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250000"/>
              </a:lnSpc>
            </a:pPr>
            <a:r>
              <a:rPr lang="en-US" altLang="zh-CN" sz="2800" b="1">
                <a:ea typeface="黑体" pitchFamily="49" charset="-122"/>
                <a:cs typeface="Times New Roman" pitchFamily="18" charset="0"/>
              </a:rPr>
              <a:t>7.2.3 </a:t>
            </a:r>
            <a:r>
              <a:rPr lang="zh-CN" altLang="en-US" sz="2800" b="1">
                <a:ea typeface="黑体" pitchFamily="49" charset="-122"/>
              </a:rPr>
              <a:t>原子轨道和电子云的角度分布图</a:t>
            </a:r>
            <a:endParaRPr lang="zh-CN" altLang="en-US" sz="2800">
              <a:ea typeface="黑体" pitchFamily="49" charset="-122"/>
            </a:endParaRPr>
          </a:p>
        </p:txBody>
      </p:sp>
      <p:sp>
        <p:nvSpPr>
          <p:cNvPr id="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410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>
            <a:spLocks noChangeArrowheads="1"/>
          </p:cNvSpPr>
          <p:nvPr/>
        </p:nvSpPr>
        <p:spPr bwMode="auto">
          <a:xfrm>
            <a:off x="617538" y="981075"/>
            <a:ext cx="20367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薛定谔方程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4" name="Rectangle 19"/>
          <p:cNvSpPr>
            <a:spLocks noChangeArrowheads="1"/>
          </p:cNvSpPr>
          <p:nvPr/>
        </p:nvSpPr>
        <p:spPr bwMode="auto">
          <a:xfrm>
            <a:off x="546100" y="1454150"/>
            <a:ext cx="102076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   (1926):</a:t>
            </a:r>
          </a:p>
        </p:txBody>
      </p:sp>
      <p:sp>
        <p:nvSpPr>
          <p:cNvPr id="5" name="Rectangle 29"/>
          <p:cNvSpPr txBox="1">
            <a:spLocks noChangeArrowheads="1"/>
          </p:cNvSpPr>
          <p:nvPr/>
        </p:nvSpPr>
        <p:spPr>
          <a:xfrm>
            <a:off x="576263" y="258763"/>
            <a:ext cx="10369550" cy="430212"/>
          </a:xfrm>
          <a:prstGeom prst="rect">
            <a:avLst/>
          </a:prstGeom>
          <a:noFill/>
        </p:spPr>
        <p:txBody>
          <a:bodyPr/>
          <a:lstStyle/>
          <a:p>
            <a:pPr eaLnBrk="0" hangingPunct="0">
              <a:defRPr/>
            </a:pPr>
            <a:r>
              <a:rPr lang="en-US" altLang="zh-CN" sz="2200" b="1" kern="0">
                <a:solidFill>
                  <a:srgbClr val="FF0000"/>
                </a:solidFill>
                <a:latin typeface="+mj-lt"/>
                <a:ea typeface="黑体" pitchFamily="49" charset="-122"/>
                <a:cs typeface="+mj-cs"/>
              </a:rPr>
              <a:t>7.2.1</a:t>
            </a:r>
            <a:r>
              <a:rPr lang="zh-CN" altLang="en-US" sz="2200" b="1" kern="0">
                <a:solidFill>
                  <a:srgbClr val="FF0000"/>
                </a:solidFill>
                <a:latin typeface="+mj-lt"/>
                <a:ea typeface="黑体" pitchFamily="49" charset="-122"/>
                <a:cs typeface="+mj-cs"/>
              </a:rPr>
              <a:t>薛定谔方程和 原子轨道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617538" y="2198688"/>
          <a:ext cx="7183437" cy="952500"/>
        </p:xfrm>
        <a:graphic>
          <a:graphicData uri="http://schemas.openxmlformats.org/presentationml/2006/ole">
            <p:oleObj spid="_x0000_s1026" name="公式" r:id="rId5" imgW="2514600" imgH="444240" progId="Equation.3">
              <p:embed/>
            </p:oleObj>
          </a:graphicData>
        </a:graphic>
      </p:graphicFrame>
      <p:grpSp>
        <p:nvGrpSpPr>
          <p:cNvPr id="2" name="Group 33"/>
          <p:cNvGrpSpPr>
            <a:grpSpLocks noChangeAspect="1"/>
          </p:cNvGrpSpPr>
          <p:nvPr/>
        </p:nvGrpSpPr>
        <p:grpSpPr bwMode="auto">
          <a:xfrm>
            <a:off x="7918450" y="1665288"/>
            <a:ext cx="2928938" cy="2889250"/>
            <a:chOff x="3740" y="673"/>
            <a:chExt cx="1602" cy="2107"/>
          </a:xfrm>
        </p:grpSpPr>
        <p:pic>
          <p:nvPicPr>
            <p:cNvPr id="1050" name="Picture 34" descr="薛定谔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740" y="680"/>
              <a:ext cx="1560" cy="2100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1051" name="Rectangle 35"/>
            <p:cNvSpPr>
              <a:spLocks noChangeAspect="1" noChangeArrowheads="1"/>
            </p:cNvSpPr>
            <p:nvPr/>
          </p:nvSpPr>
          <p:spPr bwMode="auto">
            <a:xfrm>
              <a:off x="4715" y="673"/>
              <a:ext cx="627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>
                  <a:solidFill>
                    <a:srgbClr val="FFFF00"/>
                  </a:solidFill>
                  <a:ea typeface="黑体" pitchFamily="49" charset="-122"/>
                </a:rPr>
                <a:t>薛定谔</a:t>
              </a:r>
            </a:p>
          </p:txBody>
        </p:sp>
      </p:grpSp>
      <p:sp>
        <p:nvSpPr>
          <p:cNvPr id="10" name="Line 36"/>
          <p:cNvSpPr>
            <a:spLocks noChangeShapeType="1"/>
          </p:cNvSpPr>
          <p:nvPr/>
        </p:nvSpPr>
        <p:spPr bwMode="auto">
          <a:xfrm>
            <a:off x="7281863" y="2844800"/>
            <a:ext cx="454025" cy="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37"/>
          <p:cNvSpPr>
            <a:spLocks noChangeArrowheads="1"/>
          </p:cNvSpPr>
          <p:nvPr/>
        </p:nvSpPr>
        <p:spPr bwMode="auto">
          <a:xfrm>
            <a:off x="7192963" y="2913063"/>
            <a:ext cx="90805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500" b="1">
                <a:solidFill>
                  <a:schemeClr val="accent2"/>
                </a:solidFill>
                <a:ea typeface="楷体_GB2312" pitchFamily="49" charset="-122"/>
                <a:sym typeface="Symbol" pitchFamily="18" charset="2"/>
              </a:rPr>
              <a:t>波</a:t>
            </a:r>
            <a:endParaRPr lang="en-US" altLang="zh-CN" sz="2500" b="1">
              <a:solidFill>
                <a:schemeClr val="accent2"/>
              </a:solidFill>
              <a:ea typeface="楷体_GB2312" pitchFamily="49" charset="-122"/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zh-CN" altLang="en-US" sz="2500" b="1">
                <a:solidFill>
                  <a:schemeClr val="accent2"/>
                </a:solidFill>
                <a:ea typeface="楷体_GB2312" pitchFamily="49" charset="-122"/>
                <a:sym typeface="Symbol" pitchFamily="18" charset="2"/>
              </a:rPr>
              <a:t>函</a:t>
            </a:r>
            <a:endParaRPr lang="en-US" altLang="zh-CN" sz="2500" b="1">
              <a:solidFill>
                <a:schemeClr val="accent2"/>
              </a:solidFill>
              <a:ea typeface="楷体_GB2312" pitchFamily="49" charset="-122"/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zh-CN" altLang="en-US" sz="2500" b="1">
                <a:solidFill>
                  <a:schemeClr val="accent2"/>
                </a:solidFill>
                <a:ea typeface="楷体_GB2312" pitchFamily="49" charset="-122"/>
                <a:sym typeface="Symbol" pitchFamily="18" charset="2"/>
              </a:rPr>
              <a:t>数</a:t>
            </a:r>
          </a:p>
        </p:txBody>
      </p:sp>
      <p:sp>
        <p:nvSpPr>
          <p:cNvPr id="12" name="Rectangle 38"/>
          <p:cNvSpPr>
            <a:spLocks noChangeArrowheads="1"/>
          </p:cNvSpPr>
          <p:nvPr/>
        </p:nvSpPr>
        <p:spPr bwMode="auto">
          <a:xfrm>
            <a:off x="4403725" y="3668713"/>
            <a:ext cx="28114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原子的总能量</a:t>
            </a:r>
          </a:p>
        </p:txBody>
      </p:sp>
      <p:sp>
        <p:nvSpPr>
          <p:cNvPr id="13" name="Line 39"/>
          <p:cNvSpPr>
            <a:spLocks noChangeShapeType="1"/>
          </p:cNvSpPr>
          <p:nvPr/>
        </p:nvSpPr>
        <p:spPr bwMode="auto">
          <a:xfrm>
            <a:off x="6103938" y="2844800"/>
            <a:ext cx="454025" cy="0"/>
          </a:xfrm>
          <a:prstGeom prst="line">
            <a:avLst/>
          </a:prstGeom>
          <a:noFill/>
          <a:ln w="317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Line 40"/>
          <p:cNvSpPr>
            <a:spLocks noChangeShapeType="1"/>
          </p:cNvSpPr>
          <p:nvPr/>
        </p:nvSpPr>
        <p:spPr bwMode="auto">
          <a:xfrm>
            <a:off x="6738938" y="2844800"/>
            <a:ext cx="454025" cy="0"/>
          </a:xfrm>
          <a:prstGeom prst="line">
            <a:avLst/>
          </a:prstGeom>
          <a:noFill/>
          <a:ln w="31750">
            <a:solidFill>
              <a:srgbClr val="0066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41"/>
          <p:cNvSpPr>
            <a:spLocks noChangeArrowheads="1"/>
          </p:cNvSpPr>
          <p:nvPr/>
        </p:nvSpPr>
        <p:spPr bwMode="auto">
          <a:xfrm>
            <a:off x="3475038" y="4240213"/>
            <a:ext cx="4286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006600"/>
                </a:solidFill>
                <a:ea typeface="楷体_GB2312" pitchFamily="49" charset="-122"/>
                <a:sym typeface="Symbol" pitchFamily="18" charset="2"/>
              </a:rPr>
              <a:t>原子核对电子的吸引能</a:t>
            </a:r>
            <a:r>
              <a:rPr lang="en-US" altLang="zh-CN" sz="2500" b="1">
                <a:solidFill>
                  <a:srgbClr val="006600"/>
                </a:solidFill>
                <a:ea typeface="楷体_GB2312" pitchFamily="49" charset="-122"/>
                <a:sym typeface="Symbol" pitchFamily="18" charset="2"/>
              </a:rPr>
              <a:t>(</a:t>
            </a:r>
            <a:r>
              <a:rPr lang="zh-CN" altLang="en-US" sz="2500" b="1">
                <a:solidFill>
                  <a:srgbClr val="006600"/>
                </a:solidFill>
                <a:ea typeface="楷体_GB2312" pitchFamily="49" charset="-122"/>
                <a:sym typeface="Symbol" pitchFamily="18" charset="2"/>
              </a:rPr>
              <a:t>势能</a:t>
            </a:r>
            <a:r>
              <a:rPr lang="en-US" altLang="zh-CN" sz="2500" b="1">
                <a:solidFill>
                  <a:srgbClr val="006600"/>
                </a:solidFill>
                <a:ea typeface="楷体_GB2312" pitchFamily="49" charset="-122"/>
                <a:sym typeface="Symbol" pitchFamily="18" charset="2"/>
              </a:rPr>
              <a:t>)</a:t>
            </a:r>
          </a:p>
        </p:txBody>
      </p:sp>
      <p:sp>
        <p:nvSpPr>
          <p:cNvPr id="16" name="Line 43"/>
          <p:cNvSpPr>
            <a:spLocks noChangeShapeType="1"/>
          </p:cNvSpPr>
          <p:nvPr/>
        </p:nvSpPr>
        <p:spPr bwMode="auto">
          <a:xfrm>
            <a:off x="5546725" y="2597150"/>
            <a:ext cx="454025" cy="0"/>
          </a:xfrm>
          <a:prstGeom prst="line">
            <a:avLst/>
          </a:prstGeom>
          <a:noFill/>
          <a:ln w="317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Line 44"/>
          <p:cNvSpPr>
            <a:spLocks noChangeShapeType="1"/>
          </p:cNvSpPr>
          <p:nvPr/>
        </p:nvSpPr>
        <p:spPr bwMode="auto">
          <a:xfrm>
            <a:off x="1025525" y="3116263"/>
            <a:ext cx="454025" cy="0"/>
          </a:xfrm>
          <a:prstGeom prst="line">
            <a:avLst/>
          </a:prstGeom>
          <a:noFill/>
          <a:ln w="317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 46"/>
          <p:cNvSpPr>
            <a:spLocks noChangeShapeType="1"/>
          </p:cNvSpPr>
          <p:nvPr/>
        </p:nvSpPr>
        <p:spPr bwMode="auto">
          <a:xfrm>
            <a:off x="2249488" y="3116263"/>
            <a:ext cx="454025" cy="0"/>
          </a:xfrm>
          <a:prstGeom prst="line">
            <a:avLst/>
          </a:prstGeom>
          <a:noFill/>
          <a:ln w="317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47"/>
          <p:cNvSpPr>
            <a:spLocks noChangeShapeType="1"/>
          </p:cNvSpPr>
          <p:nvPr/>
        </p:nvSpPr>
        <p:spPr bwMode="auto">
          <a:xfrm>
            <a:off x="3473450" y="3116263"/>
            <a:ext cx="454025" cy="0"/>
          </a:xfrm>
          <a:prstGeom prst="line">
            <a:avLst/>
          </a:prstGeom>
          <a:noFill/>
          <a:ln w="31750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48"/>
          <p:cNvSpPr>
            <a:spLocks noChangeArrowheads="1"/>
          </p:cNvSpPr>
          <p:nvPr/>
        </p:nvSpPr>
        <p:spPr bwMode="auto">
          <a:xfrm>
            <a:off x="4656138" y="1892300"/>
            <a:ext cx="24479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电子的质量</a:t>
            </a:r>
          </a:p>
        </p:txBody>
      </p:sp>
      <p:sp>
        <p:nvSpPr>
          <p:cNvPr id="21" name="Rectangle 49"/>
          <p:cNvSpPr>
            <a:spLocks noChangeArrowheads="1"/>
          </p:cNvSpPr>
          <p:nvPr/>
        </p:nvSpPr>
        <p:spPr bwMode="auto">
          <a:xfrm>
            <a:off x="4332288" y="3097213"/>
            <a:ext cx="23606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006600"/>
                </a:solidFill>
                <a:ea typeface="楷体_GB2312" pitchFamily="49" charset="-122"/>
                <a:sym typeface="Symbol" pitchFamily="18" charset="2"/>
              </a:rPr>
              <a:t>普朗克常数</a:t>
            </a:r>
          </a:p>
        </p:txBody>
      </p:sp>
      <p:sp>
        <p:nvSpPr>
          <p:cNvPr id="22" name="Rectangle 50"/>
          <p:cNvSpPr>
            <a:spLocks noChangeArrowheads="1"/>
          </p:cNvSpPr>
          <p:nvPr/>
        </p:nvSpPr>
        <p:spPr bwMode="auto">
          <a:xfrm>
            <a:off x="979488" y="3151188"/>
            <a:ext cx="31321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电子的空间坐标</a:t>
            </a:r>
          </a:p>
        </p:txBody>
      </p:sp>
      <p:sp>
        <p:nvSpPr>
          <p:cNvPr id="23" name="Line 51"/>
          <p:cNvSpPr>
            <a:spLocks noChangeShapeType="1"/>
          </p:cNvSpPr>
          <p:nvPr/>
        </p:nvSpPr>
        <p:spPr bwMode="auto">
          <a:xfrm>
            <a:off x="5200650" y="3082925"/>
            <a:ext cx="454025" cy="0"/>
          </a:xfrm>
          <a:prstGeom prst="line">
            <a:avLst/>
          </a:prstGeom>
          <a:noFill/>
          <a:ln w="31750">
            <a:solidFill>
              <a:srgbClr val="0066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Line 52"/>
          <p:cNvSpPr>
            <a:spLocks noChangeShapeType="1"/>
          </p:cNvSpPr>
          <p:nvPr/>
        </p:nvSpPr>
        <p:spPr bwMode="auto">
          <a:xfrm flipV="1">
            <a:off x="6261100" y="2882900"/>
            <a:ext cx="71438" cy="785813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Line 53"/>
          <p:cNvSpPr>
            <a:spLocks noChangeShapeType="1"/>
          </p:cNvSpPr>
          <p:nvPr/>
        </p:nvSpPr>
        <p:spPr bwMode="auto">
          <a:xfrm flipV="1">
            <a:off x="7046913" y="2946400"/>
            <a:ext cx="57150" cy="136525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 17"/>
          <p:cNvSpPr>
            <a:spLocks noChangeArrowheads="1"/>
          </p:cNvSpPr>
          <p:nvPr/>
        </p:nvSpPr>
        <p:spPr bwMode="auto">
          <a:xfrm>
            <a:off x="617538" y="4883150"/>
            <a:ext cx="103901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对氢原子来说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en-US" altLang="zh-CN" sz="2500" b="1" i="1" u="sng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</a:t>
            </a:r>
            <a:r>
              <a:rPr lang="zh-CN" altLang="en-US" sz="2500" b="1" u="sng" dirty="0">
                <a:ea typeface="楷体_GB2312" pitchFamily="49" charset="-122"/>
              </a:rPr>
              <a:t>是描述氢原子核外电子运动状态的数学表达式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04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04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build="p" autoUpdateAnimBg="0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 animBg="1"/>
      <p:bldP spid="27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9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7.2.1</a:t>
            </a:r>
            <a:r>
              <a:rPr lang="zh-CN" altLang="en-US" smtClean="0">
                <a:ea typeface="黑体" pitchFamily="49" charset="-122"/>
              </a:rPr>
              <a:t>薛定谔方程和原子轨道</a:t>
            </a:r>
          </a:p>
        </p:txBody>
      </p:sp>
      <p:sp>
        <p:nvSpPr>
          <p:cNvPr id="53278" name="Text Box 30"/>
          <p:cNvSpPr txBox="1">
            <a:spLocks noChangeArrowheads="1"/>
          </p:cNvSpPr>
          <p:nvPr/>
        </p:nvSpPr>
        <p:spPr bwMode="auto">
          <a:xfrm>
            <a:off x="688975" y="1025525"/>
            <a:ext cx="32146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2. 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波函数与原子轨道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5975350" y="1025525"/>
            <a:ext cx="3817938" cy="2722563"/>
            <a:chOff x="3651" y="1020"/>
            <a:chExt cx="1909" cy="1815"/>
          </a:xfrm>
        </p:grpSpPr>
        <p:pic>
          <p:nvPicPr>
            <p:cNvPr id="5134" name="Picture 32" descr="snap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651" y="1027"/>
              <a:ext cx="1891" cy="1808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5135" name="Rectangle 33"/>
            <p:cNvSpPr>
              <a:spLocks noChangeAspect="1" noChangeArrowheads="1"/>
            </p:cNvSpPr>
            <p:nvPr/>
          </p:nvSpPr>
          <p:spPr bwMode="auto">
            <a:xfrm>
              <a:off x="4987" y="1020"/>
              <a:ext cx="573" cy="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>
                  <a:solidFill>
                    <a:srgbClr val="0000FF"/>
                  </a:solidFill>
                  <a:ea typeface="黑体" pitchFamily="49" charset="-122"/>
                </a:rPr>
                <a:t>坐标系</a:t>
              </a:r>
            </a:p>
          </p:txBody>
        </p:sp>
      </p:grpSp>
      <p:sp>
        <p:nvSpPr>
          <p:cNvPr id="53282" name="Rectangle 34"/>
          <p:cNvSpPr>
            <a:spLocks noChangeArrowheads="1"/>
          </p:cNvSpPr>
          <p:nvPr/>
        </p:nvSpPr>
        <p:spPr bwMode="auto">
          <a:xfrm>
            <a:off x="688975" y="1590678"/>
            <a:ext cx="3643313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 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x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y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z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)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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r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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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             =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R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r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)·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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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)·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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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             =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R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r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)·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Y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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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).</a:t>
            </a:r>
          </a:p>
        </p:txBody>
      </p:sp>
      <p:sp>
        <p:nvSpPr>
          <p:cNvPr id="53283" name="Line 35"/>
          <p:cNvSpPr>
            <a:spLocks noChangeShapeType="1"/>
          </p:cNvSpPr>
          <p:nvPr/>
        </p:nvSpPr>
        <p:spPr bwMode="auto">
          <a:xfrm>
            <a:off x="1974850" y="2876553"/>
            <a:ext cx="76835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84" name="Line 36"/>
          <p:cNvSpPr>
            <a:spLocks noChangeShapeType="1"/>
          </p:cNvSpPr>
          <p:nvPr/>
        </p:nvSpPr>
        <p:spPr bwMode="auto">
          <a:xfrm>
            <a:off x="2903538" y="2876553"/>
            <a:ext cx="1055687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85" name="Rectangle 37"/>
          <p:cNvSpPr>
            <a:spLocks noChangeArrowheads="1"/>
          </p:cNvSpPr>
          <p:nvPr/>
        </p:nvSpPr>
        <p:spPr bwMode="auto">
          <a:xfrm>
            <a:off x="331788" y="3883025"/>
            <a:ext cx="10328275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　　薛定谔方程每一个合理的解</a:t>
            </a:r>
            <a:r>
              <a:rPr lang="zh-CN" altLang="en-US" sz="2500" b="1" i="1" dirty="0">
                <a:ea typeface="楷体_GB2312" pitchFamily="49" charset="-122"/>
                <a:sym typeface="Symbol" pitchFamily="18" charset="2"/>
              </a:rPr>
              <a:t></a:t>
            </a:r>
            <a:r>
              <a:rPr lang="en-US" altLang="zh-CN" sz="2500" b="1" baseline="-25000" dirty="0" err="1">
                <a:ea typeface="楷体_GB2312" pitchFamily="49" charset="-122"/>
                <a:sym typeface="Symbol" pitchFamily="18" charset="2"/>
              </a:rPr>
              <a:t>i</a:t>
            </a:r>
            <a:r>
              <a:rPr lang="zh-CN" altLang="en-US" sz="2500" b="1" dirty="0">
                <a:ea typeface="楷体_GB2312" pitchFamily="49" charset="-122"/>
              </a:rPr>
              <a:t>代表了原子中电子一种可能的运动状态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与该解对应的能量值就是该定态对应的能级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53286" name="AutoShape 38"/>
          <p:cNvSpPr>
            <a:spLocks noChangeArrowheads="1"/>
          </p:cNvSpPr>
          <p:nvPr/>
        </p:nvSpPr>
        <p:spPr bwMode="auto">
          <a:xfrm>
            <a:off x="403225" y="3019428"/>
            <a:ext cx="2814638" cy="720725"/>
          </a:xfrm>
          <a:prstGeom prst="cloudCallout">
            <a:avLst>
              <a:gd name="adj1" fmla="val 29319"/>
              <a:gd name="adj2" fmla="val -75000"/>
            </a:avLst>
          </a:prstGeom>
          <a:solidFill>
            <a:srgbClr val="C0C0C0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500" b="1">
                <a:ea typeface="楷体_GB2312" pitchFamily="49" charset="-122"/>
              </a:rPr>
              <a:t>径向波函数</a:t>
            </a:r>
          </a:p>
        </p:txBody>
      </p:sp>
      <p:sp>
        <p:nvSpPr>
          <p:cNvPr id="53287" name="AutoShape 39"/>
          <p:cNvSpPr>
            <a:spLocks noChangeArrowheads="1"/>
          </p:cNvSpPr>
          <p:nvPr/>
        </p:nvSpPr>
        <p:spPr bwMode="auto">
          <a:xfrm>
            <a:off x="2903538" y="2947991"/>
            <a:ext cx="2724150" cy="720725"/>
          </a:xfrm>
          <a:prstGeom prst="cloudCallout">
            <a:avLst>
              <a:gd name="adj1" fmla="val -31056"/>
              <a:gd name="adj2" fmla="val -72500"/>
            </a:avLst>
          </a:prstGeom>
          <a:solidFill>
            <a:srgbClr val="C0C0C0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500" b="1">
                <a:ea typeface="楷体_GB2312" pitchFamily="49" charset="-122"/>
              </a:rPr>
              <a:t>角度波函数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260350" y="4740275"/>
            <a:ext cx="10858500" cy="93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</a:t>
            </a:r>
            <a:r>
              <a:rPr lang="zh-CN" altLang="en-US" sz="2500" b="1" u="sng" dirty="0">
                <a:ea typeface="楷体_GB2312" pitchFamily="49" charset="-122"/>
              </a:rPr>
              <a:t>波函数的空间图像</a:t>
            </a:r>
            <a:r>
              <a:rPr lang="en-US" altLang="zh-CN" sz="2500" b="1" u="sng" dirty="0">
                <a:ea typeface="楷体_GB2312" pitchFamily="49" charset="-122"/>
              </a:rPr>
              <a:t>—</a:t>
            </a:r>
            <a:r>
              <a:rPr lang="zh-CN" altLang="en-US" sz="2500" b="1" u="sng" dirty="0">
                <a:ea typeface="楷体_GB2312" pitchFamily="49" charset="-122"/>
              </a:rPr>
              <a:t>原子核外电子运动的空间范围</a:t>
            </a:r>
            <a:r>
              <a:rPr lang="en-US" altLang="zh-CN" sz="2500" b="1" dirty="0">
                <a:ea typeface="楷体_GB2312" pitchFamily="49" charset="-122"/>
              </a:rPr>
              <a:t>——“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原子轨道</a:t>
            </a:r>
            <a:r>
              <a:rPr lang="zh-CN" altLang="en-US" sz="2500" b="1" dirty="0">
                <a:ea typeface="楷体_GB2312" pitchFamily="49" charset="-122"/>
              </a:rPr>
              <a:t>”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</a:rPr>
              <a:t>A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tomic </a:t>
            </a:r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</a:rPr>
              <a:t>O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rbital</a:t>
            </a:r>
            <a:r>
              <a:rPr lang="en-US" altLang="zh-CN" sz="2500" b="1" dirty="0">
                <a:ea typeface="楷体_GB2312" pitchFamily="49" charset="-122"/>
              </a:rPr>
              <a:t>)(</a:t>
            </a:r>
            <a:r>
              <a:rPr lang="zh-CN" altLang="en-US" sz="2500" b="1" dirty="0">
                <a:ea typeface="楷体_GB2312" pitchFamily="49" charset="-122"/>
              </a:rPr>
              <a:t>或“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原子轨函</a:t>
            </a:r>
            <a:r>
              <a:rPr lang="zh-CN" altLang="en-US" sz="2500" b="1" dirty="0">
                <a:ea typeface="楷体_GB2312" pitchFamily="49" charset="-122"/>
              </a:rPr>
              <a:t>”</a:t>
            </a:r>
            <a:r>
              <a:rPr lang="en-US" altLang="zh-CN" sz="2500" b="1" dirty="0">
                <a:ea typeface="楷体_GB2312" pitchFamily="49" charset="-122"/>
              </a:rPr>
              <a:t>).</a:t>
            </a:r>
          </a:p>
        </p:txBody>
      </p:sp>
      <p:sp>
        <p:nvSpPr>
          <p:cNvPr id="513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513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32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78" grpId="0" build="p" autoUpdateAnimBg="0"/>
      <p:bldP spid="53282" grpId="0" build="p" autoUpdateAnimBg="0"/>
      <p:bldP spid="53283" grpId="0" animBg="1"/>
      <p:bldP spid="53284" grpId="0" animBg="1"/>
      <p:bldP spid="53285" grpId="0" autoUpdateAnimBg="0"/>
      <p:bldP spid="53286" grpId="0" animBg="1" autoUpdateAnimBg="0"/>
      <p:bldP spid="53287" grpId="0" animBg="1" autoUpdateAnimBg="0"/>
      <p:bldP spid="1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"/>
          <p:cNvSpPr txBox="1">
            <a:spLocks noChangeArrowheads="1"/>
          </p:cNvSpPr>
          <p:nvPr/>
        </p:nvSpPr>
        <p:spPr>
          <a:xfrm>
            <a:off x="576263" y="258763"/>
            <a:ext cx="10369550" cy="430212"/>
          </a:xfrm>
          <a:prstGeom prst="rect">
            <a:avLst/>
          </a:prstGeom>
          <a:noFill/>
        </p:spPr>
        <p:txBody>
          <a:bodyPr/>
          <a:lstStyle/>
          <a:p>
            <a:pPr eaLnBrk="0" hangingPunct="0">
              <a:defRPr/>
            </a:pPr>
            <a:r>
              <a:rPr lang="en-US" altLang="zh-CN" sz="2200" b="1" kern="0">
                <a:solidFill>
                  <a:srgbClr val="FF0000"/>
                </a:solidFill>
                <a:latin typeface="+mj-lt"/>
                <a:ea typeface="黑体" pitchFamily="49" charset="-122"/>
                <a:cs typeface="+mj-cs"/>
              </a:rPr>
              <a:t>7.2.2</a:t>
            </a:r>
            <a:r>
              <a:rPr lang="zh-CN" altLang="en-US" sz="2200" b="1" kern="0">
                <a:solidFill>
                  <a:srgbClr val="FF0000"/>
                </a:solidFill>
                <a:latin typeface="+mj-lt"/>
                <a:ea typeface="黑体" pitchFamily="49" charset="-122"/>
                <a:cs typeface="+mj-cs"/>
              </a:rPr>
              <a:t>四个量子数</a:t>
            </a: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474663" y="1096963"/>
            <a:ext cx="10136187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　　可用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、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l</a:t>
            </a:r>
            <a:r>
              <a:rPr lang="zh-CN" altLang="en-US" sz="2500" b="1" i="1" dirty="0">
                <a:ea typeface="楷体_GB2312" pitchFamily="49" charset="-122"/>
                <a:sym typeface="Symbol" pitchFamily="18" charset="2"/>
              </a:rPr>
              <a:t>、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m</a:t>
            </a:r>
            <a:r>
              <a:rPr lang="zh-CN" altLang="en-US" sz="2500" b="1" i="1" dirty="0">
                <a:ea typeface="楷体_GB2312" pitchFamily="49" charset="-122"/>
                <a:sym typeface="Symbol" pitchFamily="18" charset="2"/>
              </a:rPr>
              <a:t>、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500" b="1" i="1" baseline="-25000" dirty="0">
                <a:ea typeface="楷体_GB2312" pitchFamily="49" charset="-122"/>
                <a:sym typeface="Symbol" pitchFamily="18" charset="2"/>
              </a:rPr>
              <a:t>s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四个量子数来表征和确定每一个电子的运动状态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3288" y="2239955"/>
            <a:ext cx="10299700" cy="1750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　　</a:t>
            </a:r>
            <a:r>
              <a:rPr lang="zh-CN" altLang="en-US" sz="2500" b="1" u="sng" dirty="0">
                <a:ea typeface="楷体_GB2312" pitchFamily="49" charset="-122"/>
                <a:sym typeface="Symbol" pitchFamily="18" charset="2"/>
              </a:rPr>
              <a:t>电子在核外出现概率最大区域</a:t>
            </a:r>
            <a:r>
              <a:rPr lang="en-US" altLang="zh-CN" sz="2500" b="1" u="sng" dirty="0">
                <a:ea typeface="楷体_GB2312" pitchFamily="49" charset="-122"/>
                <a:sym typeface="Symbol" pitchFamily="18" charset="2"/>
              </a:rPr>
              <a:t>(“</a:t>
            </a:r>
            <a:r>
              <a:rPr lang="zh-CN" altLang="en-US" sz="2500" b="1" u="sng" dirty="0">
                <a:solidFill>
                  <a:schemeClr val="accent2"/>
                </a:solidFill>
                <a:ea typeface="楷体_GB2312" pitchFamily="49" charset="-122"/>
                <a:sym typeface="Symbol" pitchFamily="18" charset="2"/>
              </a:rPr>
              <a:t>电子层</a:t>
            </a:r>
            <a:r>
              <a:rPr lang="zh-CN" altLang="en-US" sz="2500" b="1" u="sng" dirty="0">
                <a:ea typeface="楷体_GB2312" pitchFamily="49" charset="-122"/>
                <a:sym typeface="Symbol" pitchFamily="18" charset="2"/>
              </a:rPr>
              <a:t>”</a:t>
            </a:r>
            <a:r>
              <a:rPr lang="en-US" altLang="zh-CN" sz="2500" b="1" u="sng" dirty="0">
                <a:ea typeface="楷体_GB2312" pitchFamily="49" charset="-122"/>
                <a:sym typeface="Symbol" pitchFamily="18" charset="2"/>
              </a:rPr>
              <a:t>)</a:t>
            </a:r>
            <a:r>
              <a:rPr lang="zh-CN" altLang="en-US" sz="2500" b="1" u="sng" dirty="0">
                <a:ea typeface="楷体_GB2312" pitchFamily="49" charset="-122"/>
                <a:sym typeface="Symbol" pitchFamily="18" charset="2"/>
              </a:rPr>
              <a:t>离核远近及其能量高低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值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          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1     2     3     4     5     6</a:t>
            </a:r>
          </a:p>
          <a:p>
            <a:pPr>
              <a:lnSpc>
                <a:spcPct val="150000"/>
              </a:lnSpc>
            </a:pP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值代号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2189137" y="3525839"/>
            <a:ext cx="36083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K     L    M    N    O     P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</a:t>
            </a:r>
          </a:p>
        </p:txBody>
      </p:sp>
      <p:sp>
        <p:nvSpPr>
          <p:cNvPr id="8" name="Text Box 26"/>
          <p:cNvSpPr txBox="1">
            <a:spLocks noChangeArrowheads="1"/>
          </p:cNvSpPr>
          <p:nvPr/>
        </p:nvSpPr>
        <p:spPr bwMode="auto">
          <a:xfrm>
            <a:off x="903288" y="1739900"/>
            <a:ext cx="102076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(1)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主量子数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principal quantum number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n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):</a:t>
            </a:r>
          </a:p>
        </p:txBody>
      </p:sp>
      <p:sp>
        <p:nvSpPr>
          <p:cNvPr id="6151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615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 autoUpdateAnimBg="0"/>
      <p:bldP spid="6" grpId="0" autoUpdateAnimBg="0"/>
      <p:bldP spid="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ChangeArrowheads="1"/>
          </p:cNvSpPr>
          <p:nvPr/>
        </p:nvSpPr>
        <p:spPr bwMode="auto">
          <a:xfrm>
            <a:off x="617538" y="954088"/>
            <a:ext cx="10328275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(2)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角量子数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dirty="0" err="1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azimuthal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 quantum number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l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):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        </a:t>
            </a:r>
            <a:endParaRPr lang="en-US" altLang="zh-CN" sz="2500" b="1" dirty="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3" name="Text Box 27"/>
          <p:cNvSpPr txBox="1">
            <a:spLocks noChangeArrowheads="1"/>
          </p:cNvSpPr>
          <p:nvPr/>
        </p:nvSpPr>
        <p:spPr bwMode="auto">
          <a:xfrm>
            <a:off x="617538" y="1477963"/>
            <a:ext cx="100393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　　</a:t>
            </a:r>
            <a:r>
              <a:rPr lang="zh-CN" altLang="en-US" sz="2500" b="1" u="sng">
                <a:ea typeface="楷体_GB2312" pitchFamily="49" charset="-122"/>
                <a:sym typeface="Symbol" pitchFamily="18" charset="2"/>
              </a:rPr>
              <a:t>描述电子云的不同形状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.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4" name="Rectangle 28"/>
          <p:cNvSpPr>
            <a:spLocks noChangeArrowheads="1"/>
          </p:cNvSpPr>
          <p:nvPr/>
        </p:nvSpPr>
        <p:spPr bwMode="auto">
          <a:xfrm>
            <a:off x="688975" y="2454275"/>
            <a:ext cx="1025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>
                <a:solidFill>
                  <a:srgbClr val="FF3300"/>
                </a:solidFill>
                <a:ea typeface="楷体_GB2312"/>
                <a:sym typeface="Symbol" pitchFamily="18" charset="2"/>
              </a:rPr>
              <a:t>l</a:t>
            </a:r>
            <a:r>
              <a:rPr lang="zh-CN" altLang="en-US" sz="2500" b="1">
                <a:solidFill>
                  <a:srgbClr val="FF3300"/>
                </a:solidFill>
                <a:ea typeface="楷体_GB2312"/>
                <a:sym typeface="Symbol" pitchFamily="18" charset="2"/>
              </a:rPr>
              <a:t>取值</a:t>
            </a:r>
            <a:r>
              <a:rPr lang="en-US" altLang="zh-CN" sz="2500" b="1">
                <a:effectLst>
                  <a:outerShdw blurRad="38100" dist="38100" dir="2700000" algn="tl">
                    <a:srgbClr val="FFFFFF"/>
                  </a:outerShdw>
                </a:effectLst>
                <a:ea typeface="楷体_GB2312"/>
                <a:sym typeface="Symbol" pitchFamily="18" charset="2"/>
              </a:rPr>
              <a:t>:</a:t>
            </a:r>
            <a:endParaRPr lang="en-US" altLang="zh-CN" sz="2500" b="1">
              <a:ea typeface="楷体_GB2312"/>
              <a:sym typeface="Symbol" pitchFamily="18" charset="2"/>
            </a:endParaRPr>
          </a:p>
        </p:txBody>
      </p:sp>
      <p:sp>
        <p:nvSpPr>
          <p:cNvPr id="5" name="Rectangle 29"/>
          <p:cNvSpPr>
            <a:spLocks noChangeArrowheads="1"/>
          </p:cNvSpPr>
          <p:nvPr/>
        </p:nvSpPr>
        <p:spPr bwMode="auto">
          <a:xfrm>
            <a:off x="1843088" y="2424113"/>
            <a:ext cx="49133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值确定后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l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500" b="1" u="sng" dirty="0">
                <a:solidFill>
                  <a:schemeClr val="tx2"/>
                </a:solidFill>
                <a:ea typeface="楷体_GB2312" pitchFamily="49" charset="-122"/>
                <a:sym typeface="Symbol" pitchFamily="18" charset="2"/>
              </a:rPr>
              <a:t>0,1,(</a:t>
            </a:r>
            <a:r>
              <a:rPr lang="en-US" altLang="zh-CN" sz="2500" b="1" i="1" u="sng" dirty="0">
                <a:solidFill>
                  <a:schemeClr val="tx2"/>
                </a:solidFill>
                <a:ea typeface="楷体_GB2312" pitchFamily="49" charset="-122"/>
                <a:sym typeface="Symbol" pitchFamily="18" charset="2"/>
              </a:rPr>
              <a:t>n </a:t>
            </a:r>
            <a:r>
              <a:rPr lang="en-US" altLang="zh-CN" sz="2500" b="1" u="sng" dirty="0">
                <a:solidFill>
                  <a:schemeClr val="tx2"/>
                </a:solidFill>
                <a:ea typeface="楷体_GB2312" pitchFamily="49" charset="-122"/>
                <a:sym typeface="Symbol" pitchFamily="18" charset="2"/>
              </a:rPr>
              <a:t>- 1)</a:t>
            </a:r>
            <a:r>
              <a:rPr lang="zh-CN" altLang="en-US" sz="2500" b="1" u="sng" dirty="0">
                <a:solidFill>
                  <a:schemeClr val="tx2"/>
                </a:solidFill>
                <a:ea typeface="楷体_GB2312" pitchFamily="49" charset="-122"/>
                <a:sym typeface="Symbol" pitchFamily="18" charset="2"/>
              </a:rPr>
              <a:t>正整数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6" name="Rectangle 34"/>
          <p:cNvSpPr>
            <a:spLocks noChangeArrowheads="1"/>
          </p:cNvSpPr>
          <p:nvPr/>
        </p:nvSpPr>
        <p:spPr bwMode="auto">
          <a:xfrm>
            <a:off x="617538" y="1954213"/>
            <a:ext cx="10328275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        n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相同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电子云形状不同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能量有差别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(“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亚层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”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).</a:t>
            </a:r>
          </a:p>
        </p:txBody>
      </p:sp>
      <p:sp>
        <p:nvSpPr>
          <p:cNvPr id="7" name="Rectangle 31"/>
          <p:cNvSpPr txBox="1">
            <a:spLocks noChangeArrowheads="1"/>
          </p:cNvSpPr>
          <p:nvPr/>
        </p:nvSpPr>
        <p:spPr>
          <a:xfrm>
            <a:off x="576263" y="258763"/>
            <a:ext cx="10369550" cy="430212"/>
          </a:xfrm>
          <a:prstGeom prst="rect">
            <a:avLst/>
          </a:prstGeom>
          <a:noFill/>
        </p:spPr>
        <p:txBody>
          <a:bodyPr/>
          <a:lstStyle/>
          <a:p>
            <a:pPr eaLnBrk="0" hangingPunct="0">
              <a:defRPr/>
            </a:pPr>
            <a:r>
              <a:rPr lang="en-US" altLang="zh-CN" sz="2200" b="1" kern="0">
                <a:solidFill>
                  <a:srgbClr val="FF0000"/>
                </a:solidFill>
                <a:latin typeface="+mj-lt"/>
                <a:ea typeface="黑体" pitchFamily="49" charset="-122"/>
                <a:cs typeface="+mj-cs"/>
              </a:rPr>
              <a:t>7.2.2</a:t>
            </a:r>
            <a:r>
              <a:rPr lang="zh-CN" altLang="en-US" sz="2200" b="1" kern="0">
                <a:solidFill>
                  <a:srgbClr val="FF0000"/>
                </a:solidFill>
                <a:latin typeface="+mj-lt"/>
                <a:ea typeface="黑体" pitchFamily="49" charset="-122"/>
                <a:cs typeface="+mj-cs"/>
              </a:rPr>
              <a:t>四个量子数</a:t>
            </a: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903288" y="3025775"/>
            <a:ext cx="10231437" cy="1438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l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值                 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0              1                2             3          4       5</a:t>
            </a:r>
          </a:p>
          <a:p>
            <a:pPr>
              <a:lnSpc>
                <a:spcPct val="110000"/>
              </a:lnSpc>
            </a:pP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l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值符号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形状</a:t>
            </a: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2717800" y="3471863"/>
            <a:ext cx="3095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u="sng">
                <a:ea typeface="楷体_GB2312" pitchFamily="49" charset="-122"/>
                <a:sym typeface="Symbol" pitchFamily="18" charset="2"/>
              </a:rPr>
              <a:t>s</a:t>
            </a:r>
            <a:endParaRPr lang="en-US" altLang="zh-CN" sz="2500" b="1" u="sng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2309813" y="3979863"/>
            <a:ext cx="8255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球形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11" name="Rectangle 25"/>
          <p:cNvSpPr>
            <a:spLocks noChangeArrowheads="1"/>
          </p:cNvSpPr>
          <p:nvPr/>
        </p:nvSpPr>
        <p:spPr bwMode="auto">
          <a:xfrm>
            <a:off x="3941763" y="3471863"/>
            <a:ext cx="3444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u="sng">
                <a:ea typeface="楷体_GB2312" pitchFamily="49" charset="-122"/>
                <a:sym typeface="Symbol" pitchFamily="18" charset="2"/>
              </a:rPr>
              <a:t>p</a:t>
            </a:r>
            <a:endParaRPr lang="en-US" altLang="zh-CN" sz="2500" b="1" u="sng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12" name="Rectangle 26"/>
          <p:cNvSpPr>
            <a:spLocks noChangeArrowheads="1"/>
          </p:cNvSpPr>
          <p:nvPr/>
        </p:nvSpPr>
        <p:spPr bwMode="auto">
          <a:xfrm>
            <a:off x="5348288" y="3471863"/>
            <a:ext cx="34448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u="sng">
                <a:ea typeface="楷体_GB2312" pitchFamily="49" charset="-122"/>
                <a:sym typeface="Symbol" pitchFamily="18" charset="2"/>
              </a:rPr>
              <a:t>d</a:t>
            </a:r>
            <a:endParaRPr lang="en-US" altLang="zh-CN" sz="2500" b="1" u="sng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13" name="Rectangle 27"/>
          <p:cNvSpPr>
            <a:spLocks noChangeArrowheads="1"/>
          </p:cNvSpPr>
          <p:nvPr/>
        </p:nvSpPr>
        <p:spPr bwMode="auto">
          <a:xfrm>
            <a:off x="6616700" y="3471863"/>
            <a:ext cx="29210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f</a:t>
            </a:r>
            <a:endParaRPr lang="en-US" altLang="zh-CN" sz="2500" b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14" name="Rectangle 28"/>
          <p:cNvSpPr>
            <a:spLocks noChangeArrowheads="1"/>
          </p:cNvSpPr>
          <p:nvPr/>
        </p:nvSpPr>
        <p:spPr bwMode="auto">
          <a:xfrm>
            <a:off x="7524750" y="3471863"/>
            <a:ext cx="34448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g</a:t>
            </a:r>
            <a:endParaRPr lang="en-US" altLang="zh-CN" sz="2500" b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8294688" y="3470275"/>
            <a:ext cx="6826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h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</a:t>
            </a:r>
          </a:p>
        </p:txBody>
      </p:sp>
      <p:sp>
        <p:nvSpPr>
          <p:cNvPr id="16" name="Rectangle 30"/>
          <p:cNvSpPr>
            <a:spLocks noChangeArrowheads="1"/>
          </p:cNvSpPr>
          <p:nvPr/>
        </p:nvSpPr>
        <p:spPr bwMode="auto">
          <a:xfrm>
            <a:off x="3351213" y="3979863"/>
            <a:ext cx="11461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哑铃形</a:t>
            </a:r>
          </a:p>
        </p:txBody>
      </p:sp>
      <p:sp>
        <p:nvSpPr>
          <p:cNvPr id="17" name="Rectangle 31"/>
          <p:cNvSpPr>
            <a:spLocks noChangeArrowheads="1"/>
          </p:cNvSpPr>
          <p:nvPr/>
        </p:nvSpPr>
        <p:spPr bwMode="auto">
          <a:xfrm>
            <a:off x="4757738" y="3948113"/>
            <a:ext cx="14668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花瓣形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760413" y="4510099"/>
            <a:ext cx="10390187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当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相同时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, 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能量相对高低为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ns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&lt;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 np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&lt;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 nd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&lt;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 nf .</a:t>
            </a:r>
            <a:endParaRPr lang="en-US" altLang="zh-CN" sz="2500" b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7187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7188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autoUpdateAnimBg="0"/>
      <p:bldP spid="4" grpId="0" autoUpdateAnimBg="0"/>
      <p:bldP spid="5" grpId="0" autoUpdateAnimBg="0"/>
      <p:bldP spid="6" grpId="0" build="p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25" name="Rectangle 17"/>
          <p:cNvSpPr>
            <a:spLocks noChangeArrowheads="1"/>
          </p:cNvSpPr>
          <p:nvPr/>
        </p:nvSpPr>
        <p:spPr bwMode="auto">
          <a:xfrm>
            <a:off x="617538" y="954088"/>
            <a:ext cx="10390187" cy="515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(3)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磁量子数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magnetic quantum number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, 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</a:rPr>
              <a:t>m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):</a:t>
            </a:r>
            <a:r>
              <a:rPr lang="zh-CN" altLang="en-US" sz="2500" b="1" i="1" dirty="0">
                <a:ea typeface="楷体_GB2312" pitchFamily="49" charset="-122"/>
                <a:sym typeface="Symbol" pitchFamily="18" charset="2"/>
              </a:rPr>
              <a:t>　</a:t>
            </a:r>
            <a:endParaRPr lang="zh-CN" altLang="en-US" sz="2500" b="1" dirty="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68646" name="Text Box 38"/>
          <p:cNvSpPr txBox="1">
            <a:spLocks noChangeArrowheads="1"/>
          </p:cNvSpPr>
          <p:nvPr/>
        </p:nvSpPr>
        <p:spPr bwMode="auto">
          <a:xfrm>
            <a:off x="1047750" y="2449513"/>
            <a:ext cx="17827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i="1">
                <a:solidFill>
                  <a:srgbClr val="FF3300"/>
                </a:solidFill>
                <a:ea typeface="楷体_GB2312" pitchFamily="49" charset="-122"/>
              </a:rPr>
              <a:t>m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取值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:</a:t>
            </a:r>
            <a:endParaRPr lang="en-US" altLang="zh-CN" sz="2500" b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68647" name="Rectangle 39"/>
          <p:cNvSpPr>
            <a:spLocks noChangeArrowheads="1"/>
          </p:cNvSpPr>
          <p:nvPr/>
        </p:nvSpPr>
        <p:spPr bwMode="auto">
          <a:xfrm>
            <a:off x="2546350" y="2454275"/>
            <a:ext cx="41036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u="sng" dirty="0">
                <a:solidFill>
                  <a:schemeClr val="tx2"/>
                </a:solidFill>
                <a:ea typeface="楷体_GB2312" pitchFamily="49" charset="-122"/>
                <a:sym typeface="Symbol" pitchFamily="18" charset="2"/>
              </a:rPr>
              <a:t>-</a:t>
            </a:r>
            <a:r>
              <a:rPr lang="en-US" altLang="zh-CN" sz="2500" b="1" i="1" u="sng" dirty="0">
                <a:solidFill>
                  <a:schemeClr val="tx2"/>
                </a:solidFill>
                <a:ea typeface="楷体_GB2312" pitchFamily="49" charset="-122"/>
                <a:sym typeface="Symbol" pitchFamily="18" charset="2"/>
              </a:rPr>
              <a:t>l</a:t>
            </a:r>
            <a:r>
              <a:rPr lang="en-US" altLang="zh-CN" sz="2500" b="1" u="sng" dirty="0">
                <a:solidFill>
                  <a:schemeClr val="tx2"/>
                </a:solidFill>
                <a:ea typeface="楷体_GB2312" pitchFamily="49" charset="-122"/>
                <a:sym typeface="Symbol" pitchFamily="18" charset="2"/>
              </a:rPr>
              <a:t>0+</a:t>
            </a:r>
            <a:r>
              <a:rPr lang="en-US" altLang="zh-CN" sz="2500" b="1" i="1" u="sng" dirty="0">
                <a:solidFill>
                  <a:schemeClr val="tx2"/>
                </a:solidFill>
                <a:ea typeface="楷体_GB2312" pitchFamily="49" charset="-122"/>
                <a:sym typeface="Symbol" pitchFamily="18" charset="2"/>
              </a:rPr>
              <a:t>l</a:t>
            </a:r>
            <a:r>
              <a:rPr lang="zh-CN" altLang="en-US" sz="2500" b="1" dirty="0">
                <a:solidFill>
                  <a:schemeClr val="tx2"/>
                </a:solidFill>
                <a:ea typeface="楷体_GB2312" pitchFamily="49" charset="-122"/>
                <a:sym typeface="Symbol" pitchFamily="18" charset="2"/>
              </a:rPr>
              <a:t>共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(2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l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+ 1)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个值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17" name="Rectangle 31"/>
          <p:cNvSpPr txBox="1">
            <a:spLocks noChangeArrowheads="1"/>
          </p:cNvSpPr>
          <p:nvPr/>
        </p:nvSpPr>
        <p:spPr>
          <a:xfrm>
            <a:off x="576263" y="258763"/>
            <a:ext cx="10369550" cy="430212"/>
          </a:xfrm>
          <a:prstGeom prst="rect">
            <a:avLst/>
          </a:prstGeom>
          <a:noFill/>
        </p:spPr>
        <p:txBody>
          <a:bodyPr/>
          <a:lstStyle/>
          <a:p>
            <a:pPr eaLnBrk="0" hangingPunct="0">
              <a:defRPr/>
            </a:pPr>
            <a:r>
              <a:rPr lang="en-US" altLang="zh-CN" sz="2200" b="1" kern="0">
                <a:solidFill>
                  <a:srgbClr val="FF0000"/>
                </a:solidFill>
                <a:latin typeface="+mj-lt"/>
                <a:ea typeface="黑体" pitchFamily="49" charset="-122"/>
                <a:cs typeface="+mj-cs"/>
              </a:rPr>
              <a:t>7.2.2</a:t>
            </a:r>
            <a:r>
              <a:rPr lang="zh-CN" altLang="en-US" sz="2200" b="1" kern="0">
                <a:solidFill>
                  <a:srgbClr val="FF0000"/>
                </a:solidFill>
                <a:latin typeface="+mj-lt"/>
                <a:ea typeface="黑体" pitchFamily="49" charset="-122"/>
                <a:cs typeface="+mj-cs"/>
              </a:rPr>
              <a:t>四个量子数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688975" y="3668713"/>
            <a:ext cx="10390188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   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s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只有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1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个</a:t>
            </a:r>
            <a:r>
              <a:rPr lang="en-US" altLang="zh-CN" sz="2500" b="1" dirty="0" err="1">
                <a:ea typeface="楷体_GB2312" pitchFamily="49" charset="-122"/>
                <a:sym typeface="Symbol" pitchFamily="18" charset="2"/>
              </a:rPr>
              <a:t>AO;</a:t>
            </a:r>
            <a:r>
              <a:rPr lang="en-US" altLang="zh-CN" sz="2500" b="1" i="1" dirty="0" err="1">
                <a:ea typeface="楷体_GB2312" pitchFamily="49" charset="-122"/>
                <a:sym typeface="Symbol" pitchFamily="18" charset="2"/>
              </a:rPr>
              <a:t>p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亚层可有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3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个</a:t>
            </a:r>
            <a:r>
              <a:rPr lang="en-US" altLang="zh-CN" sz="2500" b="1" dirty="0" err="1">
                <a:ea typeface="楷体_GB2312" pitchFamily="49" charset="-122"/>
                <a:sym typeface="Symbol" pitchFamily="18" charset="2"/>
              </a:rPr>
              <a:t>AO;</a:t>
            </a:r>
            <a:r>
              <a:rPr lang="en-US" altLang="zh-CN" sz="2500" b="1" i="1" dirty="0" err="1">
                <a:ea typeface="楷体_GB2312" pitchFamily="49" charset="-122"/>
                <a:sym typeface="Symbol" pitchFamily="18" charset="2"/>
              </a:rPr>
              <a:t>d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亚层有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5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个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AO;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f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亚层有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7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个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AO.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无外磁场时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同一亚层的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AO</a:t>
            </a:r>
            <a:r>
              <a:rPr lang="zh-CN" altLang="en-US" sz="2500" b="1" u="sng" dirty="0">
                <a:ea typeface="楷体_GB2312" pitchFamily="49" charset="-122"/>
                <a:sym typeface="Symbol" pitchFamily="18" charset="2"/>
              </a:rPr>
              <a:t>能量相等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这样的轨道称为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等价轨道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或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简并轨道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617501" y="3097213"/>
            <a:ext cx="10299700" cy="4810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常把</a:t>
            </a:r>
            <a:r>
              <a:rPr lang="en-US" altLang="zh-CN" sz="2500" b="1" i="1" u="sng" dirty="0"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500" b="1" u="sng" dirty="0">
                <a:ea typeface="楷体_GB2312" pitchFamily="49" charset="-122"/>
                <a:sym typeface="Symbol" pitchFamily="18" charset="2"/>
              </a:rPr>
              <a:t>、</a:t>
            </a:r>
            <a:r>
              <a:rPr lang="en-US" altLang="zh-CN" sz="2500" b="1" i="1" u="sng" dirty="0">
                <a:ea typeface="楷体_GB2312" pitchFamily="49" charset="-122"/>
                <a:sym typeface="Symbol" pitchFamily="18" charset="2"/>
              </a:rPr>
              <a:t>l</a:t>
            </a:r>
            <a:r>
              <a:rPr lang="zh-CN" altLang="en-US" sz="2500" b="1" u="sng" dirty="0">
                <a:ea typeface="楷体_GB2312" pitchFamily="49" charset="-122"/>
                <a:sym typeface="Symbol" pitchFamily="18" charset="2"/>
              </a:rPr>
              <a:t>以及</a:t>
            </a:r>
            <a:r>
              <a:rPr lang="en-US" altLang="zh-CN" sz="2500" b="1" i="1" u="sng" dirty="0">
                <a:ea typeface="楷体_GB2312" pitchFamily="49" charset="-122"/>
                <a:sym typeface="Symbol" pitchFamily="18" charset="2"/>
              </a:rPr>
              <a:t>m</a:t>
            </a:r>
            <a:r>
              <a:rPr lang="zh-CN" altLang="en-US" sz="2500" b="1" u="sng" dirty="0">
                <a:ea typeface="楷体_GB2312" pitchFamily="49" charset="-122"/>
                <a:sym typeface="Symbol" pitchFamily="18" charset="2"/>
              </a:rPr>
              <a:t>都确定的电子运动状态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称为</a:t>
            </a:r>
            <a:r>
              <a:rPr lang="en-US" altLang="zh-CN" sz="2500" b="1" dirty="0">
                <a:solidFill>
                  <a:schemeClr val="accent2"/>
                </a:solidFill>
                <a:ea typeface="楷体_GB2312" pitchFamily="49" charset="-122"/>
                <a:sym typeface="Symbol" pitchFamily="18" charset="2"/>
              </a:rPr>
              <a:t>AO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820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820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7"/>
          <p:cNvSpPr>
            <a:spLocks noChangeArrowheads="1"/>
          </p:cNvSpPr>
          <p:nvPr/>
        </p:nvSpPr>
        <p:spPr bwMode="auto">
          <a:xfrm>
            <a:off x="688939" y="1454137"/>
            <a:ext cx="10390187" cy="93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i="1" dirty="0">
                <a:ea typeface="楷体_GB2312" pitchFamily="49" charset="-122"/>
                <a:sym typeface="Symbol" pitchFamily="18" charset="2"/>
              </a:rPr>
              <a:t>　　</a:t>
            </a:r>
            <a:r>
              <a:rPr lang="zh-CN" altLang="en-US" sz="2500" b="1" u="sng" dirty="0">
                <a:ea typeface="楷体_GB2312" pitchFamily="49" charset="-122"/>
                <a:sym typeface="Symbol" pitchFamily="18" charset="2"/>
              </a:rPr>
              <a:t>描述电子云在空间的伸展方向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        l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相同的电子具确定的电子云形状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但可有不同的伸展方向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　　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25" grpId="0" build="p" autoUpdateAnimBg="0"/>
      <p:bldP spid="68646" grpId="0" autoUpdateAnimBg="0"/>
      <p:bldP spid="68647" grpId="0" autoUpdateAnimBg="0"/>
      <p:bldP spid="19" grpId="0" build="p" autoUpdateAnimBg="0"/>
      <p:bldP spid="20" grpId="0"/>
      <p:bldP spid="10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45" name="Rectangle 13"/>
          <p:cNvSpPr>
            <a:spLocks noChangeArrowheads="1"/>
          </p:cNvSpPr>
          <p:nvPr/>
        </p:nvSpPr>
        <p:spPr bwMode="auto">
          <a:xfrm>
            <a:off x="688975" y="1025525"/>
            <a:ext cx="10390188" cy="48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(4)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自旋角动量量子数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spin quantum number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, 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s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):</a:t>
            </a:r>
            <a:endParaRPr lang="zh-CN" altLang="en-US" sz="2500" b="1" dirty="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69657" name="Rectangle 25"/>
          <p:cNvSpPr>
            <a:spLocks noChangeArrowheads="1"/>
          </p:cNvSpPr>
          <p:nvPr/>
        </p:nvSpPr>
        <p:spPr bwMode="auto">
          <a:xfrm>
            <a:off x="906463" y="1020763"/>
            <a:ext cx="10299700" cy="4810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       </a:t>
            </a:r>
          </a:p>
        </p:txBody>
      </p:sp>
      <p:sp>
        <p:nvSpPr>
          <p:cNvPr id="69658" name="Text Box 26"/>
          <p:cNvSpPr txBox="1">
            <a:spLocks noChangeArrowheads="1"/>
          </p:cNvSpPr>
          <p:nvPr/>
        </p:nvSpPr>
        <p:spPr bwMode="auto">
          <a:xfrm>
            <a:off x="760413" y="2454275"/>
            <a:ext cx="1013618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　　自旋相反的两电子互相吸引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7" name="Rectangle 31"/>
          <p:cNvSpPr txBox="1">
            <a:spLocks noChangeArrowheads="1"/>
          </p:cNvSpPr>
          <p:nvPr/>
        </p:nvSpPr>
        <p:spPr>
          <a:xfrm>
            <a:off x="576263" y="258763"/>
            <a:ext cx="10369550" cy="430212"/>
          </a:xfrm>
          <a:prstGeom prst="rect">
            <a:avLst/>
          </a:prstGeom>
          <a:noFill/>
        </p:spPr>
        <p:txBody>
          <a:bodyPr/>
          <a:lstStyle/>
          <a:p>
            <a:pPr eaLnBrk="0" hangingPunct="0">
              <a:defRPr/>
            </a:pPr>
            <a:r>
              <a:rPr lang="en-US" altLang="zh-CN" sz="2200" b="1" kern="0">
                <a:solidFill>
                  <a:srgbClr val="FF0000"/>
                </a:solidFill>
                <a:latin typeface="+mj-lt"/>
                <a:ea typeface="黑体" pitchFamily="49" charset="-122"/>
                <a:cs typeface="+mj-cs"/>
              </a:rPr>
              <a:t>7.2.2</a:t>
            </a:r>
            <a:r>
              <a:rPr lang="zh-CN" altLang="en-US" sz="2200" b="1" kern="0">
                <a:solidFill>
                  <a:srgbClr val="FF0000"/>
                </a:solidFill>
                <a:latin typeface="+mj-lt"/>
                <a:ea typeface="黑体" pitchFamily="49" charset="-122"/>
                <a:cs typeface="+mj-cs"/>
              </a:rPr>
              <a:t>四个量子数</a:t>
            </a:r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831850" y="3465510"/>
            <a:ext cx="10390188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　　如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n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= 2,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l =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1,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m =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-1, 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s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= +1/2: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第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2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层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p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亚层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,2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p</a:t>
            </a:r>
            <a:r>
              <a:rPr lang="en-US" altLang="zh-CN" sz="2500" b="1" i="1" baseline="-25000">
                <a:ea typeface="楷体_GB2312" pitchFamily="49" charset="-122"/>
                <a:sym typeface="Symbol" pitchFamily="18" charset="2"/>
              </a:rPr>
              <a:t>y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轨道上自旋方向以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(+1/2)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为特征的那个电子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9" name="Rectangle 29"/>
          <p:cNvSpPr>
            <a:spLocks noChangeArrowheads="1"/>
          </p:cNvSpPr>
          <p:nvPr/>
        </p:nvSpPr>
        <p:spPr bwMode="auto">
          <a:xfrm>
            <a:off x="831815" y="2954335"/>
            <a:ext cx="9253570" cy="5155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每个电子运动的描述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:</a:t>
            </a:r>
          </a:p>
        </p:txBody>
      </p:sp>
      <p:sp>
        <p:nvSpPr>
          <p:cNvPr id="922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922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760377" y="1525575"/>
            <a:ext cx="10390188" cy="93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 smtClean="0">
                <a:ea typeface="楷体_GB2312" pitchFamily="49" charset="-122"/>
                <a:sym typeface="Symbol" pitchFamily="18" charset="2"/>
              </a:rPr>
              <a:t>        电子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的自旋可有两个相反的方向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所以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自旋角动量量子数 只有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2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个值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 +1/2, -1/2.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通常用“↑”“↓”表示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5" grpId="0" build="p" autoUpdateAnimBg="0"/>
      <p:bldP spid="69657" grpId="0"/>
      <p:bldP spid="69658" grpId="0" autoUpdateAnimBg="0"/>
      <p:bldP spid="8" grpId="0" build="p" autoUpdateAnimBg="0"/>
      <p:bldP spid="9" grpId="0"/>
      <p:bldP spid="10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75" name="Rectangle 19"/>
          <p:cNvSpPr>
            <a:spLocks noChangeArrowheads="1"/>
          </p:cNvSpPr>
          <p:nvPr/>
        </p:nvSpPr>
        <p:spPr bwMode="auto">
          <a:xfrm>
            <a:off x="760413" y="2097079"/>
            <a:ext cx="102314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例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: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补足下列缺少的量子数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: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n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 3,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l =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1,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m =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?, 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s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 -1/2.</a:t>
            </a:r>
          </a:p>
        </p:txBody>
      </p:sp>
      <p:sp>
        <p:nvSpPr>
          <p:cNvPr id="70677" name="Rectangle 21"/>
          <p:cNvSpPr>
            <a:spLocks noChangeArrowheads="1"/>
          </p:cNvSpPr>
          <p:nvPr/>
        </p:nvSpPr>
        <p:spPr bwMode="auto">
          <a:xfrm>
            <a:off x="688975" y="1473191"/>
            <a:ext cx="1013618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在同一原子中没有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n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、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l</a:t>
            </a:r>
            <a:r>
              <a:rPr lang="zh-CN" altLang="en-US" sz="2500" b="1" i="1" dirty="0">
                <a:ea typeface="楷体_GB2312" pitchFamily="49" charset="-122"/>
                <a:sym typeface="Symbol" pitchFamily="18" charset="2"/>
              </a:rPr>
              <a:t>、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m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及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s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完全相同的两个电子存在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 </a:t>
            </a:r>
          </a:p>
        </p:txBody>
      </p:sp>
      <p:sp>
        <p:nvSpPr>
          <p:cNvPr id="70670" name="Rectangle 14"/>
          <p:cNvSpPr>
            <a:spLocks noChangeArrowheads="1"/>
          </p:cNvSpPr>
          <p:nvPr/>
        </p:nvSpPr>
        <p:spPr bwMode="auto">
          <a:xfrm>
            <a:off x="831815" y="2740021"/>
            <a:ext cx="6143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chemeClr val="bg2"/>
                </a:solidFill>
                <a:ea typeface="楷体_GB2312"/>
                <a:sym typeface="Symbol" pitchFamily="18" charset="2"/>
              </a:rPr>
              <a:t>解</a:t>
            </a:r>
            <a:r>
              <a:rPr lang="en-US" altLang="zh-CN" sz="2500" b="1">
                <a:solidFill>
                  <a:schemeClr val="bg2"/>
                </a:solidFill>
                <a:ea typeface="楷体_GB2312"/>
                <a:sym typeface="Symbol" pitchFamily="18" charset="2"/>
              </a:rPr>
              <a:t>:</a:t>
            </a:r>
            <a:endParaRPr lang="en-US" altLang="zh-CN" sz="2500" b="1">
              <a:effectLst>
                <a:outerShdw blurRad="38100" dist="38100" dir="2700000" algn="tl">
                  <a:srgbClr val="FFFFFF"/>
                </a:outerShdw>
              </a:effectLst>
              <a:ea typeface="楷体_GB2312"/>
              <a:sym typeface="Symbol" pitchFamily="18" charset="2"/>
            </a:endParaRPr>
          </a:p>
        </p:txBody>
      </p:sp>
      <p:sp>
        <p:nvSpPr>
          <p:cNvPr id="70671" name="Rectangle 15"/>
          <p:cNvSpPr>
            <a:spLocks noChangeArrowheads="1"/>
          </p:cNvSpPr>
          <p:nvPr/>
        </p:nvSpPr>
        <p:spPr bwMode="auto">
          <a:xfrm>
            <a:off x="1557303" y="2740021"/>
            <a:ext cx="17224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m =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+1,0,-1</a:t>
            </a:r>
          </a:p>
        </p:txBody>
      </p:sp>
      <p:sp>
        <p:nvSpPr>
          <p:cNvPr id="70674" name="Rectangle 18"/>
          <p:cNvSpPr>
            <a:spLocks noChangeArrowheads="1"/>
          </p:cNvSpPr>
          <p:nvPr/>
        </p:nvSpPr>
        <p:spPr bwMode="auto">
          <a:xfrm>
            <a:off x="688975" y="1025525"/>
            <a:ext cx="98472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3300"/>
                </a:solidFill>
                <a:ea typeface="楷体_GB2312"/>
                <a:sym typeface="Symbol" pitchFamily="18" charset="2"/>
              </a:rPr>
              <a:t>保里</a:t>
            </a:r>
            <a:r>
              <a:rPr lang="zh-CN" altLang="zh-CN" sz="2500" b="1" dirty="0">
                <a:solidFill>
                  <a:srgbClr val="FF3300"/>
                </a:solidFill>
                <a:ea typeface="楷体_GB2312"/>
                <a:sym typeface="Symbol" pitchFamily="18" charset="2"/>
              </a:rPr>
              <a:t>不相容原理(</a:t>
            </a:r>
            <a:r>
              <a:rPr lang="en-US" altLang="zh-CN" sz="2500" b="1" dirty="0">
                <a:solidFill>
                  <a:srgbClr val="0000FF"/>
                </a:solidFill>
                <a:ea typeface="楷体_GB2312"/>
                <a:sym typeface="Symbol" pitchFamily="18" charset="2"/>
              </a:rPr>
              <a:t>Pauli exclusion principle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  <a:sym typeface="Symbol" pitchFamily="18" charset="2"/>
              </a:rPr>
              <a:t>):</a:t>
            </a:r>
            <a:endParaRPr lang="en-US" altLang="zh-CN" sz="2500" b="1" dirty="0">
              <a:effectLst>
                <a:outerShdw blurRad="38100" dist="38100" dir="2700000" algn="tl">
                  <a:srgbClr val="FFFFFF"/>
                </a:outerShdw>
              </a:effectLst>
              <a:ea typeface="楷体_GB2312"/>
              <a:sym typeface="Symbol" pitchFamily="18" charset="2"/>
            </a:endParaRPr>
          </a:p>
        </p:txBody>
      </p:sp>
      <p:sp>
        <p:nvSpPr>
          <p:cNvPr id="11" name="Rectangle 31"/>
          <p:cNvSpPr txBox="1">
            <a:spLocks noChangeArrowheads="1"/>
          </p:cNvSpPr>
          <p:nvPr/>
        </p:nvSpPr>
        <p:spPr>
          <a:xfrm>
            <a:off x="576263" y="258763"/>
            <a:ext cx="10369550" cy="430212"/>
          </a:xfrm>
          <a:prstGeom prst="rect">
            <a:avLst/>
          </a:prstGeom>
          <a:noFill/>
        </p:spPr>
        <p:txBody>
          <a:bodyPr/>
          <a:lstStyle/>
          <a:p>
            <a:pPr eaLnBrk="0" hangingPunct="0">
              <a:defRPr/>
            </a:pPr>
            <a:r>
              <a:rPr lang="en-US" altLang="zh-CN" sz="2200" b="1" kern="0">
                <a:solidFill>
                  <a:srgbClr val="FF0000"/>
                </a:solidFill>
                <a:latin typeface="+mj-lt"/>
                <a:ea typeface="黑体" pitchFamily="49" charset="-122"/>
                <a:cs typeface="+mj-cs"/>
              </a:rPr>
              <a:t>7.2.2</a:t>
            </a:r>
            <a:r>
              <a:rPr lang="zh-CN" altLang="en-US" sz="2200" b="1" kern="0">
                <a:solidFill>
                  <a:srgbClr val="FF0000"/>
                </a:solidFill>
                <a:latin typeface="+mj-lt"/>
                <a:ea typeface="黑体" pitchFamily="49" charset="-122"/>
                <a:cs typeface="+mj-cs"/>
              </a:rPr>
              <a:t>四个量子数</a:t>
            </a:r>
          </a:p>
        </p:txBody>
      </p:sp>
      <p:sp>
        <p:nvSpPr>
          <p:cNvPr id="1024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024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75"/>
                                        <p:tgtEl>
                                          <p:spTgt spid="706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75" grpId="0" autoUpdateAnimBg="0"/>
      <p:bldP spid="70677" grpId="0" autoUpdateAnimBg="0"/>
      <p:bldP spid="70670" grpId="0" autoUpdateAnimBg="0"/>
      <p:bldP spid="70671" grpId="0" autoUpdateAnimBg="0"/>
      <p:bldP spid="7067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0" name="Rectangle 14"/>
          <p:cNvSpPr>
            <a:spLocks noChangeArrowheads="1"/>
          </p:cNvSpPr>
          <p:nvPr/>
        </p:nvSpPr>
        <p:spPr bwMode="auto">
          <a:xfrm>
            <a:off x="688975" y="954088"/>
            <a:ext cx="10231438" cy="48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原子轨道角度分布图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39965" name="Rectangle 29"/>
          <p:cNvSpPr>
            <a:spLocks noChangeArrowheads="1"/>
          </p:cNvSpPr>
          <p:nvPr/>
        </p:nvSpPr>
        <p:spPr bwMode="auto">
          <a:xfrm>
            <a:off x="3117850" y="2311400"/>
            <a:ext cx="209708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Y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p</a:t>
            </a:r>
            <a:r>
              <a:rPr lang="en-US" altLang="zh-CN" sz="2500" b="1" i="1" baseline="-25000">
                <a:ea typeface="楷体_GB2312" pitchFamily="49" charset="-122"/>
                <a:sym typeface="Symbol" pitchFamily="18" charset="2"/>
              </a:rPr>
              <a:t>z</a:t>
            </a:r>
            <a:r>
              <a:rPr lang="en-US" altLang="zh-CN" sz="2500" b="1">
                <a:ea typeface="楷体_GB2312" pitchFamily="49" charset="-122"/>
              </a:rPr>
              <a:t>) = </a:t>
            </a:r>
            <a:r>
              <a:rPr lang="en-US" altLang="zh-CN" sz="2500" b="1" i="1">
                <a:ea typeface="楷体_GB2312" pitchFamily="49" charset="-122"/>
              </a:rPr>
              <a:t>R</a:t>
            </a:r>
            <a:r>
              <a:rPr lang="en-US" altLang="zh-CN" sz="2500" b="1">
                <a:ea typeface="楷体_GB2312" pitchFamily="49" charset="-122"/>
              </a:rPr>
              <a:t>·cos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</a:t>
            </a:r>
          </a:p>
        </p:txBody>
      </p:sp>
      <p:sp>
        <p:nvSpPr>
          <p:cNvPr id="39968" name="Text Box 32"/>
          <p:cNvSpPr txBox="1">
            <a:spLocks noChangeArrowheads="1"/>
          </p:cNvSpPr>
          <p:nvPr/>
        </p:nvSpPr>
        <p:spPr bwMode="auto">
          <a:xfrm>
            <a:off x="831850" y="2882897"/>
            <a:ext cx="1061561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　　</a:t>
            </a:r>
            <a:r>
              <a:rPr lang="zh-CN" altLang="en-US" sz="2500" b="1">
                <a:ea typeface="楷体_GB2312" pitchFamily="49" charset="-122"/>
                <a:hlinkClick r:id="rId3" action="ppaction://hlinkfile"/>
              </a:rPr>
              <a:t>将不同的</a:t>
            </a:r>
            <a:r>
              <a:rPr lang="zh-CN" altLang="en-US" sz="2500" b="1" i="1">
                <a:ea typeface="楷体_GB2312" pitchFamily="49" charset="-122"/>
                <a:sym typeface="Symbol" pitchFamily="18" charset="2"/>
                <a:hlinkClick r:id="rId3" action="ppaction://hlinkfile"/>
              </a:rPr>
              <a:t></a:t>
            </a:r>
            <a:r>
              <a:rPr lang="zh-CN" altLang="en-US" sz="2500" b="1">
                <a:ea typeface="楷体_GB2312" pitchFamily="49" charset="-122"/>
                <a:hlinkClick r:id="rId3" action="ppaction://hlinkfile"/>
              </a:rPr>
              <a:t>代入</a:t>
            </a:r>
            <a:r>
              <a:rPr lang="en-US" altLang="zh-CN" sz="2500" b="1">
                <a:ea typeface="楷体_GB2312" pitchFamily="49" charset="-122"/>
                <a:hlinkClick r:id="rId3" action="ppaction://hlinkfile"/>
              </a:rPr>
              <a:t>,</a:t>
            </a:r>
            <a:r>
              <a:rPr lang="zh-CN" altLang="en-US" sz="2500" b="1">
                <a:ea typeface="楷体_GB2312" pitchFamily="49" charset="-122"/>
                <a:hlinkClick r:id="rId3" action="ppaction://hlinkfile"/>
              </a:rPr>
              <a:t>求得相应的</a:t>
            </a:r>
            <a:r>
              <a:rPr lang="en-US" altLang="zh-CN" sz="2500" b="1" i="1">
                <a:ea typeface="楷体_GB2312" pitchFamily="49" charset="-122"/>
                <a:hlinkClick r:id="rId3" action="ppaction://hlinkfile"/>
              </a:rPr>
              <a:t>Y</a:t>
            </a:r>
            <a:r>
              <a:rPr lang="en-US" altLang="zh-CN" sz="2500" b="1">
                <a:ea typeface="楷体_GB2312" pitchFamily="49" charset="-122"/>
                <a:hlinkClick r:id="rId3" action="ppaction://hlinkfile"/>
              </a:rPr>
              <a:t>(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  <a:hlinkClick r:id="rId3" action="ppaction://hlinkfile"/>
              </a:rPr>
              <a:t>p</a:t>
            </a:r>
            <a:r>
              <a:rPr lang="en-US" altLang="zh-CN" sz="2500" b="1" i="1" baseline="-25000">
                <a:ea typeface="楷体_GB2312" pitchFamily="49" charset="-122"/>
                <a:sym typeface="Symbol" pitchFamily="18" charset="2"/>
                <a:hlinkClick r:id="rId3" action="ppaction://hlinkfile"/>
              </a:rPr>
              <a:t>z</a:t>
            </a:r>
            <a:r>
              <a:rPr lang="en-US" altLang="zh-CN" sz="2500" b="1">
                <a:ea typeface="楷体_GB2312" pitchFamily="49" charset="-122"/>
                <a:hlinkClick r:id="rId3" action="ppaction://hlinkfile"/>
              </a:rPr>
              <a:t>),</a:t>
            </a:r>
            <a:r>
              <a:rPr lang="zh-CN" altLang="en-US" sz="2500" b="1">
                <a:ea typeface="楷体_GB2312" pitchFamily="49" charset="-122"/>
                <a:hlinkClick r:id="rId3" action="ppaction://hlinkfile"/>
              </a:rPr>
              <a:t>所得曲线绕</a:t>
            </a:r>
            <a:r>
              <a:rPr lang="en-US" altLang="zh-CN" sz="2500" b="1">
                <a:ea typeface="楷体_GB2312" pitchFamily="49" charset="-122"/>
                <a:hlinkClick r:id="rId3" action="ppaction://hlinkfile"/>
              </a:rPr>
              <a:t>z</a:t>
            </a:r>
            <a:r>
              <a:rPr lang="zh-CN" altLang="en-US" sz="2500" b="1">
                <a:ea typeface="楷体_GB2312" pitchFamily="49" charset="-122"/>
                <a:hlinkClick r:id="rId3" action="ppaction://hlinkfile"/>
              </a:rPr>
              <a:t>轴旋转</a:t>
            </a:r>
            <a:r>
              <a:rPr lang="en-US" altLang="zh-CN" sz="2500" b="1">
                <a:ea typeface="楷体_GB2312" pitchFamily="49" charset="-122"/>
                <a:hlinkClick r:id="rId3" action="ppaction://hlinkfile"/>
              </a:rPr>
              <a:t>360</a:t>
            </a:r>
            <a:r>
              <a:rPr lang="zh-CN" altLang="zh-CN" sz="2500" b="1">
                <a:ea typeface="楷体_GB2312" pitchFamily="49" charset="-122"/>
                <a:hlinkClick r:id="rId3" action="ppaction://hlinkfile"/>
              </a:rPr>
              <a:t>º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39970" name="AutoShape 34"/>
          <p:cNvSpPr>
            <a:spLocks noChangeArrowheads="1"/>
          </p:cNvSpPr>
          <p:nvPr/>
        </p:nvSpPr>
        <p:spPr bwMode="auto">
          <a:xfrm>
            <a:off x="4260850" y="1597025"/>
            <a:ext cx="1449388" cy="544513"/>
          </a:xfrm>
          <a:prstGeom prst="cloudCallout">
            <a:avLst>
              <a:gd name="adj1" fmla="val -40208"/>
              <a:gd name="adj2" fmla="val 80028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</a:rPr>
              <a:t>常数</a:t>
            </a:r>
          </a:p>
        </p:txBody>
      </p:sp>
      <p:sp>
        <p:nvSpPr>
          <p:cNvPr id="39987" name="Rectangle 51"/>
          <p:cNvSpPr>
            <a:spLocks noChangeArrowheads="1"/>
          </p:cNvSpPr>
          <p:nvPr/>
        </p:nvSpPr>
        <p:spPr bwMode="auto">
          <a:xfrm>
            <a:off x="1046163" y="3454397"/>
            <a:ext cx="6203950" cy="477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en-US" altLang="zh-CN" sz="2500" b="1" i="1" dirty="0">
                <a:ea typeface="楷体_GB2312" pitchFamily="49" charset="-122"/>
                <a:hlinkClick r:id="rId4" action="ppaction://hlinkfile"/>
              </a:rPr>
              <a:t>p</a:t>
            </a:r>
            <a:r>
              <a:rPr lang="zh-CN" altLang="en-US" sz="2500" b="1" dirty="0">
                <a:ea typeface="楷体_GB2312" pitchFamily="49" charset="-122"/>
                <a:hlinkClick r:id="rId4" action="ppaction://hlinkfile"/>
              </a:rPr>
              <a:t>角度函数图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r>
              <a:rPr lang="en-US" altLang="zh-CN" sz="2500" b="1" i="1" dirty="0">
                <a:ea typeface="楷体_GB2312" pitchFamily="49" charset="-122"/>
                <a:hlinkClick r:id="rId5" action="ppaction://hlinkfile"/>
              </a:rPr>
              <a:t>d</a:t>
            </a:r>
            <a:r>
              <a:rPr lang="en-US" altLang="zh-CN" sz="2500" b="1" i="1" baseline="-25000" dirty="0">
                <a:ea typeface="楷体_GB2312" pitchFamily="49" charset="-122"/>
                <a:hlinkClick r:id="rId5" action="ppaction://hlinkfile"/>
              </a:rPr>
              <a:t>xy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  <a:r>
              <a:rPr lang="en-US" altLang="zh-CN" sz="2500" b="1" i="1" dirty="0">
                <a:ea typeface="楷体_GB2312" pitchFamily="49" charset="-122"/>
                <a:hlinkClick r:id="rId5" action="ppaction://hlinkfile"/>
              </a:rPr>
              <a:t>d</a:t>
            </a:r>
            <a:r>
              <a:rPr lang="en-US" altLang="zh-CN" sz="2500" b="1" i="1" baseline="-25000" dirty="0">
                <a:ea typeface="楷体_GB2312" pitchFamily="49" charset="-122"/>
                <a:hlinkClick r:id="rId5" action="ppaction://hlinkfile"/>
              </a:rPr>
              <a:t>xz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  <a:r>
              <a:rPr lang="en-US" altLang="zh-CN" sz="2500" b="1" i="1" dirty="0">
                <a:ea typeface="楷体_GB2312" pitchFamily="49" charset="-122"/>
                <a:hlinkClick r:id="rId6" action="ppaction://hlinkfile"/>
              </a:rPr>
              <a:t>d</a:t>
            </a:r>
            <a:r>
              <a:rPr lang="en-US" altLang="zh-CN" sz="2500" b="1" i="1" baseline="-25000" dirty="0">
                <a:ea typeface="楷体_GB2312" pitchFamily="49" charset="-122"/>
                <a:hlinkClick r:id="rId6" action="ppaction://hlinkfile"/>
              </a:rPr>
              <a:t>yz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  <a:r>
              <a:rPr lang="en-US" altLang="zh-CN" sz="2500" b="1" i="1" dirty="0">
                <a:ea typeface="楷体_GB2312" pitchFamily="49" charset="-122"/>
                <a:hlinkClick r:id="rId4" action="ppaction://hlinkfile"/>
              </a:rPr>
              <a:t>d</a:t>
            </a:r>
            <a:r>
              <a:rPr lang="en-US" altLang="zh-CN" sz="2500" b="1" i="1" baseline="-25000" dirty="0">
                <a:ea typeface="楷体_GB2312" pitchFamily="49" charset="-122"/>
                <a:hlinkClick r:id="rId4" action="ppaction://hlinkfile"/>
              </a:rPr>
              <a:t>x</a:t>
            </a:r>
            <a:r>
              <a:rPr lang="en-US" altLang="zh-CN" sz="2500" b="1" baseline="-12000" dirty="0">
                <a:ea typeface="楷体_GB2312" pitchFamily="49" charset="-122"/>
                <a:hlinkClick r:id="rId4" action="ppaction://hlinkfile"/>
              </a:rPr>
              <a:t>2</a:t>
            </a:r>
            <a:r>
              <a:rPr lang="en-US" altLang="zh-CN" sz="2500" b="1" baseline="-25000" dirty="0">
                <a:ea typeface="楷体_GB2312" pitchFamily="49" charset="-122"/>
                <a:hlinkClick r:id="rId4" action="ppaction://hlinkfile"/>
              </a:rPr>
              <a:t>-</a:t>
            </a:r>
            <a:r>
              <a:rPr lang="en-US" altLang="zh-CN" sz="2500" b="1" i="1" baseline="-25000" dirty="0">
                <a:ea typeface="楷体_GB2312" pitchFamily="49" charset="-122"/>
                <a:hlinkClick r:id="rId4" action="ppaction://hlinkfile"/>
              </a:rPr>
              <a:t>y</a:t>
            </a:r>
            <a:r>
              <a:rPr lang="en-US" altLang="zh-CN" sz="2500" b="1" baseline="-12000" dirty="0">
                <a:ea typeface="楷体_GB2312" pitchFamily="49" charset="-122"/>
                <a:hlinkClick r:id="rId4" action="ppaction://hlinkfile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  <a:r>
              <a:rPr lang="en-US" altLang="zh-CN" sz="2500" b="1" i="1" dirty="0">
                <a:ea typeface="楷体_GB2312" pitchFamily="49" charset="-122"/>
                <a:hlinkClick r:id="rId7" action="ppaction://hlinkfile"/>
              </a:rPr>
              <a:t>d</a:t>
            </a:r>
            <a:r>
              <a:rPr lang="en-US" altLang="zh-CN" sz="2500" b="1" i="1" baseline="-25000" dirty="0">
                <a:ea typeface="楷体_GB2312" pitchFamily="49" charset="-122"/>
                <a:hlinkClick r:id="rId7" action="ppaction://hlinkfile"/>
              </a:rPr>
              <a:t>z</a:t>
            </a:r>
            <a:r>
              <a:rPr lang="en-US" altLang="zh-CN" sz="2500" b="1" baseline="-12000" dirty="0">
                <a:ea typeface="楷体_GB2312" pitchFamily="49" charset="-122"/>
                <a:hlinkClick r:id="rId7" action="ppaction://hlinkfile"/>
              </a:rPr>
              <a:t>2</a:t>
            </a:r>
            <a:r>
              <a:rPr lang="zh-CN" altLang="en-US" sz="2500" b="1" dirty="0">
                <a:ea typeface="楷体_GB2312" pitchFamily="49" charset="-122"/>
              </a:rPr>
              <a:t>函数图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1271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7.2.3</a:t>
            </a:r>
            <a:r>
              <a:rPr lang="zh-CN" altLang="en-US" smtClean="0">
                <a:ea typeface="黑体" pitchFamily="49" charset="-122"/>
              </a:rPr>
              <a:t>原子轨道和电子云的角度分布图</a:t>
            </a:r>
          </a:p>
        </p:txBody>
      </p:sp>
      <p:sp>
        <p:nvSpPr>
          <p:cNvPr id="1127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127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673135" y="1454137"/>
            <a:ext cx="1023143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 smtClean="0">
                <a:ea typeface="楷体_GB2312" pitchFamily="49" charset="-122"/>
              </a:rPr>
              <a:t>        Y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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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)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～</a:t>
            </a:r>
            <a:r>
              <a:rPr lang="zh-CN" altLang="en-US" sz="2500" b="1" i="1" dirty="0">
                <a:ea typeface="楷体_GB2312" pitchFamily="49" charset="-122"/>
                <a:sym typeface="Symbol" pitchFamily="18" charset="2"/>
              </a:rPr>
              <a:t>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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图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如</a:t>
            </a:r>
            <a:r>
              <a:rPr lang="en-US" altLang="zh-CN" sz="2500" b="1" i="1" dirty="0" err="1">
                <a:ea typeface="楷体_GB2312" pitchFamily="49" charset="-122"/>
                <a:sym typeface="Symbol" pitchFamily="18" charset="2"/>
              </a:rPr>
              <a:t>p</a:t>
            </a:r>
            <a:r>
              <a:rPr lang="en-US" altLang="zh-CN" sz="2500" b="1" i="1" baseline="-25000" dirty="0" err="1">
                <a:ea typeface="楷体_GB2312" pitchFamily="49" charset="-122"/>
                <a:sym typeface="Symbol" pitchFamily="18" charset="2"/>
              </a:rPr>
              <a:t>z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原子轨道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  <a:p>
            <a:r>
              <a:rPr lang="zh-CN" altLang="en-US" sz="2500" b="1" dirty="0">
                <a:ea typeface="楷体_GB2312" pitchFamily="49" charset="-122"/>
              </a:rPr>
              <a:t>由薛定谔方程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0" grpId="0" build="p" autoUpdateAnimBg="0"/>
      <p:bldP spid="39965" grpId="0" autoUpdateAnimBg="0"/>
      <p:bldP spid="39968" grpId="0" autoUpdateAnimBg="0"/>
      <p:bldP spid="39970" grpId="0" animBg="1"/>
      <p:bldP spid="39987" grpId="0"/>
      <p:bldP spid="10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906463" y="4240219"/>
            <a:ext cx="102314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u="sng" dirty="0">
                <a:ea typeface="楷体_GB2312" pitchFamily="49" charset="-122"/>
              </a:rPr>
              <a:t>描述电子在核外出现的概率密度分布所得到的空间图像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61458" name="Rectangle 18"/>
          <p:cNvSpPr>
            <a:spLocks noChangeArrowheads="1"/>
          </p:cNvSpPr>
          <p:nvPr/>
        </p:nvSpPr>
        <p:spPr bwMode="auto">
          <a:xfrm>
            <a:off x="906463" y="3162300"/>
            <a:ext cx="10390187" cy="93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原子核外某处</a:t>
            </a:r>
            <a:r>
              <a:rPr lang="zh-CN" altLang="en-US" sz="2500" b="1" u="sng">
                <a:ea typeface="楷体_GB2312" pitchFamily="49" charset="-122"/>
              </a:rPr>
              <a:t>单位体积内电子出现的概率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用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|</a:t>
            </a:r>
            <a:r>
              <a:rPr lang="en-US" altLang="zh-CN" sz="2500" b="1" i="1">
                <a:solidFill>
                  <a:srgbClr val="0000FF"/>
                </a:solidFill>
                <a:ea typeface="楷体_GB2312" pitchFamily="49" charset="-122"/>
              </a:rPr>
              <a:t>Ψ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|</a:t>
            </a:r>
            <a:r>
              <a:rPr lang="en-US" altLang="zh-CN" sz="2500" b="1" baseline="30000">
                <a:solidFill>
                  <a:srgbClr val="0000FF"/>
                </a:solidFill>
                <a:ea typeface="楷体_GB2312" pitchFamily="49" charset="-122"/>
              </a:rPr>
              <a:t>2</a:t>
            </a:r>
            <a:r>
              <a:rPr lang="en-US" altLang="zh-CN" sz="2500" b="1" baseline="30000">
                <a:ea typeface="楷体_GB2312" pitchFamily="49" charset="-122"/>
              </a:rPr>
              <a:t> </a:t>
            </a:r>
            <a:r>
              <a:rPr lang="zh-CN" altLang="en-US" sz="2500" b="1">
                <a:ea typeface="楷体_GB2312" pitchFamily="49" charset="-122"/>
              </a:rPr>
              <a:t>来表示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(2)</a:t>
            </a:r>
            <a:r>
              <a:rPr lang="en-US" altLang="zh-CN" sz="2500" b="1" u="sng">
                <a:solidFill>
                  <a:srgbClr val="FF3300"/>
                </a:solidFill>
                <a:ea typeface="楷体_GB2312" pitchFamily="49" charset="-122"/>
              </a:rPr>
              <a:t>electron cloud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61448" name="Text Box 8"/>
          <p:cNvSpPr txBox="1">
            <a:spLocks noChangeArrowheads="1"/>
          </p:cNvSpPr>
          <p:nvPr/>
        </p:nvSpPr>
        <p:spPr bwMode="auto">
          <a:xfrm>
            <a:off x="903288" y="882650"/>
            <a:ext cx="4800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(4)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注意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906463" y="2719388"/>
            <a:ext cx="485457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(1)probability density:</a:t>
            </a:r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906463" y="1366838"/>
            <a:ext cx="6900862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只代表波函数角度部分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(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极大值方向与对称性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>
                <a:ea typeface="楷体_GB2312" pitchFamily="49" charset="-122"/>
              </a:rPr>
              <a:t>有正、负值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但不是正负电荷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.</a:t>
            </a:r>
          </a:p>
        </p:txBody>
      </p:sp>
      <p:sp>
        <p:nvSpPr>
          <p:cNvPr id="61454" name="AutoShape 14"/>
          <p:cNvSpPr>
            <a:spLocks/>
          </p:cNvSpPr>
          <p:nvPr/>
        </p:nvSpPr>
        <p:spPr bwMode="auto">
          <a:xfrm>
            <a:off x="815975" y="1597025"/>
            <a:ext cx="184150" cy="495300"/>
          </a:xfrm>
          <a:prstGeom prst="leftBrace">
            <a:avLst>
              <a:gd name="adj1" fmla="val 2988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500" b="1"/>
          </a:p>
        </p:txBody>
      </p:sp>
      <p:sp>
        <p:nvSpPr>
          <p:cNvPr id="61457" name="Rectangle 17"/>
          <p:cNvSpPr>
            <a:spLocks noChangeArrowheads="1"/>
          </p:cNvSpPr>
          <p:nvPr/>
        </p:nvSpPr>
        <p:spPr bwMode="auto">
          <a:xfrm>
            <a:off x="906463" y="2282825"/>
            <a:ext cx="447833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 电子云及电子云角度分布图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2297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7.2.3</a:t>
            </a:r>
            <a:r>
              <a:rPr lang="zh-CN" altLang="en-US" smtClean="0">
                <a:ea typeface="黑体" pitchFamily="49" charset="-122"/>
              </a:rPr>
              <a:t>原子轨道和电子云的角度分布图</a:t>
            </a:r>
          </a:p>
        </p:txBody>
      </p:sp>
      <p:sp>
        <p:nvSpPr>
          <p:cNvPr id="1229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  <a:cs typeface="楷体_GB2312" pitchFamily="49" charset="-122"/>
            </a:endParaRPr>
          </a:p>
        </p:txBody>
      </p:sp>
      <p:sp>
        <p:nvSpPr>
          <p:cNvPr id="1229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1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55" grpId="0" autoUpdateAnimBg="0"/>
      <p:bldP spid="61458" grpId="0" build="p" autoUpdateAnimBg="0"/>
      <p:bldP spid="61448" grpId="0" autoUpdateAnimBg="0"/>
      <p:bldP spid="61452" grpId="0" autoUpdateAnimBg="0"/>
      <p:bldP spid="61453" grpId="0" build="p" autoUpdateAnimBg="0"/>
      <p:bldP spid="61454" grpId="0" animBg="1"/>
      <p:bldP spid="6145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906463" y="985838"/>
            <a:ext cx="10039350" cy="48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应注意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电子在核外出现的概率还与空间体积有关</a:t>
            </a:r>
            <a:r>
              <a:rPr lang="en-US" altLang="zh-CN" sz="2500" b="1" dirty="0" smtClean="0">
                <a:ea typeface="楷体_GB2312" pitchFamily="49" charset="-122"/>
                <a:sym typeface="Symbol" pitchFamily="18" charset="2"/>
              </a:rPr>
              <a:t>.</a:t>
            </a:r>
            <a:endParaRPr lang="en-US" altLang="zh-CN" sz="2500" b="1" dirty="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62476" name="Rectangle 12"/>
          <p:cNvSpPr>
            <a:spLocks noChangeArrowheads="1"/>
          </p:cNvSpPr>
          <p:nvPr/>
        </p:nvSpPr>
        <p:spPr bwMode="auto">
          <a:xfrm>
            <a:off x="906463" y="1951038"/>
            <a:ext cx="6583362" cy="1360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基态氢原子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(52.9pm).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通常也用</a:t>
            </a:r>
            <a:r>
              <a:rPr lang="zh-CN" altLang="en-US" sz="2500" b="1" dirty="0">
                <a:solidFill>
                  <a:schemeClr val="bg2"/>
                </a:solidFill>
                <a:ea typeface="楷体_GB2312" pitchFamily="49" charset="-122"/>
                <a:sym typeface="Symbol" pitchFamily="18" charset="2"/>
              </a:rPr>
              <a:t>界面图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来表示电子云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面内电子出现的概率在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95%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以上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7332663" y="1954213"/>
            <a:ext cx="3627437" cy="2754312"/>
            <a:chOff x="3400" y="1292"/>
            <a:chExt cx="1814" cy="1836"/>
          </a:xfrm>
        </p:grpSpPr>
        <p:pic>
          <p:nvPicPr>
            <p:cNvPr id="13320" name="Picture 24" descr="原子核外发现电子的几率密度s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400" y="1314"/>
              <a:ext cx="1814" cy="1814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13321" name="Rectangle 25"/>
            <p:cNvSpPr>
              <a:spLocks noChangeArrowheads="1"/>
            </p:cNvSpPr>
            <p:nvPr/>
          </p:nvSpPr>
          <p:spPr bwMode="auto">
            <a:xfrm>
              <a:off x="3717" y="1292"/>
              <a:ext cx="1214" cy="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500" b="1">
                  <a:solidFill>
                    <a:schemeClr val="bg2"/>
                  </a:solidFill>
                  <a:ea typeface="黑体" pitchFamily="49" charset="-122"/>
                  <a:sym typeface="Symbol" pitchFamily="18" charset="2"/>
                </a:rPr>
                <a:t>电子云与界面图</a:t>
              </a:r>
              <a:endParaRPr lang="zh-CN" altLang="en-US" sz="2500" b="1">
                <a:solidFill>
                  <a:schemeClr val="accent2"/>
                </a:solidFill>
                <a:ea typeface="黑体" pitchFamily="49" charset="-122"/>
                <a:sym typeface="Symbol" pitchFamily="18" charset="2"/>
              </a:endParaRPr>
            </a:p>
          </p:txBody>
        </p:sp>
      </p:grpSp>
      <p:sp>
        <p:nvSpPr>
          <p:cNvPr id="13317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7.2.3</a:t>
            </a:r>
            <a:r>
              <a:rPr lang="zh-CN" altLang="en-US" smtClean="0">
                <a:ea typeface="黑体" pitchFamily="49" charset="-122"/>
              </a:rPr>
              <a:t>原子轨道和电子云的角度分布图</a:t>
            </a:r>
          </a:p>
        </p:txBody>
      </p:sp>
      <p:sp>
        <p:nvSpPr>
          <p:cNvPr id="1331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椭圆 62544" descr="图片1">
            <a:hlinkClick r:id="rId6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008099" y="1473237"/>
            <a:ext cx="10039350" cy="48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500" b="1" dirty="0" smtClean="0">
                <a:ea typeface="楷体_GB2312" pitchFamily="49" charset="-122"/>
                <a:sym typeface="Symbol" pitchFamily="18" charset="2"/>
              </a:rPr>
              <a:t>概率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概率密度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×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体积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2" grpId="0" autoUpdateAnimBg="0"/>
      <p:bldP spid="62476" grpId="0" autoUpdateAnimBg="0"/>
      <p:bldP spid="11" grpId="0" autoUpdateAnimBg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3554</TotalTime>
  <Pages>0</Pages>
  <Words>747</Words>
  <Characters>0</Characters>
  <Application>Microsoft Office PowerPoint</Application>
  <DocSecurity>0</DocSecurity>
  <PresentationFormat>自定义</PresentationFormat>
  <Lines>0</Lines>
  <Paragraphs>109</Paragraphs>
  <Slides>12</Slides>
  <Notes>3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医学研究PPT模板</vt:lpstr>
      <vt:lpstr>1_医学研究PPT模板</vt:lpstr>
      <vt:lpstr>公式</vt:lpstr>
      <vt:lpstr>幻灯片 1</vt:lpstr>
      <vt:lpstr>7.2 核外电子运动状态</vt:lpstr>
      <vt:lpstr>幻灯片 3</vt:lpstr>
      <vt:lpstr>7.2.1薛定谔方程和原子轨道</vt:lpstr>
      <vt:lpstr>幻灯片 5</vt:lpstr>
      <vt:lpstr>幻灯片 6</vt:lpstr>
      <vt:lpstr>幻灯片 7</vt:lpstr>
      <vt:lpstr>幻灯片 8</vt:lpstr>
      <vt:lpstr>幻灯片 9</vt:lpstr>
      <vt:lpstr>7.2.3原子轨道和电子云的角度分布图</vt:lpstr>
      <vt:lpstr>7.2.3原子轨道和电子云的角度分布图</vt:lpstr>
      <vt:lpstr>7.2.3原子轨道和电子云的角度分布图</vt:lpstr>
    </vt:vector>
  </TitlesOfParts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ch07-02</dc:title>
  <dc:creator>江南大学</dc:creator>
  <cp:lastModifiedBy>ASUS</cp:lastModifiedBy>
  <cp:revision>312</cp:revision>
  <cp:lastPrinted>1601-01-01T00:00:00Z</cp:lastPrinted>
  <dcterms:created xsi:type="dcterms:W3CDTF">2012-06-20T03:37:37Z</dcterms:created>
  <dcterms:modified xsi:type="dcterms:W3CDTF">2017-08-21T02:06:25Z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