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29"/>
  </p:notesMasterIdLst>
  <p:sldIdLst>
    <p:sldId id="301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300" r:id="rId28"/>
  </p:sldIdLst>
  <p:sldSz cx="11522075" cy="6480175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FF00"/>
    <a:srgbClr val="F8F8F8"/>
    <a:srgbClr val="66CCFF"/>
    <a:srgbClr val="85D9F7"/>
    <a:srgbClr val="57BBFF"/>
    <a:srgbClr val="00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20" autoAdjust="0"/>
  </p:normalViewPr>
  <p:slideViewPr>
    <p:cSldViewPr>
      <p:cViewPr varScale="1">
        <p:scale>
          <a:sx n="71" d="100"/>
          <a:sy n="71" d="100"/>
        </p:scale>
        <p:origin x="-828" y="-96"/>
      </p:cViewPr>
      <p:guideLst>
        <p:guide orient="horz" pos="2034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7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5B209983-E3F1-4297-9FF4-A2CF8C3D5406}" type="datetimeFigureOut">
              <a:rPr lang="zh-CN" altLang="en-US"/>
              <a:pPr>
                <a:defRPr/>
              </a:pPr>
              <a:t>2018/11/5</a:t>
            </a:fld>
            <a:endParaRPr lang="en-US" altLang="zh-CN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B685201A-58FB-444D-B5F9-6AB31679FB4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286761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12"/>
          <p:cNvGrpSpPr>
            <a:grpSpLocks/>
          </p:cNvGrpSpPr>
          <p:nvPr userDrawn="1"/>
        </p:nvGrpSpPr>
        <p:grpSpPr bwMode="auto">
          <a:xfrm>
            <a:off x="0" y="0"/>
            <a:ext cx="11522075" cy="6513513"/>
            <a:chOff x="0" y="0"/>
            <a:chExt cx="7258" cy="4103"/>
          </a:xfrm>
        </p:grpSpPr>
        <p:grpSp>
          <p:nvGrpSpPr>
            <p:cNvPr id="1027" name="Group 100"/>
            <p:cNvGrpSpPr>
              <a:grpSpLocks/>
            </p:cNvGrpSpPr>
            <p:nvPr userDrawn="1"/>
          </p:nvGrpSpPr>
          <p:grpSpPr bwMode="auto">
            <a:xfrm>
              <a:off x="0" y="0"/>
              <a:ext cx="3627" cy="4103"/>
              <a:chOff x="204" y="45"/>
              <a:chExt cx="6325" cy="3401"/>
            </a:xfrm>
          </p:grpSpPr>
          <p:pic>
            <p:nvPicPr>
              <p:cNvPr id="1031" name="Picture 60" descr="图片2"/>
              <p:cNvPicPr>
                <a:picLocks noChangeArrowheads="1"/>
              </p:cNvPicPr>
              <p:nvPr userDrawn="1"/>
            </p:nvPicPr>
            <p:blipFill>
              <a:blip r:embed="rId13"/>
              <a:srcRect/>
              <a:stretch>
                <a:fillRect/>
              </a:stretch>
            </p:blipFill>
            <p:spPr bwMode="auto">
              <a:xfrm>
                <a:off x="391" y="181"/>
                <a:ext cx="5962" cy="3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032" name="Picture 67" descr="01"/>
              <p:cNvPicPr>
                <a:picLocks noChangeArrowheads="1"/>
              </p:cNvPicPr>
              <p:nvPr userDrawn="1"/>
            </p:nvPicPr>
            <p:blipFill>
              <a:blip r:embed="rId1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204" y="45"/>
                <a:ext cx="6325" cy="34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1028" name="Group 103"/>
            <p:cNvGrpSpPr>
              <a:grpSpLocks/>
            </p:cNvGrpSpPr>
            <p:nvPr userDrawn="1"/>
          </p:nvGrpSpPr>
          <p:grpSpPr bwMode="auto">
            <a:xfrm>
              <a:off x="3631" y="0"/>
              <a:ext cx="3627" cy="4103"/>
              <a:chOff x="204" y="45"/>
              <a:chExt cx="6325" cy="3401"/>
            </a:xfrm>
          </p:grpSpPr>
          <p:pic>
            <p:nvPicPr>
              <p:cNvPr id="1029" name="Picture 60" descr="图片2"/>
              <p:cNvPicPr>
                <a:picLocks noChangeArrowheads="1"/>
              </p:cNvPicPr>
              <p:nvPr userDrawn="1"/>
            </p:nvPicPr>
            <p:blipFill>
              <a:blip r:embed="rId13"/>
              <a:srcRect/>
              <a:stretch>
                <a:fillRect/>
              </a:stretch>
            </p:blipFill>
            <p:spPr bwMode="auto">
              <a:xfrm>
                <a:off x="391" y="181"/>
                <a:ext cx="5962" cy="317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030" name="Picture 67" descr="01"/>
              <p:cNvPicPr>
                <a:picLocks noChangeArrowheads="1"/>
              </p:cNvPicPr>
              <p:nvPr userDrawn="1"/>
            </p:nvPicPr>
            <p:blipFill>
              <a:blip r:embed="rId1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204" y="45"/>
                <a:ext cx="6325" cy="34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 spd="slow">
    <p:split orient="vert"/>
  </p:transition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1.bin"/><Relationship Id="rId4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3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4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5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6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7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8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9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0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1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2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2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4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6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2.wmf"/><Relationship Id="rId4" Type="http://schemas.openxmlformats.org/officeDocument/2006/relationships/oleObject" Target="../embeddings/oleObject17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57180"/>
            <a:ext cx="5329238" cy="195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5-1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指出</a:t>
            </a:r>
            <a:r>
              <a:rPr lang="zh-CN" altLang="zh-CN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下列各物质中画线元素的氧化</a:t>
            </a:r>
            <a:r>
              <a:rPr lang="zh-CN" altLang="zh-CN" sz="2400" b="1" kern="100" dirty="0" smtClean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数</a:t>
            </a:r>
            <a:endParaRPr lang="zh-CN" altLang="zh-CN" sz="1050" kern="100" dirty="0">
              <a:solidFill>
                <a:srgbClr val="FFFFFF"/>
              </a:solidFill>
              <a:latin typeface="Times New Roman"/>
              <a:ea typeface="宋体"/>
            </a:endParaRPr>
          </a:p>
          <a:p>
            <a:pPr marL="0">
              <a:defRPr/>
            </a:pPr>
            <a:r>
              <a:rPr lang="en-US" altLang="zh-CN" sz="2400" b="1" kern="100" dirty="0" err="1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Na</a:t>
            </a:r>
            <a:r>
              <a:rPr lang="en-US" altLang="zh-CN" sz="2400" b="1" u="sng" kern="100" dirty="0" err="1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   </a:t>
            </a:r>
            <a:r>
              <a:rPr lang="en-US" altLang="zh-CN" sz="2400" b="1" u="sng" kern="1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N   Ba</a:t>
            </a:r>
            <a:r>
              <a:rPr lang="en-US" altLang="zh-CN" sz="2400" b="1" u="sng" kern="1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2    </a:t>
            </a:r>
            <a:r>
              <a:rPr lang="en-US" altLang="zh-CN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K</a:t>
            </a:r>
            <a:r>
              <a:rPr lang="en-US" altLang="zh-CN" sz="2400" b="1" u="sng" kern="1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2    </a:t>
            </a:r>
            <a:r>
              <a:rPr lang="en-US" altLang="zh-CN" sz="2400" b="1" u="sng" kern="1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F</a:t>
            </a:r>
            <a:r>
              <a:rPr lang="en-US" altLang="zh-CN" sz="2400" b="1" kern="100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   </a:t>
            </a:r>
            <a:r>
              <a:rPr lang="en-US" altLang="zh-CN" sz="2400" b="1" u="sng" kern="1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I</a:t>
            </a:r>
            <a:r>
              <a:rPr lang="en-US" altLang="zh-CN" sz="2400" b="1" kern="100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5 </a:t>
            </a:r>
            <a:r>
              <a:rPr lang="en-US" altLang="zh-CN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  K</a:t>
            </a:r>
            <a:r>
              <a:rPr lang="en-US" altLang="zh-CN" sz="2400" b="1" kern="100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u="sng" kern="1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Pt</a:t>
            </a:r>
            <a:r>
              <a:rPr lang="en-US" altLang="zh-CN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Cl</a:t>
            </a:r>
            <a:r>
              <a:rPr lang="en-US" altLang="zh-CN" sz="2400" b="1" kern="100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6   </a:t>
            </a:r>
            <a:r>
              <a:rPr lang="en-US" altLang="zh-CN" sz="2400" b="1" kern="100" baseline="30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u="sng" kern="1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Cr</a:t>
            </a:r>
            <a:r>
              <a:rPr lang="en-US" altLang="zh-CN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baseline="30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baseline="30000" dirty="0">
                <a:solidFill>
                  <a:srgbClr val="FFFFFF"/>
                </a:solidFill>
                <a:latin typeface="Times New Roman"/>
                <a:ea typeface="华文新魏" pitchFamily="2" charset="-122"/>
                <a:cs typeface="Times New Roman"/>
              </a:rPr>
              <a:t>－</a:t>
            </a:r>
            <a:r>
              <a:rPr lang="en-US" altLang="zh-CN" sz="2400" b="1" kern="100" baseline="30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  </a:t>
            </a:r>
            <a:r>
              <a:rPr lang="en-US" altLang="zh-CN" sz="2400" b="1" u="sng" kern="1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Mn</a:t>
            </a:r>
            <a:r>
              <a:rPr lang="en-US" altLang="zh-CN" sz="2400" b="1" kern="100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7</a:t>
            </a:r>
            <a:r>
              <a:rPr lang="en-US" altLang="zh-CN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  K</a:t>
            </a:r>
            <a:r>
              <a:rPr lang="en-US" altLang="zh-CN" sz="2400" b="1" kern="100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u="sng" kern="1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Mn</a:t>
            </a:r>
            <a:r>
              <a:rPr lang="en-US" altLang="zh-CN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  </a:t>
            </a:r>
            <a:r>
              <a:rPr lang="en-US" altLang="zh-CN" sz="2400" b="1" u="sng" kern="1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S</a:t>
            </a:r>
            <a:r>
              <a:rPr lang="en-US" altLang="zh-CN" sz="2400" b="1" kern="100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6</a:t>
            </a:r>
            <a:r>
              <a:rPr lang="en-US" altLang="zh-CN" sz="2400" b="1" kern="100" baseline="30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baseline="30000" dirty="0">
                <a:solidFill>
                  <a:srgbClr val="FFFFFF"/>
                </a:solidFill>
                <a:latin typeface="Times New Roman"/>
                <a:ea typeface="华文新魏" pitchFamily="2" charset="-122"/>
                <a:cs typeface="Times New Roman"/>
              </a:rPr>
              <a:t>－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157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 err="1" smtClean="0">
                <a:latin typeface="+mn-lt"/>
                <a:ea typeface="华文新魏" pitchFamily="2" charset="-122"/>
              </a:rPr>
              <a:t>Na</a:t>
            </a:r>
            <a:r>
              <a:rPr lang="en-US" altLang="zh-CN" sz="2400" b="1" u="sng" kern="100" dirty="0" err="1" smtClean="0">
                <a:latin typeface="+mn-lt"/>
                <a:ea typeface="华文新魏" pitchFamily="2" charset="-122"/>
              </a:rPr>
              <a:t>H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  -1</a:t>
            </a:r>
            <a:r>
              <a:rPr lang="zh-CN" altLang="zh-CN" sz="2400" b="1" kern="100" dirty="0" smtClean="0">
                <a:latin typeface="+mn-lt"/>
                <a:ea typeface="华文新魏" pitchFamily="2" charset="-122"/>
              </a:rPr>
              <a:t>，</a:t>
            </a:r>
            <a:r>
              <a:rPr lang="en-US" altLang="zh-CN" sz="2400" b="1" u="sng" kern="100" dirty="0" smtClean="0">
                <a:latin typeface="+mn-lt"/>
                <a:ea typeface="华文新魏" pitchFamily="2" charset="-122"/>
              </a:rPr>
              <a:t>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3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N +1</a:t>
            </a:r>
            <a:r>
              <a:rPr lang="zh-CN" altLang="zh-CN" sz="2400" b="1" kern="100" dirty="0" smtClean="0">
                <a:latin typeface="+mn-lt"/>
                <a:ea typeface="华文新魏" pitchFamily="2" charset="-122"/>
              </a:rPr>
              <a:t>，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Ba</a:t>
            </a:r>
            <a:r>
              <a:rPr lang="en-US" altLang="zh-CN" sz="2400" b="1" u="sng" kern="100" dirty="0" smtClean="0">
                <a:latin typeface="+mn-lt"/>
                <a:ea typeface="华文新魏" pitchFamily="2" charset="-122"/>
              </a:rPr>
              <a:t>O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 -1</a:t>
            </a:r>
            <a:r>
              <a:rPr lang="zh-CN" altLang="zh-CN" sz="2400" b="1" kern="100" dirty="0" smtClean="0">
                <a:latin typeface="+mn-lt"/>
                <a:ea typeface="华文新魏" pitchFamily="2" charset="-122"/>
              </a:rPr>
              <a:t>，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K</a:t>
            </a:r>
            <a:r>
              <a:rPr lang="en-US" altLang="zh-CN" sz="2400" b="1" u="sng" kern="100" dirty="0" smtClean="0">
                <a:latin typeface="+mn-lt"/>
                <a:ea typeface="华文新魏" pitchFamily="2" charset="-122"/>
              </a:rPr>
              <a:t>O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 -0.5</a:t>
            </a:r>
            <a:r>
              <a:rPr lang="zh-CN" altLang="zh-CN" sz="2400" b="1" kern="100" dirty="0" smtClean="0">
                <a:latin typeface="+mn-lt"/>
                <a:ea typeface="华文新魏" pitchFamily="2" charset="-122"/>
              </a:rPr>
              <a:t>，</a:t>
            </a:r>
            <a:r>
              <a:rPr lang="en-US" altLang="zh-CN" sz="2400" b="1" u="sng" kern="100" dirty="0" smtClean="0">
                <a:latin typeface="+mn-lt"/>
                <a:ea typeface="华文新魏" pitchFamily="2" charset="-122"/>
              </a:rPr>
              <a:t>O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F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 +2</a:t>
            </a:r>
            <a:r>
              <a:rPr lang="zh-CN" altLang="zh-CN" sz="2400" b="1" kern="100" dirty="0" smtClean="0">
                <a:latin typeface="+mn-lt"/>
                <a:ea typeface="华文新魏" pitchFamily="2" charset="-122"/>
              </a:rPr>
              <a:t>，</a:t>
            </a:r>
            <a:r>
              <a:rPr lang="en-US" altLang="zh-CN" sz="2400" b="1" u="sng" kern="100" dirty="0" smtClean="0">
                <a:latin typeface="+mn-lt"/>
                <a:ea typeface="华文新魏" pitchFamily="2" charset="-122"/>
              </a:rPr>
              <a:t>I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O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5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 +5</a:t>
            </a:r>
            <a:r>
              <a:rPr lang="zh-CN" altLang="zh-CN" sz="2400" b="1" kern="100" dirty="0" smtClean="0">
                <a:latin typeface="+mn-lt"/>
                <a:ea typeface="华文新魏" pitchFamily="2" charset="-122"/>
              </a:rPr>
              <a:t>，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K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u="sng" kern="100" dirty="0" smtClean="0">
                <a:latin typeface="+mn-lt"/>
                <a:ea typeface="华文新魏" pitchFamily="2" charset="-122"/>
              </a:rPr>
              <a:t>Pt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Cl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6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 +4</a:t>
            </a:r>
            <a:r>
              <a:rPr lang="zh-CN" altLang="zh-CN" sz="2400" b="1" kern="100" dirty="0" smtClean="0">
                <a:latin typeface="+mn-lt"/>
                <a:ea typeface="华文新魏" pitchFamily="2" charset="-122"/>
              </a:rPr>
              <a:t>，</a:t>
            </a:r>
            <a:r>
              <a:rPr lang="en-US" altLang="zh-CN" sz="2400" b="1" u="sng" kern="100" dirty="0" smtClean="0">
                <a:latin typeface="+mn-lt"/>
                <a:ea typeface="华文新魏" pitchFamily="2" charset="-122"/>
              </a:rPr>
              <a:t>Cr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O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4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2-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 +6</a:t>
            </a:r>
            <a:r>
              <a:rPr lang="zh-CN" altLang="zh-CN" sz="2400" b="1" kern="100" dirty="0" smtClean="0">
                <a:latin typeface="+mn-lt"/>
                <a:ea typeface="华文新魏" pitchFamily="2" charset="-122"/>
              </a:rPr>
              <a:t>，</a:t>
            </a:r>
            <a:r>
              <a:rPr lang="en-US" altLang="zh-CN" sz="2400" b="1" u="sng" kern="100" dirty="0" smtClean="0">
                <a:latin typeface="+mn-lt"/>
                <a:ea typeface="华文新魏" pitchFamily="2" charset="-122"/>
              </a:rPr>
              <a:t>Mn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O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7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 +7</a:t>
            </a:r>
            <a:r>
              <a:rPr lang="zh-CN" altLang="zh-CN" sz="2400" b="1" kern="100" dirty="0" smtClean="0">
                <a:latin typeface="+mn-lt"/>
                <a:ea typeface="华文新魏" pitchFamily="2" charset="-122"/>
              </a:rPr>
              <a:t>，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K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u="sng" kern="100" dirty="0" smtClean="0">
                <a:latin typeface="+mn-lt"/>
                <a:ea typeface="华文新魏" pitchFamily="2" charset="-122"/>
              </a:rPr>
              <a:t>Mn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O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4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 +6</a:t>
            </a:r>
            <a:r>
              <a:rPr lang="zh-CN" altLang="zh-CN" sz="2400" b="1" kern="100" dirty="0" smtClean="0">
                <a:latin typeface="+mn-lt"/>
                <a:ea typeface="华文新魏" pitchFamily="2" charset="-122"/>
              </a:rPr>
              <a:t>，</a:t>
            </a:r>
            <a:r>
              <a:rPr lang="en-US" altLang="zh-CN" sz="2400" b="1" u="sng" kern="100" dirty="0" smtClean="0">
                <a:latin typeface="+mn-lt"/>
                <a:ea typeface="华文新魏" pitchFamily="2" charset="-122"/>
              </a:rPr>
              <a:t>S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4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O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6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2-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 +2.5</a:t>
            </a:r>
            <a:endParaRPr lang="zh-CN" altLang="zh-CN" sz="2400" b="1" kern="100" dirty="0" smtClean="0">
              <a:latin typeface="+mn-lt"/>
              <a:ea typeface="华文新魏" pitchFamily="2" charset="-122"/>
            </a:endParaRPr>
          </a:p>
        </p:txBody>
      </p:sp>
      <p:sp>
        <p:nvSpPr>
          <p:cNvPr id="2054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6015038" y="728663"/>
            <a:ext cx="4610100" cy="341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SzPct val="7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»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Char char="–"/>
              <a:defRPr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</a:rPr>
              <a:t>(1)</a:t>
            </a:r>
            <a:r>
              <a:rPr kumimoji="1" lang="zh-CN" altLang="en-US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</a:rPr>
              <a:t>规则</a:t>
            </a:r>
            <a:r>
              <a:rPr kumimoji="1" lang="en-US" altLang="zh-CN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</a:rPr>
              <a:t>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  <a:sym typeface="Monotype Sorts"/>
              </a:rPr>
              <a:t>①</a:t>
            </a:r>
            <a:r>
              <a:rPr kumimoji="1" lang="zh-CN" altLang="en-US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</a:rPr>
              <a:t>单质</a:t>
            </a:r>
            <a:r>
              <a:rPr kumimoji="1" lang="en-US" altLang="zh-CN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</a:rPr>
              <a:t>;</a:t>
            </a:r>
            <a:r>
              <a:rPr kumimoji="1" lang="zh-CN" altLang="en-US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</a:rPr>
              <a:t>如</a:t>
            </a:r>
            <a:r>
              <a:rPr kumimoji="1" lang="en-US" altLang="zh-CN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</a:rPr>
              <a:t>H</a:t>
            </a:r>
            <a:r>
              <a:rPr kumimoji="1" lang="en-US" altLang="zh-CN" sz="2400" b="1" baseline="-25000" dirty="0" smtClean="0">
                <a:solidFill>
                  <a:schemeClr val="bg1"/>
                </a:solidFill>
                <a:latin typeface="+mn-lt"/>
                <a:ea typeface="华文新魏" pitchFamily="2" charset="-122"/>
              </a:rPr>
              <a:t>2</a:t>
            </a:r>
            <a:r>
              <a:rPr kumimoji="1" lang="zh-CN" altLang="en-US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</a:rPr>
              <a:t>中</a:t>
            </a:r>
            <a:r>
              <a:rPr kumimoji="1" lang="en-US" altLang="zh-CN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</a:rPr>
              <a:t>H.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  <a:sym typeface="Monotype Sorts"/>
              </a:rPr>
              <a:t>②</a:t>
            </a:r>
            <a:r>
              <a:rPr kumimoji="1" lang="zh-CN" altLang="en-US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</a:rPr>
              <a:t>氢</a:t>
            </a:r>
            <a:r>
              <a:rPr kumimoji="1" lang="en-US" altLang="zh-CN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</a:rPr>
              <a:t>;</a:t>
            </a:r>
            <a:r>
              <a:rPr kumimoji="1" lang="zh-CN" altLang="en-US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</a:rPr>
              <a:t>如</a:t>
            </a:r>
            <a:r>
              <a:rPr kumimoji="1" lang="en-US" altLang="zh-CN" sz="2400" b="1" dirty="0" err="1" smtClean="0">
                <a:solidFill>
                  <a:schemeClr val="bg1"/>
                </a:solidFill>
                <a:latin typeface="+mn-lt"/>
                <a:ea typeface="华文新魏" pitchFamily="2" charset="-122"/>
                <a:sym typeface="Monotype Sorts"/>
              </a:rPr>
              <a:t>NaH</a:t>
            </a:r>
            <a:r>
              <a:rPr kumimoji="1" lang="zh-CN" altLang="en-US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  <a:sym typeface="Monotype Sorts"/>
              </a:rPr>
              <a:t>中</a:t>
            </a:r>
            <a:r>
              <a:rPr kumimoji="1" lang="en-US" altLang="zh-CN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</a:rPr>
              <a:t>H</a:t>
            </a:r>
            <a:r>
              <a:rPr kumimoji="1" lang="en-US" altLang="zh-CN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  <a:sym typeface="Monotype Sorts"/>
              </a:rPr>
              <a:t>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  <a:sym typeface="Monotype Sorts"/>
              </a:rPr>
              <a:t>③</a:t>
            </a:r>
            <a:r>
              <a:rPr kumimoji="1" lang="zh-CN" altLang="en-US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</a:rPr>
              <a:t>氧</a:t>
            </a:r>
            <a:r>
              <a:rPr kumimoji="1" lang="en-US" altLang="zh-CN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  <a:sym typeface="Monotype Sorts"/>
              </a:rPr>
              <a:t>;</a:t>
            </a:r>
            <a:r>
              <a:rPr kumimoji="1" lang="zh-CN" altLang="en-US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  <a:sym typeface="Monotype Sorts"/>
              </a:rPr>
              <a:t>如</a:t>
            </a:r>
            <a:r>
              <a:rPr kumimoji="1" lang="en-US" altLang="zh-CN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  <a:sym typeface="Monotype Sorts"/>
              </a:rPr>
              <a:t>H</a:t>
            </a:r>
            <a:r>
              <a:rPr kumimoji="1" lang="en-US" altLang="zh-CN" sz="2400" b="1" baseline="-25000" dirty="0" smtClean="0">
                <a:solidFill>
                  <a:schemeClr val="bg1"/>
                </a:solidFill>
                <a:latin typeface="+mn-lt"/>
                <a:ea typeface="华文新魏" pitchFamily="2" charset="-122"/>
                <a:sym typeface="Monotype Sorts"/>
              </a:rPr>
              <a:t>2</a:t>
            </a:r>
            <a:r>
              <a:rPr kumimoji="1" lang="en-US" altLang="zh-CN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  <a:sym typeface="Monotype Sorts"/>
              </a:rPr>
              <a:t>O</a:t>
            </a:r>
            <a:r>
              <a:rPr kumimoji="1" lang="en-US" altLang="zh-CN" sz="2400" b="1" baseline="-25000" dirty="0" smtClean="0">
                <a:solidFill>
                  <a:schemeClr val="bg1"/>
                </a:solidFill>
                <a:latin typeface="+mn-lt"/>
                <a:ea typeface="华文新魏" pitchFamily="2" charset="-122"/>
                <a:sym typeface="Monotype Sorts"/>
              </a:rPr>
              <a:t>2</a:t>
            </a:r>
            <a:r>
              <a:rPr kumimoji="1" lang="zh-CN" altLang="en-US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  <a:sym typeface="Monotype Sorts"/>
              </a:rPr>
              <a:t>中</a:t>
            </a:r>
            <a:r>
              <a:rPr kumimoji="1" lang="en-US" altLang="zh-CN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  <a:sym typeface="Monotype Sorts"/>
              </a:rPr>
              <a:t>O;</a:t>
            </a:r>
            <a:r>
              <a:rPr kumimoji="1" lang="zh-CN" altLang="en-US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</a:rPr>
              <a:t>再如</a:t>
            </a:r>
            <a:r>
              <a:rPr kumimoji="1" lang="en-US" altLang="zh-CN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</a:rPr>
              <a:t>OF</a:t>
            </a:r>
            <a:r>
              <a:rPr kumimoji="1" lang="en-US" altLang="zh-CN" sz="2400" b="1" baseline="-25000" dirty="0" smtClean="0">
                <a:solidFill>
                  <a:schemeClr val="bg1"/>
                </a:solidFill>
                <a:latin typeface="+mn-lt"/>
                <a:ea typeface="华文新魏" pitchFamily="2" charset="-122"/>
              </a:rPr>
              <a:t>2</a:t>
            </a:r>
            <a:r>
              <a:rPr kumimoji="1" lang="zh-CN" altLang="en-US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</a:rPr>
              <a:t>中</a:t>
            </a:r>
            <a:r>
              <a:rPr kumimoji="1" lang="en-US" altLang="zh-CN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  <a:sym typeface="Monotype Sorts"/>
              </a:rPr>
              <a:t>O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  <a:sym typeface="Monotype Sorts"/>
              </a:rPr>
              <a:t>④</a:t>
            </a:r>
            <a:r>
              <a:rPr kumimoji="1" lang="zh-CN" altLang="en-US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</a:rPr>
              <a:t>离子型化合物</a:t>
            </a:r>
            <a:r>
              <a:rPr kumimoji="1" lang="en-US" altLang="zh-CN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  <a:sym typeface="Monotype Sorts"/>
              </a:rPr>
              <a:t>⑤</a:t>
            </a:r>
            <a:r>
              <a:rPr kumimoji="1" lang="zh-CN" altLang="en-US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</a:rPr>
              <a:t>共价型化合物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zh-CN" altLang="en-US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  <a:sym typeface="Monotype Sorts"/>
              </a:rPr>
              <a:t>⑥</a:t>
            </a:r>
            <a:r>
              <a:rPr kumimoji="1" lang="zh-CN" altLang="en-US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</a:rPr>
              <a:t>中性分子中各原子的氧化值的代数和为零</a:t>
            </a:r>
            <a:r>
              <a:rPr kumimoji="1" lang="en-US" altLang="zh-CN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</a:rPr>
              <a:t>,</a:t>
            </a:r>
            <a:r>
              <a:rPr kumimoji="1" lang="zh-CN" altLang="en-US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</a:rPr>
              <a:t>复杂离子的电荷数等于各元素氧化值的代数和</a:t>
            </a:r>
            <a:r>
              <a:rPr kumimoji="1" lang="en-US" altLang="zh-CN" sz="2400" b="1" dirty="0" smtClean="0">
                <a:solidFill>
                  <a:schemeClr val="bg1"/>
                </a:solidFill>
                <a:latin typeface="+mn-lt"/>
                <a:ea typeface="华文新魏" pitchFamily="2" charset="-122"/>
              </a:rPr>
              <a:t>.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 advAuto="0"/>
      <p:bldP spid="6" grpId="0" build="p" autoUpdateAnimBg="0" advAuto="0"/>
      <p:bldP spid="8" grpId="0" build="p" autoUpdateAnimBg="0"/>
      <p:bldP spid="9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230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离子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-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电子法配平反应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方程</a:t>
            </a:r>
            <a:r>
              <a:rPr lang="zh-CN" altLang="en-US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：</a:t>
            </a:r>
            <a:endParaRPr lang="en-US" altLang="zh-CN" sz="2400" b="1" kern="100" dirty="0" smtClean="0">
              <a:latin typeface="Times New Roman"/>
              <a:ea typeface="华文新魏" pitchFamily="2" charset="-122"/>
              <a:cs typeface="Times New Roman"/>
            </a:endParaRPr>
          </a:p>
          <a:p>
            <a:pPr>
              <a:defRPr/>
            </a:pPr>
            <a:r>
              <a:rPr lang="zh-CN" altLang="en-US" sz="2400" b="1" kern="100" dirty="0">
                <a:latin typeface="Times New Roman"/>
                <a:ea typeface="华文新魏" pitchFamily="2" charset="-122"/>
                <a:cs typeface="Times New Roman"/>
              </a:rPr>
              <a:t>配平</a:t>
            </a:r>
            <a:r>
              <a:rPr lang="zh-CN" altLang="en-US" sz="2400" b="1" kern="100" dirty="0" smtClean="0">
                <a:latin typeface="Times New Roman"/>
                <a:ea typeface="华文新魏" pitchFamily="2" charset="-122"/>
                <a:cs typeface="Times New Roman"/>
              </a:rPr>
              <a:t>原则：</a:t>
            </a:r>
            <a:endParaRPr lang="en-US" altLang="zh-CN" sz="2400" b="1" kern="100" dirty="0" smtClean="0">
              <a:latin typeface="Times New Roman"/>
              <a:ea typeface="华文新魏" pitchFamily="2" charset="-122"/>
              <a:cs typeface="Times New Roman"/>
            </a:endParaRPr>
          </a:p>
          <a:p>
            <a:pPr>
              <a:defRPr/>
            </a:pPr>
            <a:r>
              <a:rPr lang="zh-CN" altLang="en-US" sz="2400" b="1" kern="100" dirty="0" smtClean="0">
                <a:latin typeface="Times New Roman"/>
                <a:ea typeface="华文新魏" pitchFamily="2" charset="-122"/>
                <a:cs typeface="Times New Roman"/>
              </a:rPr>
              <a:t>①电荷守恒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;</a:t>
            </a:r>
            <a:r>
              <a:rPr lang="zh-CN" altLang="en-US" sz="2400" b="1" kern="100" dirty="0">
                <a:latin typeface="Times New Roman"/>
                <a:ea typeface="华文新魏" pitchFamily="2" charset="-122"/>
                <a:cs typeface="Times New Roman"/>
              </a:rPr>
              <a:t> ②质量守恒</a:t>
            </a:r>
            <a:r>
              <a:rPr lang="en-US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.</a:t>
            </a:r>
          </a:p>
          <a:p>
            <a:pPr>
              <a:defRPr/>
            </a:pP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在酸性条件下的补氧规则为一边多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n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个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O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，则在同一边加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2n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个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+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，在另一边加上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n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个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O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。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44870"/>
            <a:ext cx="5329238" cy="232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5-2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用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离子－电子法配平酸性介质中下列反应的离子方程式：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①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I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 → I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－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S 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②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MnO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－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SO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－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→ Mn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＋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SO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－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③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PbO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 +  Cl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－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→ PbCl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Cl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④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Ag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NO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－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 → Ag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＋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NO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3240088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3716338"/>
            <a:ext cx="5329237" cy="1938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 smtClean="0">
                <a:latin typeface="Times New Roman"/>
                <a:ea typeface="宋体"/>
              </a:rPr>
              <a:t>(</a:t>
            </a:r>
            <a:r>
              <a:rPr lang="en-US" altLang="zh-CN" sz="2400" b="1" kern="100" dirty="0" smtClean="0">
                <a:latin typeface="+mj-lt"/>
                <a:ea typeface="华文新魏" pitchFamily="2" charset="-122"/>
              </a:rPr>
              <a:t>1)I</a:t>
            </a:r>
            <a:r>
              <a:rPr lang="en-US" altLang="zh-CN" sz="2400" b="1" kern="100" baseline="-25000" dirty="0" smtClean="0">
                <a:latin typeface="+mj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j-lt"/>
                <a:ea typeface="华文新魏" pitchFamily="2" charset="-122"/>
              </a:rPr>
              <a:t>+H</a:t>
            </a:r>
            <a:r>
              <a:rPr lang="en-US" altLang="zh-CN" sz="2400" b="1" kern="100" baseline="-25000" dirty="0" smtClean="0">
                <a:latin typeface="+mj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j-lt"/>
                <a:ea typeface="华文新魏" pitchFamily="2" charset="-122"/>
              </a:rPr>
              <a:t>S=2I</a:t>
            </a:r>
            <a:r>
              <a:rPr lang="en-US" altLang="zh-CN" sz="2400" b="1" kern="100" baseline="30000" dirty="0" smtClean="0">
                <a:latin typeface="+mj-lt"/>
                <a:ea typeface="华文新魏" pitchFamily="2" charset="-122"/>
              </a:rPr>
              <a:t>-</a:t>
            </a:r>
            <a:r>
              <a:rPr lang="en-US" altLang="zh-CN" sz="2400" b="1" kern="100" dirty="0" smtClean="0">
                <a:latin typeface="+mj-lt"/>
                <a:ea typeface="华文新魏" pitchFamily="2" charset="-122"/>
              </a:rPr>
              <a:t>+S+2H</a:t>
            </a:r>
            <a:r>
              <a:rPr lang="en-US" altLang="zh-CN" sz="2400" b="1" kern="100" baseline="30000" dirty="0" smtClean="0">
                <a:latin typeface="+mj-lt"/>
                <a:ea typeface="华文新魏" pitchFamily="2" charset="-122"/>
              </a:rPr>
              <a:t>+</a:t>
            </a:r>
            <a:endParaRPr lang="en-US" altLang="zh-CN" sz="2400" b="1" kern="100" dirty="0" smtClean="0">
              <a:latin typeface="+mj-lt"/>
              <a:ea typeface="华文新魏" pitchFamily="2" charset="-122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 smtClean="0">
                <a:latin typeface="+mj-lt"/>
                <a:ea typeface="华文新魏" pitchFamily="2" charset="-122"/>
              </a:rPr>
              <a:t>(2)2MnO</a:t>
            </a:r>
            <a:r>
              <a:rPr lang="en-US" altLang="zh-CN" sz="2400" b="1" kern="100" baseline="-25000" dirty="0" smtClean="0">
                <a:latin typeface="+mj-lt"/>
                <a:ea typeface="华文新魏" pitchFamily="2" charset="-122"/>
              </a:rPr>
              <a:t>4</a:t>
            </a:r>
            <a:r>
              <a:rPr lang="en-US" altLang="zh-CN" sz="2400" b="1" kern="100" baseline="30000" dirty="0" smtClean="0">
                <a:latin typeface="+mj-lt"/>
                <a:ea typeface="华文新魏" pitchFamily="2" charset="-122"/>
              </a:rPr>
              <a:t>-</a:t>
            </a:r>
            <a:r>
              <a:rPr lang="en-US" altLang="zh-CN" sz="2400" b="1" kern="100" dirty="0" smtClean="0">
                <a:latin typeface="+mj-lt"/>
                <a:ea typeface="华文新魏" pitchFamily="2" charset="-122"/>
              </a:rPr>
              <a:t>+5SO</a:t>
            </a:r>
            <a:r>
              <a:rPr lang="en-US" altLang="zh-CN" sz="2400" b="1" kern="100" baseline="-25000" dirty="0" smtClean="0">
                <a:latin typeface="+mj-lt"/>
                <a:ea typeface="华文新魏" pitchFamily="2" charset="-122"/>
              </a:rPr>
              <a:t>3</a:t>
            </a:r>
            <a:r>
              <a:rPr lang="en-US" altLang="zh-CN" sz="2400" b="1" kern="100" baseline="30000" dirty="0" smtClean="0">
                <a:latin typeface="+mj-lt"/>
                <a:ea typeface="华文新魏" pitchFamily="2" charset="-122"/>
              </a:rPr>
              <a:t>2-</a:t>
            </a:r>
            <a:r>
              <a:rPr lang="en-US" altLang="zh-CN" sz="2400" b="1" kern="100" dirty="0" smtClean="0">
                <a:latin typeface="+mj-lt"/>
                <a:ea typeface="华文新魏" pitchFamily="2" charset="-122"/>
              </a:rPr>
              <a:t>+6H</a:t>
            </a:r>
            <a:r>
              <a:rPr lang="en-US" altLang="zh-CN" sz="2400" b="1" kern="100" baseline="30000" dirty="0" smtClean="0">
                <a:latin typeface="+mj-lt"/>
                <a:ea typeface="华文新魏" pitchFamily="2" charset="-122"/>
              </a:rPr>
              <a:t>+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baseline="30000" dirty="0" smtClean="0">
                <a:latin typeface="+mj-lt"/>
                <a:ea typeface="华文新魏" pitchFamily="2" charset="-122"/>
              </a:rPr>
              <a:t>                         </a:t>
            </a:r>
            <a:r>
              <a:rPr lang="en-US" altLang="zh-CN" sz="2400" b="1" kern="100" dirty="0" smtClean="0">
                <a:latin typeface="+mj-lt"/>
                <a:ea typeface="华文新魏" pitchFamily="2" charset="-122"/>
              </a:rPr>
              <a:t>=2Mn</a:t>
            </a:r>
            <a:r>
              <a:rPr lang="en-US" altLang="zh-CN" sz="2400" b="1" kern="100" baseline="30000" dirty="0" smtClean="0">
                <a:latin typeface="+mj-lt"/>
                <a:ea typeface="华文新魏" pitchFamily="2" charset="-122"/>
              </a:rPr>
              <a:t>2+</a:t>
            </a:r>
            <a:r>
              <a:rPr lang="en-US" altLang="zh-CN" sz="2400" b="1" kern="100" dirty="0" smtClean="0">
                <a:latin typeface="+mj-lt"/>
                <a:ea typeface="华文新魏" pitchFamily="2" charset="-122"/>
              </a:rPr>
              <a:t>+5SO</a:t>
            </a:r>
            <a:r>
              <a:rPr lang="en-US" altLang="zh-CN" sz="2400" b="1" kern="100" baseline="-25000" dirty="0" smtClean="0">
                <a:latin typeface="+mj-lt"/>
                <a:ea typeface="华文新魏" pitchFamily="2" charset="-122"/>
              </a:rPr>
              <a:t>4</a:t>
            </a:r>
            <a:r>
              <a:rPr lang="en-US" altLang="zh-CN" sz="2400" b="1" kern="100" baseline="30000" dirty="0" smtClean="0">
                <a:latin typeface="+mj-lt"/>
                <a:ea typeface="华文新魏" pitchFamily="2" charset="-122"/>
              </a:rPr>
              <a:t>2-</a:t>
            </a:r>
            <a:r>
              <a:rPr lang="en-US" altLang="zh-CN" sz="2400" b="1" kern="100" dirty="0" smtClean="0">
                <a:latin typeface="+mj-lt"/>
                <a:ea typeface="华文新魏" pitchFamily="2" charset="-122"/>
              </a:rPr>
              <a:t>+3H</a:t>
            </a:r>
            <a:r>
              <a:rPr lang="en-US" altLang="zh-CN" sz="2400" b="1" kern="100" baseline="-25000" dirty="0" smtClean="0">
                <a:latin typeface="+mj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j-lt"/>
                <a:ea typeface="华文新魏" pitchFamily="2" charset="-122"/>
              </a:rPr>
              <a:t>O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 smtClean="0">
                <a:latin typeface="+mj-lt"/>
                <a:ea typeface="华文新魏" pitchFamily="2" charset="-122"/>
              </a:rPr>
              <a:t>(3)PbO</a:t>
            </a:r>
            <a:r>
              <a:rPr lang="en-US" altLang="zh-CN" sz="2400" b="1" kern="100" baseline="-25000" dirty="0" smtClean="0">
                <a:latin typeface="+mj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j-lt"/>
                <a:ea typeface="华文新魏" pitchFamily="2" charset="-122"/>
              </a:rPr>
              <a:t>+4Cl</a:t>
            </a:r>
            <a:r>
              <a:rPr lang="en-US" altLang="zh-CN" sz="2400" b="1" kern="100" baseline="30000" dirty="0" smtClean="0">
                <a:latin typeface="+mj-lt"/>
                <a:ea typeface="华文新魏" pitchFamily="2" charset="-122"/>
              </a:rPr>
              <a:t>-</a:t>
            </a:r>
            <a:r>
              <a:rPr lang="en-US" altLang="zh-CN" sz="2400" b="1" kern="100" dirty="0" smtClean="0">
                <a:latin typeface="+mj-lt"/>
                <a:ea typeface="华文新魏" pitchFamily="2" charset="-122"/>
              </a:rPr>
              <a:t>+4H</a:t>
            </a:r>
            <a:r>
              <a:rPr lang="en-US" altLang="zh-CN" sz="2400" b="1" kern="100" baseline="30000" dirty="0" smtClean="0">
                <a:latin typeface="+mj-lt"/>
                <a:ea typeface="华文新魏" pitchFamily="2" charset="-122"/>
              </a:rPr>
              <a:t>+</a:t>
            </a:r>
            <a:r>
              <a:rPr lang="en-US" altLang="zh-CN" sz="2400" b="1" kern="100" dirty="0" smtClean="0">
                <a:latin typeface="+mj-lt"/>
                <a:ea typeface="华文新魏" pitchFamily="2" charset="-122"/>
              </a:rPr>
              <a:t>=PbCl</a:t>
            </a:r>
            <a:r>
              <a:rPr lang="en-US" altLang="zh-CN" sz="2400" b="1" kern="100" baseline="-25000" dirty="0" smtClean="0">
                <a:latin typeface="+mj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j-lt"/>
                <a:ea typeface="华文新魏" pitchFamily="2" charset="-122"/>
              </a:rPr>
              <a:t>+Cl</a:t>
            </a:r>
            <a:r>
              <a:rPr lang="en-US" altLang="zh-CN" sz="2400" b="1" kern="100" baseline="-25000" dirty="0" smtClean="0">
                <a:latin typeface="+mj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j-lt"/>
                <a:ea typeface="华文新魏" pitchFamily="2" charset="-122"/>
              </a:rPr>
              <a:t>+2H</a:t>
            </a:r>
            <a:r>
              <a:rPr lang="en-US" altLang="zh-CN" sz="2400" b="1" kern="100" baseline="-25000" dirty="0" smtClean="0">
                <a:latin typeface="+mj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j-lt"/>
                <a:ea typeface="华文新魏" pitchFamily="2" charset="-122"/>
              </a:rPr>
              <a:t>O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 smtClean="0">
                <a:latin typeface="+mj-lt"/>
                <a:ea typeface="华文新魏" pitchFamily="2" charset="-122"/>
              </a:rPr>
              <a:t>(4)3Ag+NO</a:t>
            </a:r>
            <a:r>
              <a:rPr lang="en-US" altLang="zh-CN" sz="2400" b="1" kern="100" baseline="-25000" dirty="0" smtClean="0">
                <a:latin typeface="+mj-lt"/>
                <a:ea typeface="华文新魏" pitchFamily="2" charset="-122"/>
              </a:rPr>
              <a:t>3</a:t>
            </a:r>
            <a:r>
              <a:rPr lang="en-US" altLang="zh-CN" sz="2400" b="1" kern="100" baseline="30000" dirty="0" smtClean="0">
                <a:latin typeface="+mj-lt"/>
                <a:ea typeface="华文新魏" pitchFamily="2" charset="-122"/>
              </a:rPr>
              <a:t>-</a:t>
            </a:r>
            <a:r>
              <a:rPr lang="en-US" altLang="zh-CN" sz="2400" b="1" kern="100" dirty="0" smtClean="0">
                <a:latin typeface="+mj-lt"/>
                <a:ea typeface="华文新魏" pitchFamily="2" charset="-122"/>
              </a:rPr>
              <a:t>+4H</a:t>
            </a:r>
            <a:r>
              <a:rPr lang="en-US" altLang="zh-CN" sz="2400" b="1" kern="100" baseline="30000" dirty="0" smtClean="0">
                <a:latin typeface="+mj-lt"/>
                <a:ea typeface="华文新魏" pitchFamily="2" charset="-122"/>
              </a:rPr>
              <a:t>+</a:t>
            </a:r>
            <a:r>
              <a:rPr lang="en-US" altLang="zh-CN" sz="2400" b="1" kern="100" dirty="0" smtClean="0">
                <a:latin typeface="+mj-lt"/>
                <a:ea typeface="华文新魏" pitchFamily="2" charset="-122"/>
              </a:rPr>
              <a:t>=3Ag</a:t>
            </a:r>
            <a:r>
              <a:rPr lang="en-US" altLang="zh-CN" sz="2400" b="1" kern="100" baseline="30000" dirty="0" smtClean="0">
                <a:latin typeface="+mj-lt"/>
                <a:ea typeface="华文新魏" pitchFamily="2" charset="-122"/>
              </a:rPr>
              <a:t>+</a:t>
            </a:r>
            <a:r>
              <a:rPr lang="en-US" altLang="zh-CN" sz="2400" b="1" kern="100" dirty="0" smtClean="0">
                <a:latin typeface="+mj-lt"/>
                <a:ea typeface="华文新魏" pitchFamily="2" charset="-122"/>
              </a:rPr>
              <a:t>+NO+2H</a:t>
            </a:r>
            <a:r>
              <a:rPr lang="en-US" altLang="zh-CN" sz="2400" b="1" kern="100" baseline="-25000" dirty="0" smtClean="0">
                <a:latin typeface="+mj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j-lt"/>
                <a:ea typeface="华文新魏" pitchFamily="2" charset="-122"/>
              </a:rPr>
              <a:t>O</a:t>
            </a:r>
            <a:endParaRPr lang="zh-CN" altLang="zh-CN" sz="2400" b="1" kern="100" dirty="0" smtClean="0">
              <a:latin typeface="+mj-lt"/>
              <a:ea typeface="华文新魏" pitchFamily="2" charset="-122"/>
            </a:endParaRPr>
          </a:p>
        </p:txBody>
      </p:sp>
      <p:sp>
        <p:nvSpPr>
          <p:cNvPr id="3079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230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defRPr/>
            </a:pPr>
            <a:r>
              <a:rPr lang="zh-CN" altLang="zh-CN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  <a:cs typeface="Times New Roman"/>
              </a:rPr>
              <a:t>离子</a:t>
            </a:r>
            <a:r>
              <a:rPr lang="en-US" altLang="zh-CN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-</a:t>
            </a:r>
            <a:r>
              <a:rPr lang="zh-CN" altLang="zh-CN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  <a:cs typeface="Times New Roman"/>
              </a:rPr>
              <a:t>电子法配平反应方程</a:t>
            </a:r>
            <a:r>
              <a:rPr lang="zh-CN" altLang="en-US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  <a:cs typeface="Times New Roman"/>
              </a:rPr>
              <a:t>：</a:t>
            </a:r>
            <a:endParaRPr lang="en-US" altLang="zh-CN" sz="2400" b="1" kern="100" dirty="0">
              <a:solidFill>
                <a:srgbClr val="FFFFFF"/>
              </a:solidFill>
              <a:latin typeface="Times New Roman"/>
              <a:ea typeface="华文新魏" pitchFamily="2" charset="-122"/>
              <a:cs typeface="Times New Roman"/>
            </a:endParaRPr>
          </a:p>
          <a:p>
            <a:pPr eaLnBrk="1" hangingPunct="1">
              <a:defRPr/>
            </a:pPr>
            <a:r>
              <a:rPr lang="zh-CN" altLang="en-US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  <a:cs typeface="Times New Roman"/>
              </a:rPr>
              <a:t>配平原则：</a:t>
            </a:r>
            <a:endParaRPr lang="en-US" altLang="zh-CN" sz="2400" b="1" kern="100" dirty="0">
              <a:solidFill>
                <a:srgbClr val="FFFFFF"/>
              </a:solidFill>
              <a:latin typeface="Times New Roman"/>
              <a:ea typeface="华文新魏" pitchFamily="2" charset="-122"/>
              <a:cs typeface="Times New Roman"/>
            </a:endParaRPr>
          </a:p>
          <a:p>
            <a:pPr eaLnBrk="1" hangingPunct="1">
              <a:defRPr/>
            </a:pPr>
            <a:r>
              <a:rPr lang="zh-CN" altLang="en-US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  <a:cs typeface="Times New Roman"/>
              </a:rPr>
              <a:t>①电荷守恒</a:t>
            </a:r>
            <a:r>
              <a:rPr lang="en-US" altLang="zh-CN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  <a:cs typeface="Times New Roman"/>
              </a:rPr>
              <a:t>;</a:t>
            </a:r>
            <a:r>
              <a:rPr lang="zh-CN" altLang="en-US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  <a:cs typeface="Times New Roman"/>
              </a:rPr>
              <a:t> ②质量守恒</a:t>
            </a:r>
            <a:r>
              <a:rPr lang="en-US" altLang="zh-CN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  <a:cs typeface="Times New Roman"/>
              </a:rPr>
              <a:t>.</a:t>
            </a:r>
          </a:p>
          <a:p>
            <a:pPr>
              <a:defRPr/>
            </a:pP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在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碱性条件下的补氧规则为一边多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个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，则在同一边加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个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，在另一边加上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2n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个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OH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。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44870"/>
            <a:ext cx="5329238" cy="232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5-3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用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离子－电子法配平碱性介质中下列反应的离子方程式：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①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Cl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OH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</a:t>
            </a:r>
            <a:r>
              <a:rPr lang="zh-CN" altLang="zh-CN" sz="2400" b="1" kern="100" baseline="30000" dirty="0" smtClean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→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Cl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 err="1" smtClean="0">
                <a:latin typeface="Times New Roman"/>
                <a:ea typeface="华文新魏" pitchFamily="2" charset="-122"/>
              </a:rPr>
              <a:t>ClO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②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Zn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 err="1" smtClean="0">
                <a:latin typeface="Times New Roman"/>
                <a:ea typeface="华文新魏" pitchFamily="2" charset="-122"/>
              </a:rPr>
              <a:t>ClO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OH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→Zn(OH)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Cl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</a:t>
            </a: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 smtClean="0">
                <a:latin typeface="Times New Roman"/>
                <a:ea typeface="宋体"/>
                <a:cs typeface="宋体"/>
              </a:rPr>
              <a:t>③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SO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Cl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 → Cl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－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SO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④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Cr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＋ 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→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CrO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O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31686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3611563"/>
            <a:ext cx="5529262" cy="156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(1)Cl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+2OH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=Cl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+</a:t>
            </a:r>
            <a:r>
              <a:rPr lang="en-US" altLang="zh-CN" sz="2400" b="1" kern="100" dirty="0" err="1" smtClean="0">
                <a:latin typeface="+mn-lt"/>
                <a:ea typeface="华文新魏" pitchFamily="2" charset="-122"/>
              </a:rPr>
              <a:t>ClO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+H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O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(2)</a:t>
            </a:r>
            <a:r>
              <a:rPr lang="en-US" altLang="zh-CN" sz="2400" b="1" kern="100" dirty="0" err="1" smtClean="0">
                <a:latin typeface="+mn-lt"/>
                <a:ea typeface="华文新魏" pitchFamily="2" charset="-122"/>
              </a:rPr>
              <a:t>Zn+ClO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+2OH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+H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O=Zn(OH)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4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2-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+Cl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-</a:t>
            </a:r>
            <a:endParaRPr lang="en-US" altLang="zh-CN" sz="2400" b="1" kern="100" dirty="0" smtClean="0">
              <a:latin typeface="+mn-lt"/>
              <a:ea typeface="华文新魏" pitchFamily="2" charset="-122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(3)SO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3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2-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+Cl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+2OH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=2Cl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+SO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4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2-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+H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O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(4)3H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O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+2Cr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3+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+10OH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=2CrO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4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2-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+8H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O</a:t>
            </a:r>
            <a:endParaRPr lang="zh-CN" altLang="zh-CN" sz="2400" b="1" kern="100" dirty="0" smtClean="0">
              <a:latin typeface="+mn-lt"/>
              <a:ea typeface="华文新魏" pitchFamily="2" charset="-122"/>
            </a:endParaRPr>
          </a:p>
        </p:txBody>
      </p:sp>
      <p:sp>
        <p:nvSpPr>
          <p:cNvPr id="4103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4894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根据氧化还原反应设计原电池时，一般是氧化剂电对作正极</a:t>
            </a:r>
            <a:r>
              <a:rPr lang="zh-CN" altLang="en-US" sz="2400" b="1" kern="100" dirty="0" smtClean="0">
                <a:latin typeface="Times New Roman"/>
                <a:ea typeface="华文新魏" pitchFamily="2" charset="-122"/>
              </a:rPr>
              <a:t>，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还原剂电对作负极</a:t>
            </a:r>
            <a:r>
              <a:rPr lang="zh-CN" altLang="en-US" sz="2400" b="1" kern="100" dirty="0" smtClean="0">
                <a:latin typeface="Times New Roman"/>
                <a:ea typeface="华文新魏" pitchFamily="2" charset="-122"/>
              </a:rPr>
              <a:t>。</a:t>
            </a:r>
            <a:endParaRPr lang="en-US" altLang="zh-CN" sz="2400" b="1" kern="100" dirty="0" smtClean="0">
              <a:latin typeface="Times New Roman"/>
              <a:ea typeface="华文新魏" pitchFamily="2" charset="-122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原电池符号的书写</a:t>
            </a:r>
            <a:r>
              <a:rPr lang="zh-CN" altLang="en-US" sz="2400" b="1" kern="100" dirty="0" smtClean="0">
                <a:latin typeface="Times New Roman"/>
                <a:ea typeface="华文新魏" pitchFamily="2" charset="-122"/>
              </a:rPr>
              <a:t>规则：</a:t>
            </a:r>
            <a:endParaRPr lang="zh-CN" altLang="zh-CN" sz="1050" kern="100" dirty="0" smtClean="0">
              <a:latin typeface="Times New Roman"/>
              <a:ea typeface="宋体"/>
            </a:endParaRPr>
          </a:p>
          <a:p>
            <a:pPr eaLnBrk="1" hangingPunct="1">
              <a:defRPr/>
            </a:pPr>
            <a:r>
              <a:rPr kumimoji="1" lang="zh-CN" altLang="en-US" sz="2400" b="1" dirty="0">
                <a:ea typeface="华文新魏" pitchFamily="2" charset="-122"/>
              </a:rPr>
              <a:t>①负极“</a:t>
            </a:r>
            <a:r>
              <a:rPr kumimoji="1" lang="en-US" altLang="zh-CN" sz="2400" b="1" dirty="0">
                <a:ea typeface="华文新魏" pitchFamily="2" charset="-122"/>
              </a:rPr>
              <a:t>(-)”</a:t>
            </a:r>
            <a:r>
              <a:rPr kumimoji="1" lang="zh-CN" altLang="en-US" sz="2400" b="1" dirty="0">
                <a:ea typeface="华文新魏" pitchFamily="2" charset="-122"/>
              </a:rPr>
              <a:t>在左边</a:t>
            </a:r>
            <a:r>
              <a:rPr kumimoji="1" lang="en-US" altLang="zh-CN" sz="2400" b="1" dirty="0">
                <a:ea typeface="华文新魏" pitchFamily="2" charset="-122"/>
              </a:rPr>
              <a:t>,</a:t>
            </a:r>
            <a:r>
              <a:rPr kumimoji="1" lang="zh-CN" altLang="en-US" sz="2400" b="1" dirty="0">
                <a:ea typeface="华文新魏" pitchFamily="2" charset="-122"/>
              </a:rPr>
              <a:t>正极“</a:t>
            </a:r>
            <a:r>
              <a:rPr kumimoji="1" lang="en-US" altLang="zh-CN" sz="2400" b="1" dirty="0">
                <a:ea typeface="华文新魏" pitchFamily="2" charset="-122"/>
              </a:rPr>
              <a:t>(+)”</a:t>
            </a:r>
            <a:r>
              <a:rPr kumimoji="1" lang="zh-CN" altLang="en-US" sz="2400" b="1" dirty="0">
                <a:ea typeface="华文新魏" pitchFamily="2" charset="-122"/>
              </a:rPr>
              <a:t>在右边</a:t>
            </a:r>
            <a:r>
              <a:rPr kumimoji="1" lang="en-US" altLang="zh-CN" sz="2400" b="1" dirty="0">
                <a:ea typeface="华文新魏" pitchFamily="2" charset="-122"/>
              </a:rPr>
              <a:t>; </a:t>
            </a:r>
          </a:p>
          <a:p>
            <a:pPr eaLnBrk="1" hangingPunct="1">
              <a:defRPr/>
            </a:pPr>
            <a:r>
              <a:rPr kumimoji="1" lang="en-US" altLang="zh-CN" sz="2400" b="1" dirty="0">
                <a:ea typeface="华文新魏" pitchFamily="2" charset="-122"/>
              </a:rPr>
              <a:t>②</a:t>
            </a:r>
            <a:r>
              <a:rPr kumimoji="1" lang="zh-CN" altLang="en-US" sz="2400" b="1" dirty="0">
                <a:ea typeface="华文新魏" pitchFamily="2" charset="-122"/>
              </a:rPr>
              <a:t>半电池中两相界面用“│”分开</a:t>
            </a:r>
            <a:r>
              <a:rPr kumimoji="1" lang="en-US" altLang="zh-CN" sz="2400" b="1" dirty="0">
                <a:ea typeface="华文新魏" pitchFamily="2" charset="-122"/>
              </a:rPr>
              <a:t>;</a:t>
            </a:r>
            <a:r>
              <a:rPr kumimoji="1" lang="zh-CN" altLang="en-US" sz="2400" b="1" dirty="0">
                <a:ea typeface="华文新魏" pitchFamily="2" charset="-122"/>
              </a:rPr>
              <a:t>同相不同物种用“</a:t>
            </a:r>
            <a:r>
              <a:rPr kumimoji="1" lang="en-US" altLang="zh-CN" sz="2400" b="1" dirty="0">
                <a:ea typeface="华文新魏" pitchFamily="2" charset="-122"/>
              </a:rPr>
              <a:t>,”</a:t>
            </a:r>
            <a:r>
              <a:rPr kumimoji="1" lang="zh-CN" altLang="en-US" sz="2400" b="1" dirty="0">
                <a:ea typeface="华文新魏" pitchFamily="2" charset="-122"/>
              </a:rPr>
              <a:t>分开</a:t>
            </a:r>
            <a:r>
              <a:rPr kumimoji="1" lang="en-US" altLang="zh-CN" sz="2400" b="1" dirty="0">
                <a:ea typeface="华文新魏" pitchFamily="2" charset="-122"/>
              </a:rPr>
              <a:t>;</a:t>
            </a:r>
            <a:r>
              <a:rPr kumimoji="1" lang="zh-CN" altLang="en-US" sz="2400" b="1" dirty="0">
                <a:ea typeface="华文新魏" pitchFamily="2" charset="-122"/>
              </a:rPr>
              <a:t>盐桥用“</a:t>
            </a:r>
            <a:r>
              <a:rPr kumimoji="1" lang="en-US" altLang="zh-CN" sz="2400" b="1" dirty="0">
                <a:ea typeface="华文新魏" pitchFamily="2" charset="-122"/>
              </a:rPr>
              <a:t>‖”</a:t>
            </a:r>
            <a:r>
              <a:rPr kumimoji="1" lang="zh-CN" altLang="en-US" sz="2400" b="1" dirty="0">
                <a:ea typeface="华文新魏" pitchFamily="2" charset="-122"/>
              </a:rPr>
              <a:t>表示</a:t>
            </a:r>
            <a:r>
              <a:rPr kumimoji="1" lang="en-US" altLang="zh-CN" sz="2400" b="1" dirty="0">
                <a:ea typeface="华文新魏" pitchFamily="2" charset="-122"/>
              </a:rPr>
              <a:t>;</a:t>
            </a:r>
            <a:r>
              <a:rPr kumimoji="1" lang="zh-CN" altLang="en-US" sz="2400" b="1" dirty="0">
                <a:ea typeface="华文新魏" pitchFamily="2" charset="-122"/>
              </a:rPr>
              <a:t>非标准态时要注明</a:t>
            </a:r>
            <a:r>
              <a:rPr kumimoji="1" lang="en-US" altLang="zh-CN" sz="2400" b="1" dirty="0">
                <a:ea typeface="华文新魏" pitchFamily="2" charset="-122"/>
              </a:rPr>
              <a:t>ci</a:t>
            </a:r>
            <a:r>
              <a:rPr kumimoji="1" lang="zh-CN" altLang="en-US" sz="2400" b="1" dirty="0">
                <a:ea typeface="华文新魏" pitchFamily="2" charset="-122"/>
              </a:rPr>
              <a:t>或</a:t>
            </a:r>
            <a:r>
              <a:rPr kumimoji="1" lang="en-US" altLang="zh-CN" sz="2400" b="1" dirty="0">
                <a:ea typeface="华文新魏" pitchFamily="2" charset="-122"/>
              </a:rPr>
              <a:t>pi;</a:t>
            </a:r>
          </a:p>
          <a:p>
            <a:pPr eaLnBrk="1" hangingPunct="1">
              <a:defRPr/>
            </a:pPr>
            <a:r>
              <a:rPr kumimoji="1" lang="en-US" altLang="zh-CN" sz="2400" b="1" dirty="0">
                <a:ea typeface="华文新魏" pitchFamily="2" charset="-122"/>
              </a:rPr>
              <a:t>③</a:t>
            </a:r>
            <a:r>
              <a:rPr kumimoji="1" lang="zh-CN" altLang="en-US" sz="2400" b="1" dirty="0">
                <a:ea typeface="华文新魏" pitchFamily="2" charset="-122"/>
              </a:rPr>
              <a:t>若电极反应无金属导体</a:t>
            </a:r>
            <a:r>
              <a:rPr kumimoji="1" lang="en-US" altLang="zh-CN" sz="2400" b="1" dirty="0">
                <a:ea typeface="华文新魏" pitchFamily="2" charset="-122"/>
              </a:rPr>
              <a:t>, </a:t>
            </a:r>
            <a:r>
              <a:rPr kumimoji="1" lang="zh-CN" altLang="en-US" sz="2400" b="1" dirty="0">
                <a:ea typeface="华文新魏" pitchFamily="2" charset="-122"/>
              </a:rPr>
              <a:t>用惰性电极</a:t>
            </a:r>
            <a:r>
              <a:rPr kumimoji="1" lang="en-US" altLang="zh-CN" sz="2400" b="1" dirty="0">
                <a:ea typeface="华文新魏" pitchFamily="2" charset="-122"/>
              </a:rPr>
              <a:t>Pt</a:t>
            </a:r>
            <a:r>
              <a:rPr kumimoji="1" lang="zh-CN" altLang="en-US" sz="2400" b="1" dirty="0">
                <a:ea typeface="华文新魏" pitchFamily="2" charset="-122"/>
              </a:rPr>
              <a:t>或</a:t>
            </a:r>
            <a:r>
              <a:rPr kumimoji="1" lang="en-US" altLang="zh-CN" sz="2400" b="1" dirty="0">
                <a:ea typeface="华文新魏" pitchFamily="2" charset="-122"/>
              </a:rPr>
              <a:t>C (</a:t>
            </a:r>
            <a:r>
              <a:rPr kumimoji="1" lang="zh-CN" altLang="en-US" sz="2400" b="1" dirty="0">
                <a:ea typeface="华文新魏" pitchFamily="2" charset="-122"/>
              </a:rPr>
              <a:t>石墨</a:t>
            </a:r>
            <a:r>
              <a:rPr kumimoji="1" lang="en-US" altLang="zh-CN" sz="2400" b="1" dirty="0">
                <a:ea typeface="华文新魏" pitchFamily="2" charset="-122"/>
              </a:rPr>
              <a:t>);</a:t>
            </a:r>
          </a:p>
          <a:p>
            <a:pPr eaLnBrk="1" hangingPunct="1">
              <a:defRPr/>
            </a:pPr>
            <a:r>
              <a:rPr kumimoji="1" lang="en-US" altLang="zh-CN" sz="2400" b="1" dirty="0">
                <a:ea typeface="华文新魏" pitchFamily="2" charset="-122"/>
              </a:rPr>
              <a:t>④</a:t>
            </a:r>
            <a:r>
              <a:rPr kumimoji="1" lang="zh-CN" altLang="en-US" sz="2400" b="1" dirty="0">
                <a:ea typeface="华文新魏" pitchFamily="2" charset="-122"/>
              </a:rPr>
              <a:t>纯液体、固体和气体写在靠惰性电极一边</a:t>
            </a:r>
            <a:r>
              <a:rPr kumimoji="1" lang="en-US" altLang="zh-CN" sz="2400" b="1" dirty="0">
                <a:ea typeface="华文新魏" pitchFamily="2" charset="-122"/>
              </a:rPr>
              <a:t>,</a:t>
            </a:r>
            <a:r>
              <a:rPr kumimoji="1" lang="zh-CN" altLang="en-US" sz="2400" b="1" dirty="0">
                <a:ea typeface="华文新魏" pitchFamily="2" charset="-122"/>
              </a:rPr>
              <a:t>用“</a:t>
            </a:r>
            <a:r>
              <a:rPr kumimoji="1" lang="en-US" altLang="zh-CN" sz="2400" b="1" dirty="0">
                <a:ea typeface="华文新魏" pitchFamily="2" charset="-122"/>
              </a:rPr>
              <a:t>,”</a:t>
            </a:r>
            <a:r>
              <a:rPr kumimoji="1" lang="zh-CN" altLang="en-US" sz="2400" b="1" dirty="0">
                <a:ea typeface="华文新魏" pitchFamily="2" charset="-122"/>
              </a:rPr>
              <a:t>分开</a:t>
            </a:r>
            <a:r>
              <a:rPr kumimoji="1" lang="en-US" altLang="zh-CN" sz="2400" b="1" dirty="0">
                <a:ea typeface="华文新魏" pitchFamily="2" charset="-122"/>
              </a:rPr>
              <a:t>.</a:t>
            </a:r>
          </a:p>
          <a:p>
            <a:pPr eaLnBrk="1" hangingPunct="1">
              <a:defRPr/>
            </a:pP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44870"/>
            <a:ext cx="5329238" cy="232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5-4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对于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下列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氧化还原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反应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：</a:t>
            </a:r>
            <a:endParaRPr lang="en-US" altLang="zh-CN" sz="2400" b="1" kern="100" dirty="0" smtClean="0">
              <a:latin typeface="Times New Roman"/>
              <a:ea typeface="华文新魏" pitchFamily="2" charset="-122"/>
            </a:endParaRPr>
          </a:p>
          <a:p>
            <a:pPr marL="0" algn="just">
              <a:spcAft>
                <a:spcPts val="0"/>
              </a:spcAft>
              <a:defRPr/>
            </a:pPr>
            <a:r>
              <a:rPr lang="zh-CN" altLang="zh-CN" sz="2400" b="1" kern="100" dirty="0" smtClean="0">
                <a:latin typeface="Times New Roman"/>
                <a:ea typeface="宋体"/>
                <a:cs typeface="宋体"/>
              </a:rPr>
              <a:t>①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写出相应的半反应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；</a:t>
            </a:r>
            <a:endParaRPr lang="en-US" altLang="zh-CN" sz="2400" b="1" kern="100" dirty="0" smtClean="0">
              <a:latin typeface="Times New Roman"/>
              <a:ea typeface="华文新魏" pitchFamily="2" charset="-122"/>
            </a:endParaRPr>
          </a:p>
          <a:p>
            <a:pPr marL="0" algn="just">
              <a:spcAft>
                <a:spcPts val="0"/>
              </a:spcAft>
              <a:defRPr/>
            </a:pPr>
            <a:r>
              <a:rPr lang="zh-CN" altLang="zh-CN" sz="2400" b="1" kern="100" dirty="0" smtClean="0">
                <a:latin typeface="Times New Roman"/>
                <a:ea typeface="宋体"/>
                <a:cs typeface="宋体"/>
              </a:rPr>
              <a:t>②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以这些氧化还原反应设计构成原电池，写出电池符号。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marL="0"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①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Ag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＋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Cu → Cu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＋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Ag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marL="0"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②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Pb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＋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Cu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S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－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→ 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Pb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CuS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↓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5287963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5730875"/>
            <a:ext cx="532923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1" lang="zh-CN" altLang="en-US" sz="2400" b="1" dirty="0">
                <a:ea typeface="华文新魏" pitchFamily="2" charset="-122"/>
              </a:rPr>
              <a:t>略</a:t>
            </a:r>
            <a:endParaRPr kumimoji="1" lang="en-US" altLang="zh-CN" sz="2400" b="1" dirty="0">
              <a:ea typeface="华文新魏" pitchFamily="2" charset="-122"/>
            </a:endParaRPr>
          </a:p>
        </p:txBody>
      </p:sp>
      <p:sp>
        <p:nvSpPr>
          <p:cNvPr id="5127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92813" y="2303463"/>
            <a:ext cx="5329237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原电池中电极电势高的为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正极</a:t>
            </a:r>
            <a:r>
              <a:rPr lang="zh-CN" altLang="en-US" sz="2400" b="1" kern="100" dirty="0" smtClean="0">
                <a:latin typeface="Times New Roman"/>
                <a:ea typeface="华文新魏" pitchFamily="2" charset="-122"/>
              </a:rPr>
              <a:t>，其氧化型作氧化剂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。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eaLnBrk="1" hangingPunct="1">
              <a:defRPr/>
            </a:pP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23850"/>
            <a:ext cx="5329238" cy="4170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5-5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计算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298K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时下列原电池的电动势，指出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正负极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，写出原电池的电池反应：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①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Ag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｜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Ag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(0.1mol·L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－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1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)‖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                     Cu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(0.01mol·L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－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)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｜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Cu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②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Cu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｜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Cu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(1mol·L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－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1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)‖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                     Zn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(0.001mol·L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－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)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｜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Zn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③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Pb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｜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Pb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(0.1mol·L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－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1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)‖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               S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－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(0.1mol·L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－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)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｜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CuS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｜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Cu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④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Zn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｜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Zn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(0.1mol·L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－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1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)‖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    </a:t>
            </a:r>
            <a:r>
              <a:rPr lang="en-US" altLang="zh-CN" sz="2400" b="1" kern="100" dirty="0" err="1" smtClean="0">
                <a:latin typeface="Times New Roman"/>
                <a:ea typeface="华文新魏" pitchFamily="2" charset="-122"/>
              </a:rPr>
              <a:t>HAc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(0.1mol·L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－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)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｜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(100kPa)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｜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Pt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1" lang="zh-CN" altLang="en-US" sz="2400" b="1" dirty="0">
                <a:ea typeface="华文新魏" pitchFamily="2" charset="-122"/>
              </a:rPr>
              <a:t>略</a:t>
            </a:r>
            <a:endParaRPr kumimoji="1" lang="en-US" altLang="zh-CN" sz="2400" b="1" dirty="0">
              <a:ea typeface="华文新魏" pitchFamily="2" charset="-122"/>
            </a:endParaRPr>
          </a:p>
        </p:txBody>
      </p:sp>
      <p:sp>
        <p:nvSpPr>
          <p:cNvPr id="6151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6697663" y="1079500"/>
          <a:ext cx="3455987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" name="公式" r:id="rId5" imgW="1726451" imgH="444307" progId="Equation.3">
                  <p:embed/>
                </p:oleObj>
              </mc:Choice>
              <mc:Fallback>
                <p:oleObj name="公式" r:id="rId5" imgW="1726451" imgH="444307" progId="Equation.3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7663" y="1079500"/>
                        <a:ext cx="3455987" cy="887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123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查表得出酸性介质中各物质作氧化型时的电极电势，电极电势高的氧化能力强，被还原时生成相应的还原型。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44870"/>
            <a:ext cx="5329238" cy="232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5-6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试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根据标准电极电势的数据，把下列物质按其氧化能力递增的顺序排列起来，写出它们在酸性介质中对应的还原产物：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marL="0" algn="just">
              <a:spcAft>
                <a:spcPts val="0"/>
              </a:spcAft>
              <a:defRPr/>
            </a:pP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KMnO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、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K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Cr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7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、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FeCl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、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、</a:t>
            </a:r>
            <a:endParaRPr lang="en-US" altLang="zh-CN" sz="2400" b="1" kern="100" dirty="0" smtClean="0">
              <a:latin typeface="Times New Roman"/>
              <a:ea typeface="华文新魏" pitchFamily="2" charset="-122"/>
            </a:endParaRPr>
          </a:p>
          <a:p>
            <a:pPr marL="0" algn="just">
              <a:spcAft>
                <a:spcPts val="0"/>
              </a:spcAft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I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、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Br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、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Cl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、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F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1" lang="zh-CN" altLang="en-US" sz="2400" b="1" dirty="0">
                <a:ea typeface="华文新魏" pitchFamily="2" charset="-122"/>
              </a:rPr>
              <a:t>略</a:t>
            </a:r>
            <a:endParaRPr kumimoji="1" lang="en-US" altLang="zh-CN" sz="2400" b="1" dirty="0">
              <a:ea typeface="华文新魏" pitchFamily="2" charset="-122"/>
            </a:endParaRPr>
          </a:p>
        </p:txBody>
      </p:sp>
      <p:sp>
        <p:nvSpPr>
          <p:cNvPr id="7175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1938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查表得各电对的标准电极电势，若反应方程式中氧化剂电对的电极电势高，则反应能从左向右进行，否则不能。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eaLnBrk="1" hangingPunct="1">
              <a:defRPr/>
            </a:pP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404166"/>
            <a:ext cx="5329238" cy="2693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5-7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用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标准电极电势判断下列反应能否从左向右进行：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①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2 Br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－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2 Fe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＋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＝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Br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2 Fe 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＋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②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2 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＝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3S↓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3 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③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2 Ag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Zn(NO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)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＝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Zn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2AgNO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④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2KMnO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5 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6HCl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＝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2MnCl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2KCl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8 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5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2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zh-CN" sz="2400" b="1" kern="100" dirty="0" smtClean="0">
                <a:ea typeface="宋体"/>
                <a:cs typeface="宋体"/>
              </a:rPr>
              <a:t>①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不能</a:t>
            </a:r>
            <a:r>
              <a:rPr lang="zh-CN" altLang="zh-CN" sz="2400" b="1" kern="100" dirty="0" smtClean="0">
                <a:ea typeface="宋体"/>
                <a:cs typeface="宋体"/>
              </a:rPr>
              <a:t>②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能</a:t>
            </a:r>
            <a:r>
              <a:rPr lang="zh-CN" altLang="zh-CN" sz="2400" b="1" kern="100" dirty="0" smtClean="0">
                <a:ea typeface="宋体"/>
                <a:cs typeface="宋体"/>
              </a:rPr>
              <a:t>③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不能</a:t>
            </a:r>
            <a:r>
              <a:rPr lang="zh-CN" altLang="zh-CN" sz="2400" b="1" kern="100" dirty="0" smtClean="0">
                <a:ea typeface="宋体"/>
                <a:cs typeface="宋体"/>
              </a:rPr>
              <a:t>④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能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8199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341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比较标准电极电势的大小可以确定反应的方向，设计原电池时氧化剂电对作正极，还原剂电对作负极，根据能斯特方程可以计算出非标准态时的电极电势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。</a:t>
            </a:r>
            <a:endParaRPr lang="en-US" altLang="zh-CN" sz="2400" b="1" kern="100" dirty="0" smtClean="0">
              <a:latin typeface="Times New Roman"/>
              <a:ea typeface="华文新魏" pitchFamily="2" charset="-122"/>
              <a:cs typeface="Times New Roman"/>
            </a:endParaRPr>
          </a:p>
          <a:p>
            <a:pPr>
              <a:defRPr/>
            </a:pPr>
            <a:r>
              <a:rPr lang="zh-CN" altLang="zh-CN" sz="2400" b="1" dirty="0">
                <a:latin typeface="华文新魏" pitchFamily="2" charset="-122"/>
                <a:ea typeface="华文新魏" pitchFamily="2" charset="-122"/>
              </a:rPr>
              <a:t>根据反应方程式设计原电池时一般氧化剂电对为正极，还原剂作负极，非标准态的电对根据能斯特方程计算电极电势。</a:t>
            </a:r>
            <a:endParaRPr kumimoji="1" lang="en-US" altLang="zh-CN" sz="2400" b="1" dirty="0" smtClean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67740"/>
            <a:ext cx="5329238" cy="3801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5-8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宋体"/>
                <a:cs typeface="宋体"/>
              </a:rPr>
              <a:t>①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试根据标准电极电势，判断下列反应进行的方向：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MnO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－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Fe 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＋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H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＋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→</a:t>
            </a: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                              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Mn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＋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Fe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＋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②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将该氧化还原反应设计构成一个原电池，用电池符号表示该原电池的组成，计算其标准电动势。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③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当氢离子浓度为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10mol·L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－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1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，其他各离子浓度均为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1.0mol·L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－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1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时，计算该电池的电动势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正向进行，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0.736V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0.830V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9223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电池电动势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57012"/>
            <a:ext cx="5329238" cy="1954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5-9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已知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电池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marL="0" algn="just">
              <a:spcAft>
                <a:spcPts val="0"/>
              </a:spcAft>
              <a:defRPr/>
            </a:pP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Zn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｜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Zn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(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Xmol·L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－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1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)‖</a:t>
            </a:r>
          </a:p>
          <a:p>
            <a:pPr marL="0" algn="r">
              <a:spcAft>
                <a:spcPts val="0"/>
              </a:spcAft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Ag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(0.1mol·L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－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)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｜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Ag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marL="0"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的电动势</a:t>
            </a:r>
            <a:r>
              <a:rPr lang="en-US" altLang="zh-CN" sz="2400" b="1" i="1" kern="100" dirty="0">
                <a:latin typeface="Times New Roman"/>
                <a:ea typeface="华文新魏" pitchFamily="2" charset="-122"/>
              </a:rPr>
              <a:t>E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＝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1.51V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，求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Zn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＋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离子的浓度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0.552 </a:t>
            </a:r>
            <a:r>
              <a:rPr lang="en-US" altLang="zh-CN" sz="2400" b="1" kern="100" dirty="0" err="1" smtClean="0">
                <a:latin typeface="Times New Roman"/>
                <a:ea typeface="华文新魏" pitchFamily="2" charset="-122"/>
              </a:rPr>
              <a:t>mol·L</a:t>
            </a:r>
            <a:r>
              <a:rPr lang="zh-CN" altLang="zh-CN" sz="2400" b="1" kern="100" baseline="30000" dirty="0" smtClean="0">
                <a:latin typeface="Times New Roman"/>
                <a:ea typeface="华文新魏" pitchFamily="2" charset="-122"/>
                <a:cs typeface="Times New Roman"/>
              </a:rPr>
              <a:t>－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1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10247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248" name="Rectangle 10"/>
          <p:cNvSpPr>
            <a:spLocks noChangeArrowheads="1"/>
          </p:cNvSpPr>
          <p:nvPr/>
        </p:nvSpPr>
        <p:spPr bwMode="auto">
          <a:xfrm>
            <a:off x="0" y="0"/>
            <a:ext cx="11522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0249" name="对象 6"/>
          <p:cNvGraphicFramePr>
            <a:graphicFrameLocks noChangeAspect="1"/>
          </p:cNvGraphicFramePr>
          <p:nvPr/>
        </p:nvGraphicFramePr>
        <p:xfrm>
          <a:off x="7132638" y="1439863"/>
          <a:ext cx="3017837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1" name="公式" r:id="rId4" imgW="1307532" imgH="533169" progId="Equation.3">
                  <p:embed/>
                </p:oleObj>
              </mc:Choice>
              <mc:Fallback>
                <p:oleObj name="公式" r:id="rId4" imgW="1307532" imgH="533169" progId="Equation.3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2638" y="1439863"/>
                        <a:ext cx="3017837" cy="1235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首先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计算出平衡常数，再计算平衡时溶液中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Ag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  <a:cs typeface="Times New Roman"/>
              </a:rPr>
              <a:t>＋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的浓度。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57012"/>
            <a:ext cx="5329238" cy="1954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5-10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已知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反应：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marL="0" algn="just">
              <a:spcAft>
                <a:spcPts val="0"/>
              </a:spcAft>
              <a:defRPr/>
            </a:pP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2Ag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＋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Zn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＝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2 Ag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Zn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＋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marL="0"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开始时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Ag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＋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和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Zn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＋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的浓度分别是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0.10mol·L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－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1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和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0.30mol·L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－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1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，计算达到平衡时溶液中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Ag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＋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的浓度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2.03×10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-27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mol·L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11271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1272" name="对象 1"/>
          <p:cNvGraphicFramePr>
            <a:graphicFrameLocks noChangeAspect="1"/>
          </p:cNvGraphicFramePr>
          <p:nvPr/>
        </p:nvGraphicFramePr>
        <p:xfrm>
          <a:off x="6870700" y="1738313"/>
          <a:ext cx="2419350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" name="公式" r:id="rId4" imgW="1091726" imgH="418918" progId="Equation.3">
                  <p:embed/>
                </p:oleObj>
              </mc:Choice>
              <mc:Fallback>
                <p:oleObj name="公式" r:id="rId4" imgW="1091726" imgH="418918" progId="Equation.3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0700" y="1738313"/>
                        <a:ext cx="2419350" cy="925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81296"/>
            <a:ext cx="5329238" cy="1215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5-11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将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一块纯铜片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置于</a:t>
            </a:r>
            <a:endParaRPr lang="en-US" altLang="zh-CN" sz="2400" b="1" kern="100" dirty="0" smtClean="0">
              <a:latin typeface="Times New Roman"/>
              <a:ea typeface="华文新魏" pitchFamily="2" charset="-122"/>
            </a:endParaRPr>
          </a:p>
          <a:p>
            <a:pPr marL="0" algn="just">
              <a:spcAft>
                <a:spcPts val="0"/>
              </a:spcAft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0.050mol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· L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－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AgNO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溶液中。计算达到平衡后溶液的组成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[Ag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+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]=2.77×10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-9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mol·L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[Cu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2+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]=0.025mol·L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12294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83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首先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计算出平衡常数，再计算平衡时溶液中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Ag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  <a:cs typeface="Times New Roman"/>
              </a:rPr>
              <a:t>＋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的浓度。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graphicFrame>
        <p:nvGraphicFramePr>
          <p:cNvPr id="10" name="对象 1"/>
          <p:cNvGraphicFramePr>
            <a:graphicFrameLocks noChangeAspect="1"/>
          </p:cNvGraphicFramePr>
          <p:nvPr/>
        </p:nvGraphicFramePr>
        <p:xfrm>
          <a:off x="6870700" y="1738313"/>
          <a:ext cx="2419350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8" name="公式" r:id="rId4" imgW="1091726" imgH="418918" progId="Equation.3">
                  <p:embed/>
                </p:oleObj>
              </mc:Choice>
              <mc:Fallback>
                <p:oleObj name="公式" r:id="rId4" imgW="1091726" imgH="418918" progId="Equation.3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0700" y="1738313"/>
                        <a:ext cx="2419350" cy="925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 advAuto="0"/>
      <p:bldP spid="6" grpId="0" build="p" autoUpdateAnimBg="0" advAuto="0"/>
      <p:bldP spid="8" grpId="0" build="p" autoUpdateAnimBg="0"/>
      <p:bldP spid="9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44483"/>
            <a:ext cx="5329238" cy="2324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5-12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已知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下列电对的电极电势：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Ag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＋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e  Ag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</a:t>
            </a:r>
            <a:r>
              <a:rPr lang="zh-CN" altLang="en-US" sz="2400" b="1" dirty="0" smtClean="0">
                <a:ea typeface="华文新魏" pitchFamily="2" charset="-122"/>
              </a:rPr>
              <a:t>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 </a:t>
            </a:r>
            <a:r>
              <a:rPr lang="en-US" altLang="zh-CN" sz="2400" b="1" i="1" kern="100" dirty="0" smtClean="0">
                <a:latin typeface="Times New Roman"/>
                <a:ea typeface="华文新魏" pitchFamily="2" charset="-122"/>
              </a:rPr>
              <a:t>E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＝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0.7996V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AgCl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(s)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e </a:t>
            </a:r>
            <a:r>
              <a:rPr lang="zh-CN" altLang="en-US" sz="2400" b="1" dirty="0">
                <a:ea typeface="华文新魏" pitchFamily="2" charset="-122"/>
              </a:rPr>
              <a:t>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 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Ag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Cl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－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   </a:t>
            </a:r>
            <a:endParaRPr lang="en-US" altLang="zh-CN" sz="2400" b="1" kern="100" baseline="30000" dirty="0" smtClean="0">
              <a:latin typeface="Times New Roman"/>
              <a:ea typeface="华文新魏" pitchFamily="2" charset="-122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i="1" kern="100" dirty="0">
                <a:latin typeface="Times New Roman"/>
                <a:ea typeface="华文新魏" pitchFamily="2" charset="-122"/>
              </a:rPr>
              <a:t>E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＝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0.2223V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试计算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AgCl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的溶度积常数。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1.64×10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-10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13318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319" name="Rectangle 3"/>
          <p:cNvSpPr>
            <a:spLocks noChangeArrowheads="1"/>
          </p:cNvSpPr>
          <p:nvPr/>
        </p:nvSpPr>
        <p:spPr bwMode="auto">
          <a:xfrm>
            <a:off x="0" y="0"/>
            <a:ext cx="11522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3322" name="对象 6"/>
          <p:cNvGraphicFramePr>
            <a:graphicFrameLocks noChangeAspect="1"/>
          </p:cNvGraphicFramePr>
          <p:nvPr/>
        </p:nvGraphicFramePr>
        <p:xfrm>
          <a:off x="5976938" y="1165225"/>
          <a:ext cx="5356225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2" name="公式" r:id="rId4" imgW="2349500" imgH="279400" progId="Equation.3">
                  <p:embed/>
                </p:oleObj>
              </mc:Choice>
              <mc:Fallback>
                <p:oleObj name="公式" r:id="rId4" imgW="2349500" imgH="279400" progId="Equation.3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100000" contras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6938" y="1165225"/>
                        <a:ext cx="5356225" cy="641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44870"/>
            <a:ext cx="5329238" cy="232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5-13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设计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下列原电池以测定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PbSO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的溶度积常数：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marL="0" algn="just">
              <a:spcAft>
                <a:spcPts val="0"/>
              </a:spcAft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(-)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Pb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｜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PbSO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｜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SO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-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(1.0mol·L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)‖</a:t>
            </a:r>
          </a:p>
          <a:p>
            <a:pPr marL="0" algn="r">
              <a:spcAft>
                <a:spcPts val="0"/>
              </a:spcAft>
              <a:defRPr/>
            </a:pP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      Sn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(1.0mol·L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－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)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｜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Sn(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)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marL="0"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298K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时测得该电池的标准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电动势</a:t>
            </a:r>
            <a:endParaRPr lang="en-US" altLang="zh-CN" sz="2400" b="1" kern="100" dirty="0" smtClean="0">
              <a:latin typeface="Times New Roman"/>
              <a:ea typeface="华文新魏" pitchFamily="2" charset="-122"/>
            </a:endParaRPr>
          </a:p>
          <a:p>
            <a:pPr marL="0" algn="just">
              <a:spcAft>
                <a:spcPts val="0"/>
              </a:spcAft>
              <a:defRPr/>
            </a:pPr>
            <a:r>
              <a:rPr lang="en-US" altLang="zh-CN" sz="2400" b="1" i="1" kern="100" dirty="0" smtClean="0">
                <a:latin typeface="Times New Roman"/>
                <a:ea typeface="华文新魏" pitchFamily="2" charset="-122"/>
              </a:rPr>
              <a:t>E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＝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0.22V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，求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PbSO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的溶度积常数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1.4×10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-8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14342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343" name="Rectangle 9"/>
          <p:cNvSpPr>
            <a:spLocks noChangeArrowheads="1"/>
          </p:cNvSpPr>
          <p:nvPr/>
        </p:nvSpPr>
        <p:spPr bwMode="auto">
          <a:xfrm>
            <a:off x="0" y="0"/>
            <a:ext cx="11522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4344" name="对象 2"/>
          <p:cNvGraphicFramePr>
            <a:graphicFrameLocks noChangeAspect="1"/>
          </p:cNvGraphicFramePr>
          <p:nvPr/>
        </p:nvGraphicFramePr>
        <p:xfrm>
          <a:off x="6494463" y="1079500"/>
          <a:ext cx="4525962" cy="157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6" name="公式" r:id="rId4" imgW="1943100" imgH="685800" progId="Equation.3">
                  <p:embed/>
                </p:oleObj>
              </mc:Choice>
              <mc:Fallback>
                <p:oleObj name="公式" r:id="rId4" imgW="1943100" imgH="685800" progId="Equation.3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4463" y="1079500"/>
                        <a:ext cx="4525962" cy="1576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11129"/>
            <a:ext cx="5329238" cy="3431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5-14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计算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下列反应的标准平衡常数：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①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2 Ag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＋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Zn </a:t>
            </a:r>
            <a:r>
              <a:rPr lang="zh-CN" altLang="en-US" sz="2400" b="1" dirty="0">
                <a:ea typeface="华文新魏" pitchFamily="2" charset="-122"/>
              </a:rPr>
              <a:t>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 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2 Ag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Zn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＋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②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3Cu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2NO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－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8 H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＋ </a:t>
            </a:r>
            <a:r>
              <a:rPr lang="zh-CN" altLang="en-US" sz="2400" b="1" dirty="0">
                <a:ea typeface="华文新魏" pitchFamily="2" charset="-122"/>
              </a:rPr>
              <a:t>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3Cu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＋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2NO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4 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③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MnO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2 Cl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－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4 H</a:t>
            </a:r>
            <a:r>
              <a:rPr lang="zh-CN" altLang="zh-CN" sz="2400" b="1" kern="100" baseline="30000" dirty="0" smtClean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 </a:t>
            </a:r>
            <a:r>
              <a:rPr lang="zh-CN" altLang="en-US" sz="2400" b="1" dirty="0">
                <a:ea typeface="华文新魏" pitchFamily="2" charset="-122"/>
              </a:rPr>
              <a:t>⇌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Mn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＋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Cl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2 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④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AsO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I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 </a:t>
            </a:r>
            <a:r>
              <a:rPr lang="zh-CN" altLang="en-US" sz="2400" b="1" dirty="0">
                <a:ea typeface="华文新魏" pitchFamily="2" charset="-122"/>
              </a:rPr>
              <a:t>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H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AsO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4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2 I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－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2 H</a:t>
            </a:r>
            <a:r>
              <a:rPr lang="zh-CN" altLang="zh-CN" sz="2400" b="1" kern="100" baseline="30000" dirty="0" smtClean="0">
                <a:latin typeface="Times New Roman"/>
                <a:ea typeface="华文新魏" pitchFamily="2" charset="-122"/>
              </a:rPr>
              <a:t>＋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 b="1" dirty="0"/>
              <a:t>8.55×10</a:t>
            </a:r>
            <a:r>
              <a:rPr lang="en-US" altLang="zh-CN" sz="2400" b="1" baseline="30000" dirty="0"/>
              <a:t>52</a:t>
            </a:r>
            <a:r>
              <a:rPr lang="zh-CN" altLang="zh-CN" sz="2400" b="1" dirty="0"/>
              <a:t>，</a:t>
            </a:r>
            <a:r>
              <a:rPr lang="en-US" altLang="zh-CN" sz="2400" b="1" dirty="0"/>
              <a:t>3.57×10</a:t>
            </a:r>
            <a:r>
              <a:rPr lang="en-US" altLang="zh-CN" sz="2400" b="1" baseline="30000" dirty="0"/>
              <a:t>62</a:t>
            </a:r>
            <a:r>
              <a:rPr lang="zh-CN" altLang="zh-CN" sz="2400" b="1" dirty="0"/>
              <a:t>，</a:t>
            </a:r>
            <a:endParaRPr lang="en-US" altLang="zh-CN" sz="2400" b="1" dirty="0"/>
          </a:p>
          <a:p>
            <a:r>
              <a:rPr lang="en-US" altLang="zh-CN" sz="2400" b="1" dirty="0"/>
              <a:t>2.87×10</a:t>
            </a:r>
            <a:r>
              <a:rPr lang="en-US" altLang="zh-CN" sz="2400" b="1" baseline="30000" dirty="0"/>
              <a:t>-5</a:t>
            </a:r>
            <a:r>
              <a:rPr lang="zh-CN" altLang="zh-CN" sz="2400" b="1" dirty="0"/>
              <a:t>，</a:t>
            </a:r>
            <a:r>
              <a:rPr lang="en-US" altLang="zh-CN" sz="2400" b="1" dirty="0"/>
              <a:t>0.148</a:t>
            </a:r>
            <a:endParaRPr kumimoji="1" lang="en-US" altLang="zh-CN" sz="2400" b="1" dirty="0">
              <a:ea typeface="华文新魏" pitchFamily="2" charset="-122"/>
            </a:endParaRPr>
          </a:p>
        </p:txBody>
      </p:sp>
      <p:sp>
        <p:nvSpPr>
          <p:cNvPr id="15366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5367" name="Rectangle 2"/>
          <p:cNvSpPr>
            <a:spLocks noChangeArrowheads="1"/>
          </p:cNvSpPr>
          <p:nvPr/>
        </p:nvSpPr>
        <p:spPr bwMode="auto">
          <a:xfrm>
            <a:off x="0" y="0"/>
            <a:ext cx="11522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5368" name="对象 1"/>
          <p:cNvGraphicFramePr>
            <a:graphicFrameLocks noChangeAspect="1"/>
          </p:cNvGraphicFramePr>
          <p:nvPr/>
        </p:nvGraphicFramePr>
        <p:xfrm>
          <a:off x="6870700" y="1592263"/>
          <a:ext cx="2703513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0" name="公式" r:id="rId4" imgW="1091726" imgH="418918" progId="Equation.3">
                  <p:embed/>
                </p:oleObj>
              </mc:Choice>
              <mc:Fallback>
                <p:oleObj name="公式" r:id="rId4" imgW="1091726" imgH="418918" progId="Equation.3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0700" y="1592263"/>
                        <a:ext cx="2703513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341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>
                <a:ea typeface="宋体"/>
                <a:cs typeface="宋体"/>
              </a:rPr>
              <a:t>①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根据元素电势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图计算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反应的标准电极电势及标准电动势，进而计算出反应的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平衡常数；</a:t>
            </a:r>
            <a:endParaRPr lang="en-US" altLang="zh-CN" sz="2400" b="1" kern="100" dirty="0" smtClean="0">
              <a:latin typeface="Times New Roman"/>
              <a:ea typeface="华文新魏" pitchFamily="2" charset="-122"/>
              <a:cs typeface="Times New Roman"/>
            </a:endParaRPr>
          </a:p>
          <a:p>
            <a:pPr algn="ctr">
              <a:defRPr/>
            </a:pP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nE</a:t>
            </a:r>
            <a:r>
              <a:rPr lang="en-US" altLang="zh-CN" sz="2400" b="1" kern="100" baseline="30000" dirty="0" err="1">
                <a:latin typeface="Times New Roman"/>
                <a:ea typeface="华文新魏" pitchFamily="2" charset="-122"/>
              </a:rPr>
              <a:t>θ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=n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E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1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θ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+n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E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θ</a:t>
            </a:r>
            <a:endParaRPr lang="en-US" altLang="zh-CN" sz="2400" b="1" kern="100" dirty="0" smtClean="0">
              <a:latin typeface="Times New Roman"/>
              <a:ea typeface="华文新魏" pitchFamily="2" charset="-122"/>
              <a:cs typeface="Times New Roman"/>
            </a:endParaRPr>
          </a:p>
          <a:p>
            <a:pPr>
              <a:defRPr/>
            </a:pPr>
            <a:endParaRPr lang="en-US" altLang="zh-CN" sz="2400" b="1" kern="100" dirty="0" smtClean="0">
              <a:ea typeface="宋体"/>
              <a:cs typeface="宋体"/>
            </a:endParaRPr>
          </a:p>
          <a:p>
            <a:pPr>
              <a:defRPr/>
            </a:pPr>
            <a:endParaRPr lang="en-US" altLang="zh-CN" sz="2400" b="1" kern="100" dirty="0" smtClean="0">
              <a:ea typeface="宋体"/>
              <a:cs typeface="宋体"/>
            </a:endParaRPr>
          </a:p>
          <a:p>
            <a:pPr>
              <a:defRPr/>
            </a:pPr>
            <a:endParaRPr lang="en-US" altLang="zh-CN" sz="2400" b="1" kern="100" dirty="0">
              <a:ea typeface="宋体"/>
              <a:cs typeface="宋体"/>
            </a:endParaRPr>
          </a:p>
          <a:p>
            <a:pPr>
              <a:defRPr/>
            </a:pPr>
            <a:r>
              <a:rPr lang="zh-CN" altLang="zh-CN" sz="2400" b="1" kern="100" dirty="0" smtClean="0">
                <a:ea typeface="宋体"/>
                <a:cs typeface="宋体"/>
              </a:rPr>
              <a:t>②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多重平衡原则，反应方程式相加减，平衡常数相乘除。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79882"/>
            <a:ext cx="5329238" cy="3431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5-15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已知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Cu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＋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2e </a:t>
            </a:r>
            <a:r>
              <a:rPr lang="zh-CN" altLang="en-US" sz="2400" b="1" dirty="0">
                <a:ea typeface="华文新魏" pitchFamily="2" charset="-122"/>
              </a:rPr>
              <a:t>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Cu     </a:t>
            </a:r>
            <a:r>
              <a:rPr lang="en-US" altLang="zh-CN" sz="2400" b="1" i="1" kern="100" dirty="0">
                <a:latin typeface="Times New Roman"/>
                <a:ea typeface="华文新魏" pitchFamily="2" charset="-122"/>
              </a:rPr>
              <a:t> E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＝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0.342V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Cu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＋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e </a:t>
            </a:r>
            <a:r>
              <a:rPr lang="zh-CN" altLang="en-US" sz="2400" b="1" dirty="0">
                <a:ea typeface="华文新魏" pitchFamily="2" charset="-122"/>
              </a:rPr>
              <a:t>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Cu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       </a:t>
            </a:r>
            <a:r>
              <a:rPr lang="en-US" altLang="zh-CN" sz="2400" b="1" i="1" kern="100" dirty="0">
                <a:latin typeface="Times New Roman"/>
                <a:ea typeface="华文新魏" pitchFamily="2" charset="-122"/>
              </a:rPr>
              <a:t>E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＝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0.153V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①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计算反应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Cu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Cu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＋ </a:t>
            </a:r>
            <a:r>
              <a:rPr lang="zh-CN" altLang="en-US" sz="2400" b="1" dirty="0">
                <a:ea typeface="华文新魏" pitchFamily="2" charset="-122"/>
              </a:rPr>
              <a:t>⇌ 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2Cu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＋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的标准平衡常数。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宋体"/>
                <a:cs typeface="宋体"/>
              </a:rPr>
              <a:t>②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已知</a:t>
            </a:r>
            <a:r>
              <a:rPr lang="en-US" altLang="zh-CN" sz="2400" b="1" i="1" kern="100" dirty="0">
                <a:latin typeface="Times New Roman"/>
                <a:ea typeface="华文新魏" pitchFamily="2" charset="-122"/>
              </a:rPr>
              <a:t>K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baseline="-25000" dirty="0" err="1">
                <a:latin typeface="Times New Roman"/>
                <a:ea typeface="华文新魏" pitchFamily="2" charset="-122"/>
              </a:rPr>
              <a:t>sp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(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CuCl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)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＝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1.72×10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－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7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，试计算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反应</a:t>
            </a:r>
            <a:endParaRPr lang="en-US" altLang="zh-CN" sz="2400" b="1" kern="100" dirty="0" smtClean="0">
              <a:latin typeface="Times New Roman"/>
              <a:ea typeface="华文新魏" pitchFamily="2" charset="-122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Cu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Cu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＋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2 Cl</a:t>
            </a:r>
            <a:r>
              <a:rPr lang="zh-CN" altLang="zh-CN" sz="2400" b="1" kern="100" baseline="30000" dirty="0" smtClean="0">
                <a:latin typeface="Times New Roman"/>
                <a:ea typeface="华文新魏" pitchFamily="2" charset="-122"/>
              </a:rPr>
              <a:t>－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 </a:t>
            </a:r>
            <a:r>
              <a:rPr lang="zh-CN" altLang="en-US" sz="2400" b="1" dirty="0">
                <a:ea typeface="华文新魏" pitchFamily="2" charset="-122"/>
              </a:rPr>
              <a:t>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2CuCl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↓</a:t>
            </a:r>
          </a:p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的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标准平衡常数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zh-CN" sz="2400" b="1" kern="100" dirty="0" smtClean="0">
                <a:ea typeface="宋体"/>
                <a:cs typeface="宋体"/>
              </a:rPr>
              <a:t>①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0.531V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3.92×10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-7</a:t>
            </a:r>
            <a:r>
              <a:rPr lang="zh-CN" altLang="zh-CN" sz="2400" b="1" kern="100" dirty="0" smtClean="0">
                <a:ea typeface="宋体"/>
                <a:cs typeface="宋体"/>
              </a:rPr>
              <a:t>②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2.30×10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5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16391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392" name="Rectangle 9"/>
          <p:cNvSpPr>
            <a:spLocks noChangeArrowheads="1"/>
          </p:cNvSpPr>
          <p:nvPr/>
        </p:nvSpPr>
        <p:spPr bwMode="auto">
          <a:xfrm>
            <a:off x="0" y="0"/>
            <a:ext cx="11522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6397" name="对象 6"/>
          <p:cNvGraphicFramePr>
            <a:graphicFrameLocks noChangeAspect="1"/>
          </p:cNvGraphicFramePr>
          <p:nvPr/>
        </p:nvGraphicFramePr>
        <p:xfrm>
          <a:off x="7423150" y="2309813"/>
          <a:ext cx="2436813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5" name="公式" r:id="rId4" imgW="1091726" imgH="418918" progId="Equation.3">
                  <p:embed/>
                </p:oleObj>
              </mc:Choice>
              <mc:Fallback>
                <p:oleObj name="公式" r:id="rId4" imgW="1091726" imgH="418918" progId="Equation.3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3150" y="2309813"/>
                        <a:ext cx="2436813" cy="933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157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元素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电视图的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应用</a:t>
            </a:r>
            <a:endParaRPr lang="en-US" altLang="zh-CN" sz="2400" b="1" kern="100" dirty="0" smtClean="0">
              <a:latin typeface="Times New Roman"/>
              <a:ea typeface="华文新魏" pitchFamily="2" charset="-122"/>
              <a:cs typeface="Times New Roman"/>
            </a:endParaRPr>
          </a:p>
          <a:p>
            <a:pPr>
              <a:defRPr/>
            </a:pP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当</a:t>
            </a:r>
            <a:r>
              <a:rPr lang="en-US" altLang="zh-CN" sz="2400" b="1" i="1" kern="100" dirty="0" smtClean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i="1" kern="100" dirty="0">
                <a:latin typeface="Times New Roman"/>
                <a:ea typeface="华文新魏" pitchFamily="2" charset="-122"/>
              </a:rPr>
              <a:t>E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 </a:t>
            </a:r>
            <a:r>
              <a:rPr lang="zh-CN" altLang="zh-CN" sz="2400" b="1" kern="100" baseline="-25000" dirty="0">
                <a:latin typeface="Times New Roman"/>
                <a:ea typeface="华文新魏" pitchFamily="2" charset="-122"/>
                <a:cs typeface="Times New Roman"/>
              </a:rPr>
              <a:t>右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＞</a:t>
            </a:r>
            <a:r>
              <a:rPr lang="en-US" altLang="zh-CN" sz="2400" b="1" i="1" kern="100" dirty="0">
                <a:latin typeface="Times New Roman"/>
                <a:ea typeface="华文新魏" pitchFamily="2" charset="-122"/>
              </a:rPr>
              <a:t>E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 </a:t>
            </a:r>
            <a:r>
              <a:rPr lang="zh-CN" altLang="zh-CN" sz="2400" b="1" kern="100" baseline="-25000" dirty="0">
                <a:latin typeface="Times New Roman"/>
                <a:ea typeface="华文新魏" pitchFamily="2" charset="-122"/>
                <a:cs typeface="Times New Roman"/>
              </a:rPr>
              <a:t>左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时，中间的氧化态就容易发生歧化反应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。</a:t>
            </a:r>
            <a:endParaRPr lang="zh-CN" altLang="zh-CN" sz="2400" b="1" dirty="0" smtClean="0">
              <a:latin typeface="+mj-lt"/>
              <a:ea typeface="华文新魏" pitchFamily="2" charset="-122"/>
            </a:endParaRPr>
          </a:p>
          <a:p>
            <a:pPr eaLnBrk="1" hangingPunct="1">
              <a:defRPr/>
            </a:pP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23850"/>
            <a:ext cx="5329238" cy="8463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5-16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试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根据下列元素电势图：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b="1" i="1" kern="100" dirty="0">
                <a:latin typeface="Times New Roman"/>
                <a:ea typeface="华文新魏" pitchFamily="2" charset="-122"/>
              </a:rPr>
              <a:t>E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A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/V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：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Cu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+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Au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+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17415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17416" name="Picture 22"/>
          <p:cNvPicPr>
            <a:picLocks noChangeAspect="1" noChangeArrowheads="1"/>
          </p:cNvPicPr>
          <p:nvPr/>
        </p:nvPicPr>
        <p:blipFill>
          <a:blip r:embed="rId3">
            <a:lum bright="100000"/>
          </a:blip>
          <a:srcRect b="47166"/>
          <a:stretch>
            <a:fillRect/>
          </a:stretch>
        </p:blipFill>
        <p:spPr bwMode="auto">
          <a:xfrm>
            <a:off x="628650" y="1239823"/>
            <a:ext cx="4394200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7" name="Picture 21"/>
          <p:cNvPicPr>
            <a:picLocks noChangeAspect="1" noChangeArrowheads="1"/>
          </p:cNvPicPr>
          <p:nvPr/>
        </p:nvPicPr>
        <p:blipFill>
          <a:blip r:embed="rId4">
            <a:lum bright="100000"/>
          </a:blip>
          <a:srcRect/>
          <a:stretch>
            <a:fillRect/>
          </a:stretch>
        </p:blipFill>
        <p:spPr bwMode="auto">
          <a:xfrm>
            <a:off x="647700" y="2095486"/>
            <a:ext cx="4375150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8" name="Picture 20"/>
          <p:cNvPicPr>
            <a:picLocks noChangeAspect="1" noChangeArrowheads="1"/>
          </p:cNvPicPr>
          <p:nvPr/>
        </p:nvPicPr>
        <p:blipFill>
          <a:blip r:embed="rId5">
            <a:lum bright="100000"/>
          </a:blip>
          <a:srcRect/>
          <a:stretch>
            <a:fillRect/>
          </a:stretch>
        </p:blipFill>
        <p:spPr bwMode="auto">
          <a:xfrm>
            <a:off x="666750" y="2884473"/>
            <a:ext cx="4446588" cy="588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9" name="Rectangle 23"/>
          <p:cNvSpPr>
            <a:spLocks noChangeArrowheads="1"/>
          </p:cNvSpPr>
          <p:nvPr/>
        </p:nvSpPr>
        <p:spPr bwMode="auto">
          <a:xfrm>
            <a:off x="0" y="0"/>
            <a:ext cx="11522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420" name="Rectangle 24"/>
          <p:cNvSpPr>
            <a:spLocks noChangeArrowheads="1"/>
          </p:cNvSpPr>
          <p:nvPr/>
        </p:nvSpPr>
        <p:spPr bwMode="auto">
          <a:xfrm>
            <a:off x="0" y="657225"/>
            <a:ext cx="3960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31800" y="3689336"/>
            <a:ext cx="4516438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讨论哪些离子能发生歧化反应。</a:t>
            </a:r>
            <a:endParaRPr lang="zh-CN" altLang="zh-CN" sz="2400" kern="100" dirty="0">
              <a:latin typeface="Times New Roman"/>
              <a:ea typeface="宋体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283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defRPr/>
            </a:pP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元素电势图的应用，计算未知电对及判断某一氧化态是否会发生歧化反应。</a:t>
            </a:r>
            <a:endParaRPr lang="en-US" altLang="zh-CN" sz="2400" b="1" kern="100" dirty="0" smtClean="0">
              <a:latin typeface="Times New Roman"/>
              <a:ea typeface="华文新魏" pitchFamily="2" charset="-122"/>
            </a:endParaRPr>
          </a:p>
          <a:p>
            <a:pPr eaLnBrk="1" hangingPunct="1">
              <a:defRPr/>
            </a:pPr>
            <a:endParaRPr lang="en-US" altLang="zh-CN" sz="2400" b="1" kern="100" dirty="0" smtClean="0">
              <a:latin typeface="Times New Roman"/>
              <a:ea typeface="华文新魏" pitchFamily="2" charset="-122"/>
            </a:endParaRPr>
          </a:p>
          <a:p>
            <a:pPr algn="ctr" eaLnBrk="1" hangingPunct="1">
              <a:defRPr/>
            </a:pPr>
            <a:r>
              <a:rPr kumimoji="1" lang="en-US" altLang="zh-CN" sz="2400" b="1" dirty="0" err="1" smtClean="0">
                <a:solidFill>
                  <a:schemeClr val="bg1"/>
                </a:solidFill>
                <a:ea typeface="楷体_GB2312" pitchFamily="49" charset="-122"/>
              </a:rPr>
              <a:t>n</a:t>
            </a:r>
            <a:r>
              <a:rPr kumimoji="1" lang="en-US" altLang="zh-CN" sz="2400" b="1" i="1" dirty="0" err="1" smtClean="0">
                <a:solidFill>
                  <a:schemeClr val="bg1"/>
                </a:solidFill>
                <a:ea typeface="楷体_GB2312" pitchFamily="49" charset="-122"/>
                <a:sym typeface="Symbol" pitchFamily="18" charset="2"/>
              </a:rPr>
              <a:t>E</a:t>
            </a:r>
            <a:r>
              <a:rPr kumimoji="1" lang="en-US" altLang="zh-CN" sz="1600" b="1" baseline="100000" dirty="0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kumimoji="1" lang="en-US" altLang="zh-CN" sz="2400" b="1" baseline="100000" dirty="0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  </a:t>
            </a:r>
            <a:r>
              <a:rPr kumimoji="1" lang="en-US" altLang="zh-CN" sz="2400" b="1" dirty="0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=</a:t>
            </a:r>
            <a:r>
              <a:rPr kumimoji="1" lang="en-US" altLang="zh-CN" sz="2400" b="1" i="1" dirty="0">
                <a:solidFill>
                  <a:schemeClr val="bg1"/>
                </a:solidFill>
                <a:ea typeface="楷体_GB2312" pitchFamily="49" charset="-122"/>
                <a:sym typeface="Symbol" pitchFamily="18" charset="2"/>
              </a:rPr>
              <a:t> </a:t>
            </a:r>
            <a:r>
              <a:rPr kumimoji="1" lang="en-US" altLang="zh-CN" sz="2400" b="1" dirty="0">
                <a:solidFill>
                  <a:schemeClr val="bg1"/>
                </a:solidFill>
                <a:ea typeface="楷体_GB2312" pitchFamily="49" charset="-122"/>
              </a:rPr>
              <a:t>n</a:t>
            </a:r>
            <a:r>
              <a:rPr kumimoji="1" lang="en-US" altLang="zh-CN" sz="2400" b="1" baseline="-25000" dirty="0">
                <a:solidFill>
                  <a:schemeClr val="bg1"/>
                </a:solidFill>
                <a:ea typeface="楷体_GB2312" pitchFamily="49" charset="-122"/>
              </a:rPr>
              <a:t>1</a:t>
            </a:r>
            <a:r>
              <a:rPr kumimoji="1" lang="en-US" altLang="zh-CN" sz="2400" b="1" i="1" dirty="0">
                <a:solidFill>
                  <a:schemeClr val="bg1"/>
                </a:solidFill>
                <a:ea typeface="楷体_GB2312" pitchFamily="49" charset="-122"/>
                <a:sym typeface="Symbol" pitchFamily="18" charset="2"/>
              </a:rPr>
              <a:t>E</a:t>
            </a:r>
            <a:r>
              <a:rPr kumimoji="1" lang="en-US" altLang="zh-CN" sz="1600" b="1" baseline="100000" dirty="0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kumimoji="1" lang="en-US" altLang="zh-CN" sz="2400" b="1" baseline="-25000" dirty="0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1  </a:t>
            </a:r>
            <a:r>
              <a:rPr kumimoji="1" lang="en-US" altLang="zh-CN" sz="2400" b="1" dirty="0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+ </a:t>
            </a:r>
            <a:r>
              <a:rPr kumimoji="1" lang="en-US" altLang="zh-CN" sz="2400" b="1" dirty="0">
                <a:solidFill>
                  <a:schemeClr val="bg1"/>
                </a:solidFill>
                <a:ea typeface="楷体_GB2312" pitchFamily="49" charset="-122"/>
              </a:rPr>
              <a:t>n</a:t>
            </a:r>
            <a:r>
              <a:rPr kumimoji="1" lang="en-US" altLang="zh-CN" sz="2400" b="1" baseline="-25000" dirty="0">
                <a:solidFill>
                  <a:schemeClr val="bg1"/>
                </a:solidFill>
                <a:ea typeface="楷体_GB2312" pitchFamily="49" charset="-122"/>
              </a:rPr>
              <a:t>2</a:t>
            </a:r>
            <a:r>
              <a:rPr kumimoji="1" lang="en-US" altLang="zh-CN" sz="2400" b="1" i="1" dirty="0">
                <a:solidFill>
                  <a:schemeClr val="bg1"/>
                </a:solidFill>
                <a:ea typeface="楷体_GB2312" pitchFamily="49" charset="-122"/>
                <a:sym typeface="Symbol" pitchFamily="18" charset="2"/>
              </a:rPr>
              <a:t>E</a:t>
            </a:r>
            <a:r>
              <a:rPr kumimoji="1" lang="en-US" altLang="zh-CN" sz="1600" b="1" baseline="100000" dirty="0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kumimoji="1" lang="en-US" altLang="zh-CN" sz="2400" b="1" baseline="-25000" dirty="0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2  </a:t>
            </a:r>
            <a:r>
              <a:rPr kumimoji="1" lang="en-US" altLang="zh-CN" sz="2400" b="1" dirty="0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+ </a:t>
            </a:r>
            <a:r>
              <a:rPr kumimoji="1" lang="en-US" altLang="zh-CN" sz="2400" b="1" dirty="0">
                <a:solidFill>
                  <a:schemeClr val="bg1"/>
                </a:solidFill>
                <a:ea typeface="楷体_GB2312" pitchFamily="49" charset="-122"/>
              </a:rPr>
              <a:t>n</a:t>
            </a:r>
            <a:r>
              <a:rPr kumimoji="1" lang="en-US" altLang="zh-CN" sz="2400" b="1" baseline="-25000" dirty="0">
                <a:solidFill>
                  <a:schemeClr val="bg1"/>
                </a:solidFill>
                <a:ea typeface="楷体_GB2312" pitchFamily="49" charset="-122"/>
              </a:rPr>
              <a:t>3</a:t>
            </a:r>
            <a:r>
              <a:rPr kumimoji="1" lang="en-US" altLang="zh-CN" sz="2400" b="1" i="1" dirty="0">
                <a:solidFill>
                  <a:schemeClr val="bg1"/>
                </a:solidFill>
                <a:ea typeface="楷体_GB2312" pitchFamily="49" charset="-122"/>
                <a:sym typeface="Symbol" pitchFamily="18" charset="2"/>
              </a:rPr>
              <a:t>E</a:t>
            </a:r>
            <a:r>
              <a:rPr kumimoji="1" lang="en-US" altLang="zh-CN" sz="1600" b="1" baseline="100000" dirty="0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</a:t>
            </a:r>
            <a:r>
              <a:rPr kumimoji="1" lang="en-US" altLang="zh-CN" sz="2400" b="1" baseline="-25000" dirty="0">
                <a:solidFill>
                  <a:schemeClr val="bg1"/>
                </a:solidFill>
                <a:ea typeface="楷体_GB2312" pitchFamily="49" charset="-122"/>
                <a:sym typeface="Webdings" pitchFamily="18" charset="2"/>
              </a:rPr>
              <a:t>3 </a:t>
            </a:r>
            <a:endParaRPr kumimoji="1" lang="en-US" altLang="zh-CN" sz="2400" b="1" dirty="0">
              <a:solidFill>
                <a:schemeClr val="bg1"/>
              </a:solidFill>
              <a:ea typeface="楷体_GB2312" pitchFamily="49" charset="-122"/>
              <a:sym typeface="Webdings" pitchFamily="18" charset="2"/>
            </a:endParaRPr>
          </a:p>
          <a:p>
            <a:pPr algn="just">
              <a:spcAft>
                <a:spcPts val="0"/>
              </a:spcAft>
              <a:defRPr/>
            </a:pPr>
            <a:endParaRPr lang="zh-CN" altLang="zh-CN" sz="1050" kern="100" dirty="0" smtClean="0">
              <a:solidFill>
                <a:schemeClr val="bg1"/>
              </a:solidFill>
              <a:latin typeface="Times New Roman"/>
              <a:ea typeface="宋体"/>
            </a:endParaRPr>
          </a:p>
          <a:p>
            <a:pPr eaLnBrk="1" hangingPunct="1">
              <a:defRPr/>
            </a:pPr>
            <a:r>
              <a:rPr lang="zh-CN" altLang="zh-CN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  <a:cs typeface="Times New Roman"/>
              </a:rPr>
              <a:t>当</a:t>
            </a:r>
            <a:r>
              <a:rPr lang="en-US" altLang="zh-CN" sz="2400" b="1" i="1" kern="1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 E</a:t>
            </a:r>
            <a:r>
              <a:rPr lang="en-US" altLang="zh-CN" sz="2400" b="1" kern="100" baseline="30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 </a:t>
            </a:r>
            <a:r>
              <a:rPr lang="zh-CN" altLang="zh-CN" sz="2400" b="1" kern="100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  <a:cs typeface="Times New Roman"/>
              </a:rPr>
              <a:t>右</a:t>
            </a:r>
            <a:r>
              <a:rPr lang="zh-CN" altLang="zh-CN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  <a:cs typeface="Times New Roman"/>
              </a:rPr>
              <a:t>＞</a:t>
            </a:r>
            <a:r>
              <a:rPr lang="en-US" altLang="zh-CN" sz="2400" b="1" i="1" kern="1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E</a:t>
            </a:r>
            <a:r>
              <a:rPr lang="en-US" altLang="zh-CN" sz="2400" b="1" kern="100" baseline="30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 </a:t>
            </a:r>
            <a:r>
              <a:rPr lang="zh-CN" altLang="zh-CN" sz="2400" b="1" kern="100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  <a:cs typeface="Times New Roman"/>
              </a:rPr>
              <a:t>左</a:t>
            </a:r>
            <a:r>
              <a:rPr lang="zh-CN" altLang="zh-CN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  <a:cs typeface="Times New Roman"/>
              </a:rPr>
              <a:t>时，中间的氧化态就容易发生歧化反应。</a:t>
            </a:r>
            <a:endParaRPr lang="zh-CN" altLang="zh-CN" sz="2400" b="1" dirty="0">
              <a:solidFill>
                <a:srgbClr val="FFFFFF"/>
              </a:solidFill>
              <a:latin typeface="Times New Roman"/>
              <a:ea typeface="华文新魏" pitchFamily="2" charset="-122"/>
            </a:endParaRPr>
          </a:p>
          <a:p>
            <a:pPr eaLnBrk="1" hangingPunct="1">
              <a:defRPr/>
            </a:pP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23850"/>
            <a:ext cx="5329238" cy="2939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5-17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500" b="1" kern="100" dirty="0" smtClean="0">
                <a:latin typeface="Times New Roman"/>
                <a:ea typeface="华文新魏" pitchFamily="2" charset="-122"/>
              </a:rPr>
              <a:t>根据</a:t>
            </a:r>
            <a:r>
              <a:rPr lang="zh-CN" altLang="zh-CN" sz="2500" b="1" kern="100" dirty="0">
                <a:latin typeface="Times New Roman"/>
                <a:ea typeface="华文新魏" pitchFamily="2" charset="-122"/>
              </a:rPr>
              <a:t>铬在酸性介质中的元素电势图：</a:t>
            </a:r>
            <a:endParaRPr lang="zh-CN" altLang="zh-CN" sz="2500" kern="100" dirty="0">
              <a:latin typeface="Times New Roman"/>
              <a:ea typeface="宋体"/>
            </a:endParaRPr>
          </a:p>
          <a:p>
            <a:pPr marL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  <a:defRPr/>
            </a:pPr>
            <a:endParaRPr lang="en-US" altLang="zh-CN" sz="2500" b="1" dirty="0" smtClean="0">
              <a:solidFill>
                <a:srgbClr val="FFFF00"/>
              </a:solidFill>
              <a:ea typeface="华文新魏" pitchFamily="2" charset="-122"/>
            </a:endParaRPr>
          </a:p>
          <a:p>
            <a:pPr marL="0">
              <a:spcBef>
                <a:spcPct val="20000"/>
              </a:spcBef>
              <a:buClr>
                <a:srgbClr val="FFFFCC"/>
              </a:buClr>
              <a:buSzPct val="90000"/>
              <a:buFont typeface="Wingdings" pitchFamily="2" charset="2"/>
              <a:buNone/>
              <a:defRPr/>
            </a:pPr>
            <a:endParaRPr lang="en-US" altLang="zh-CN" sz="2500" b="1" dirty="0">
              <a:solidFill>
                <a:srgbClr val="FFFF00"/>
              </a:solidFill>
              <a:ea typeface="华文新魏" pitchFamily="2" charset="-122"/>
            </a:endParaRPr>
          </a:p>
          <a:p>
            <a:pPr>
              <a:defRPr/>
            </a:pPr>
            <a:r>
              <a:rPr lang="zh-CN" altLang="zh-CN" sz="2500" b="1" dirty="0">
                <a:latin typeface="+mn-lt"/>
                <a:ea typeface="华文新魏" pitchFamily="2" charset="-122"/>
              </a:rPr>
              <a:t>①计算</a:t>
            </a:r>
            <a:r>
              <a:rPr lang="en-US" altLang="zh-CN" sz="2500" b="1" i="1" dirty="0">
                <a:latin typeface="+mn-lt"/>
                <a:ea typeface="华文新魏" pitchFamily="2" charset="-122"/>
              </a:rPr>
              <a:t>E</a:t>
            </a:r>
            <a:r>
              <a:rPr lang="en-US" altLang="zh-CN" sz="2500" b="1" baseline="30000" dirty="0">
                <a:latin typeface="+mn-lt"/>
                <a:ea typeface="华文新魏" pitchFamily="2" charset="-122"/>
              </a:rPr>
              <a:t> </a:t>
            </a:r>
            <a:r>
              <a:rPr lang="en-US" altLang="zh-CN" sz="2500" b="1" dirty="0">
                <a:latin typeface="+mn-lt"/>
                <a:ea typeface="华文新魏" pitchFamily="2" charset="-122"/>
              </a:rPr>
              <a:t>(Cr</a:t>
            </a:r>
            <a:r>
              <a:rPr lang="en-US" altLang="zh-CN" sz="2500" b="1" baseline="-25000" dirty="0">
                <a:latin typeface="+mn-lt"/>
                <a:ea typeface="华文新魏" pitchFamily="2" charset="-122"/>
              </a:rPr>
              <a:t>2</a:t>
            </a:r>
            <a:r>
              <a:rPr lang="en-US" altLang="zh-CN" sz="2500" b="1" dirty="0">
                <a:latin typeface="+mn-lt"/>
                <a:ea typeface="华文新魏" pitchFamily="2" charset="-122"/>
              </a:rPr>
              <a:t>O</a:t>
            </a:r>
            <a:r>
              <a:rPr lang="en-US" altLang="zh-CN" sz="2500" b="1" baseline="-25000" dirty="0">
                <a:latin typeface="+mn-lt"/>
                <a:ea typeface="华文新魏" pitchFamily="2" charset="-122"/>
              </a:rPr>
              <a:t>7</a:t>
            </a:r>
            <a:r>
              <a:rPr lang="en-US" altLang="zh-CN" sz="2500" b="1" baseline="30000" dirty="0">
                <a:latin typeface="+mn-lt"/>
                <a:ea typeface="华文新魏" pitchFamily="2" charset="-122"/>
              </a:rPr>
              <a:t>2</a:t>
            </a:r>
            <a:r>
              <a:rPr lang="zh-CN" altLang="zh-CN" sz="2500" b="1" baseline="30000" dirty="0">
                <a:latin typeface="+mn-lt"/>
                <a:ea typeface="华文新魏" pitchFamily="2" charset="-122"/>
              </a:rPr>
              <a:t>－</a:t>
            </a:r>
            <a:r>
              <a:rPr lang="en-US" altLang="zh-CN" sz="2500" b="1" dirty="0">
                <a:latin typeface="+mn-lt"/>
                <a:ea typeface="华文新魏" pitchFamily="2" charset="-122"/>
              </a:rPr>
              <a:t>/Cr</a:t>
            </a:r>
            <a:r>
              <a:rPr lang="en-US" altLang="zh-CN" sz="2500" b="1" baseline="30000" dirty="0">
                <a:latin typeface="+mn-lt"/>
                <a:ea typeface="华文新魏" pitchFamily="2" charset="-122"/>
              </a:rPr>
              <a:t>2</a:t>
            </a:r>
            <a:r>
              <a:rPr lang="zh-CN" altLang="zh-CN" sz="2500" b="1" baseline="30000" dirty="0">
                <a:latin typeface="+mn-lt"/>
                <a:ea typeface="华文新魏" pitchFamily="2" charset="-122"/>
              </a:rPr>
              <a:t>＋</a:t>
            </a:r>
            <a:r>
              <a:rPr lang="en-US" altLang="zh-CN" sz="2500" b="1" dirty="0">
                <a:latin typeface="+mn-lt"/>
                <a:ea typeface="华文新魏" pitchFamily="2" charset="-122"/>
              </a:rPr>
              <a:t>)</a:t>
            </a:r>
            <a:r>
              <a:rPr lang="zh-CN" altLang="zh-CN" sz="2500" b="1" dirty="0" smtClean="0">
                <a:latin typeface="+mn-lt"/>
                <a:ea typeface="华文新魏" pitchFamily="2" charset="-122"/>
              </a:rPr>
              <a:t>和</a:t>
            </a:r>
            <a:endParaRPr lang="en-US" altLang="zh-CN" sz="2500" b="1" dirty="0" smtClean="0">
              <a:latin typeface="+mn-lt"/>
              <a:ea typeface="华文新魏" pitchFamily="2" charset="-122"/>
            </a:endParaRPr>
          </a:p>
          <a:p>
            <a:pPr>
              <a:defRPr/>
            </a:pPr>
            <a:r>
              <a:rPr lang="en-US" altLang="zh-CN" sz="2500" b="1" i="1" dirty="0">
                <a:latin typeface="+mn-lt"/>
                <a:ea typeface="华文新魏" pitchFamily="2" charset="-122"/>
              </a:rPr>
              <a:t> </a:t>
            </a:r>
            <a:r>
              <a:rPr lang="en-US" altLang="zh-CN" sz="2500" b="1" i="1" dirty="0" smtClean="0">
                <a:latin typeface="+mn-lt"/>
                <a:ea typeface="华文新魏" pitchFamily="2" charset="-122"/>
              </a:rPr>
              <a:t>   E</a:t>
            </a:r>
            <a:r>
              <a:rPr lang="en-US" altLang="zh-CN" sz="2500" b="1" baseline="30000" dirty="0" smtClean="0">
                <a:latin typeface="+mn-lt"/>
                <a:ea typeface="华文新魏" pitchFamily="2" charset="-122"/>
              </a:rPr>
              <a:t> </a:t>
            </a:r>
            <a:r>
              <a:rPr lang="en-US" altLang="zh-CN" sz="2500" b="1" dirty="0">
                <a:latin typeface="+mn-lt"/>
                <a:ea typeface="华文新魏" pitchFamily="2" charset="-122"/>
              </a:rPr>
              <a:t>(Cr</a:t>
            </a:r>
            <a:r>
              <a:rPr lang="en-US" altLang="zh-CN" sz="2500" b="1" baseline="30000" dirty="0">
                <a:latin typeface="+mn-lt"/>
                <a:ea typeface="华文新魏" pitchFamily="2" charset="-122"/>
              </a:rPr>
              <a:t>3</a:t>
            </a:r>
            <a:r>
              <a:rPr lang="zh-CN" altLang="zh-CN" sz="2500" b="1" baseline="30000" dirty="0">
                <a:latin typeface="+mn-lt"/>
                <a:ea typeface="华文新魏" pitchFamily="2" charset="-122"/>
              </a:rPr>
              <a:t>＋</a:t>
            </a:r>
            <a:r>
              <a:rPr lang="en-US" altLang="zh-CN" sz="2500" b="1" dirty="0">
                <a:latin typeface="+mn-lt"/>
                <a:ea typeface="华文新魏" pitchFamily="2" charset="-122"/>
              </a:rPr>
              <a:t>/Cr)</a:t>
            </a:r>
            <a:r>
              <a:rPr lang="zh-CN" altLang="zh-CN" sz="2500" b="1" dirty="0">
                <a:latin typeface="+mn-lt"/>
                <a:ea typeface="华文新魏" pitchFamily="2" charset="-122"/>
              </a:rPr>
              <a:t>。</a:t>
            </a:r>
            <a:endParaRPr lang="zh-CN" altLang="zh-CN" sz="2500" dirty="0">
              <a:latin typeface="+mn-lt"/>
              <a:ea typeface="华文新魏" pitchFamily="2" charset="-122"/>
            </a:endParaRPr>
          </a:p>
          <a:p>
            <a:pPr>
              <a:defRPr/>
            </a:pPr>
            <a:r>
              <a:rPr lang="zh-CN" altLang="zh-CN" sz="2500" b="1" dirty="0">
                <a:latin typeface="+mn-lt"/>
                <a:ea typeface="华文新魏" pitchFamily="2" charset="-122"/>
              </a:rPr>
              <a:t>②判断</a:t>
            </a:r>
            <a:r>
              <a:rPr lang="en-US" altLang="zh-CN" sz="2500" b="1" dirty="0">
                <a:latin typeface="+mn-lt"/>
                <a:ea typeface="华文新魏" pitchFamily="2" charset="-122"/>
              </a:rPr>
              <a:t>Cr</a:t>
            </a:r>
            <a:r>
              <a:rPr lang="en-US" altLang="zh-CN" sz="2500" b="1" baseline="30000" dirty="0">
                <a:latin typeface="+mn-lt"/>
                <a:ea typeface="华文新魏" pitchFamily="2" charset="-122"/>
              </a:rPr>
              <a:t>3</a:t>
            </a:r>
            <a:r>
              <a:rPr lang="zh-CN" altLang="zh-CN" sz="2500" b="1" baseline="30000" dirty="0">
                <a:latin typeface="+mn-lt"/>
                <a:ea typeface="华文新魏" pitchFamily="2" charset="-122"/>
              </a:rPr>
              <a:t>＋</a:t>
            </a:r>
            <a:r>
              <a:rPr lang="zh-CN" altLang="zh-CN" sz="2500" b="1" dirty="0">
                <a:latin typeface="+mn-lt"/>
                <a:ea typeface="华文新魏" pitchFamily="2" charset="-122"/>
              </a:rPr>
              <a:t>在酸性介质中的稳定性</a:t>
            </a:r>
            <a:r>
              <a:rPr lang="zh-CN" altLang="zh-CN" sz="2500" b="1" dirty="0" smtClean="0">
                <a:latin typeface="+mn-lt"/>
                <a:ea typeface="华文新魏" pitchFamily="2" charset="-122"/>
              </a:rPr>
              <a:t>。</a:t>
            </a:r>
            <a:endParaRPr lang="zh-CN" altLang="en-US" sz="2500" b="1" dirty="0" smtClean="0">
              <a:solidFill>
                <a:srgbClr val="FFFF00"/>
              </a:solidFill>
              <a:latin typeface="+mn-lt"/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zh-CN" sz="2400" b="1" kern="100" dirty="0" smtClean="0">
                <a:ea typeface="宋体"/>
                <a:cs typeface="宋体"/>
              </a:rPr>
              <a:t>①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0.822V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-0.736V</a:t>
            </a:r>
            <a:r>
              <a:rPr lang="zh-CN" altLang="zh-CN" sz="2400" b="1" kern="100" dirty="0" smtClean="0">
                <a:ea typeface="宋体"/>
                <a:cs typeface="宋体"/>
              </a:rPr>
              <a:t>②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能稳定存在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18439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18440" name="Picture 8"/>
          <p:cNvPicPr>
            <a:picLocks noChangeAspect="1" noChangeArrowheads="1"/>
          </p:cNvPicPr>
          <p:nvPr/>
        </p:nvPicPr>
        <p:blipFill>
          <a:blip r:embed="rId3">
            <a:lum bright="100000"/>
          </a:blip>
          <a:srcRect/>
          <a:stretch>
            <a:fillRect/>
          </a:stretch>
        </p:blipFill>
        <p:spPr bwMode="auto">
          <a:xfrm>
            <a:off x="287338" y="1296988"/>
            <a:ext cx="5041900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304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zh-CN" altLang="en-US" sz="2400" b="1" kern="100" dirty="0">
                <a:latin typeface="Times New Roman"/>
                <a:ea typeface="华文新魏" pitchFamily="2" charset="-122"/>
                <a:cs typeface="Times New Roman"/>
              </a:rPr>
              <a:t>电势突跃范围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:</a:t>
            </a:r>
            <a:r>
              <a:rPr lang="zh-CN" altLang="en-US" sz="2400" b="1" kern="100" dirty="0" smtClean="0">
                <a:latin typeface="Times New Roman"/>
                <a:ea typeface="华文新魏" pitchFamily="2" charset="-122"/>
                <a:cs typeface="Times New Roman"/>
              </a:rPr>
              <a:t>被</a:t>
            </a:r>
            <a:r>
              <a:rPr lang="zh-CN" altLang="en-US" sz="2400" b="1" kern="100" dirty="0">
                <a:latin typeface="Times New Roman"/>
                <a:ea typeface="华文新魏" pitchFamily="2" charset="-122"/>
                <a:cs typeface="Times New Roman"/>
              </a:rPr>
              <a:t>滴物质剩余</a:t>
            </a:r>
            <a:r>
              <a:rPr lang="en-US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0.1%</a:t>
            </a:r>
            <a:r>
              <a:rPr lang="zh-CN" altLang="en-US" sz="2400" b="1" kern="100" dirty="0">
                <a:latin typeface="Times New Roman"/>
                <a:ea typeface="华文新魏" pitchFamily="2" charset="-122"/>
                <a:cs typeface="Times New Roman"/>
              </a:rPr>
              <a:t>时至滴定剂过量</a:t>
            </a:r>
            <a:r>
              <a:rPr lang="en-US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0.1%</a:t>
            </a:r>
            <a:r>
              <a:rPr lang="zh-CN" altLang="en-US" sz="2400" b="1" kern="100" dirty="0">
                <a:latin typeface="Times New Roman"/>
                <a:ea typeface="华文新魏" pitchFamily="2" charset="-122"/>
                <a:cs typeface="Times New Roman"/>
              </a:rPr>
              <a:t>时相应的系统</a:t>
            </a:r>
            <a:r>
              <a:rPr lang="zh-CN" altLang="en-US" sz="2400" b="1" kern="100" dirty="0" smtClean="0">
                <a:latin typeface="Times New Roman"/>
                <a:ea typeface="华文新魏" pitchFamily="2" charset="-122"/>
                <a:cs typeface="Times New Roman"/>
              </a:rPr>
              <a:t>电势。</a:t>
            </a:r>
            <a:endParaRPr lang="zh-CN" altLang="en-US" sz="2400" b="1" kern="100" dirty="0">
              <a:latin typeface="Times New Roman"/>
              <a:ea typeface="华文新魏" pitchFamily="2" charset="-122"/>
              <a:cs typeface="Times New Roman"/>
            </a:endParaRPr>
          </a:p>
          <a:p>
            <a:pPr eaLnBrk="1" hangingPunct="1">
              <a:defRPr/>
            </a:pPr>
            <a:r>
              <a:rPr kumimoji="1" lang="zh-CN" alt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化学计量点前</a:t>
            </a:r>
            <a:r>
              <a:rPr kumimoji="1" lang="en-US" altLang="zh-CN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新魏" pitchFamily="2" charset="-122"/>
                <a:ea typeface="华文新魏" pitchFamily="2" charset="-122"/>
              </a:rPr>
              <a:t>:</a:t>
            </a:r>
            <a:r>
              <a:rPr kumimoji="1" lang="zh-CN" altLang="en-US" sz="2400" b="1" dirty="0" smtClean="0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用</a:t>
            </a:r>
            <a:r>
              <a:rPr kumimoji="1" lang="zh-CN" altLang="en-US" sz="2400" b="1" dirty="0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还原剂电对计算</a:t>
            </a:r>
            <a:r>
              <a:rPr kumimoji="1" lang="en-US" altLang="zh-CN" sz="2400" b="1" dirty="0" smtClean="0">
                <a:solidFill>
                  <a:schemeClr val="bg1"/>
                </a:solidFill>
                <a:latin typeface="华文新魏" pitchFamily="2" charset="-122"/>
                <a:ea typeface="华文新魏" pitchFamily="2" charset="-122"/>
              </a:rPr>
              <a:t>.</a:t>
            </a:r>
          </a:p>
          <a:p>
            <a:pPr>
              <a:spcAft>
                <a:spcPts val="0"/>
              </a:spcAft>
              <a:defRPr/>
            </a:pP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化学计量点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:</a:t>
            </a:r>
          </a:p>
          <a:p>
            <a:pPr>
              <a:spcAft>
                <a:spcPts val="0"/>
              </a:spcAft>
              <a:defRPr/>
            </a:pPr>
            <a:endParaRPr kumimoji="1" lang="en-US" altLang="zh-CN" sz="2400" b="1" kern="100" dirty="0">
              <a:latin typeface="Times New Roman"/>
              <a:ea typeface="华文新魏" pitchFamily="2" charset="-122"/>
            </a:endParaRPr>
          </a:p>
          <a:p>
            <a:pPr>
              <a:spcAft>
                <a:spcPts val="0"/>
              </a:spcAft>
              <a:defRPr/>
            </a:pPr>
            <a:endParaRPr kumimoji="1" lang="en-US" altLang="zh-CN" sz="2400" b="1" kern="100" dirty="0" smtClean="0">
              <a:latin typeface="Times New Roman"/>
              <a:ea typeface="华文新魏" pitchFamily="2" charset="-122"/>
            </a:endParaRPr>
          </a:p>
          <a:p>
            <a:pPr>
              <a:spcAft>
                <a:spcPts val="0"/>
              </a:spcAft>
              <a:defRPr/>
            </a:pPr>
            <a:endParaRPr kumimoji="1" lang="en-US" altLang="zh-CN" sz="2400" b="1" kern="100" dirty="0">
              <a:latin typeface="Times New Roman"/>
              <a:ea typeface="华文新魏" pitchFamily="2" charset="-122"/>
            </a:endParaRPr>
          </a:p>
          <a:p>
            <a:pPr>
              <a:spcAft>
                <a:spcPts val="0"/>
              </a:spcAft>
              <a:defRPr/>
            </a:pPr>
            <a:r>
              <a:rPr kumimoji="1" lang="zh-CN" altLang="en-US" sz="2400" b="1" dirty="0">
                <a:ea typeface="华文新魏" pitchFamily="2" charset="-122"/>
              </a:rPr>
              <a:t>化学计量点后</a:t>
            </a:r>
            <a:r>
              <a:rPr kumimoji="1" lang="en-US" altLang="zh-CN" sz="2400" b="1" dirty="0" smtClean="0">
                <a:ea typeface="华文新魏" pitchFamily="2" charset="-122"/>
              </a:rPr>
              <a:t>:</a:t>
            </a:r>
            <a:r>
              <a:rPr kumimoji="1" lang="zh-CN" altLang="en-US" sz="2400" b="1" dirty="0">
                <a:ea typeface="华文新魏" pitchFamily="2" charset="-122"/>
              </a:rPr>
              <a:t>用氧化剂电对计算</a:t>
            </a:r>
            <a:r>
              <a:rPr kumimoji="1" lang="en-US" altLang="zh-CN" sz="2400" b="1" dirty="0" smtClean="0">
                <a:ea typeface="华文新魏" pitchFamily="2" charset="-122"/>
              </a:rPr>
              <a:t>.</a:t>
            </a: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54006"/>
            <a:ext cx="5329238" cy="202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5-18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计算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1mol·L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  <a:cs typeface="Times New Roman"/>
              </a:rPr>
              <a:t>－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HCl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溶液中用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Fe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  <a:cs typeface="Times New Roman"/>
              </a:rPr>
              <a:t>＋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滴定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Sn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  <a:cs typeface="Times New Roman"/>
              </a:rPr>
              <a:t>＋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的电势突跃范围。在此滴定中应选用什么指示剂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?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若用所选指示剂，滴定终点是否和化学计量点一致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?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884738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5327650"/>
            <a:ext cx="5329237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0.23V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～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0.52V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，次甲基蓝，</a:t>
            </a:r>
            <a:r>
              <a:rPr lang="zh-CN" altLang="zh-CN" sz="2400" b="1" kern="100" dirty="0" smtClean="0">
                <a:solidFill>
                  <a:schemeClr val="bg1"/>
                </a:solidFill>
                <a:latin typeface="Times New Roman"/>
                <a:ea typeface="华文新魏" pitchFamily="2" charset="-122"/>
                <a:cs typeface="Times New Roman"/>
              </a:rPr>
              <a:t>滴定终点与化学计量点基本一致</a:t>
            </a:r>
            <a:endParaRPr kumimoji="1" lang="en-US" altLang="zh-CN" sz="2400" b="1" dirty="0" smtClean="0">
              <a:solidFill>
                <a:schemeClr val="bg1"/>
              </a:solidFill>
              <a:ea typeface="华文新魏" pitchFamily="2" charset="-122"/>
            </a:endParaRPr>
          </a:p>
        </p:txBody>
      </p:sp>
      <p:sp>
        <p:nvSpPr>
          <p:cNvPr id="19463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9464" name="Rectangle 9"/>
          <p:cNvSpPr>
            <a:spLocks noChangeArrowheads="1"/>
          </p:cNvSpPr>
          <p:nvPr/>
        </p:nvSpPr>
        <p:spPr bwMode="auto">
          <a:xfrm>
            <a:off x="0" y="0"/>
            <a:ext cx="11522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9465" name="对象 6"/>
          <p:cNvGraphicFramePr>
            <a:graphicFrameLocks noChangeAspect="1"/>
          </p:cNvGraphicFramePr>
          <p:nvPr/>
        </p:nvGraphicFramePr>
        <p:xfrm>
          <a:off x="6697663" y="2328863"/>
          <a:ext cx="3240087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7" name="公式" r:id="rId4" imgW="1460500" imgH="457200" progId="Equation.3">
                  <p:embed/>
                </p:oleObj>
              </mc:Choice>
              <mc:Fallback>
                <p:oleObj name="公式" r:id="rId4" imgW="1460500" imgH="457200" progId="Equation.3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7663" y="2328863"/>
                        <a:ext cx="3240087" cy="1009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267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spcAft>
                <a:spcPts val="0"/>
              </a:spcAft>
              <a:defRPr/>
            </a:pPr>
            <a:r>
              <a:rPr lang="zh-CN" altLang="zh-CN" sz="2400" b="1" kern="100" dirty="0">
                <a:latin typeface="+mn-lt"/>
                <a:ea typeface="华文新魏" pitchFamily="2" charset="-122"/>
              </a:rPr>
              <a:t>软锰矿与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Na</a:t>
            </a:r>
            <a:r>
              <a:rPr lang="en-US" altLang="zh-CN" sz="2400" b="1" kern="100" baseline="-25000" dirty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C</a:t>
            </a:r>
            <a:r>
              <a:rPr lang="en-US" altLang="zh-CN" sz="2400" b="1" kern="100" baseline="-25000" dirty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+mn-lt"/>
                <a:ea typeface="华文新魏" pitchFamily="2" charset="-122"/>
              </a:rPr>
              <a:t>4</a:t>
            </a:r>
            <a:r>
              <a:rPr lang="zh-CN" altLang="zh-CN" sz="2400" b="1" kern="100" dirty="0">
                <a:latin typeface="+mn-lt"/>
                <a:ea typeface="华文新魏" pitchFamily="2" charset="-122"/>
              </a:rPr>
              <a:t>的反应为</a:t>
            </a:r>
            <a:r>
              <a:rPr lang="zh-CN" altLang="zh-CN" sz="2400" b="1" kern="100" dirty="0" smtClean="0">
                <a:latin typeface="+mn-lt"/>
                <a:ea typeface="华文新魏" pitchFamily="2" charset="-122"/>
              </a:rPr>
              <a:t>：</a:t>
            </a:r>
            <a:endParaRPr lang="en-US" altLang="zh-CN" sz="2400" b="1" kern="100" dirty="0" smtClean="0">
              <a:latin typeface="+mn-lt"/>
              <a:ea typeface="华文新魏" pitchFamily="2" charset="-122"/>
            </a:endParaRPr>
          </a:p>
          <a:p>
            <a:pPr>
              <a:spcAft>
                <a:spcPts val="0"/>
              </a:spcAft>
              <a:defRPr/>
            </a:pPr>
            <a:r>
              <a:rPr lang="en-US" altLang="zh-CN" sz="2200" b="1" kern="100" dirty="0" smtClean="0">
                <a:latin typeface="+mn-lt"/>
                <a:ea typeface="华文新魏" pitchFamily="2" charset="-122"/>
              </a:rPr>
              <a:t>MnO</a:t>
            </a:r>
            <a:r>
              <a:rPr lang="en-US" altLang="zh-CN" sz="22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200" b="1" kern="100" dirty="0" smtClean="0">
                <a:latin typeface="+mn-lt"/>
                <a:ea typeface="华文新魏" pitchFamily="2" charset="-122"/>
              </a:rPr>
              <a:t>+C</a:t>
            </a:r>
            <a:r>
              <a:rPr lang="en-US" altLang="zh-CN" sz="22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200" b="1" kern="100" dirty="0" smtClean="0">
                <a:latin typeface="+mn-lt"/>
                <a:ea typeface="华文新魏" pitchFamily="2" charset="-122"/>
              </a:rPr>
              <a:t>O</a:t>
            </a:r>
            <a:r>
              <a:rPr lang="en-US" altLang="zh-CN" sz="2200" b="1" kern="100" baseline="-25000" dirty="0" smtClean="0">
                <a:latin typeface="+mn-lt"/>
                <a:ea typeface="华文新魏" pitchFamily="2" charset="-122"/>
              </a:rPr>
              <a:t>4</a:t>
            </a:r>
            <a:r>
              <a:rPr lang="en-US" altLang="zh-CN" sz="2200" b="1" kern="100" baseline="30000" dirty="0" smtClean="0">
                <a:latin typeface="+mn-lt"/>
                <a:ea typeface="华文新魏" pitchFamily="2" charset="-122"/>
              </a:rPr>
              <a:t>2-</a:t>
            </a:r>
            <a:r>
              <a:rPr lang="en-US" altLang="zh-CN" sz="2200" b="1" kern="100" dirty="0" smtClean="0">
                <a:latin typeface="+mn-lt"/>
                <a:ea typeface="华文新魏" pitchFamily="2" charset="-122"/>
              </a:rPr>
              <a:t>+4H</a:t>
            </a:r>
            <a:r>
              <a:rPr lang="en-US" altLang="zh-CN" sz="2200" b="1" kern="100" baseline="30000" dirty="0">
                <a:latin typeface="+mn-lt"/>
                <a:ea typeface="华文新魏" pitchFamily="2" charset="-122"/>
              </a:rPr>
              <a:t>+</a:t>
            </a:r>
            <a:r>
              <a:rPr lang="en-US" altLang="zh-CN" sz="2200" b="1" kern="100" dirty="0">
                <a:latin typeface="+mn-lt"/>
                <a:ea typeface="华文新魏" pitchFamily="2" charset="-122"/>
              </a:rPr>
              <a:t>=Mn</a:t>
            </a:r>
            <a:r>
              <a:rPr lang="en-US" altLang="zh-CN" sz="2200" b="1" kern="100" baseline="30000" dirty="0">
                <a:latin typeface="+mn-lt"/>
                <a:ea typeface="华文新魏" pitchFamily="2" charset="-122"/>
              </a:rPr>
              <a:t>2+</a:t>
            </a:r>
            <a:r>
              <a:rPr lang="en-US" altLang="zh-CN" sz="2200" b="1" kern="100" dirty="0">
                <a:latin typeface="+mn-lt"/>
                <a:ea typeface="华文新魏" pitchFamily="2" charset="-122"/>
              </a:rPr>
              <a:t>+</a:t>
            </a:r>
            <a:r>
              <a:rPr lang="en-US" altLang="zh-CN" sz="2200" b="1" kern="100" dirty="0" smtClean="0">
                <a:latin typeface="+mn-lt"/>
                <a:ea typeface="华文新魏" pitchFamily="2" charset="-122"/>
              </a:rPr>
              <a:t>2CO</a:t>
            </a:r>
            <a:r>
              <a:rPr lang="en-US" altLang="zh-CN" sz="22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200" b="1" kern="100" dirty="0" smtClean="0">
                <a:latin typeface="+mn-lt"/>
                <a:ea typeface="华文新魏" pitchFamily="2" charset="-122"/>
              </a:rPr>
              <a:t>+2H</a:t>
            </a:r>
            <a:r>
              <a:rPr lang="en-US" altLang="zh-CN" sz="22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200" b="1" kern="100" dirty="0" smtClean="0">
                <a:latin typeface="+mn-lt"/>
                <a:ea typeface="华文新魏" pitchFamily="2" charset="-122"/>
              </a:rPr>
              <a:t>O</a:t>
            </a:r>
          </a:p>
          <a:p>
            <a:pPr>
              <a:spcAft>
                <a:spcPts val="0"/>
              </a:spcAft>
              <a:defRPr/>
            </a:pPr>
            <a:r>
              <a:rPr lang="zh-CN" altLang="zh-CN" sz="2400" b="1" kern="100" dirty="0" smtClean="0">
                <a:latin typeface="+mn-lt"/>
                <a:ea typeface="华文新魏" pitchFamily="2" charset="-122"/>
              </a:rPr>
              <a:t>过量</a:t>
            </a:r>
            <a:r>
              <a:rPr lang="zh-CN" altLang="zh-CN" sz="2400" b="1" kern="100" dirty="0">
                <a:latin typeface="+mn-lt"/>
                <a:ea typeface="华文新魏" pitchFamily="2" charset="-122"/>
              </a:rPr>
              <a:t>的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C</a:t>
            </a:r>
            <a:r>
              <a:rPr lang="en-US" altLang="zh-CN" sz="2400" b="1" kern="100" baseline="-25000" dirty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+mn-lt"/>
                <a:ea typeface="华文新魏" pitchFamily="2" charset="-122"/>
              </a:rPr>
              <a:t>4</a:t>
            </a:r>
            <a:r>
              <a:rPr lang="en-US" altLang="zh-CN" sz="2400" b="1" kern="100" baseline="30000" dirty="0">
                <a:latin typeface="+mn-lt"/>
                <a:ea typeface="华文新魏" pitchFamily="2" charset="-122"/>
              </a:rPr>
              <a:t>2-</a:t>
            </a:r>
            <a:r>
              <a:rPr lang="zh-CN" altLang="zh-CN" sz="2400" b="1" kern="100" dirty="0">
                <a:latin typeface="+mn-lt"/>
                <a:ea typeface="华文新魏" pitchFamily="2" charset="-122"/>
              </a:rPr>
              <a:t>用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KMnO</a:t>
            </a:r>
            <a:r>
              <a:rPr lang="en-US" altLang="zh-CN" sz="2400" b="1" kern="100" baseline="-25000" dirty="0">
                <a:latin typeface="+mn-lt"/>
                <a:ea typeface="华文新魏" pitchFamily="2" charset="-122"/>
              </a:rPr>
              <a:t>4</a:t>
            </a:r>
            <a:r>
              <a:rPr lang="zh-CN" altLang="zh-CN" sz="2400" b="1" kern="100" dirty="0" smtClean="0">
                <a:latin typeface="+mn-lt"/>
                <a:ea typeface="华文新魏" pitchFamily="2" charset="-122"/>
              </a:rPr>
              <a:t>滴定反应为</a:t>
            </a:r>
            <a:r>
              <a:rPr lang="zh-CN" altLang="en-US" sz="2400" b="1" kern="100" dirty="0" smtClean="0">
                <a:latin typeface="+mn-lt"/>
                <a:ea typeface="华文新魏" pitchFamily="2" charset="-122"/>
              </a:rPr>
              <a:t>：</a:t>
            </a:r>
            <a:endParaRPr lang="en-US" altLang="zh-CN" sz="2400" b="1" kern="100" dirty="0" smtClean="0">
              <a:latin typeface="+mn-lt"/>
              <a:ea typeface="华文新魏" pitchFamily="2" charset="-122"/>
            </a:endParaRPr>
          </a:p>
          <a:p>
            <a:pPr>
              <a:spcAft>
                <a:spcPts val="0"/>
              </a:spcAft>
              <a:defRPr/>
            </a:pP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2MnO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4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+5C</a:t>
            </a:r>
            <a:r>
              <a:rPr lang="en-US" altLang="zh-CN" sz="2400" b="1" kern="100" baseline="-25000" dirty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+mn-lt"/>
                <a:ea typeface="华文新魏" pitchFamily="2" charset="-122"/>
              </a:rPr>
              <a:t>4</a:t>
            </a:r>
            <a:r>
              <a:rPr lang="en-US" altLang="zh-CN" sz="2400" b="1" kern="100" baseline="30000" dirty="0">
                <a:latin typeface="+mn-lt"/>
                <a:ea typeface="华文新魏" pitchFamily="2" charset="-122"/>
              </a:rPr>
              <a:t>2-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+16H</a:t>
            </a:r>
            <a:r>
              <a:rPr lang="en-US" altLang="zh-CN" sz="2400" b="1" kern="100" baseline="30000" dirty="0">
                <a:latin typeface="+mn-lt"/>
                <a:ea typeface="华文新魏" pitchFamily="2" charset="-122"/>
              </a:rPr>
              <a:t>+</a:t>
            </a:r>
            <a:r>
              <a:rPr lang="zh-CN" altLang="zh-CN" sz="2400" b="1" kern="100" dirty="0" smtClean="0">
                <a:latin typeface="+mn-lt"/>
                <a:ea typeface="华文新魏" pitchFamily="2" charset="-122"/>
              </a:rPr>
              <a:t>＝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 </a:t>
            </a:r>
          </a:p>
          <a:p>
            <a:pPr>
              <a:spcAft>
                <a:spcPts val="0"/>
              </a:spcAft>
              <a:defRPr/>
            </a:pP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                  2Mn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baseline="30000" dirty="0">
                <a:latin typeface="+mn-lt"/>
                <a:ea typeface="华文新魏" pitchFamily="2" charset="-122"/>
              </a:rPr>
              <a:t>+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+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10CO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+8H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O</a:t>
            </a:r>
          </a:p>
          <a:p>
            <a:pPr>
              <a:spcAft>
                <a:spcPts val="0"/>
              </a:spcAft>
              <a:defRPr/>
            </a:pPr>
            <a:endParaRPr lang="zh-CN" altLang="zh-CN" sz="2400" b="1" kern="100" dirty="0">
              <a:latin typeface="+mn-lt"/>
              <a:ea typeface="华文新魏" pitchFamily="2" charset="-122"/>
            </a:endParaRPr>
          </a:p>
          <a:p>
            <a:pPr>
              <a:defRPr/>
            </a:pPr>
            <a:r>
              <a:rPr kumimoji="1" lang="en-US" altLang="zh-CN" sz="2400" b="1" i="1" dirty="0" smtClean="0">
                <a:ea typeface="华文新魏" pitchFamily="2" charset="-122"/>
              </a:rPr>
              <a:t>n</a:t>
            </a:r>
            <a:r>
              <a:rPr kumimoji="1" lang="en-US" altLang="zh-CN" sz="2400" b="1" dirty="0" smtClean="0">
                <a:ea typeface="华文新魏" pitchFamily="2" charset="-122"/>
              </a:rPr>
              <a:t>(MnO</a:t>
            </a:r>
            <a:r>
              <a:rPr kumimoji="1" lang="en-US" altLang="zh-CN" sz="2400" b="1" baseline="-25000" dirty="0" smtClean="0">
                <a:ea typeface="华文新魏" pitchFamily="2" charset="-122"/>
              </a:rPr>
              <a:t>2</a:t>
            </a:r>
            <a:r>
              <a:rPr kumimoji="1" lang="en-US" altLang="zh-CN" sz="2400" b="1" dirty="0" smtClean="0">
                <a:ea typeface="华文新魏" pitchFamily="2" charset="-122"/>
              </a:rPr>
              <a:t>)=</a:t>
            </a:r>
            <a:r>
              <a:rPr kumimoji="1" lang="en-US" altLang="zh-CN" sz="2400" b="1" i="1" dirty="0" smtClean="0">
                <a:ea typeface="华文新魏" pitchFamily="2" charset="-122"/>
              </a:rPr>
              <a:t>n</a:t>
            </a:r>
            <a:r>
              <a:rPr kumimoji="1" lang="en-US" altLang="zh-CN" sz="2400" b="1" dirty="0" smtClean="0">
                <a:ea typeface="华文新魏" pitchFamily="2" charset="-122"/>
              </a:rPr>
              <a:t>(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Na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kumimoji="1" lang="en-US" altLang="zh-CN" sz="2400" b="1" dirty="0" smtClean="0">
                <a:ea typeface="华文新魏" pitchFamily="2" charset="-122"/>
              </a:rPr>
              <a:t>)-    </a:t>
            </a:r>
            <a:r>
              <a:rPr kumimoji="1" lang="en-US" altLang="zh-CN" sz="2400" b="1" i="1" dirty="0" smtClean="0">
                <a:ea typeface="华文新魏" pitchFamily="2" charset="-122"/>
              </a:rPr>
              <a:t>n</a:t>
            </a:r>
            <a:r>
              <a:rPr kumimoji="1" lang="en-US" altLang="zh-CN" sz="2400" b="1" dirty="0" smtClean="0">
                <a:ea typeface="华文新魏" pitchFamily="2" charset="-122"/>
              </a:rPr>
              <a:t>(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KMnO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4</a:t>
            </a:r>
            <a:r>
              <a:rPr kumimoji="1" lang="en-US" altLang="zh-CN" sz="2400" b="1" dirty="0" smtClean="0">
                <a:ea typeface="华文新魏" pitchFamily="2" charset="-122"/>
              </a:rPr>
              <a:t>)</a:t>
            </a: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401636"/>
            <a:ext cx="5329238" cy="2767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5-19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称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取软锰矿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0.3216g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，分析纯的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Na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0.3685g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，置于同一烧杯中，加入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，加热，待反应完毕后，用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0.02400mol·L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  <a:cs typeface="Times New Roman"/>
              </a:rPr>
              <a:t>－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KMnO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溶液滴定剩余的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Na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，消耗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KMnO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11.26mL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。计算软锰矿中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MnO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的质量分数。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56.07%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20487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20488" name="Picture 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29713" y="2990850"/>
            <a:ext cx="150812" cy="53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230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返滴定法</a:t>
            </a:r>
            <a:endParaRPr lang="en-US" altLang="zh-CN" sz="2400" b="1" kern="100" dirty="0" smtClean="0">
              <a:latin typeface="Times New Roman"/>
              <a:ea typeface="华文新魏" pitchFamily="2" charset="-122"/>
              <a:cs typeface="Times New Roman"/>
            </a:endParaRPr>
          </a:p>
          <a:p>
            <a:pPr algn="ctr">
              <a:defRPr/>
            </a:pPr>
            <a:r>
              <a:rPr lang="en-US" altLang="zh-CN" sz="2400" b="1" dirty="0">
                <a:latin typeface="+mj-lt"/>
                <a:ea typeface="华文新魏" pitchFamily="2" charset="-122"/>
              </a:rPr>
              <a:t>Ca</a:t>
            </a:r>
            <a:r>
              <a:rPr lang="en-US" altLang="zh-CN" sz="2400" b="1" baseline="30000" dirty="0">
                <a:latin typeface="+mj-lt"/>
                <a:ea typeface="华文新魏" pitchFamily="2" charset="-122"/>
              </a:rPr>
              <a:t>2+</a:t>
            </a:r>
            <a:r>
              <a:rPr lang="en-US" altLang="zh-CN" sz="2400" b="1" dirty="0">
                <a:latin typeface="+mj-lt"/>
                <a:ea typeface="华文新魏" pitchFamily="2" charset="-122"/>
              </a:rPr>
              <a:t>+C</a:t>
            </a:r>
            <a:r>
              <a:rPr lang="en-US" altLang="zh-CN" sz="2400" b="1" baseline="-25000" dirty="0">
                <a:latin typeface="+mj-lt"/>
                <a:ea typeface="华文新魏" pitchFamily="2" charset="-122"/>
              </a:rPr>
              <a:t>2</a:t>
            </a:r>
            <a:r>
              <a:rPr lang="en-US" altLang="zh-CN" sz="2400" b="1" dirty="0">
                <a:latin typeface="+mj-lt"/>
                <a:ea typeface="华文新魏" pitchFamily="2" charset="-122"/>
              </a:rPr>
              <a:t>O</a:t>
            </a:r>
            <a:r>
              <a:rPr lang="en-US" altLang="zh-CN" sz="2400" b="1" baseline="-25000" dirty="0">
                <a:latin typeface="+mj-lt"/>
                <a:ea typeface="华文新魏" pitchFamily="2" charset="-122"/>
              </a:rPr>
              <a:t>4</a:t>
            </a:r>
            <a:r>
              <a:rPr lang="en-US" altLang="zh-CN" sz="2400" b="1" baseline="30000" dirty="0">
                <a:latin typeface="+mj-lt"/>
                <a:ea typeface="华文新魏" pitchFamily="2" charset="-122"/>
              </a:rPr>
              <a:t>2-</a:t>
            </a:r>
            <a:r>
              <a:rPr lang="en-US" altLang="zh-CN" sz="2400" b="1" dirty="0">
                <a:latin typeface="+mj-lt"/>
                <a:ea typeface="华文新魏" pitchFamily="2" charset="-122"/>
              </a:rPr>
              <a:t>=CaC</a:t>
            </a:r>
            <a:r>
              <a:rPr lang="en-US" altLang="zh-CN" sz="2400" b="1" baseline="-25000" dirty="0">
                <a:latin typeface="+mj-lt"/>
                <a:ea typeface="华文新魏" pitchFamily="2" charset="-122"/>
              </a:rPr>
              <a:t>2</a:t>
            </a:r>
            <a:r>
              <a:rPr lang="en-US" altLang="zh-CN" sz="2400" b="1" dirty="0">
                <a:latin typeface="+mj-lt"/>
                <a:ea typeface="华文新魏" pitchFamily="2" charset="-122"/>
              </a:rPr>
              <a:t>O</a:t>
            </a:r>
            <a:r>
              <a:rPr lang="en-US" altLang="zh-CN" sz="2400" b="1" baseline="-25000" dirty="0">
                <a:latin typeface="+mj-lt"/>
                <a:ea typeface="华文新魏" pitchFamily="2" charset="-122"/>
              </a:rPr>
              <a:t>4</a:t>
            </a:r>
            <a:endParaRPr lang="zh-CN" altLang="zh-CN" sz="2400" b="1" dirty="0">
              <a:latin typeface="+mj-lt"/>
              <a:ea typeface="华文新魏" pitchFamily="2" charset="-122"/>
            </a:endParaRPr>
          </a:p>
          <a:p>
            <a:pPr>
              <a:defRPr/>
            </a:pPr>
            <a:r>
              <a:rPr lang="zh-CN" altLang="zh-CN" sz="2400" b="1" dirty="0">
                <a:latin typeface="+mj-lt"/>
                <a:ea typeface="华文新魏" pitchFamily="2" charset="-122"/>
              </a:rPr>
              <a:t>过量的</a:t>
            </a:r>
            <a:r>
              <a:rPr lang="en-US" altLang="zh-CN" sz="2400" b="1" dirty="0">
                <a:latin typeface="+mj-lt"/>
                <a:ea typeface="华文新魏" pitchFamily="2" charset="-122"/>
              </a:rPr>
              <a:t>C</a:t>
            </a:r>
            <a:r>
              <a:rPr lang="en-US" altLang="zh-CN" sz="2400" b="1" baseline="-25000" dirty="0">
                <a:latin typeface="+mj-lt"/>
                <a:ea typeface="华文新魏" pitchFamily="2" charset="-122"/>
              </a:rPr>
              <a:t>2</a:t>
            </a:r>
            <a:r>
              <a:rPr lang="en-US" altLang="zh-CN" sz="2400" b="1" dirty="0">
                <a:latin typeface="+mj-lt"/>
                <a:ea typeface="华文新魏" pitchFamily="2" charset="-122"/>
              </a:rPr>
              <a:t>O</a:t>
            </a:r>
            <a:r>
              <a:rPr lang="en-US" altLang="zh-CN" sz="2400" b="1" baseline="-25000" dirty="0">
                <a:latin typeface="+mj-lt"/>
                <a:ea typeface="华文新魏" pitchFamily="2" charset="-122"/>
              </a:rPr>
              <a:t>4</a:t>
            </a:r>
            <a:r>
              <a:rPr lang="en-US" altLang="zh-CN" sz="2400" b="1" baseline="30000" dirty="0">
                <a:latin typeface="+mj-lt"/>
                <a:ea typeface="华文新魏" pitchFamily="2" charset="-122"/>
              </a:rPr>
              <a:t>2-</a:t>
            </a:r>
            <a:r>
              <a:rPr lang="zh-CN" altLang="zh-CN" sz="2400" b="1" dirty="0">
                <a:latin typeface="+mj-lt"/>
                <a:ea typeface="华文新魏" pitchFamily="2" charset="-122"/>
              </a:rPr>
              <a:t>与</a:t>
            </a:r>
            <a:r>
              <a:rPr lang="en-US" altLang="zh-CN" sz="2400" b="1" dirty="0">
                <a:latin typeface="+mj-lt"/>
                <a:ea typeface="华文新魏" pitchFamily="2" charset="-122"/>
              </a:rPr>
              <a:t>KMnO</a:t>
            </a:r>
            <a:r>
              <a:rPr lang="en-US" altLang="zh-CN" sz="2400" b="1" baseline="-25000" dirty="0">
                <a:latin typeface="+mj-lt"/>
                <a:ea typeface="华文新魏" pitchFamily="2" charset="-122"/>
              </a:rPr>
              <a:t>4</a:t>
            </a:r>
            <a:r>
              <a:rPr lang="zh-CN" altLang="zh-CN" sz="2400" b="1" dirty="0">
                <a:latin typeface="+mj-lt"/>
                <a:ea typeface="华文新魏" pitchFamily="2" charset="-122"/>
              </a:rPr>
              <a:t>溶液</a:t>
            </a:r>
            <a:r>
              <a:rPr lang="zh-CN" altLang="zh-CN" sz="2400" b="1" dirty="0" smtClean="0">
                <a:latin typeface="+mj-lt"/>
                <a:ea typeface="华文新魏" pitchFamily="2" charset="-122"/>
              </a:rPr>
              <a:t>反应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2MnO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4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+5C</a:t>
            </a:r>
            <a:r>
              <a:rPr lang="en-US" altLang="zh-CN" sz="2400" b="1" kern="100" baseline="-25000" dirty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+mn-lt"/>
                <a:ea typeface="华文新魏" pitchFamily="2" charset="-122"/>
              </a:rPr>
              <a:t>4</a:t>
            </a:r>
            <a:r>
              <a:rPr lang="en-US" altLang="zh-CN" sz="2400" b="1" kern="100" baseline="30000" dirty="0">
                <a:latin typeface="+mn-lt"/>
                <a:ea typeface="华文新魏" pitchFamily="2" charset="-122"/>
              </a:rPr>
              <a:t>2-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+16H</a:t>
            </a:r>
            <a:r>
              <a:rPr lang="en-US" altLang="zh-CN" sz="2400" b="1" kern="100" baseline="30000" dirty="0">
                <a:latin typeface="+mn-lt"/>
                <a:ea typeface="华文新魏" pitchFamily="2" charset="-122"/>
              </a:rPr>
              <a:t>+</a:t>
            </a:r>
            <a:r>
              <a:rPr lang="zh-CN" altLang="zh-CN" sz="2400" b="1" kern="100" dirty="0" smtClean="0">
                <a:latin typeface="+mn-lt"/>
                <a:ea typeface="华文新魏" pitchFamily="2" charset="-122"/>
              </a:rPr>
              <a:t>＝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 </a:t>
            </a:r>
          </a:p>
          <a:p>
            <a:pPr>
              <a:defRPr/>
            </a:pPr>
            <a:r>
              <a:rPr lang="en-US" altLang="zh-CN" sz="2400" b="1" kern="100" dirty="0">
                <a:latin typeface="+mn-lt"/>
                <a:ea typeface="华文新魏" pitchFamily="2" charset="-122"/>
              </a:rPr>
              <a:t> 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                     2Mn</a:t>
            </a:r>
            <a:r>
              <a:rPr lang="en-US" altLang="zh-CN" sz="2400" b="1" kern="100" baseline="30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baseline="30000" dirty="0">
                <a:latin typeface="+mn-lt"/>
                <a:ea typeface="华文新魏" pitchFamily="2" charset="-122"/>
              </a:rPr>
              <a:t>+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+10CO</a:t>
            </a:r>
            <a:r>
              <a:rPr lang="en-US" altLang="zh-CN" sz="2400" b="1" kern="100" baseline="-25000" dirty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+8H</a:t>
            </a:r>
            <a:r>
              <a:rPr lang="en-US" altLang="zh-CN" sz="2400" b="1" kern="100" baseline="-25000" dirty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O</a:t>
            </a:r>
            <a:endParaRPr lang="zh-CN" altLang="zh-CN" sz="2400" b="1" kern="100" dirty="0">
              <a:latin typeface="+mn-lt"/>
              <a:ea typeface="华文新魏" pitchFamily="2" charset="-122"/>
            </a:endParaRPr>
          </a:p>
          <a:p>
            <a:pPr>
              <a:defRPr/>
            </a:pPr>
            <a:r>
              <a:rPr lang="zh-CN" altLang="zh-CN" sz="2400" b="1" kern="100" dirty="0">
                <a:latin typeface="+mn-lt"/>
                <a:ea typeface="华文新魏" pitchFamily="2" charset="-122"/>
                <a:cs typeface="Times New Roman"/>
              </a:rPr>
              <a:t>与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Ca</a:t>
            </a:r>
            <a:r>
              <a:rPr lang="en-US" altLang="zh-CN" sz="2400" b="1" kern="100" baseline="30000" dirty="0">
                <a:latin typeface="+mn-lt"/>
                <a:ea typeface="华文新魏" pitchFamily="2" charset="-122"/>
              </a:rPr>
              <a:t>2+</a:t>
            </a:r>
            <a:r>
              <a:rPr lang="zh-CN" altLang="zh-CN" sz="2400" b="1" kern="100" dirty="0">
                <a:latin typeface="+mn-lt"/>
                <a:ea typeface="华文新魏" pitchFamily="2" charset="-122"/>
                <a:cs typeface="Times New Roman"/>
              </a:rPr>
              <a:t>反应的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C</a:t>
            </a:r>
            <a:r>
              <a:rPr lang="en-US" altLang="zh-CN" sz="2400" b="1" kern="100" baseline="-25000" dirty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+mn-lt"/>
                <a:ea typeface="华文新魏" pitchFamily="2" charset="-122"/>
              </a:rPr>
              <a:t>4</a:t>
            </a:r>
            <a:r>
              <a:rPr lang="en-US" altLang="zh-CN" sz="2400" b="1" kern="100" baseline="30000" dirty="0">
                <a:latin typeface="+mn-lt"/>
                <a:ea typeface="华文新魏" pitchFamily="2" charset="-122"/>
              </a:rPr>
              <a:t>2-</a:t>
            </a:r>
            <a:r>
              <a:rPr lang="zh-CN" altLang="zh-CN" sz="2400" b="1" kern="100" dirty="0">
                <a:latin typeface="+mn-lt"/>
                <a:ea typeface="华文新魏" pitchFamily="2" charset="-122"/>
                <a:cs typeface="Times New Roman"/>
              </a:rPr>
              <a:t>的物质的量：</a:t>
            </a:r>
            <a:endParaRPr kumimoji="1" lang="en-US" altLang="zh-CN" sz="2400" b="1" dirty="0" smtClean="0">
              <a:latin typeface="+mn-lt"/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404166"/>
            <a:ext cx="5329238" cy="2693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5-20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如果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25.00mL CaCl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溶液中加入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40.00mL 0.1000mol·L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  <a:cs typeface="Times New Roman"/>
              </a:rPr>
              <a:t>－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(NH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)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溶液，待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CaC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沉淀完全后，分离之，滤液以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0.02000mol·L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  <a:cs typeface="Times New Roman"/>
              </a:rPr>
              <a:t>－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KMnO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溶液滴定，共耗去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KMnO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15.00mL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。计算在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250mL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该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CaCl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溶液中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CaCl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的含量为多少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g?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5184775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5627688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3.607g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21511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512" name="Rectangle 9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381750" y="3263900"/>
          <a:ext cx="4564063" cy="213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5" name="公式" r:id="rId4" imgW="1993900" imgH="927100" progId="Equation.3">
                  <p:embed/>
                </p:oleObj>
              </mc:Choice>
              <mc:Fallback>
                <p:oleObj name="公式" r:id="rId4" imgW="1993900" imgH="927100" progId="Equation.3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1750" y="3263900"/>
                        <a:ext cx="4564063" cy="2136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2308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重铬酸钾滴定法</a:t>
            </a:r>
            <a:endParaRPr lang="en-US" altLang="zh-CN" sz="2400" b="1" kern="100" dirty="0" smtClean="0">
              <a:latin typeface="Times New Roman"/>
              <a:ea typeface="华文新魏" pitchFamily="2" charset="-122"/>
              <a:cs typeface="Times New Roman"/>
            </a:endParaRPr>
          </a:p>
          <a:p>
            <a:pPr>
              <a:defRPr/>
            </a:pPr>
            <a:r>
              <a:rPr lang="en-US" altLang="zh-CN" sz="2400" b="1" dirty="0">
                <a:latin typeface="+mn-lt"/>
                <a:ea typeface="华文新魏" pitchFamily="2" charset="-122"/>
              </a:rPr>
              <a:t>6Fe</a:t>
            </a:r>
            <a:r>
              <a:rPr lang="en-US" altLang="zh-CN" sz="2400" b="1" baseline="30000" dirty="0">
                <a:latin typeface="+mn-lt"/>
                <a:ea typeface="华文新魏" pitchFamily="2" charset="-122"/>
              </a:rPr>
              <a:t>2+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+Cr</a:t>
            </a:r>
            <a:r>
              <a:rPr lang="en-US" altLang="zh-CN" sz="2400" b="1" baseline="-25000" dirty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O</a:t>
            </a:r>
            <a:r>
              <a:rPr lang="en-US" altLang="zh-CN" sz="2400" b="1" baseline="-25000" dirty="0">
                <a:latin typeface="+mn-lt"/>
                <a:ea typeface="华文新魏" pitchFamily="2" charset="-122"/>
              </a:rPr>
              <a:t>7</a:t>
            </a:r>
            <a:r>
              <a:rPr lang="en-US" altLang="zh-CN" sz="2400" b="1" baseline="30000" dirty="0">
                <a:latin typeface="+mn-lt"/>
                <a:ea typeface="华文新魏" pitchFamily="2" charset="-122"/>
              </a:rPr>
              <a:t>2-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+14H</a:t>
            </a:r>
            <a:r>
              <a:rPr lang="en-US" altLang="zh-CN" sz="2400" b="1" baseline="30000" dirty="0" smtClean="0">
                <a:latin typeface="+mn-lt"/>
                <a:ea typeface="华文新魏" pitchFamily="2" charset="-122"/>
              </a:rPr>
              <a:t>+</a:t>
            </a:r>
          </a:p>
          <a:p>
            <a:pPr>
              <a:defRPr/>
            </a:pPr>
            <a:r>
              <a:rPr lang="en-US" altLang="zh-CN" sz="2400" b="1" baseline="30000" dirty="0">
                <a:latin typeface="+mn-lt"/>
                <a:ea typeface="华文新魏" pitchFamily="2" charset="-122"/>
              </a:rPr>
              <a:t> </a:t>
            </a:r>
            <a:r>
              <a:rPr lang="en-US" altLang="zh-CN" sz="2400" b="1" baseline="30000" dirty="0" smtClean="0">
                <a:latin typeface="+mn-lt"/>
                <a:ea typeface="华文新魏" pitchFamily="2" charset="-122"/>
              </a:rPr>
              <a:t>                      </a:t>
            </a:r>
            <a:r>
              <a:rPr lang="en-US" altLang="zh-CN" sz="2400" b="1" dirty="0" smtClean="0">
                <a:latin typeface="+mn-lt"/>
                <a:ea typeface="华文新魏" pitchFamily="2" charset="-122"/>
              </a:rPr>
              <a:t>=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6Fe</a:t>
            </a:r>
            <a:r>
              <a:rPr lang="en-US" altLang="zh-CN" sz="2400" b="1" baseline="30000" dirty="0">
                <a:latin typeface="+mn-lt"/>
                <a:ea typeface="华文新魏" pitchFamily="2" charset="-122"/>
              </a:rPr>
              <a:t>3+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+2Cr</a:t>
            </a:r>
            <a:r>
              <a:rPr lang="en-US" altLang="zh-CN" sz="2400" b="1" baseline="30000" dirty="0">
                <a:latin typeface="+mn-lt"/>
                <a:ea typeface="华文新魏" pitchFamily="2" charset="-122"/>
              </a:rPr>
              <a:t>3+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+7H</a:t>
            </a:r>
            <a:r>
              <a:rPr lang="en-US" altLang="zh-CN" sz="2400" b="1" baseline="-25000" dirty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O</a:t>
            </a:r>
            <a:endParaRPr lang="zh-CN" altLang="zh-CN" sz="2400" b="1" dirty="0">
              <a:latin typeface="+mn-lt"/>
              <a:ea typeface="华文新魏" pitchFamily="2" charset="-122"/>
            </a:endParaRPr>
          </a:p>
          <a:p>
            <a:pPr>
              <a:defRPr/>
            </a:pPr>
            <a:r>
              <a:rPr lang="zh-CN" altLang="zh-CN" sz="2400" b="1" dirty="0">
                <a:latin typeface="+mn-lt"/>
                <a:ea typeface="华文新魏" pitchFamily="2" charset="-122"/>
              </a:rPr>
              <a:t>过量的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Fe</a:t>
            </a:r>
            <a:r>
              <a:rPr lang="en-US" altLang="zh-CN" sz="2400" b="1" baseline="30000" dirty="0">
                <a:latin typeface="+mn-lt"/>
                <a:ea typeface="华文新魏" pitchFamily="2" charset="-122"/>
              </a:rPr>
              <a:t>2+</a:t>
            </a:r>
            <a:r>
              <a:rPr lang="zh-CN" altLang="zh-CN" sz="2400" b="1" dirty="0">
                <a:latin typeface="+mn-lt"/>
                <a:ea typeface="华文新魏" pitchFamily="2" charset="-122"/>
              </a:rPr>
              <a:t>与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KMnO</a:t>
            </a:r>
            <a:r>
              <a:rPr lang="en-US" altLang="zh-CN" sz="2400" b="1" baseline="-25000" dirty="0">
                <a:latin typeface="+mn-lt"/>
                <a:ea typeface="华文新魏" pitchFamily="2" charset="-122"/>
              </a:rPr>
              <a:t>4</a:t>
            </a:r>
            <a:r>
              <a:rPr lang="zh-CN" altLang="zh-CN" sz="2400" b="1" dirty="0">
                <a:latin typeface="+mn-lt"/>
                <a:ea typeface="华文新魏" pitchFamily="2" charset="-122"/>
              </a:rPr>
              <a:t>溶液反应</a:t>
            </a:r>
          </a:p>
          <a:p>
            <a:pPr>
              <a:defRPr/>
            </a:pPr>
            <a:r>
              <a:rPr lang="en-US" altLang="zh-CN" sz="2400" b="1" dirty="0">
                <a:latin typeface="+mn-lt"/>
                <a:ea typeface="华文新魏" pitchFamily="2" charset="-122"/>
              </a:rPr>
              <a:t>5Fe</a:t>
            </a:r>
            <a:r>
              <a:rPr lang="en-US" altLang="zh-CN" sz="2400" b="1" baseline="30000" dirty="0">
                <a:latin typeface="+mn-lt"/>
                <a:ea typeface="华文新魏" pitchFamily="2" charset="-122"/>
              </a:rPr>
              <a:t>2+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+MnO</a:t>
            </a:r>
            <a:r>
              <a:rPr lang="en-US" altLang="zh-CN" sz="2400" b="1" baseline="-25000" dirty="0">
                <a:latin typeface="+mn-lt"/>
                <a:ea typeface="华文新魏" pitchFamily="2" charset="-122"/>
              </a:rPr>
              <a:t>4</a:t>
            </a:r>
            <a:r>
              <a:rPr lang="en-US" altLang="zh-CN" sz="2400" b="1" baseline="30000" dirty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+8H</a:t>
            </a:r>
            <a:r>
              <a:rPr lang="en-US" altLang="zh-CN" sz="2400" b="1" baseline="30000" dirty="0">
                <a:latin typeface="+mn-lt"/>
                <a:ea typeface="华文新魏" pitchFamily="2" charset="-122"/>
              </a:rPr>
              <a:t>+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=6Fe</a:t>
            </a:r>
            <a:r>
              <a:rPr lang="en-US" altLang="zh-CN" sz="2400" b="1" baseline="30000" dirty="0">
                <a:latin typeface="+mn-lt"/>
                <a:ea typeface="华文新魏" pitchFamily="2" charset="-122"/>
              </a:rPr>
              <a:t>3+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+Mn</a:t>
            </a:r>
            <a:r>
              <a:rPr lang="en-US" altLang="zh-CN" sz="2400" b="1" baseline="30000" dirty="0">
                <a:latin typeface="+mn-lt"/>
                <a:ea typeface="华文新魏" pitchFamily="2" charset="-122"/>
              </a:rPr>
              <a:t>2+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+4H</a:t>
            </a:r>
            <a:r>
              <a:rPr lang="en-US" altLang="zh-CN" sz="2400" b="1" baseline="-25000" dirty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O</a:t>
            </a:r>
            <a:endParaRPr lang="zh-CN" altLang="zh-CN" sz="2400" b="1" dirty="0">
              <a:latin typeface="+mn-lt"/>
              <a:ea typeface="华文新魏" pitchFamily="2" charset="-122"/>
            </a:endParaRPr>
          </a:p>
          <a:p>
            <a:pPr>
              <a:defRPr/>
            </a:pP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57012"/>
            <a:ext cx="5329238" cy="1954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5-21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将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1.000g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钢样中的铬氧化成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Cr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7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  <a:cs typeface="Times New Roman"/>
              </a:rPr>
              <a:t>－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，加入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25.00mL 0.1000mol·L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  <a:cs typeface="Times New Roman"/>
              </a:rPr>
              <a:t>－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FeSO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标准溶液，然后用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0.01800mol· L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  <a:cs typeface="Times New Roman"/>
              </a:rPr>
              <a:t>－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KMnO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标准溶液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7.00mL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回滴过量的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FeSO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。计算钢中铬的质量分数。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3.24%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22535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536" name="Rectangle 9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481763" y="2952750"/>
          <a:ext cx="3671887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9" name="公式" r:id="rId4" imgW="1879600" imgH="406400" progId="Equation.3">
                  <p:embed/>
                </p:oleObj>
              </mc:Choice>
              <mc:Fallback>
                <p:oleObj name="公式" r:id="rId4" imgW="1879600" imgH="406400" progId="Equation.3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1763" y="2952750"/>
                        <a:ext cx="3671887" cy="801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en-US" altLang="zh-CN" sz="2400" b="1" kern="100" dirty="0">
                <a:latin typeface="+mn-lt"/>
                <a:ea typeface="华文新魏" pitchFamily="2" charset="-122"/>
              </a:rPr>
              <a:t>6Fe</a:t>
            </a:r>
            <a:r>
              <a:rPr lang="en-US" altLang="zh-CN" sz="2400" b="1" kern="100" baseline="30000" dirty="0">
                <a:latin typeface="+mn-lt"/>
                <a:ea typeface="华文新魏" pitchFamily="2" charset="-122"/>
              </a:rPr>
              <a:t>2+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+Cr</a:t>
            </a:r>
            <a:r>
              <a:rPr lang="en-US" altLang="zh-CN" sz="2400" b="1" kern="100" baseline="-25000" dirty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+mn-lt"/>
                <a:ea typeface="华文新魏" pitchFamily="2" charset="-122"/>
              </a:rPr>
              <a:t>7</a:t>
            </a:r>
            <a:r>
              <a:rPr lang="en-US" altLang="zh-CN" sz="2400" b="1" kern="100" baseline="30000" dirty="0">
                <a:latin typeface="+mn-lt"/>
                <a:ea typeface="华文新魏" pitchFamily="2" charset="-122"/>
              </a:rPr>
              <a:t>2-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+14H</a:t>
            </a:r>
            <a:r>
              <a:rPr lang="en-US" altLang="zh-CN" sz="2400" b="1" kern="100" baseline="30000" dirty="0">
                <a:latin typeface="+mn-lt"/>
                <a:ea typeface="华文新魏" pitchFamily="2" charset="-122"/>
              </a:rPr>
              <a:t>+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=2Cr</a:t>
            </a:r>
            <a:r>
              <a:rPr lang="en-US" altLang="zh-CN" sz="2400" b="1" kern="100" baseline="30000" dirty="0">
                <a:latin typeface="+mn-lt"/>
                <a:ea typeface="华文新魏" pitchFamily="2" charset="-122"/>
              </a:rPr>
              <a:t>3+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+7H</a:t>
            </a:r>
            <a:r>
              <a:rPr lang="en-US" altLang="zh-CN" sz="2400" b="1" kern="100" baseline="-25000" dirty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O</a:t>
            </a:r>
            <a:endParaRPr kumimoji="1" lang="en-US" altLang="zh-CN" sz="2400" b="1" dirty="0" smtClean="0">
              <a:latin typeface="+mn-lt"/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44483"/>
            <a:ext cx="5329238" cy="2324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ts val="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5-22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以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K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Cr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7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标准溶液滴定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0.4000g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褐铁矿，其所用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K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Cr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7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溶液的毫升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数</a:t>
            </a:r>
            <a:endParaRPr lang="en-US" altLang="zh-CN" sz="2400" b="1" kern="100" dirty="0" smtClean="0">
              <a:latin typeface="Times New Roman"/>
              <a:ea typeface="华文新魏" pitchFamily="2" charset="-122"/>
              <a:cs typeface="Times New Roman"/>
            </a:endParaRPr>
          </a:p>
          <a:p>
            <a:pPr marL="0" indent="0">
              <a:spcBef>
                <a:spcPts val="0"/>
              </a:spcBef>
              <a:buClr>
                <a:srgbClr val="FFFFCC"/>
              </a:buClr>
              <a:buSzPct val="90000"/>
              <a:defRPr/>
            </a:pP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（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XmL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）与试样中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Fe 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 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的质量分数（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X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％）相等。求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K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Cr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7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溶液对铁的滴定度。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0.002797 g·mL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23559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560" name="Rectangle 9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850063" y="1265238"/>
          <a:ext cx="320040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6" name="公式" r:id="rId4" imgW="1536700" imgH="431800" progId="Equation.3">
                  <p:embed/>
                </p:oleObj>
              </mc:Choice>
              <mc:Fallback>
                <p:oleObj name="公式" r:id="rId4" imgW="1536700" imgH="431800" progId="Equation.3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0063" y="1265238"/>
                        <a:ext cx="3200400" cy="895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2" name="Rectangle 1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554788" y="2303463"/>
          <a:ext cx="4205287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7" name="公式" r:id="rId6" imgW="2044700" imgH="774700" progId="Equation.3">
                  <p:embed/>
                </p:oleObj>
              </mc:Choice>
              <mc:Fallback>
                <p:oleObj name="公式" r:id="rId6" imgW="2044700" imgH="774700" progId="Equation.3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4788" y="2303463"/>
                        <a:ext cx="4205287" cy="158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157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碘量法中硫代硫酸钠的标定反应。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latin typeface="+mn-lt"/>
                <a:ea typeface="华文新魏" pitchFamily="2" charset="-122"/>
              </a:rPr>
              <a:t>IO</a:t>
            </a:r>
            <a:r>
              <a:rPr lang="en-US" altLang="zh-CN" sz="2400" b="1" kern="100" baseline="-25000" dirty="0">
                <a:latin typeface="+mn-lt"/>
                <a:ea typeface="华文新魏" pitchFamily="2" charset="-122"/>
              </a:rPr>
              <a:t>3</a:t>
            </a:r>
            <a:r>
              <a:rPr lang="en-US" altLang="zh-CN" sz="2400" b="1" kern="100" baseline="30000" dirty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+5I</a:t>
            </a:r>
            <a:r>
              <a:rPr lang="en-US" altLang="zh-CN" sz="2400" b="1" kern="100" baseline="30000" dirty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+6H</a:t>
            </a:r>
            <a:r>
              <a:rPr lang="en-US" altLang="zh-CN" sz="2400" b="1" kern="100" baseline="30000" dirty="0">
                <a:latin typeface="+mn-lt"/>
                <a:ea typeface="华文新魏" pitchFamily="2" charset="-122"/>
              </a:rPr>
              <a:t>+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=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3I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+3H</a:t>
            </a:r>
            <a:r>
              <a:rPr lang="en-US" altLang="zh-CN" sz="2400" b="1" kern="100" baseline="-25000" dirty="0" smtClean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O</a:t>
            </a:r>
          </a:p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latin typeface="+mn-lt"/>
                <a:ea typeface="华文新魏" pitchFamily="2" charset="-122"/>
              </a:rPr>
              <a:t> </a:t>
            </a:r>
            <a:r>
              <a:rPr lang="en-US" altLang="zh-CN" sz="2400" b="1" kern="100" dirty="0" smtClean="0">
                <a:latin typeface="+mn-lt"/>
                <a:ea typeface="华文新魏" pitchFamily="2" charset="-122"/>
              </a:rPr>
              <a:t> 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I</a:t>
            </a:r>
            <a:r>
              <a:rPr lang="en-US" altLang="zh-CN" sz="2400" b="1" kern="100" baseline="-25000" dirty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+2S</a:t>
            </a:r>
            <a:r>
              <a:rPr lang="en-US" altLang="zh-CN" sz="2400" b="1" kern="100" baseline="-25000" dirty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+mn-lt"/>
                <a:ea typeface="华文新魏" pitchFamily="2" charset="-122"/>
              </a:rPr>
              <a:t>3</a:t>
            </a:r>
            <a:r>
              <a:rPr lang="en-US" altLang="zh-CN" sz="2400" b="1" kern="100" baseline="30000" dirty="0">
                <a:latin typeface="+mn-lt"/>
                <a:ea typeface="华文新魏" pitchFamily="2" charset="-122"/>
              </a:rPr>
              <a:t>2-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=2I</a:t>
            </a:r>
            <a:r>
              <a:rPr lang="en-US" altLang="zh-CN" sz="2400" b="1" kern="100" baseline="30000" dirty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+S</a:t>
            </a:r>
            <a:r>
              <a:rPr lang="en-US" altLang="zh-CN" sz="2400" b="1" kern="100" baseline="-25000" dirty="0">
                <a:latin typeface="+mn-lt"/>
                <a:ea typeface="华文新魏" pitchFamily="2" charset="-122"/>
              </a:rPr>
              <a:t>4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+mn-lt"/>
                <a:ea typeface="华文新魏" pitchFamily="2" charset="-122"/>
              </a:rPr>
              <a:t>6</a:t>
            </a:r>
            <a:r>
              <a:rPr lang="en-US" altLang="zh-CN" sz="2400" b="1" kern="100" baseline="30000" dirty="0">
                <a:latin typeface="+mn-lt"/>
                <a:ea typeface="华文新魏" pitchFamily="2" charset="-122"/>
              </a:rPr>
              <a:t>2-</a:t>
            </a:r>
            <a:endParaRPr lang="zh-CN" altLang="zh-CN" sz="2400" b="1" kern="100" dirty="0">
              <a:latin typeface="+mn-lt"/>
              <a:ea typeface="华文新魏" pitchFamily="2" charset="-122"/>
            </a:endParaRPr>
          </a:p>
          <a:p>
            <a:pPr eaLnBrk="1" hangingPunct="1">
              <a:defRPr/>
            </a:pP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412746"/>
            <a:ext cx="5257800" cy="2398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5-23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KIO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作基准物标定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Na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溶液。称取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0.1500g KIO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与过量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KI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作用，析出的碘用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Na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溶液滴定，用去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24.00mL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。求此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Na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溶液的浓度。每毫升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Na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溶液相当多少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g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碘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?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0.02223 g·mL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24583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584" name="Rectangle 9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7273925" y="1871663"/>
          <a:ext cx="2266950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2" name="公式" r:id="rId4" imgW="1066337" imgH="406224" progId="Equation.3">
                  <p:embed/>
                </p:oleObj>
              </mc:Choice>
              <mc:Fallback>
                <p:oleObj name="公式" r:id="rId4" imgW="1066337" imgH="406224" progId="Equation.3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3925" y="1871663"/>
                        <a:ext cx="2266950" cy="868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6" name="Rectangle 1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711950" y="2735263"/>
          <a:ext cx="4368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3" name="公式" r:id="rId6" imgW="2108200" imgH="406400" progId="Equation.3">
                  <p:embed/>
                </p:oleObj>
              </mc:Choice>
              <mc:Fallback>
                <p:oleObj name="公式" r:id="rId6" imgW="2108200" imgH="406400" progId="Equation.3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1950" y="2735263"/>
                        <a:ext cx="4368800" cy="85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304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间接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碘量法</a:t>
            </a:r>
            <a:endParaRPr lang="en-US" altLang="zh-CN" sz="2400" b="1" kern="100" dirty="0" smtClean="0">
              <a:latin typeface="Times New Roman"/>
              <a:ea typeface="华文新魏" pitchFamily="2" charset="-122"/>
              <a:cs typeface="Times New Roman"/>
            </a:endParaRPr>
          </a:p>
          <a:p>
            <a:pPr>
              <a:defRPr/>
            </a:pPr>
            <a:r>
              <a:rPr lang="en-US" altLang="zh-CN" sz="2400" b="1" dirty="0">
                <a:latin typeface="+mn-lt"/>
                <a:ea typeface="华文新魏" pitchFamily="2" charset="-122"/>
              </a:rPr>
              <a:t>As</a:t>
            </a:r>
            <a:r>
              <a:rPr lang="en-US" altLang="zh-CN" sz="2400" b="1" baseline="-25000" dirty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O</a:t>
            </a:r>
            <a:r>
              <a:rPr lang="en-US" altLang="zh-CN" sz="2400" b="1" baseline="-25000" dirty="0">
                <a:latin typeface="+mn-lt"/>
                <a:ea typeface="华文新魏" pitchFamily="2" charset="-122"/>
              </a:rPr>
              <a:t>3</a:t>
            </a:r>
            <a:r>
              <a:rPr lang="zh-CN" altLang="zh-CN" sz="2400" b="1" dirty="0">
                <a:latin typeface="+mn-lt"/>
                <a:ea typeface="华文新魏" pitchFamily="2" charset="-122"/>
              </a:rPr>
              <a:t>溶液即为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H</a:t>
            </a:r>
            <a:r>
              <a:rPr lang="en-US" altLang="zh-CN" sz="2400" b="1" baseline="-25000" dirty="0">
                <a:latin typeface="+mn-lt"/>
                <a:ea typeface="华文新魏" pitchFamily="2" charset="-122"/>
              </a:rPr>
              <a:t>3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AsO</a:t>
            </a:r>
            <a:r>
              <a:rPr lang="en-US" altLang="zh-CN" sz="2400" b="1" baseline="-25000" dirty="0">
                <a:latin typeface="+mn-lt"/>
                <a:ea typeface="华文新魏" pitchFamily="2" charset="-122"/>
              </a:rPr>
              <a:t>3</a:t>
            </a:r>
            <a:endParaRPr lang="zh-CN" altLang="zh-CN" sz="2400" b="1" dirty="0">
              <a:latin typeface="+mn-lt"/>
              <a:ea typeface="华文新魏" pitchFamily="2" charset="-122"/>
            </a:endParaRPr>
          </a:p>
          <a:p>
            <a:pPr>
              <a:defRPr/>
            </a:pPr>
            <a:r>
              <a:rPr lang="zh-CN" altLang="zh-CN" sz="2400" b="1" dirty="0">
                <a:latin typeface="+mn-lt"/>
                <a:ea typeface="华文新魏" pitchFamily="2" charset="-122"/>
              </a:rPr>
              <a:t>在中性溶液中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H</a:t>
            </a:r>
            <a:r>
              <a:rPr lang="en-US" altLang="zh-CN" sz="2400" b="1" baseline="-25000" dirty="0">
                <a:latin typeface="+mn-lt"/>
                <a:ea typeface="华文新魏" pitchFamily="2" charset="-122"/>
              </a:rPr>
              <a:t>3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AsO</a:t>
            </a:r>
            <a:r>
              <a:rPr lang="en-US" altLang="zh-CN" sz="2400" b="1" baseline="-25000" dirty="0">
                <a:latin typeface="+mn-lt"/>
                <a:ea typeface="华文新魏" pitchFamily="2" charset="-122"/>
              </a:rPr>
              <a:t>3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+I</a:t>
            </a:r>
            <a:r>
              <a:rPr lang="en-US" altLang="zh-CN" sz="2400" b="1" baseline="-25000" dirty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+H</a:t>
            </a:r>
            <a:r>
              <a:rPr lang="en-US" altLang="zh-CN" sz="2400" b="1" baseline="-25000" dirty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O=H</a:t>
            </a:r>
            <a:r>
              <a:rPr lang="en-US" altLang="zh-CN" sz="2400" b="1" baseline="-25000" dirty="0">
                <a:latin typeface="+mn-lt"/>
                <a:ea typeface="华文新魏" pitchFamily="2" charset="-122"/>
              </a:rPr>
              <a:t>3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AsO</a:t>
            </a:r>
            <a:r>
              <a:rPr lang="en-US" altLang="zh-CN" sz="2400" b="1" baseline="-25000" dirty="0">
                <a:latin typeface="+mn-lt"/>
                <a:ea typeface="华文新魏" pitchFamily="2" charset="-122"/>
              </a:rPr>
              <a:t>4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+2I</a:t>
            </a:r>
            <a:r>
              <a:rPr lang="en-US" altLang="zh-CN" sz="2400" b="1" baseline="30000" dirty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+2H</a:t>
            </a:r>
            <a:r>
              <a:rPr lang="en-US" altLang="zh-CN" sz="2400" b="1" baseline="30000" dirty="0" smtClean="0">
                <a:latin typeface="+mn-lt"/>
                <a:ea typeface="华文新魏" pitchFamily="2" charset="-122"/>
              </a:rPr>
              <a:t>+</a:t>
            </a:r>
          </a:p>
          <a:p>
            <a:pPr>
              <a:defRPr/>
            </a:pPr>
            <a:r>
              <a:rPr lang="zh-CN" altLang="zh-CN" sz="2400" b="1" dirty="0">
                <a:latin typeface="+mn-lt"/>
                <a:ea typeface="华文新魏" pitchFamily="2" charset="-122"/>
              </a:rPr>
              <a:t>在强酸性溶液中加入过量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KI</a:t>
            </a:r>
            <a:r>
              <a:rPr lang="zh-CN" altLang="zh-CN" sz="2400" b="1" dirty="0">
                <a:latin typeface="+mn-lt"/>
                <a:ea typeface="华文新魏" pitchFamily="2" charset="-122"/>
              </a:rPr>
              <a:t>，使溶液中全部的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As(</a:t>
            </a:r>
            <a:r>
              <a:rPr lang="zh-CN" altLang="zh-CN" sz="2400" b="1" dirty="0">
                <a:latin typeface="+mn-lt"/>
                <a:ea typeface="华文新魏" pitchFamily="2" charset="-122"/>
              </a:rPr>
              <a:t>Ⅴ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)</a:t>
            </a:r>
            <a:r>
              <a:rPr lang="zh-CN" altLang="zh-CN" sz="2400" b="1" dirty="0">
                <a:latin typeface="+mn-lt"/>
                <a:ea typeface="华文新魏" pitchFamily="2" charset="-122"/>
              </a:rPr>
              <a:t>反应生成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As(</a:t>
            </a:r>
            <a:r>
              <a:rPr lang="zh-CN" altLang="zh-CN" sz="2400" b="1" dirty="0">
                <a:latin typeface="+mn-lt"/>
                <a:ea typeface="华文新魏" pitchFamily="2" charset="-122"/>
              </a:rPr>
              <a:t>Ⅲ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)</a:t>
            </a:r>
            <a:endParaRPr lang="zh-CN" altLang="zh-CN" sz="2400" b="1" dirty="0">
              <a:latin typeface="+mn-lt"/>
              <a:ea typeface="华文新魏" pitchFamily="2" charset="-122"/>
            </a:endParaRPr>
          </a:p>
          <a:p>
            <a:pPr>
              <a:defRPr/>
            </a:pPr>
            <a:r>
              <a:rPr lang="en-US" altLang="zh-CN" sz="2400" b="1" dirty="0">
                <a:latin typeface="+mn-lt"/>
                <a:ea typeface="华文新魏" pitchFamily="2" charset="-122"/>
              </a:rPr>
              <a:t>H</a:t>
            </a:r>
            <a:r>
              <a:rPr lang="en-US" altLang="zh-CN" sz="2400" b="1" baseline="-25000" dirty="0">
                <a:latin typeface="+mn-lt"/>
                <a:ea typeface="华文新魏" pitchFamily="2" charset="-122"/>
              </a:rPr>
              <a:t>3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AsO</a:t>
            </a:r>
            <a:r>
              <a:rPr lang="en-US" altLang="zh-CN" sz="2400" b="1" baseline="-25000" dirty="0">
                <a:latin typeface="+mn-lt"/>
                <a:ea typeface="华文新魏" pitchFamily="2" charset="-122"/>
              </a:rPr>
              <a:t>4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+2I</a:t>
            </a:r>
            <a:r>
              <a:rPr lang="en-US" altLang="zh-CN" sz="2400" b="1" baseline="30000" dirty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+2H</a:t>
            </a:r>
            <a:r>
              <a:rPr lang="en-US" altLang="zh-CN" sz="2400" b="1" baseline="30000" dirty="0">
                <a:latin typeface="+mn-lt"/>
                <a:ea typeface="华文新魏" pitchFamily="2" charset="-122"/>
              </a:rPr>
              <a:t>+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=H</a:t>
            </a:r>
            <a:r>
              <a:rPr lang="en-US" altLang="zh-CN" sz="2400" b="1" baseline="-25000" dirty="0">
                <a:latin typeface="+mn-lt"/>
                <a:ea typeface="华文新魏" pitchFamily="2" charset="-122"/>
              </a:rPr>
              <a:t>3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AsO</a:t>
            </a:r>
            <a:r>
              <a:rPr lang="en-US" altLang="zh-CN" sz="2400" b="1" baseline="-25000" dirty="0">
                <a:latin typeface="+mn-lt"/>
                <a:ea typeface="华文新魏" pitchFamily="2" charset="-122"/>
              </a:rPr>
              <a:t>3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+I</a:t>
            </a:r>
            <a:r>
              <a:rPr lang="en-US" altLang="zh-CN" sz="2400" b="1" baseline="-25000" dirty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+H</a:t>
            </a:r>
            <a:r>
              <a:rPr lang="en-US" altLang="zh-CN" sz="2400" b="1" baseline="-25000" dirty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O</a:t>
            </a:r>
            <a:endParaRPr lang="zh-CN" altLang="zh-CN" sz="2400" b="1" dirty="0">
              <a:latin typeface="+mn-lt"/>
              <a:ea typeface="华文新魏" pitchFamily="2" charset="-122"/>
            </a:endParaRPr>
          </a:p>
          <a:p>
            <a:pPr>
              <a:defRPr/>
            </a:pPr>
            <a:r>
              <a:rPr lang="en-US" altLang="zh-CN" sz="2400" b="1" dirty="0">
                <a:latin typeface="+mn-lt"/>
                <a:ea typeface="华文新魏" pitchFamily="2" charset="-122"/>
              </a:rPr>
              <a:t>I</a:t>
            </a:r>
            <a:r>
              <a:rPr lang="en-US" altLang="zh-CN" sz="2400" b="1" baseline="-25000" dirty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+2S</a:t>
            </a:r>
            <a:r>
              <a:rPr lang="en-US" altLang="zh-CN" sz="2400" b="1" baseline="-25000" dirty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O</a:t>
            </a:r>
            <a:r>
              <a:rPr lang="en-US" altLang="zh-CN" sz="2400" b="1" baseline="-25000" dirty="0">
                <a:latin typeface="+mn-lt"/>
                <a:ea typeface="华文新魏" pitchFamily="2" charset="-122"/>
              </a:rPr>
              <a:t>3</a:t>
            </a:r>
            <a:r>
              <a:rPr lang="en-US" altLang="zh-CN" sz="2400" b="1" baseline="30000" dirty="0">
                <a:latin typeface="+mn-lt"/>
                <a:ea typeface="华文新魏" pitchFamily="2" charset="-122"/>
              </a:rPr>
              <a:t>2-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=2I</a:t>
            </a:r>
            <a:r>
              <a:rPr lang="en-US" altLang="zh-CN" sz="2400" b="1" baseline="30000" dirty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+</a:t>
            </a:r>
            <a:r>
              <a:rPr lang="en-US" altLang="zh-CN" sz="2400" b="1" dirty="0" smtClean="0">
                <a:latin typeface="+mn-lt"/>
                <a:ea typeface="华文新魏" pitchFamily="2" charset="-122"/>
              </a:rPr>
              <a:t>S</a:t>
            </a:r>
            <a:r>
              <a:rPr lang="en-US" altLang="zh-CN" sz="2400" b="1" baseline="-25000" dirty="0" smtClean="0">
                <a:latin typeface="+mn-lt"/>
                <a:ea typeface="华文新魏" pitchFamily="2" charset="-122"/>
              </a:rPr>
              <a:t>4</a:t>
            </a:r>
            <a:r>
              <a:rPr lang="en-US" altLang="zh-CN" sz="2400" b="1" dirty="0" smtClean="0">
                <a:latin typeface="+mn-lt"/>
                <a:ea typeface="华文新魏" pitchFamily="2" charset="-122"/>
              </a:rPr>
              <a:t>O</a:t>
            </a:r>
            <a:r>
              <a:rPr lang="en-US" altLang="zh-CN" sz="2400" b="1" baseline="-25000" dirty="0" smtClean="0">
                <a:latin typeface="+mn-lt"/>
                <a:ea typeface="华文新魏" pitchFamily="2" charset="-122"/>
              </a:rPr>
              <a:t>6</a:t>
            </a:r>
            <a:r>
              <a:rPr lang="en-US" altLang="zh-CN" sz="2400" b="1" baseline="30000" dirty="0" smtClean="0">
                <a:latin typeface="+mn-lt"/>
                <a:ea typeface="华文新魏" pitchFamily="2" charset="-122"/>
              </a:rPr>
              <a:t>2-</a:t>
            </a:r>
            <a:endParaRPr kumimoji="1" lang="en-US" altLang="zh-CN" sz="2400" b="1" dirty="0" smtClean="0">
              <a:latin typeface="+mn-lt"/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23850"/>
            <a:ext cx="5329238" cy="3062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5-24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现有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含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As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与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As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5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及其他无干扰杂质的试样，将此试样溶解后，在中性溶液中用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0.02500mol·L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  <a:cs typeface="Times New Roman"/>
              </a:rPr>
              <a:t>－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1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碘液滴定，耗去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20.00mL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。滴定完毕后，使溶液呈强酸性，加入过量的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KI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，由此析出的碘又用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0.1500mol· L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  <a:cs typeface="Times New Roman"/>
              </a:rPr>
              <a:t>－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1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Na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S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溶液滴定，耗去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30.00mL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。计算试样中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As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As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5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混合物的质量。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0.2505g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25607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碘量法中的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返滴定法</a:t>
            </a:r>
            <a:endParaRPr lang="en-US" altLang="zh-CN" sz="2400" b="1" kern="100" dirty="0" smtClean="0">
              <a:latin typeface="Times New Roman"/>
              <a:ea typeface="华文新魏" pitchFamily="2" charset="-122"/>
              <a:cs typeface="Times New Roman"/>
            </a:endParaRPr>
          </a:p>
          <a:p>
            <a:pPr algn="ctr">
              <a:spcAft>
                <a:spcPts val="0"/>
              </a:spcAft>
              <a:defRPr/>
            </a:pPr>
            <a:r>
              <a:rPr lang="en-US" altLang="zh-CN" sz="2400" b="1" kern="100" dirty="0">
                <a:latin typeface="+mn-lt"/>
                <a:ea typeface="华文新魏" pitchFamily="2" charset="-122"/>
              </a:rPr>
              <a:t>C</a:t>
            </a:r>
            <a:r>
              <a:rPr lang="en-US" altLang="zh-CN" sz="2400" b="1" kern="100" baseline="-25000" dirty="0">
                <a:latin typeface="+mn-lt"/>
                <a:ea typeface="华文新魏" pitchFamily="2" charset="-122"/>
              </a:rPr>
              <a:t>6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H</a:t>
            </a:r>
            <a:r>
              <a:rPr lang="en-US" altLang="zh-CN" sz="2400" b="1" kern="100" baseline="-25000" dirty="0">
                <a:latin typeface="+mn-lt"/>
                <a:ea typeface="华文新魏" pitchFamily="2" charset="-122"/>
              </a:rPr>
              <a:t>8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+mn-lt"/>
                <a:ea typeface="华文新魏" pitchFamily="2" charset="-122"/>
              </a:rPr>
              <a:t>6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+I</a:t>
            </a:r>
            <a:r>
              <a:rPr lang="en-US" altLang="zh-CN" sz="2400" b="1" kern="100" baseline="-25000" dirty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=C</a:t>
            </a:r>
            <a:r>
              <a:rPr lang="en-US" altLang="zh-CN" sz="2400" b="1" kern="100" baseline="-25000" dirty="0">
                <a:latin typeface="+mn-lt"/>
                <a:ea typeface="华文新魏" pitchFamily="2" charset="-122"/>
              </a:rPr>
              <a:t>6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H</a:t>
            </a:r>
            <a:r>
              <a:rPr lang="en-US" altLang="zh-CN" sz="2400" b="1" kern="100" baseline="-25000" dirty="0">
                <a:latin typeface="+mn-lt"/>
                <a:ea typeface="华文新魏" pitchFamily="2" charset="-122"/>
              </a:rPr>
              <a:t>6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+mn-lt"/>
                <a:ea typeface="华文新魏" pitchFamily="2" charset="-122"/>
              </a:rPr>
              <a:t>6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+2H</a:t>
            </a:r>
            <a:r>
              <a:rPr lang="en-US" altLang="zh-CN" sz="2400" b="1" kern="100" baseline="30000" dirty="0">
                <a:latin typeface="+mn-lt"/>
                <a:ea typeface="华文新魏" pitchFamily="2" charset="-122"/>
              </a:rPr>
              <a:t>+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+2I</a:t>
            </a:r>
            <a:r>
              <a:rPr lang="en-US" altLang="zh-CN" sz="2400" b="1" kern="100" baseline="30000" dirty="0">
                <a:latin typeface="+mn-lt"/>
                <a:ea typeface="华文新魏" pitchFamily="2" charset="-122"/>
              </a:rPr>
              <a:t>-</a:t>
            </a:r>
            <a:endParaRPr lang="zh-CN" altLang="zh-CN" sz="2400" b="1" kern="100" dirty="0">
              <a:latin typeface="+mn-lt"/>
              <a:ea typeface="华文新魏" pitchFamily="2" charset="-122"/>
            </a:endParaRPr>
          </a:p>
          <a:p>
            <a:pPr algn="ctr">
              <a:defRPr/>
            </a:pPr>
            <a:r>
              <a:rPr lang="en-US" altLang="zh-CN" sz="2400" b="1" kern="100" dirty="0">
                <a:latin typeface="+mn-lt"/>
                <a:ea typeface="华文新魏" pitchFamily="2" charset="-122"/>
              </a:rPr>
              <a:t>I</a:t>
            </a:r>
            <a:r>
              <a:rPr lang="en-US" altLang="zh-CN" sz="2400" b="1" kern="100" baseline="-25000" dirty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+2S</a:t>
            </a:r>
            <a:r>
              <a:rPr lang="en-US" altLang="zh-CN" sz="2400" b="1" kern="100" baseline="-25000" dirty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+mn-lt"/>
                <a:ea typeface="华文新魏" pitchFamily="2" charset="-122"/>
              </a:rPr>
              <a:t>3</a:t>
            </a:r>
            <a:r>
              <a:rPr lang="en-US" altLang="zh-CN" sz="2400" b="1" kern="100" baseline="30000" dirty="0">
                <a:latin typeface="+mn-lt"/>
                <a:ea typeface="华文新魏" pitchFamily="2" charset="-122"/>
              </a:rPr>
              <a:t>2-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=2I</a:t>
            </a:r>
            <a:r>
              <a:rPr lang="en-US" altLang="zh-CN" sz="2400" b="1" kern="100" baseline="30000" dirty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+S</a:t>
            </a:r>
            <a:r>
              <a:rPr lang="en-US" altLang="zh-CN" sz="2400" b="1" kern="100" baseline="-25000" dirty="0">
                <a:latin typeface="+mn-lt"/>
                <a:ea typeface="华文新魏" pitchFamily="2" charset="-122"/>
              </a:rPr>
              <a:t>4</a:t>
            </a:r>
            <a:r>
              <a:rPr lang="en-US" altLang="zh-CN" sz="2400" b="1" kern="100" dirty="0">
                <a:latin typeface="+mn-lt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+mn-lt"/>
                <a:ea typeface="华文新魏" pitchFamily="2" charset="-122"/>
              </a:rPr>
              <a:t>6</a:t>
            </a:r>
            <a:r>
              <a:rPr lang="en-US" altLang="zh-CN" sz="2400" b="1" kern="100" baseline="30000" dirty="0">
                <a:latin typeface="+mn-lt"/>
                <a:ea typeface="华文新魏" pitchFamily="2" charset="-122"/>
              </a:rPr>
              <a:t>2-</a:t>
            </a:r>
            <a:endParaRPr kumimoji="1" lang="en-US" altLang="zh-CN" sz="2400" b="1" dirty="0" smtClean="0">
              <a:latin typeface="+mn-lt"/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23850"/>
            <a:ext cx="5329238" cy="3801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ts val="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5-25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抗坏血酸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（摩尔质量为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176.1g</a:t>
            </a:r>
            <a:r>
              <a:rPr lang="en-US" altLang="zh-CN" sz="2400" b="1" kern="100" dirty="0">
                <a:latin typeface="华文新魏" pitchFamily="2" charset="-122"/>
                <a:ea typeface="华文新魏" pitchFamily="2" charset="-122"/>
              </a:rPr>
              <a:t>·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mol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）是一个还原剂，其电极反应为：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marL="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6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6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6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2H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＋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 ＋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2 e </a:t>
            </a:r>
            <a:r>
              <a:rPr lang="zh-CN" altLang="en-US" sz="2400" b="1" dirty="0">
                <a:ea typeface="华文新魏" pitchFamily="2" charset="-122"/>
              </a:rPr>
              <a:t>⇌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C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6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8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6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marL="0" algn="just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它能够被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I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氧化。如果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10.00mL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柠檬水果汁样品用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HAc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酸化，并加入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20.00mL 0.02500 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mol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· L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－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I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溶液，待反应完全后，过量的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I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10.00mL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0.01000 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mol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· L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－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Na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溶液滴定，计算每毫升柠檬水果汁中抗坏血酸的质量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7.925×10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g·mL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26631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632" name="Rectangle 9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7056438" y="2149475"/>
          <a:ext cx="293370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5" name="公式" r:id="rId4" imgW="1409088" imgH="253890" progId="Equation.3">
                  <p:embed/>
                </p:oleObj>
              </mc:Choice>
              <mc:Fallback>
                <p:oleObj name="公式" r:id="rId4" imgW="1409088" imgH="253890" progId="Equation.3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6438" y="2149475"/>
                        <a:ext cx="2933700" cy="534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157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defRPr/>
            </a:pPr>
            <a:r>
              <a:rPr lang="zh-CN" altLang="zh-CN" sz="2400" b="1" kern="100" dirty="0">
                <a:solidFill>
                  <a:srgbClr val="FFFFFF"/>
                </a:solidFill>
                <a:latin typeface="Times New Roman"/>
                <a:ea typeface="华文新魏" pitchFamily="2" charset="-122"/>
                <a:cs typeface="Times New Roman"/>
              </a:rPr>
              <a:t>碘量法中的返滴定法</a:t>
            </a:r>
            <a:endParaRPr lang="en-US" altLang="zh-CN" sz="2400" b="1" kern="100" dirty="0">
              <a:solidFill>
                <a:srgbClr val="FFFFFF"/>
              </a:solidFill>
              <a:latin typeface="Times New Roman"/>
              <a:ea typeface="华文新魏" pitchFamily="2" charset="-122"/>
              <a:cs typeface="Times New Roman"/>
            </a:endParaRPr>
          </a:p>
          <a:p>
            <a:pPr eaLnBrk="1" hangingPunct="1">
              <a:defRPr/>
            </a:pPr>
            <a:r>
              <a:rPr lang="en-US" altLang="zh-CN" sz="2400" b="1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CH</a:t>
            </a:r>
            <a:r>
              <a:rPr lang="en-US" altLang="zh-CN" sz="2400" b="1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COCH</a:t>
            </a:r>
            <a:r>
              <a:rPr lang="en-US" altLang="zh-CN" sz="2400" b="1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+3I</a:t>
            </a:r>
            <a:r>
              <a:rPr lang="en-US" altLang="zh-CN" sz="2400" b="1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+4NaOH</a:t>
            </a:r>
          </a:p>
          <a:p>
            <a:pPr eaLnBrk="1" hangingPunct="1">
              <a:defRPr/>
            </a:pPr>
            <a:r>
              <a:rPr lang="en-US" altLang="zh-CN" sz="2400" b="1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       =CH</a:t>
            </a:r>
            <a:r>
              <a:rPr lang="en-US" altLang="zh-CN" sz="2400" b="1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COONa+3NaI+3H</a:t>
            </a:r>
            <a:r>
              <a:rPr lang="en-US" altLang="zh-CN" sz="2400" b="1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O+CH</a:t>
            </a:r>
            <a:r>
              <a:rPr lang="en-US" altLang="zh-CN" sz="2400" b="1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I</a:t>
            </a:r>
            <a:r>
              <a:rPr lang="en-US" altLang="zh-CN" sz="2400" b="1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3</a:t>
            </a:r>
            <a:endParaRPr lang="zh-CN" altLang="zh-CN" sz="2400" b="1" dirty="0">
              <a:solidFill>
                <a:srgbClr val="FFFFFF"/>
              </a:solidFill>
              <a:latin typeface="Times New Roman"/>
              <a:ea typeface="华文新魏" pitchFamily="2" charset="-122"/>
            </a:endParaRPr>
          </a:p>
          <a:p>
            <a:pPr algn="ctr" eaLnBrk="1" hangingPunct="1">
              <a:defRPr/>
            </a:pPr>
            <a:r>
              <a:rPr lang="en-US" altLang="zh-CN" sz="2400" b="1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 I</a:t>
            </a:r>
            <a:r>
              <a:rPr lang="en-US" altLang="zh-CN" sz="2400" b="1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+2S</a:t>
            </a:r>
            <a:r>
              <a:rPr lang="en-US" altLang="zh-CN" sz="2400" b="1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baseline="30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2-</a:t>
            </a:r>
            <a:r>
              <a:rPr lang="en-US" altLang="zh-CN" sz="2400" b="1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=2I</a:t>
            </a:r>
            <a:r>
              <a:rPr lang="en-US" altLang="zh-CN" sz="2400" b="1" baseline="30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-</a:t>
            </a:r>
            <a:r>
              <a:rPr lang="en-US" altLang="zh-CN" sz="2400" b="1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+S</a:t>
            </a:r>
            <a:r>
              <a:rPr lang="en-US" altLang="zh-CN" sz="2400" b="1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4</a:t>
            </a:r>
            <a:r>
              <a:rPr lang="en-US" altLang="zh-CN" sz="2400" b="1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baseline="-25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6</a:t>
            </a:r>
            <a:r>
              <a:rPr lang="en-US" altLang="zh-CN" sz="2400" b="1" baseline="30000" dirty="0">
                <a:solidFill>
                  <a:srgbClr val="FFFFFF"/>
                </a:solidFill>
                <a:latin typeface="Times New Roman"/>
                <a:ea typeface="华文新魏" pitchFamily="2" charset="-122"/>
              </a:rPr>
              <a:t>2-</a:t>
            </a:r>
            <a:endParaRPr lang="zh-CN" altLang="zh-CN" sz="2400" b="1" dirty="0">
              <a:solidFill>
                <a:srgbClr val="FFFFFF"/>
              </a:solidFill>
              <a:latin typeface="Times New Roman"/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323850"/>
            <a:ext cx="5329238" cy="4539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5-26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测定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某样品中丙酮的含量时，称取试样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0.1000g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于盛有</a:t>
            </a:r>
            <a:r>
              <a:rPr lang="en-US" altLang="zh-CN" sz="2400" b="1" kern="100" dirty="0" err="1">
                <a:latin typeface="Times New Roman"/>
                <a:ea typeface="华文新魏" pitchFamily="2" charset="-122"/>
              </a:rPr>
              <a:t>NaOH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溶液的碘量瓶中，振荡，精确加入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50.00mL 0.05000mol·L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－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I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标准溶液，盖好。放置一定时间后，加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H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4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调节至呈微酸性，立即用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0.1000mol·L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</a:rPr>
              <a:t>－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Na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S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溶液滴定至淀粉指示剂蓝色恰好褪去，消耗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10.00mL</a:t>
            </a: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。丙酮与碘的反应为：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marL="0">
              <a:spcAft>
                <a:spcPts val="0"/>
              </a:spcAft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CH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COCH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3I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4NaOH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＝</a:t>
            </a:r>
            <a:endParaRPr lang="en-US" altLang="zh-CN" sz="2400" b="1" kern="100" dirty="0" smtClean="0">
              <a:latin typeface="Times New Roman"/>
              <a:ea typeface="华文新魏" pitchFamily="2" charset="-122"/>
            </a:endParaRPr>
          </a:p>
          <a:p>
            <a:pPr marL="0" algn="r">
              <a:spcAft>
                <a:spcPts val="0"/>
              </a:spcAft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  CH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3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COONa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3NaI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3H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O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＋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CHI</a:t>
            </a:r>
            <a:r>
              <a:rPr lang="en-US" altLang="zh-CN" sz="2400" b="1" kern="100" baseline="-25000" dirty="0" smtClean="0">
                <a:latin typeface="Times New Roman"/>
                <a:ea typeface="华文新魏" pitchFamily="2" charset="-122"/>
              </a:rPr>
              <a:t>3</a:t>
            </a:r>
            <a:endParaRPr lang="zh-CN" altLang="zh-CN" sz="1050" kern="100" dirty="0">
              <a:latin typeface="Times New Roman"/>
              <a:ea typeface="宋体"/>
            </a:endParaRPr>
          </a:p>
          <a:p>
            <a:pPr marL="0" algn="just">
              <a:spcAft>
                <a:spcPts val="0"/>
              </a:spcAft>
              <a:defRPr/>
            </a:pPr>
            <a:r>
              <a:rPr lang="zh-CN" altLang="zh-CN" sz="2400" b="1" kern="100" dirty="0">
                <a:latin typeface="Times New Roman"/>
                <a:ea typeface="华文新魏" pitchFamily="2" charset="-122"/>
              </a:rPr>
              <a:t>求试样中丙酮的质量分数</a:t>
            </a:r>
            <a:r>
              <a:rPr lang="zh-CN" altLang="zh-CN" sz="2400" b="1" kern="100" dirty="0" smtClean="0">
                <a:latin typeface="Times New Roman"/>
                <a:ea typeface="华文新魏" pitchFamily="2" charset="-122"/>
              </a:rPr>
              <a:t>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38.72%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27655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656" name="Rectangle 9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073775" y="2374900"/>
          <a:ext cx="5135563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9" name="公式" r:id="rId4" imgW="2667000" imgH="406400" progId="Equation.3">
                  <p:embed/>
                </p:oleObj>
              </mc:Choice>
              <mc:Fallback>
                <p:oleObj name="公式" r:id="rId4" imgW="2667000" imgH="406400" progId="Equation.3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3775" y="2374900"/>
                        <a:ext cx="5135563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ChangeArrowheads="1"/>
          </p:cNvSpPr>
          <p:nvPr/>
        </p:nvSpPr>
        <p:spPr bwMode="auto">
          <a:xfrm>
            <a:off x="5976938" y="785813"/>
            <a:ext cx="5329237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>
              <a:defRPr/>
            </a:pPr>
            <a:r>
              <a:rPr lang="zh-CN" altLang="zh-CN" sz="2400" b="1" kern="100" dirty="0" smtClean="0">
                <a:latin typeface="Times New Roman"/>
                <a:ea typeface="华文新魏" pitchFamily="2" charset="-122"/>
                <a:cs typeface="Times New Roman"/>
              </a:rPr>
              <a:t>碘量法</a:t>
            </a:r>
            <a:endParaRPr lang="en-US" altLang="zh-CN" sz="2400" b="1" kern="100" dirty="0" smtClean="0">
              <a:latin typeface="Times New Roman"/>
              <a:ea typeface="华文新魏" pitchFamily="2" charset="-122"/>
              <a:cs typeface="Times New Roman"/>
            </a:endParaRPr>
          </a:p>
          <a:p>
            <a:pPr algn="ctr">
              <a:defRPr/>
            </a:pPr>
            <a:r>
              <a:rPr lang="en-US" altLang="zh-CN" sz="2400" b="1" dirty="0">
                <a:latin typeface="+mn-lt"/>
                <a:ea typeface="华文新魏" pitchFamily="2" charset="-122"/>
              </a:rPr>
              <a:t>5I</a:t>
            </a:r>
            <a:r>
              <a:rPr lang="en-US" altLang="zh-CN" sz="2400" b="1" baseline="30000" dirty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+IO</a:t>
            </a:r>
            <a:r>
              <a:rPr lang="en-US" altLang="zh-CN" sz="2400" b="1" baseline="-25000" dirty="0">
                <a:latin typeface="+mn-lt"/>
                <a:ea typeface="华文新魏" pitchFamily="2" charset="-122"/>
              </a:rPr>
              <a:t>3</a:t>
            </a:r>
            <a:r>
              <a:rPr lang="en-US" altLang="zh-CN" sz="2400" b="1" baseline="30000" dirty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+6H</a:t>
            </a:r>
            <a:r>
              <a:rPr lang="en-US" altLang="zh-CN" sz="2400" b="1" baseline="30000" dirty="0">
                <a:latin typeface="+mn-lt"/>
                <a:ea typeface="华文新魏" pitchFamily="2" charset="-122"/>
              </a:rPr>
              <a:t>+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=3I</a:t>
            </a:r>
            <a:r>
              <a:rPr lang="en-US" altLang="zh-CN" sz="2400" b="1" baseline="-25000" dirty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+3H</a:t>
            </a:r>
            <a:r>
              <a:rPr lang="en-US" altLang="zh-CN" sz="2400" b="1" baseline="-25000" dirty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O</a:t>
            </a:r>
            <a:endParaRPr lang="zh-CN" altLang="zh-CN" sz="2400" b="1" dirty="0">
              <a:latin typeface="+mn-lt"/>
              <a:ea typeface="华文新魏" pitchFamily="2" charset="-122"/>
            </a:endParaRPr>
          </a:p>
          <a:p>
            <a:pPr algn="ctr">
              <a:defRPr/>
            </a:pPr>
            <a:r>
              <a:rPr lang="en-US" altLang="zh-CN" sz="2400" b="1" dirty="0">
                <a:latin typeface="+mn-lt"/>
                <a:ea typeface="华文新魏" pitchFamily="2" charset="-122"/>
              </a:rPr>
              <a:t>I</a:t>
            </a:r>
            <a:r>
              <a:rPr lang="en-US" altLang="zh-CN" sz="2400" b="1" baseline="-25000" dirty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+2S</a:t>
            </a:r>
            <a:r>
              <a:rPr lang="en-US" altLang="zh-CN" sz="2400" b="1" baseline="-25000" dirty="0">
                <a:latin typeface="+mn-lt"/>
                <a:ea typeface="华文新魏" pitchFamily="2" charset="-122"/>
              </a:rPr>
              <a:t>2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O</a:t>
            </a:r>
            <a:r>
              <a:rPr lang="en-US" altLang="zh-CN" sz="2400" b="1" baseline="-25000" dirty="0">
                <a:latin typeface="+mn-lt"/>
                <a:ea typeface="华文新魏" pitchFamily="2" charset="-122"/>
              </a:rPr>
              <a:t>3</a:t>
            </a:r>
            <a:r>
              <a:rPr lang="en-US" altLang="zh-CN" sz="2400" b="1" baseline="30000" dirty="0">
                <a:latin typeface="+mn-lt"/>
                <a:ea typeface="华文新魏" pitchFamily="2" charset="-122"/>
              </a:rPr>
              <a:t>2-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=2I</a:t>
            </a:r>
            <a:r>
              <a:rPr lang="en-US" altLang="zh-CN" sz="2400" b="1" baseline="30000" dirty="0">
                <a:latin typeface="+mn-lt"/>
                <a:ea typeface="华文新魏" pitchFamily="2" charset="-122"/>
              </a:rPr>
              <a:t>-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+S</a:t>
            </a:r>
            <a:r>
              <a:rPr lang="en-US" altLang="zh-CN" sz="2400" b="1" baseline="-25000" dirty="0">
                <a:latin typeface="+mn-lt"/>
                <a:ea typeface="华文新魏" pitchFamily="2" charset="-122"/>
              </a:rPr>
              <a:t>4</a:t>
            </a:r>
            <a:r>
              <a:rPr lang="en-US" altLang="zh-CN" sz="2400" b="1" dirty="0">
                <a:latin typeface="+mn-lt"/>
                <a:ea typeface="华文新魏" pitchFamily="2" charset="-122"/>
              </a:rPr>
              <a:t>O</a:t>
            </a:r>
            <a:r>
              <a:rPr lang="en-US" altLang="zh-CN" sz="2400" b="1" baseline="-25000" dirty="0">
                <a:latin typeface="+mn-lt"/>
                <a:ea typeface="华文新魏" pitchFamily="2" charset="-122"/>
              </a:rPr>
              <a:t>6</a:t>
            </a:r>
            <a:r>
              <a:rPr lang="en-US" altLang="zh-CN" sz="2400" b="1" baseline="30000" dirty="0">
                <a:latin typeface="+mn-lt"/>
                <a:ea typeface="华文新魏" pitchFamily="2" charset="-122"/>
              </a:rPr>
              <a:t>2-</a:t>
            </a:r>
            <a:endParaRPr kumimoji="1" lang="en-US" altLang="zh-CN" sz="2400" b="1" dirty="0" smtClean="0">
              <a:latin typeface="+mn-lt"/>
              <a:ea typeface="华文新魏" pitchFamily="2" charset="-122"/>
            </a:endParaRPr>
          </a:p>
        </p:txBody>
      </p:sp>
      <p:sp>
        <p:nvSpPr>
          <p:cNvPr id="4" name="Rectangle 22"/>
          <p:cNvSpPr>
            <a:spLocks noChangeArrowheads="1"/>
          </p:cNvSpPr>
          <p:nvPr/>
        </p:nvSpPr>
        <p:spPr bwMode="auto">
          <a:xfrm>
            <a:off x="5976938" y="323850"/>
            <a:ext cx="17875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 dirty="0" smtClean="0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解题思路：</a:t>
            </a:r>
            <a:endParaRPr kumimoji="1" lang="zh-CN" altLang="en-US" sz="2500" b="1" dirty="0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5" name="Text Box 39"/>
          <p:cNvSpPr txBox="1">
            <a:spLocks noChangeArrowheads="1"/>
          </p:cNvSpPr>
          <p:nvPr/>
        </p:nvSpPr>
        <p:spPr bwMode="auto">
          <a:xfrm>
            <a:off x="215900" y="404166"/>
            <a:ext cx="5329238" cy="2693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indent="0">
              <a:spcBef>
                <a:spcPct val="20000"/>
              </a:spcBef>
              <a:buClr>
                <a:srgbClr val="FFFFCC"/>
              </a:buClr>
              <a:buSzPct val="90000"/>
              <a:defRPr/>
            </a:pP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习题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5-27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</a:rPr>
              <a:t>：</a:t>
            </a: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25.00mL 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KI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溶液用稀盐酸及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10.00mL 0.05000mol·L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  <a:cs typeface="Times New Roman"/>
              </a:rPr>
              <a:t>－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1 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KIO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溶液处理，煮沸以挥发除去释出的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I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。冷却后，加入过量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KI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溶液使之与剩余的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KIO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反应。释出的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I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需要用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21.14mL 0.1008mol·L</a:t>
            </a:r>
            <a:r>
              <a:rPr lang="zh-CN" altLang="zh-CN" sz="2400" b="1" kern="100" baseline="30000" dirty="0">
                <a:latin typeface="Times New Roman"/>
                <a:ea typeface="华文新魏" pitchFamily="2" charset="-122"/>
                <a:cs typeface="Times New Roman"/>
              </a:rPr>
              <a:t>－</a:t>
            </a:r>
            <a:r>
              <a:rPr lang="en-US" altLang="zh-CN" sz="2400" b="1" kern="100" baseline="30000" dirty="0">
                <a:latin typeface="Times New Roman"/>
                <a:ea typeface="华文新魏" pitchFamily="2" charset="-122"/>
              </a:rPr>
              <a:t>1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Na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 S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2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O</a:t>
            </a:r>
            <a:r>
              <a:rPr lang="en-US" altLang="zh-CN" sz="2400" b="1" kern="100" baseline="-25000" dirty="0">
                <a:latin typeface="Times New Roman"/>
                <a:ea typeface="华文新魏" pitchFamily="2" charset="-122"/>
              </a:rPr>
              <a:t>3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溶液滴定。计算</a:t>
            </a:r>
            <a:r>
              <a:rPr lang="en-US" altLang="zh-CN" sz="2400" b="1" kern="100" dirty="0">
                <a:latin typeface="Times New Roman"/>
                <a:ea typeface="华文新魏" pitchFamily="2" charset="-122"/>
              </a:rPr>
              <a:t>KI</a:t>
            </a:r>
            <a:r>
              <a:rPr lang="zh-CN" altLang="zh-CN" sz="2400" b="1" kern="100" dirty="0">
                <a:latin typeface="Times New Roman"/>
                <a:ea typeface="华文新魏" pitchFamily="2" charset="-122"/>
                <a:cs typeface="Times New Roman"/>
              </a:rPr>
              <a:t>溶液的浓度。</a:t>
            </a:r>
            <a:endParaRPr lang="zh-CN" altLang="en-US" sz="2500" b="1" dirty="0" smtClean="0">
              <a:solidFill>
                <a:srgbClr val="FFFF00"/>
              </a:solidFill>
              <a:ea typeface="华文新魏" pitchFamily="2" charset="-122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5976938" y="4210050"/>
            <a:ext cx="178752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kumimoji="1" lang="zh-CN" altLang="en-US" sz="2500" b="1">
                <a:solidFill>
                  <a:srgbClr val="FFFF00"/>
                </a:solidFill>
                <a:latin typeface="华文新魏" pitchFamily="2" charset="-122"/>
                <a:ea typeface="华文新魏" pitchFamily="2" charset="-122"/>
                <a:sym typeface="Monotype Sorts" pitchFamily="2" charset="2"/>
              </a:rPr>
              <a:t>参考答案：</a:t>
            </a:r>
            <a:endParaRPr kumimoji="1" lang="zh-CN" altLang="en-US" sz="2500" b="1">
              <a:solidFill>
                <a:srgbClr val="FFFF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5992813" y="4652963"/>
            <a:ext cx="53292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 kern="100" dirty="0" smtClean="0">
                <a:latin typeface="Times New Roman"/>
                <a:ea typeface="华文新魏" pitchFamily="2" charset="-122"/>
              </a:rPr>
              <a:t>0.02897mol·L</a:t>
            </a:r>
            <a:r>
              <a:rPr lang="en-US" altLang="zh-CN" sz="2400" b="1" kern="100" baseline="30000" dirty="0" smtClean="0">
                <a:latin typeface="Times New Roman"/>
                <a:ea typeface="华文新魏" pitchFamily="2" charset="-122"/>
              </a:rPr>
              <a:t>-1</a:t>
            </a:r>
            <a:endParaRPr kumimoji="1" lang="en-US" altLang="zh-CN" sz="2400" b="1" dirty="0" smtClean="0">
              <a:ea typeface="华文新魏" pitchFamily="2" charset="-122"/>
            </a:endParaRPr>
          </a:p>
        </p:txBody>
      </p:sp>
      <p:sp>
        <p:nvSpPr>
          <p:cNvPr id="28679" name="Rectangle 31"/>
          <p:cNvSpPr>
            <a:spLocks noChangeArrowheads="1"/>
          </p:cNvSpPr>
          <p:nvPr/>
        </p:nvSpPr>
        <p:spPr bwMode="auto">
          <a:xfrm>
            <a:off x="0" y="0"/>
            <a:ext cx="11522075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 build="p" autoUpdateAnimBg="0" advAuto="0"/>
      <p:bldP spid="6" grpId="0" build="p" autoUpdateAnimBg="0" advAuto="0"/>
      <p:bldP spid="8" grpId="0" build="p" autoUpdateAnimBg="0"/>
    </p:bldLst>
  </p:timing>
</p:sld>
</file>

<file path=ppt/theme/theme1.xml><?xml version="1.0" encoding="utf-8"?>
<a:theme xmlns:a="http://schemas.openxmlformats.org/drawingml/2006/main" name="医学研究PPT模板">
  <a:themeElements>
    <a:clrScheme name="医学研究PPT模板 1">
      <a:dk1>
        <a:srgbClr val="FFFFFF"/>
      </a:dk1>
      <a:lt1>
        <a:srgbClr val="FFFFFF"/>
      </a:lt1>
      <a:dk2>
        <a:srgbClr val="000000"/>
      </a:dk2>
      <a:lt2>
        <a:srgbClr val="000000"/>
      </a:lt2>
      <a:accent1>
        <a:srgbClr val="000000"/>
      </a:accent1>
      <a:accent2>
        <a:srgbClr val="FF00FF"/>
      </a:accent2>
      <a:accent3>
        <a:srgbClr val="FFFFFF"/>
      </a:accent3>
      <a:accent4>
        <a:srgbClr val="DADADA"/>
      </a:accent4>
      <a:accent5>
        <a:srgbClr val="AAAAAA"/>
      </a:accent5>
      <a:accent6>
        <a:srgbClr val="E700E7"/>
      </a:accent6>
      <a:hlink>
        <a:srgbClr val="FFCCFF"/>
      </a:hlink>
      <a:folHlink>
        <a:srgbClr val="66FF33"/>
      </a:folHlink>
    </a:clrScheme>
    <a:fontScheme name="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CCFF"/>
        </a:hlink>
        <a:folHlink>
          <a:srgbClr val="66FF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4021</TotalTime>
  <Pages>0</Pages>
  <Words>2689</Words>
  <Characters>0</Characters>
  <Application>Microsoft Office PowerPoint</Application>
  <DocSecurity>0</DocSecurity>
  <PresentationFormat>自定义</PresentationFormat>
  <Lines>0</Lines>
  <Paragraphs>270</Paragraphs>
  <Slides>27</Slides>
  <Notes>27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29" baseType="lpstr">
      <vt:lpstr>医学研究PPT模板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CharactersWithSpaces>0</CharactersWithSpaces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ch05氧化还原平衡习题指导</dc:title>
  <dc:creator>江南大学</dc:creator>
  <cp:lastModifiedBy>USER</cp:lastModifiedBy>
  <cp:revision>328</cp:revision>
  <cp:lastPrinted>1601-01-01T00:00:00Z</cp:lastPrinted>
  <dcterms:created xsi:type="dcterms:W3CDTF">2012-06-20T03:37:37Z</dcterms:created>
  <dcterms:modified xsi:type="dcterms:W3CDTF">2018-11-05T15:07:02Z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2052-8.1.0.3089</vt:lpwstr>
  </property>
</Properties>
</file>