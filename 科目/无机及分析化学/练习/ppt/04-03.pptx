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5"/>
  </p:notesMasterIdLst>
  <p:sldIdLst>
    <p:sldId id="356" r:id="rId3"/>
    <p:sldId id="379" r:id="rId4"/>
    <p:sldId id="396" r:id="rId5"/>
    <p:sldId id="397" r:id="rId6"/>
    <p:sldId id="398" r:id="rId7"/>
    <p:sldId id="380" r:id="rId8"/>
    <p:sldId id="381" r:id="rId9"/>
    <p:sldId id="382" r:id="rId10"/>
    <p:sldId id="383" r:id="rId11"/>
    <p:sldId id="384" r:id="rId12"/>
    <p:sldId id="385" r:id="rId13"/>
    <p:sldId id="399" r:id="rId14"/>
    <p:sldId id="386" r:id="rId15"/>
    <p:sldId id="387" r:id="rId16"/>
    <p:sldId id="389" r:id="rId17"/>
    <p:sldId id="400" r:id="rId18"/>
    <p:sldId id="391" r:id="rId19"/>
    <p:sldId id="392" r:id="rId20"/>
    <p:sldId id="402" r:id="rId21"/>
    <p:sldId id="393" r:id="rId22"/>
    <p:sldId id="394" r:id="rId23"/>
    <p:sldId id="395" r:id="rId24"/>
  </p:sldIdLst>
  <p:sldSz cx="11522075" cy="6480175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7">
          <p15:clr>
            <a:srgbClr val="A4A3A4"/>
          </p15:clr>
        </p15:guide>
        <p15:guide id="2" pos="2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FFFFFF"/>
    <a:srgbClr val="0070C0"/>
    <a:srgbClr val="FFFF00"/>
    <a:srgbClr val="0000FF"/>
    <a:srgbClr val="FF0000"/>
    <a:srgbClr val="FF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19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1777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noProof="1">
                <a:ea typeface="宋体" pitchFamily="2" charset="-122"/>
              </a:defRPr>
            </a:lvl1pPr>
          </a:lstStyle>
          <a:p>
            <a:pPr>
              <a:defRPr/>
            </a:pPr>
            <a:fld id="{D32B956E-8B2B-4A0D-8568-835C6591DD2A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3223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7079 w 5269"/>
                <a:gd name="T1" fmla="*/ 0 h 2977"/>
                <a:gd name="T2" fmla="*/ 0 w 5269"/>
                <a:gd name="T3" fmla="*/ 0 h 2977"/>
                <a:gd name="T4" fmla="*/ 0 w 5269"/>
                <a:gd name="T5" fmla="*/ 317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2053" name="Group 1042"/>
            <p:cNvGrpSpPr>
              <a:grpSpLocks/>
            </p:cNvGrpSpPr>
            <p:nvPr userDrawn="1"/>
          </p:nvGrpSpPr>
          <p:grpSpPr bwMode="auto">
            <a:xfrm rot="5400000">
              <a:off x="3576" y="-3112"/>
              <a:ext cx="68" cy="7141"/>
              <a:chOff x="336" y="1103"/>
              <a:chExt cx="97" cy="2785"/>
            </a:xfrm>
          </p:grpSpPr>
          <p:sp>
            <p:nvSpPr>
              <p:cNvPr id="2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3" name="Freeform 1044"/>
              <p:cNvSpPr>
                <a:spLocks noChangeArrowheads="1"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1" name="Freeform 1045"/>
              <p:cNvSpPr>
                <a:spLocks noChangeArrowheads="1"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0" name="Freeform 1028"/>
            <p:cNvSpPr>
              <a:spLocks/>
            </p:cNvSpPr>
            <p:nvPr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7079 w 5269"/>
                <a:gd name="T1" fmla="*/ 0 h 2977"/>
                <a:gd name="T2" fmla="*/ 7079 w 5269"/>
                <a:gd name="T3" fmla="*/ 3173 h 2977"/>
                <a:gd name="T4" fmla="*/ 0 w 5269"/>
                <a:gd name="T5" fmla="*/ 317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3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smtClean="0">
                <a:ea typeface="楷体_GB2312" panose="02010609030101010101" pitchFamily="49" charset="-122"/>
              </a:endParaRPr>
            </a:p>
          </p:txBody>
        </p:sp>
        <p:grpSp>
          <p:nvGrpSpPr>
            <p:cNvPr id="2056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5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1036" name="Freeform 1040"/>
              <p:cNvSpPr>
                <a:spLocks noChangeArrowheads="1"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7" name="Freeform 1041"/>
              <p:cNvSpPr>
                <a:spLocks noChangeArrowheads="1"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8" name="矩形 3210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>
              <a:noFill/>
            </a:ln>
            <a:ex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39" name="流程图: 可选过程 3214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>
              <a:noFill/>
            </a:ln>
            <a:ex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40" name="矩形 3217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01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</p:grpSp>
      <p:sp>
        <p:nvSpPr>
          <p:cNvPr id="2051" name="标题 3220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4-02.pptx" TargetMode="External"/><Relationship Id="rId2" Type="http://schemas.openxmlformats.org/officeDocument/2006/relationships/hyperlink" Target="04-01.pptx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04-04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audio" Target="../media/audio3.wav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5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hyperlink" Target="04-04.pptx" TargetMode="Externa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65226" y="1096947"/>
            <a:ext cx="541045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2" action="ppaction://hlinkpres?slideindex=1&amp;slidetitle="/>
              </a:rPr>
              <a:t>4.1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沉淀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—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溶解平衡及其影响因素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3" action="ppaction://hlinkpres?slideindex=1&amp;slidetitle="/>
              </a:rPr>
              <a:t>4.2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分步沉淀、沉淀的转化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4.3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沉淀的形成与纯度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4" action="ppaction://hlinkpres?slideindex=1&amp;slidetitle="/>
              </a:rPr>
              <a:t>4.4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沉淀分析法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动作按钮: 前进或下一项 73731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2806700" y="2108200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099" name="动作按钮: 前进或下一项 73732">
            <a:hlinkClick r:id="rId2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2806700" y="2863850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3734" name="文本框 73733"/>
          <p:cNvSpPr txBox="1">
            <a:spLocks noChangeArrowheads="1"/>
          </p:cNvSpPr>
          <p:nvPr/>
        </p:nvSpPr>
        <p:spPr bwMode="auto">
          <a:xfrm>
            <a:off x="3238500" y="1762125"/>
            <a:ext cx="6235700" cy="239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80000"/>
              </a:lnSpc>
              <a:buFont typeface="Arial" charset="0"/>
              <a:buNone/>
            </a:pPr>
            <a:r>
              <a:rPr lang="en-US" altLang="zh-CN" sz="2800" b="1" dirty="0">
                <a:ea typeface="黑体" pitchFamily="49" charset="-122"/>
              </a:rPr>
              <a:t>4.3.1 </a:t>
            </a:r>
            <a:r>
              <a:rPr lang="zh-CN" altLang="en-US" sz="2800" b="1" dirty="0">
                <a:ea typeface="黑体" pitchFamily="49" charset="-122"/>
              </a:rPr>
              <a:t>沉淀的类型与沉淀的形成</a:t>
            </a:r>
          </a:p>
          <a:p>
            <a:pPr eaLnBrk="1" hangingPunct="1">
              <a:lnSpc>
                <a:spcPct val="180000"/>
              </a:lnSpc>
              <a:buFont typeface="Arial" charset="0"/>
              <a:buNone/>
            </a:pPr>
            <a:r>
              <a:rPr lang="en-US" altLang="zh-CN" sz="2800" b="1" dirty="0">
                <a:ea typeface="黑体" pitchFamily="49" charset="-122"/>
              </a:rPr>
              <a:t>4.3.2 </a:t>
            </a:r>
            <a:r>
              <a:rPr lang="zh-CN" altLang="en-US" sz="2800" b="1" dirty="0">
                <a:ea typeface="黑体" pitchFamily="49" charset="-122"/>
              </a:rPr>
              <a:t>影响沉淀纯度的主要因素</a:t>
            </a:r>
          </a:p>
          <a:p>
            <a:pPr eaLnBrk="1" hangingPunct="1">
              <a:lnSpc>
                <a:spcPct val="180000"/>
              </a:lnSpc>
              <a:buFont typeface="Arial" charset="0"/>
              <a:buNone/>
            </a:pPr>
            <a:r>
              <a:rPr lang="en-US" altLang="zh-CN" sz="2800" b="1" dirty="0">
                <a:ea typeface="黑体" pitchFamily="49" charset="-122"/>
              </a:rPr>
              <a:t>4.3.3 </a:t>
            </a:r>
            <a:r>
              <a:rPr lang="zh-CN" altLang="en-US" sz="2800" b="1" dirty="0">
                <a:ea typeface="黑体" pitchFamily="49" charset="-122"/>
              </a:rPr>
              <a:t>获得良好、纯净沉淀的主要措施</a:t>
            </a:r>
          </a:p>
        </p:txBody>
      </p:sp>
      <p:sp>
        <p:nvSpPr>
          <p:cNvPr id="4101" name="动作按钮: 前进或下一项 73734">
            <a:hlinkClick r:id="rId3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2806700" y="3619500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102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 沉淀的形成与纯度</a:t>
            </a:r>
          </a:p>
        </p:txBody>
      </p:sp>
      <p:sp>
        <p:nvSpPr>
          <p:cNvPr id="410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10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90770" y="4756026"/>
            <a:ext cx="5952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本节课目的：如何成功制备沉淀</a:t>
            </a:r>
            <a:endParaRPr lang="zh-CN" altLang="en-US" sz="3200" b="1" dirty="0"/>
          </a:p>
        </p:txBody>
      </p:sp>
      <p:sp>
        <p:nvSpPr>
          <p:cNvPr id="3" name="TextBox 39"/>
          <p:cNvSpPr txBox="1"/>
          <p:nvPr/>
        </p:nvSpPr>
        <p:spPr>
          <a:xfrm>
            <a:off x="433111" y="892083"/>
            <a:ext cx="8913679" cy="655158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2800" b="1" dirty="0">
                <a:latin typeface="楷体_GB2312"/>
                <a:ea typeface="楷体" panose="02010609060101010101" pitchFamily="49" charset="-122"/>
              </a:rPr>
              <a:t>硫酸亚铁铵的</a:t>
            </a:r>
            <a:r>
              <a:rPr lang="zh-CN" altLang="zh-CN" sz="2800" b="1" dirty="0" smtClean="0">
                <a:latin typeface="楷体_GB2312"/>
                <a:ea typeface="楷体" panose="02010609060101010101" pitchFamily="49" charset="-122"/>
              </a:rPr>
              <a:t>制备</a:t>
            </a:r>
            <a:r>
              <a:rPr lang="zh-CN" altLang="en-US" sz="2800" b="1" dirty="0" smtClean="0">
                <a:latin typeface="楷体_GB2312"/>
                <a:ea typeface="楷体" panose="02010609060101010101" pitchFamily="49" charset="-122"/>
              </a:rPr>
              <a:t>、</a:t>
            </a:r>
            <a:r>
              <a:rPr lang="zh-CN" altLang="zh-CN" sz="2800" b="1" dirty="0" smtClean="0">
                <a:latin typeface="楷体_GB2312"/>
                <a:ea typeface="楷体" panose="02010609060101010101" pitchFamily="49" charset="-122"/>
              </a:rPr>
              <a:t>硫酸铜</a:t>
            </a:r>
            <a:r>
              <a:rPr lang="zh-CN" altLang="zh-CN" sz="2800" b="1" dirty="0">
                <a:latin typeface="楷体_GB2312"/>
                <a:ea typeface="楷体" panose="02010609060101010101" pitchFamily="49" charset="-122"/>
              </a:rPr>
              <a:t>的</a:t>
            </a:r>
            <a:r>
              <a:rPr lang="zh-CN" altLang="zh-CN" sz="2800" b="1" dirty="0" smtClean="0">
                <a:latin typeface="楷体_GB2312"/>
                <a:ea typeface="楷体" panose="02010609060101010101" pitchFamily="49" charset="-122"/>
              </a:rPr>
              <a:t>提纯</a:t>
            </a:r>
            <a:r>
              <a:rPr lang="zh-CN" altLang="en-US" sz="2800" b="1" dirty="0" smtClean="0">
                <a:latin typeface="楷体_GB2312"/>
                <a:ea typeface="楷体" panose="02010609060101010101" pitchFamily="49" charset="-122"/>
              </a:rPr>
              <a:t>、</a:t>
            </a:r>
            <a:r>
              <a:rPr lang="en-US" altLang="zh-CN" sz="2800" b="1" dirty="0" smtClean="0">
                <a:latin typeface="楷体_GB2312"/>
                <a:ea typeface="楷体" panose="02010609060101010101" pitchFamily="49" charset="-122"/>
              </a:rPr>
              <a:t>CaC</a:t>
            </a:r>
            <a:r>
              <a:rPr lang="en-US" altLang="zh-CN" sz="2800" b="1" baseline="-25000" dirty="0" smtClean="0">
                <a:latin typeface="楷体_GB2312"/>
                <a:ea typeface="楷体" panose="02010609060101010101" pitchFamily="49" charset="-122"/>
              </a:rPr>
              <a:t>2</a:t>
            </a:r>
            <a:r>
              <a:rPr lang="en-US" altLang="zh-CN" sz="2800" b="1" dirty="0" smtClean="0">
                <a:latin typeface="楷体_GB2312"/>
                <a:ea typeface="楷体" panose="02010609060101010101" pitchFamily="49" charset="-122"/>
              </a:rPr>
              <a:t>O</a:t>
            </a:r>
            <a:r>
              <a:rPr lang="en-US" altLang="zh-CN" sz="2800" b="1" baseline="-25000" dirty="0" smtClean="0">
                <a:latin typeface="楷体_GB2312"/>
                <a:ea typeface="楷体" panose="02010609060101010101" pitchFamily="49" charset="-122"/>
              </a:rPr>
              <a:t>4</a:t>
            </a:r>
            <a:r>
              <a:rPr lang="zh-CN" altLang="zh-CN" sz="2800" b="1" dirty="0">
                <a:latin typeface="楷体_GB2312"/>
                <a:ea typeface="楷体" panose="02010609060101010101" pitchFamily="49" charset="-122"/>
              </a:rPr>
              <a:t>沉淀的制备</a:t>
            </a:r>
            <a:r>
              <a:rPr lang="en-US" altLang="zh-CN" sz="2800" b="1" dirty="0">
                <a:latin typeface="楷体_GB2312"/>
                <a:ea typeface="楷体" panose="02010609060101010101" pitchFamily="49" charset="-122"/>
              </a:rPr>
              <a:t> </a:t>
            </a:r>
            <a:endParaRPr lang="zh-CN" altLang="en-US" sz="2800" b="1" dirty="0">
              <a:latin typeface="楷体_GB231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3111" y="216129"/>
            <a:ext cx="5234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楷体_GB2312"/>
              </a:rPr>
              <a:t>无机及分析化学实验之沉淀制备</a:t>
            </a:r>
            <a:endParaRPr lang="zh-CN" altLang="en-US" sz="2800" b="1" dirty="0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29049" y="3094235"/>
            <a:ext cx="1625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ea typeface="楷体_GB2312" panose="02010609030101010101"/>
              </a:rPr>
              <a:t>产</a:t>
            </a:r>
            <a:r>
              <a:rPr lang="zh-CN" altLang="en-US" sz="2800" b="1" dirty="0" smtClean="0">
                <a:ea typeface="楷体_GB2312" panose="02010609030101010101"/>
              </a:rPr>
              <a:t>品</a:t>
            </a:r>
            <a:r>
              <a:rPr lang="zh-CN" altLang="en-US" sz="2800" b="1" dirty="0">
                <a:ea typeface="楷体_GB2312" panose="02010609030101010101"/>
              </a:rPr>
              <a:t>要求</a:t>
            </a:r>
          </a:p>
        </p:txBody>
      </p:sp>
      <p:sp>
        <p:nvSpPr>
          <p:cNvPr id="6" name="TextBox 20"/>
          <p:cNvSpPr txBox="1"/>
          <p:nvPr/>
        </p:nvSpPr>
        <p:spPr>
          <a:xfrm>
            <a:off x="4465055" y="2724711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外观（是否得到相应晶型）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14690" y="2834744"/>
            <a:ext cx="180975" cy="1488517"/>
            <a:chOff x="6032873" y="1880798"/>
            <a:chExt cx="180975" cy="1488517"/>
          </a:xfrm>
        </p:grpSpPr>
        <p:sp>
          <p:nvSpPr>
            <p:cNvPr id="8" name="直接连接符 14"/>
            <p:cNvSpPr>
              <a:spLocks noChangeShapeType="1"/>
            </p:cNvSpPr>
            <p:nvPr/>
          </p:nvSpPr>
          <p:spPr bwMode="auto">
            <a:xfrm>
              <a:off x="6123362" y="1897849"/>
              <a:ext cx="0" cy="1471466"/>
            </a:xfrm>
            <a:prstGeom prst="line">
              <a:avLst/>
            </a:prstGeom>
            <a:solidFill>
              <a:srgbClr val="414455"/>
            </a:solidFill>
            <a:ln w="38100" cap="flat" cmpd="sng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椭圆 7"/>
            <p:cNvSpPr>
              <a:spLocks noChangeArrowheads="1"/>
            </p:cNvSpPr>
            <p:nvPr/>
          </p:nvSpPr>
          <p:spPr bwMode="auto">
            <a:xfrm>
              <a:off x="6032873" y="1880798"/>
              <a:ext cx="180975" cy="180044"/>
            </a:xfrm>
            <a:prstGeom prst="ellipse">
              <a:avLst/>
            </a:prstGeom>
            <a:solidFill>
              <a:srgbClr val="EA5E66"/>
            </a:solidFill>
            <a:ln w="38100" cap="flat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  <p:sp>
          <p:nvSpPr>
            <p:cNvPr id="10" name="椭圆 8"/>
            <p:cNvSpPr>
              <a:spLocks noChangeArrowheads="1"/>
            </p:cNvSpPr>
            <p:nvPr/>
          </p:nvSpPr>
          <p:spPr bwMode="auto">
            <a:xfrm>
              <a:off x="6032873" y="2535034"/>
              <a:ext cx="180975" cy="180044"/>
            </a:xfrm>
            <a:prstGeom prst="ellipse">
              <a:avLst/>
            </a:prstGeom>
            <a:solidFill>
              <a:srgbClr val="F69F1E"/>
            </a:solidFill>
            <a:ln w="38100" cap="flat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  <p:sp>
          <p:nvSpPr>
            <p:cNvPr id="11" name="椭圆 9"/>
            <p:cNvSpPr>
              <a:spLocks noChangeArrowheads="1"/>
            </p:cNvSpPr>
            <p:nvPr/>
          </p:nvSpPr>
          <p:spPr bwMode="auto">
            <a:xfrm>
              <a:off x="6032873" y="3189270"/>
              <a:ext cx="180975" cy="180044"/>
            </a:xfrm>
            <a:prstGeom prst="ellipse">
              <a:avLst/>
            </a:prstGeom>
            <a:solidFill>
              <a:srgbClr val="0099A9"/>
            </a:solidFill>
            <a:ln w="38100" cap="flat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eaLnBrk="0" hangingPunct="0"/>
              <a:endParaRPr lang="zh-CN" altLang="zh-CN">
                <a:latin typeface="造字工房悦黑体验版纤细体" pitchFamily="50" charset="-122"/>
                <a:ea typeface="造字工房悦黑体验版纤细体" pitchFamily="50" charset="-122"/>
                <a:sym typeface="造字工房悦黑体验版纤细体" pitchFamily="50" charset="-122"/>
              </a:endParaRPr>
            </a:p>
          </p:txBody>
        </p:sp>
      </p:grpSp>
      <p:sp>
        <p:nvSpPr>
          <p:cNvPr id="12" name="TextBox 26"/>
          <p:cNvSpPr txBox="1"/>
          <p:nvPr/>
        </p:nvSpPr>
        <p:spPr>
          <a:xfrm>
            <a:off x="4465055" y="334816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无杂质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7"/>
          <p:cNvSpPr txBox="1"/>
          <p:nvPr/>
        </p:nvSpPr>
        <p:spPr>
          <a:xfrm>
            <a:off x="4465055" y="400240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产量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53279" y="1643526"/>
            <a:ext cx="532792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04562" y="1678081"/>
            <a:ext cx="4825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并非沉淀，但用到沉淀制备的方法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13941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6" presetClass="emph" presetSubtype="0" fill="hold" grpId="1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0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1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2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3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6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9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0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1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6" presetClass="emph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46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7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8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9" dur="1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6" grpId="1"/>
      <p:bldP spid="12" grpId="0"/>
      <p:bldP spid="12" grpId="1"/>
      <p:bldP spid="13" grpId="0"/>
      <p:bldP spid="13" grpId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42" y="830479"/>
            <a:ext cx="3457425" cy="364950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21107" y="216129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b="1" dirty="0">
                <a:latin typeface="楷体_GB2312"/>
                <a:ea typeface="楷体" panose="02010609060101010101" pitchFamily="49" charset="-122"/>
              </a:rPr>
              <a:t>硫酸亚铁铵</a:t>
            </a:r>
            <a:endParaRPr lang="zh-CN" altLang="en-US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736" y="681680"/>
            <a:ext cx="2457441" cy="20461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736" y="2682468"/>
            <a:ext cx="2489398" cy="19329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426" y="688920"/>
            <a:ext cx="2232483" cy="19217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158" y="658735"/>
            <a:ext cx="2145122" cy="194879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189" y="2719640"/>
            <a:ext cx="2229103" cy="18585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688" y="2655231"/>
            <a:ext cx="2112061" cy="194879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21" y="4578239"/>
            <a:ext cx="2460695" cy="14998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307" y="4694833"/>
            <a:ext cx="1574255" cy="152089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025" y="4671199"/>
            <a:ext cx="1487644" cy="143721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772" y="4708540"/>
            <a:ext cx="1376245" cy="132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883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9113" y="216129"/>
            <a:ext cx="12650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latin typeface="楷体_GB2312"/>
                <a:ea typeface="楷体_GB2312" panose="02010609030101010101"/>
              </a:rPr>
              <a:t>硫酸铜</a:t>
            </a:r>
            <a:endParaRPr lang="zh-CN" altLang="en-US" sz="2800" dirty="0">
              <a:ea typeface="楷体_GB2312" panose="02010609030101010101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064" y="913996"/>
            <a:ext cx="2687339" cy="28214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88" y="936119"/>
            <a:ext cx="3423339" cy="41039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781" y="855559"/>
            <a:ext cx="2647348" cy="2879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047" y="3739680"/>
            <a:ext cx="3406575" cy="244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6244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5" name="文本框 29714"/>
          <p:cNvSpPr txBox="1"/>
          <p:nvPr/>
        </p:nvSpPr>
        <p:spPr>
          <a:xfrm>
            <a:off x="814388" y="974725"/>
            <a:ext cx="2808287" cy="495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1. </a:t>
            </a:r>
            <a:r>
              <a:rPr lang="zh-CN" altLang="en-US" sz="2645" b="1" noProof="1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沉淀的类型</a:t>
            </a:r>
            <a:r>
              <a:rPr lang="en-US" altLang="zh-CN" sz="2645" b="1" noProof="1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645" b="1" noProof="1">
              <a:solidFill>
                <a:srgbClr val="FF3300"/>
              </a:solidFill>
              <a:ea typeface="楷体_GB2312" panose="02010609030101010101" pitchFamily="49" charset="-122"/>
            </a:endParaRPr>
          </a:p>
        </p:txBody>
      </p:sp>
      <p:sp>
        <p:nvSpPr>
          <p:cNvPr id="29716" name="矩形 29715"/>
          <p:cNvSpPr/>
          <p:nvPr/>
        </p:nvSpPr>
        <p:spPr>
          <a:xfrm>
            <a:off x="915988" y="1550988"/>
            <a:ext cx="2925762" cy="495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(1)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晶形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(0.1~1</a:t>
            </a:r>
            <a:r>
              <a:rPr lang="en-US" altLang="zh-CN" sz="2645" b="1" i="1" noProof="1">
                <a:latin typeface="Batang" panose="02030600000101010101" pitchFamily="18" charset="-127"/>
                <a:ea typeface="Batang" panose="02030600000101010101" pitchFamily="18" charset="-127"/>
                <a:cs typeface="+mn-ea"/>
              </a:rPr>
              <a:t>μ</a:t>
            </a:r>
            <a:r>
              <a:rPr lang="en-US" altLang="zh-CN" sz="2645" b="1" noProof="1">
                <a:latin typeface="Batang" panose="02030600000101010101" pitchFamily="18" charset="-127"/>
                <a:ea typeface="Batang" panose="02030600000101010101" pitchFamily="18" charset="-127"/>
                <a:cs typeface="+mn-ea"/>
              </a:rPr>
              <a:t>m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)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29717" name="左大括号 29716"/>
          <p:cNvSpPr>
            <a:spLocks/>
          </p:cNvSpPr>
          <p:nvPr/>
        </p:nvSpPr>
        <p:spPr bwMode="auto">
          <a:xfrm>
            <a:off x="814388" y="1925638"/>
            <a:ext cx="101600" cy="860425"/>
          </a:xfrm>
          <a:prstGeom prst="leftBrace">
            <a:avLst>
              <a:gd name="adj1" fmla="val 7025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29718" name="矩形 29717"/>
          <p:cNvSpPr/>
          <p:nvPr/>
        </p:nvSpPr>
        <p:spPr>
          <a:xfrm>
            <a:off x="3798888" y="1382713"/>
            <a:ext cx="1620837" cy="898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①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粗晶形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,</a:t>
            </a:r>
            <a:endParaRPr lang="en-US" altLang="zh-CN" sz="2645" b="1" noProof="1">
              <a:ea typeface="楷体_GB2312" panose="0201060903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②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细晶形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,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29719" name="矩形 29718"/>
          <p:cNvSpPr/>
          <p:nvPr/>
        </p:nvSpPr>
        <p:spPr>
          <a:xfrm>
            <a:off x="915988" y="2198688"/>
            <a:ext cx="1674812" cy="495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(2)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凝乳状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,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29720" name="左大括号 29719"/>
          <p:cNvSpPr>
            <a:spLocks/>
          </p:cNvSpPr>
          <p:nvPr/>
        </p:nvSpPr>
        <p:spPr bwMode="auto">
          <a:xfrm>
            <a:off x="3694113" y="1550988"/>
            <a:ext cx="144462" cy="576262"/>
          </a:xfrm>
          <a:prstGeom prst="leftBrace">
            <a:avLst>
              <a:gd name="adj1" fmla="val 33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29728" name="矩形 29727"/>
          <p:cNvSpPr/>
          <p:nvPr/>
        </p:nvSpPr>
        <p:spPr>
          <a:xfrm>
            <a:off x="5132388" y="2571750"/>
            <a:ext cx="2678112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85041" tIns="44221" rIns="85041" bIns="44221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如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Fe</a:t>
            </a:r>
            <a:r>
              <a:rPr lang="en-US" altLang="zh-CN" sz="2645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O</a:t>
            </a:r>
            <a:r>
              <a:rPr lang="en-US" altLang="zh-CN" sz="2645" b="1" baseline="-25000" noProof="1">
                <a:ea typeface="楷体_GB2312" panose="02010609030101010101" pitchFamily="49" charset="-122"/>
                <a:cs typeface="+mn-ea"/>
              </a:rPr>
              <a:t>3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·</a:t>
            </a:r>
            <a:r>
              <a:rPr lang="en-US" altLang="zh-CN" sz="2645" b="1" i="1" noProof="1">
                <a:ea typeface="楷体_GB2312" panose="02010609030101010101" pitchFamily="49" charset="-122"/>
                <a:cs typeface="+mn-ea"/>
              </a:rPr>
              <a:t>x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H</a:t>
            </a:r>
            <a:r>
              <a:rPr lang="en-US" altLang="zh-CN" sz="2645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O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等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.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grpSp>
        <p:nvGrpSpPr>
          <p:cNvPr id="2" name="组合 29730"/>
          <p:cNvGrpSpPr>
            <a:grpSpLocks/>
          </p:cNvGrpSpPr>
          <p:nvPr/>
        </p:nvGrpSpPr>
        <p:grpSpPr bwMode="auto">
          <a:xfrm>
            <a:off x="2276475" y="3116263"/>
            <a:ext cx="2211388" cy="2381250"/>
            <a:chOff x="1428" y="2108"/>
            <a:chExt cx="1474" cy="1588"/>
          </a:xfrm>
        </p:grpSpPr>
        <p:pic>
          <p:nvPicPr>
            <p:cNvPr id="5140" name="图片 29726" descr="碳酸钙沉淀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28" y="2108"/>
              <a:ext cx="1474" cy="1588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29729" name="矩形 29728"/>
            <p:cNvSpPr/>
            <p:nvPr/>
          </p:nvSpPr>
          <p:spPr>
            <a:xfrm>
              <a:off x="1440" y="2112"/>
              <a:ext cx="6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5041" tIns="44221" rIns="85041" bIns="44221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solidFill>
                    <a:srgbClr val="FF0066"/>
                  </a:solidFill>
                  <a:ea typeface="楷体_GB2312" panose="02010609030101010101" pitchFamily="49" charset="-122"/>
                  <a:cs typeface="+mn-ea"/>
                </a:rPr>
                <a:t>CaCO</a:t>
              </a:r>
              <a:r>
                <a:rPr lang="en-US" altLang="zh-CN" sz="1890" b="1" baseline="-25000" noProof="1">
                  <a:solidFill>
                    <a:srgbClr val="FF0066"/>
                  </a:solidFill>
                  <a:ea typeface="楷体_GB2312" panose="02010609030101010101" pitchFamily="49" charset="-122"/>
                  <a:cs typeface="+mn-ea"/>
                </a:rPr>
                <a:t>3</a:t>
              </a:r>
              <a:endParaRPr lang="en-US" altLang="zh-CN" sz="1890" b="1" baseline="-25000" noProof="1">
                <a:solidFill>
                  <a:srgbClr val="FF0066"/>
                </a:solidFill>
                <a:ea typeface="楷体_GB2312" panose="02010609030101010101" pitchFamily="49" charset="-122"/>
              </a:endParaRPr>
            </a:p>
          </p:txBody>
        </p:sp>
      </p:grpSp>
      <p:grpSp>
        <p:nvGrpSpPr>
          <p:cNvPr id="3" name="组合 29731"/>
          <p:cNvGrpSpPr>
            <a:grpSpLocks/>
          </p:cNvGrpSpPr>
          <p:nvPr/>
        </p:nvGrpSpPr>
        <p:grpSpPr bwMode="auto">
          <a:xfrm>
            <a:off x="4521200" y="3116263"/>
            <a:ext cx="2209800" cy="2378075"/>
            <a:chOff x="2924" y="2108"/>
            <a:chExt cx="1474" cy="1586"/>
          </a:xfrm>
        </p:grpSpPr>
        <p:pic>
          <p:nvPicPr>
            <p:cNvPr id="5138" name="图片 29725" descr="氯化银沉淀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924" y="2108"/>
              <a:ext cx="1474" cy="1586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29730" name="矩形 29729"/>
            <p:cNvSpPr/>
            <p:nvPr/>
          </p:nvSpPr>
          <p:spPr>
            <a:xfrm>
              <a:off x="3921" y="3423"/>
              <a:ext cx="46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5041" tIns="44221" rIns="85041" bIns="44221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solidFill>
                    <a:srgbClr val="FFFF00"/>
                  </a:solidFill>
                  <a:ea typeface="楷体_GB2312" panose="02010609030101010101" pitchFamily="49" charset="-122"/>
                  <a:cs typeface="+mn-ea"/>
                </a:rPr>
                <a:t>AgCl</a:t>
              </a:r>
              <a:endParaRPr lang="en-US" altLang="zh-CN" sz="1890" b="1" noProof="1">
                <a:solidFill>
                  <a:srgbClr val="FFFF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29740" name="矩形 29739"/>
          <p:cNvSpPr/>
          <p:nvPr/>
        </p:nvSpPr>
        <p:spPr>
          <a:xfrm>
            <a:off x="915988" y="2571750"/>
            <a:ext cx="4695825" cy="490538"/>
          </a:xfrm>
          <a:prstGeom prst="rect">
            <a:avLst/>
          </a:prstGeom>
          <a:noFill/>
          <a:ln w="9525">
            <a:noFill/>
          </a:ln>
        </p:spPr>
        <p:txBody>
          <a:bodyPr lIns="85041" tIns="44221" rIns="85041" bIns="44221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(3)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无定形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非晶形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,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＜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0.02</a:t>
            </a:r>
            <a:r>
              <a:rPr lang="en-US" altLang="zh-CN" sz="2645" b="1" i="1" noProof="1">
                <a:latin typeface="Batang" panose="02030600000101010101" pitchFamily="18" charset="-127"/>
                <a:ea typeface="Batang" panose="02030600000101010101" pitchFamily="18" charset="-127"/>
                <a:cs typeface="+mn-ea"/>
              </a:rPr>
              <a:t>μ</a:t>
            </a:r>
            <a:r>
              <a:rPr lang="en-US" altLang="zh-CN" sz="2645" b="1" noProof="1">
                <a:latin typeface="Batang" panose="02030600000101010101" pitchFamily="18" charset="-127"/>
                <a:ea typeface="Batang" panose="02030600000101010101" pitchFamily="18" charset="-127"/>
                <a:cs typeface="+mn-ea"/>
              </a:rPr>
              <a:t>m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),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29741" name="矩形 29740"/>
          <p:cNvSpPr/>
          <p:nvPr/>
        </p:nvSpPr>
        <p:spPr>
          <a:xfrm>
            <a:off x="5403850" y="1382713"/>
            <a:ext cx="2633663" cy="490537"/>
          </a:xfrm>
          <a:prstGeom prst="rect">
            <a:avLst/>
          </a:prstGeom>
          <a:noFill/>
          <a:ln w="9525">
            <a:noFill/>
          </a:ln>
        </p:spPr>
        <p:txBody>
          <a:bodyPr wrap="none" lIns="85041" tIns="44221" rIns="85041" bIns="44221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如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MgNH</a:t>
            </a:r>
            <a:r>
              <a:rPr lang="en-US" altLang="zh-CN" sz="2645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PO</a:t>
            </a:r>
            <a:r>
              <a:rPr lang="en-US" altLang="zh-CN" sz="2645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等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;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29742" name="矩形 29741"/>
          <p:cNvSpPr/>
          <p:nvPr/>
        </p:nvSpPr>
        <p:spPr>
          <a:xfrm>
            <a:off x="5403850" y="1790700"/>
            <a:ext cx="1881188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85041" tIns="44221" rIns="85041" bIns="44221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如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BaSO</a:t>
            </a:r>
            <a:r>
              <a:rPr lang="en-US" altLang="zh-CN" sz="2645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等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.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29743" name="矩形 29742"/>
          <p:cNvSpPr/>
          <p:nvPr/>
        </p:nvSpPr>
        <p:spPr>
          <a:xfrm>
            <a:off x="2627313" y="2201863"/>
            <a:ext cx="1704975" cy="492125"/>
          </a:xfrm>
          <a:prstGeom prst="rect">
            <a:avLst/>
          </a:prstGeom>
          <a:noFill/>
          <a:ln w="9525">
            <a:noFill/>
          </a:ln>
        </p:spPr>
        <p:txBody>
          <a:bodyPr wrap="none" lIns="85041" tIns="44221" rIns="85041" bIns="44221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如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AgCl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等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;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5135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4.3.1 沉淀的类型与沉淀的形成</a:t>
            </a:r>
          </a:p>
        </p:txBody>
      </p:sp>
      <p:sp>
        <p:nvSpPr>
          <p:cNvPr id="513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137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17" y="3309702"/>
            <a:ext cx="3220023" cy="21531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285038" y="3320855"/>
            <a:ext cx="1789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noProof="1">
                <a:ea typeface="楷体_GB2312" panose="02010609030101010101" pitchFamily="49" charset="-122"/>
                <a:cs typeface="+mn-ea"/>
              </a:rPr>
              <a:t>Fe</a:t>
            </a:r>
            <a:r>
              <a:rPr lang="en-US" altLang="zh-CN" sz="240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400" b="1" noProof="1">
                <a:ea typeface="楷体_GB2312" panose="02010609030101010101" pitchFamily="49" charset="-122"/>
                <a:cs typeface="+mn-ea"/>
              </a:rPr>
              <a:t>O</a:t>
            </a:r>
            <a:r>
              <a:rPr lang="en-US" altLang="zh-CN" sz="2400" b="1" baseline="-25000" noProof="1">
                <a:ea typeface="楷体_GB2312" panose="02010609030101010101" pitchFamily="49" charset="-122"/>
                <a:cs typeface="+mn-ea"/>
              </a:rPr>
              <a:t>3</a:t>
            </a:r>
            <a:r>
              <a:rPr lang="en-US" altLang="zh-CN" sz="2400" b="1" noProof="1">
                <a:ea typeface="楷体_GB2312" panose="02010609030101010101" pitchFamily="49" charset="-122"/>
                <a:cs typeface="+mn-ea"/>
              </a:rPr>
              <a:t>·</a:t>
            </a:r>
            <a:r>
              <a:rPr lang="en-US" altLang="zh-CN" sz="2400" b="1" i="1" noProof="1">
                <a:ea typeface="楷体_GB2312" panose="02010609030101010101" pitchFamily="49" charset="-122"/>
                <a:cs typeface="+mn-ea"/>
              </a:rPr>
              <a:t>x</a:t>
            </a:r>
            <a:r>
              <a:rPr lang="en-US" altLang="zh-CN" sz="2400" b="1" noProof="1">
                <a:ea typeface="楷体_GB2312" panose="02010609030101010101" pitchFamily="49" charset="-122"/>
                <a:cs typeface="+mn-ea"/>
              </a:rPr>
              <a:t>H</a:t>
            </a:r>
            <a:r>
              <a:rPr lang="en-US" altLang="zh-CN" sz="240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400" b="1" noProof="1">
                <a:ea typeface="楷体_GB2312" panose="02010609030101010101" pitchFamily="49" charset="-122"/>
                <a:cs typeface="+mn-ea"/>
              </a:rPr>
              <a:t>O</a:t>
            </a:r>
            <a:endParaRPr lang="zh-CN" altLang="en-US" sz="240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9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5" grpId="0"/>
      <p:bldP spid="29716" grpId="0"/>
      <p:bldP spid="29718" grpId="0" build="p"/>
      <p:bldP spid="29719" grpId="0" build="p"/>
      <p:bldP spid="29728" grpId="0"/>
      <p:bldP spid="29740" grpId="0"/>
      <p:bldP spid="29741" grpId="0"/>
      <p:bldP spid="29742" grpId="0"/>
      <p:bldP spid="2974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文本框 68611"/>
          <p:cNvSpPr txBox="1">
            <a:spLocks noChangeArrowheads="1"/>
          </p:cNvSpPr>
          <p:nvPr/>
        </p:nvSpPr>
        <p:spPr bwMode="auto">
          <a:xfrm>
            <a:off x="634930" y="783067"/>
            <a:ext cx="3300413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沉淀形成过程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8613" name="矩形 68612"/>
          <p:cNvSpPr>
            <a:spLocks noChangeArrowheads="1"/>
          </p:cNvSpPr>
          <p:nvPr/>
        </p:nvSpPr>
        <p:spPr bwMode="auto">
          <a:xfrm>
            <a:off x="862013" y="1224115"/>
            <a:ext cx="190308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 smtClean="0">
                <a:ea typeface="楷体_GB2312" pitchFamily="49" charset="-122"/>
              </a:rPr>
              <a:t>晶核生成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 smtClean="0">
                <a:ea typeface="楷体_GB2312" pitchFamily="49" charset="-122"/>
              </a:rPr>
              <a:t>晶体长大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68614" name="左大括号 68613"/>
          <p:cNvSpPr>
            <a:spLocks/>
          </p:cNvSpPr>
          <p:nvPr/>
        </p:nvSpPr>
        <p:spPr bwMode="auto">
          <a:xfrm>
            <a:off x="760413" y="1392390"/>
            <a:ext cx="215900" cy="576263"/>
          </a:xfrm>
          <a:prstGeom prst="leftBrace">
            <a:avLst>
              <a:gd name="adj1" fmla="val 221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68615" name="矩形 68614"/>
          <p:cNvSpPr>
            <a:spLocks noChangeArrowheads="1"/>
          </p:cNvSpPr>
          <p:nvPr/>
        </p:nvSpPr>
        <p:spPr bwMode="auto">
          <a:xfrm>
            <a:off x="760413" y="2722563"/>
            <a:ext cx="1457325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构晶离子</a:t>
            </a:r>
          </a:p>
        </p:txBody>
      </p:sp>
      <p:sp>
        <p:nvSpPr>
          <p:cNvPr id="68616" name="矩形 68615"/>
          <p:cNvSpPr/>
          <p:nvPr/>
        </p:nvSpPr>
        <p:spPr>
          <a:xfrm>
            <a:off x="2616201" y="2553494"/>
            <a:ext cx="1156086" cy="38318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 smtClean="0">
                <a:solidFill>
                  <a:srgbClr val="FF0000"/>
                </a:solidFill>
                <a:ea typeface="楷体_GB2312" panose="02010609030101010101" pitchFamily="49" charset="-122"/>
              </a:rPr>
              <a:t>缔合堆积</a:t>
            </a:r>
            <a:endParaRPr lang="zh-CN" altLang="en-US" sz="1890" b="1" noProof="1">
              <a:solidFill>
                <a:srgbClr val="FF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68617" name="矩形 68616"/>
          <p:cNvSpPr>
            <a:spLocks noChangeArrowheads="1"/>
          </p:cNvSpPr>
          <p:nvPr/>
        </p:nvSpPr>
        <p:spPr bwMode="auto">
          <a:xfrm>
            <a:off x="3684588" y="2722563"/>
            <a:ext cx="82073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晶核</a:t>
            </a:r>
          </a:p>
        </p:txBody>
      </p:sp>
      <p:sp>
        <p:nvSpPr>
          <p:cNvPr id="68618" name="矩形 68617"/>
          <p:cNvSpPr/>
          <p:nvPr/>
        </p:nvSpPr>
        <p:spPr>
          <a:xfrm>
            <a:off x="4903788" y="2593975"/>
            <a:ext cx="670376" cy="38318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长大</a:t>
            </a:r>
            <a:endParaRPr lang="zh-CN" altLang="en-US" sz="1890" b="1" noProof="1">
              <a:solidFill>
                <a:srgbClr val="FF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68619" name="矩形 68618"/>
          <p:cNvSpPr>
            <a:spLocks noChangeArrowheads="1"/>
          </p:cNvSpPr>
          <p:nvPr/>
        </p:nvSpPr>
        <p:spPr bwMode="auto">
          <a:xfrm>
            <a:off x="5859463" y="2722563"/>
            <a:ext cx="1458912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沉淀微粒</a:t>
            </a:r>
          </a:p>
        </p:txBody>
      </p:sp>
      <p:sp>
        <p:nvSpPr>
          <p:cNvPr id="68620" name="矩形 68619"/>
          <p:cNvSpPr/>
          <p:nvPr/>
        </p:nvSpPr>
        <p:spPr>
          <a:xfrm>
            <a:off x="6540500" y="2363788"/>
            <a:ext cx="666750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凝聚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8621" name="矩形 68620"/>
          <p:cNvSpPr/>
          <p:nvPr/>
        </p:nvSpPr>
        <p:spPr>
          <a:xfrm>
            <a:off x="6540500" y="3213100"/>
            <a:ext cx="1149350" cy="3778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定向排列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8622" name="矩形 68621"/>
          <p:cNvSpPr>
            <a:spLocks noChangeArrowheads="1"/>
          </p:cNvSpPr>
          <p:nvPr/>
        </p:nvSpPr>
        <p:spPr bwMode="auto">
          <a:xfrm>
            <a:off x="5938838" y="1801813"/>
            <a:ext cx="11398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无定形</a:t>
            </a:r>
          </a:p>
        </p:txBody>
      </p:sp>
      <p:sp>
        <p:nvSpPr>
          <p:cNvPr id="68623" name="矩形 68622"/>
          <p:cNvSpPr>
            <a:spLocks noChangeArrowheads="1"/>
          </p:cNvSpPr>
          <p:nvPr/>
        </p:nvSpPr>
        <p:spPr bwMode="auto">
          <a:xfrm>
            <a:off x="6140450" y="3640138"/>
            <a:ext cx="820738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晶形</a:t>
            </a:r>
          </a:p>
        </p:txBody>
      </p:sp>
      <p:sp>
        <p:nvSpPr>
          <p:cNvPr id="68624" name="直接连接符 68623"/>
          <p:cNvSpPr>
            <a:spLocks noChangeShapeType="1"/>
          </p:cNvSpPr>
          <p:nvPr/>
        </p:nvSpPr>
        <p:spPr bwMode="auto">
          <a:xfrm>
            <a:off x="2357438" y="299402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625" name="直接连接符 68624"/>
          <p:cNvSpPr>
            <a:spLocks noChangeShapeType="1"/>
          </p:cNvSpPr>
          <p:nvPr/>
        </p:nvSpPr>
        <p:spPr bwMode="auto">
          <a:xfrm>
            <a:off x="4568825" y="299402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626" name="直接连接符 68625"/>
          <p:cNvSpPr>
            <a:spLocks noChangeShapeType="1"/>
          </p:cNvSpPr>
          <p:nvPr/>
        </p:nvSpPr>
        <p:spPr bwMode="auto">
          <a:xfrm flipV="1">
            <a:off x="6540500" y="2244725"/>
            <a:ext cx="0" cy="509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627" name="直接连接符 68626"/>
          <p:cNvSpPr>
            <a:spLocks noChangeShapeType="1"/>
          </p:cNvSpPr>
          <p:nvPr/>
        </p:nvSpPr>
        <p:spPr bwMode="auto">
          <a:xfrm rot="10800000" flipV="1">
            <a:off x="6540500" y="3197225"/>
            <a:ext cx="0" cy="509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628" name="矩形 68627"/>
          <p:cNvSpPr>
            <a:spLocks noChangeArrowheads="1"/>
          </p:cNvSpPr>
          <p:nvPr/>
        </p:nvSpPr>
        <p:spPr bwMode="auto">
          <a:xfrm>
            <a:off x="687317" y="4482737"/>
            <a:ext cx="1100137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①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均相成核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溶液呈过饱和状态时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构晶离子因静电作用通过缔合而自发形成晶核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68633" name="文本框 68632"/>
          <p:cNvSpPr txBox="1">
            <a:spLocks noChangeArrowheads="1"/>
          </p:cNvSpPr>
          <p:nvPr/>
        </p:nvSpPr>
        <p:spPr bwMode="auto">
          <a:xfrm>
            <a:off x="749228" y="3846150"/>
            <a:ext cx="2004685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3.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晶核生成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164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165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4.3.1 沉淀的类型与沉淀的形成</a:t>
            </a:r>
          </a:p>
        </p:txBody>
      </p:sp>
      <p:sp>
        <p:nvSpPr>
          <p:cNvPr id="616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6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68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6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/>
      <p:bldP spid="68613" grpId="0" build="p"/>
      <p:bldP spid="68615" grpId="0"/>
      <p:bldP spid="68616" grpId="0"/>
      <p:bldP spid="68617" grpId="0"/>
      <p:bldP spid="68618" grpId="0"/>
      <p:bldP spid="68619" grpId="0"/>
      <p:bldP spid="68620" grpId="0"/>
      <p:bldP spid="68621" grpId="0"/>
      <p:bldP spid="68622" grpId="0"/>
      <p:bldP spid="68623" grpId="0"/>
      <p:bldP spid="68624" grpId="0" animBg="1"/>
      <p:bldP spid="68625" grpId="0" animBg="1"/>
      <p:bldP spid="68626" grpId="0" animBg="1"/>
      <p:bldP spid="68627" grpId="0" animBg="1"/>
      <p:bldP spid="68628" grpId="0" uiExpand="1" build="p"/>
      <p:bldP spid="686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6" name="矩形 45065"/>
          <p:cNvSpPr>
            <a:spLocks noChangeArrowheads="1"/>
          </p:cNvSpPr>
          <p:nvPr/>
        </p:nvSpPr>
        <p:spPr bwMode="auto">
          <a:xfrm>
            <a:off x="1009650" y="1090613"/>
            <a:ext cx="277653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BaSO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zh-CN" altLang="en-US" sz="2500" b="1">
                <a:ea typeface="楷体_GB2312" pitchFamily="49" charset="-122"/>
              </a:rPr>
              <a:t>晶核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45071" name="矩形 45070"/>
          <p:cNvSpPr>
            <a:spLocks noChangeArrowheads="1"/>
          </p:cNvSpPr>
          <p:nvPr/>
        </p:nvSpPr>
        <p:spPr bwMode="auto">
          <a:xfrm>
            <a:off x="1009650" y="2832100"/>
            <a:ext cx="10823575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②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异相成核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微粒等外来杂质作为晶种诱导沉淀形成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如沉淀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BaSO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4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一般方法洗的烧杯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～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2000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个微粒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·mm</a:t>
            </a:r>
            <a:r>
              <a:rPr lang="en-US" altLang="zh-CN" sz="2500" b="1" baseline="30000" dirty="0">
                <a:latin typeface="新宋体" panose="02010609030101010101" pitchFamily="49" charset="-122"/>
                <a:ea typeface="新宋体" panose="02010609030101010101" pitchFamily="49" charset="-122"/>
              </a:rPr>
              <a:t>-3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溶液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      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蒸汽处理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100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个微粒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·mm</a:t>
            </a:r>
            <a:r>
              <a:rPr lang="en-US" altLang="zh-CN" sz="2500" b="1" baseline="30000" dirty="0">
                <a:latin typeface="新宋体" panose="02010609030101010101" pitchFamily="49" charset="-122"/>
                <a:ea typeface="新宋体" panose="02010609030101010101" pitchFamily="49" charset="-122"/>
              </a:rPr>
              <a:t>-3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溶液</a:t>
            </a:r>
          </a:p>
        </p:txBody>
      </p:sp>
      <p:sp>
        <p:nvSpPr>
          <p:cNvPr id="45073" name="矩形 45072"/>
          <p:cNvSpPr>
            <a:spLocks noChangeArrowheads="1"/>
          </p:cNvSpPr>
          <p:nvPr/>
        </p:nvSpPr>
        <p:spPr bwMode="auto">
          <a:xfrm>
            <a:off x="1166813" y="1947863"/>
            <a:ext cx="20955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过饱和溶液中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Ba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和</a:t>
            </a:r>
            <a:r>
              <a:rPr lang="en-US" altLang="zh-CN" sz="2500" b="1">
                <a:ea typeface="楷体_GB2312" pitchFamily="49" charset="-122"/>
              </a:rPr>
              <a:t>SO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</a:p>
        </p:txBody>
      </p:sp>
      <p:sp>
        <p:nvSpPr>
          <p:cNvPr id="45075" name="矩形 45074"/>
          <p:cNvSpPr>
            <a:spLocks noChangeArrowheads="1"/>
          </p:cNvSpPr>
          <p:nvPr/>
        </p:nvSpPr>
        <p:spPr bwMode="auto">
          <a:xfrm>
            <a:off x="3695700" y="1947863"/>
            <a:ext cx="14732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Ba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SO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离子对</a:t>
            </a:r>
            <a:r>
              <a:rPr lang="en-US" altLang="zh-CN" sz="2500" b="1">
                <a:ea typeface="楷体_GB2312" pitchFamily="49" charset="-122"/>
              </a:rPr>
              <a:t>) </a:t>
            </a:r>
          </a:p>
        </p:txBody>
      </p:sp>
      <p:sp>
        <p:nvSpPr>
          <p:cNvPr id="45076" name="矩形 45075"/>
          <p:cNvSpPr/>
          <p:nvPr/>
        </p:nvSpPr>
        <p:spPr>
          <a:xfrm>
            <a:off x="5260975" y="1811338"/>
            <a:ext cx="1425575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Ba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</a:rPr>
              <a:t>2+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,SO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</a:rPr>
              <a:t>2-</a:t>
            </a:r>
            <a:endParaRPr lang="en-US" altLang="zh-CN" sz="2270" b="1" baseline="30000" noProof="1">
              <a:ea typeface="楷体_GB2312" panose="02010609030101010101" pitchFamily="49" charset="-122"/>
            </a:endParaRPr>
          </a:p>
        </p:txBody>
      </p:sp>
      <p:sp>
        <p:nvSpPr>
          <p:cNvPr id="45077" name="直接连接符 45076"/>
          <p:cNvSpPr>
            <a:spLocks noChangeShapeType="1"/>
          </p:cNvSpPr>
          <p:nvPr/>
        </p:nvSpPr>
        <p:spPr bwMode="auto">
          <a:xfrm>
            <a:off x="3321050" y="221932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78" name="直接连接符 45077"/>
          <p:cNvSpPr>
            <a:spLocks noChangeShapeType="1"/>
          </p:cNvSpPr>
          <p:nvPr/>
        </p:nvSpPr>
        <p:spPr bwMode="auto">
          <a:xfrm>
            <a:off x="5260975" y="2219325"/>
            <a:ext cx="1366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79" name="矩形 45078"/>
          <p:cNvSpPr>
            <a:spLocks noChangeArrowheads="1"/>
          </p:cNvSpPr>
          <p:nvPr/>
        </p:nvSpPr>
        <p:spPr bwMode="auto">
          <a:xfrm>
            <a:off x="6675438" y="1947863"/>
            <a:ext cx="178911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(Ba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SO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endParaRPr lang="en-US" altLang="zh-CN" sz="2500" b="1" baseline="30000">
              <a:ea typeface="楷体_GB2312" pitchFamily="49" charset="-122"/>
            </a:endParaRPr>
          </a:p>
          <a:p>
            <a:pPr algn="ctr"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离子群</a:t>
            </a:r>
            <a:r>
              <a:rPr lang="en-US" altLang="zh-CN" sz="2500" b="1">
                <a:ea typeface="楷体_GB2312" pitchFamily="49" charset="-122"/>
              </a:rPr>
              <a:t>) </a:t>
            </a:r>
          </a:p>
        </p:txBody>
      </p:sp>
      <p:sp>
        <p:nvSpPr>
          <p:cNvPr id="45080" name="直接连接符 45079"/>
          <p:cNvSpPr>
            <a:spLocks noChangeShapeType="1"/>
          </p:cNvSpPr>
          <p:nvPr/>
        </p:nvSpPr>
        <p:spPr bwMode="auto">
          <a:xfrm flipV="1">
            <a:off x="7469188" y="1744663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81" name="矩形 45080"/>
          <p:cNvSpPr>
            <a:spLocks noChangeArrowheads="1"/>
          </p:cNvSpPr>
          <p:nvPr/>
        </p:nvSpPr>
        <p:spPr bwMode="auto">
          <a:xfrm>
            <a:off x="6959600" y="1235075"/>
            <a:ext cx="11382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</a:t>
            </a:r>
            <a:r>
              <a:rPr lang="zh-CN" altLang="en-US" sz="2500" b="1">
                <a:ea typeface="楷体_GB2312" pitchFamily="49" charset="-122"/>
              </a:rPr>
              <a:t>晶核</a:t>
            </a:r>
          </a:p>
        </p:txBody>
      </p:sp>
      <p:sp>
        <p:nvSpPr>
          <p:cNvPr id="7181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4.3.1 沉淀的类型与沉淀的形成</a:t>
            </a:r>
          </a:p>
        </p:txBody>
      </p:sp>
      <p:sp>
        <p:nvSpPr>
          <p:cNvPr id="718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18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5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45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45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5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6" grpId="0"/>
      <p:bldP spid="45071" grpId="0" build="p"/>
      <p:bldP spid="45073" grpId="0"/>
      <p:bldP spid="45075" grpId="0"/>
      <p:bldP spid="45076" grpId="0"/>
      <p:bldP spid="45077" grpId="0" animBg="1"/>
      <p:bldP spid="45078" grpId="0" animBg="1"/>
      <p:bldP spid="45079" grpId="0"/>
      <p:bldP spid="45080" grpId="0" animBg="1"/>
      <p:bldP spid="450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7" name="文本框 36906"/>
          <p:cNvSpPr txBox="1">
            <a:spLocks noChangeArrowheads="1"/>
          </p:cNvSpPr>
          <p:nvPr/>
        </p:nvSpPr>
        <p:spPr bwMode="auto">
          <a:xfrm>
            <a:off x="688975" y="954088"/>
            <a:ext cx="6368044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4.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沉淀微粒的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形成（</a:t>
            </a:r>
            <a:r>
              <a:rPr lang="zh-CN" altLang="en-US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晶核的长大过程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）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36908" name="矩形 36907"/>
          <p:cNvSpPr>
            <a:spLocks noChangeArrowheads="1"/>
          </p:cNvSpPr>
          <p:nvPr/>
        </p:nvSpPr>
        <p:spPr bwMode="auto">
          <a:xfrm>
            <a:off x="688975" y="1504950"/>
            <a:ext cx="9967994" cy="3554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聚集速率与定向速率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聚集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速率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离子聚集成晶核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进一步积聚成沉淀微粒的速率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定向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速率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</a:t>
            </a: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聚集的同时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构晶离子按一定顺序在晶核上进行定向排列的速率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endParaRPr lang="en-US" altLang="zh-CN" sz="2500" b="1" dirty="0" smtClean="0">
              <a:solidFill>
                <a:srgbClr val="0000FF"/>
              </a:solidFill>
              <a:ea typeface="楷体_GB2312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Haber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哈伯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认为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聚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&gt; 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定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—— </a:t>
            </a:r>
            <a:r>
              <a:rPr lang="zh-CN" altLang="en-US" sz="2500" b="1" dirty="0">
                <a:ea typeface="楷体_GB2312" pitchFamily="49" charset="-122"/>
              </a:rPr>
              <a:t>非晶形沉淀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聚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&lt; 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定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—— </a:t>
            </a:r>
            <a:r>
              <a:rPr lang="zh-CN" altLang="en-US" sz="2500" b="1" dirty="0">
                <a:ea typeface="楷体_GB2312" pitchFamily="49" charset="-122"/>
              </a:rPr>
              <a:t>晶形沉淀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8196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4.3.1 沉淀的类型与沉淀的形成</a:t>
            </a:r>
          </a:p>
        </p:txBody>
      </p:sp>
      <p:sp>
        <p:nvSpPr>
          <p:cNvPr id="8197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198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49058" y="1504950"/>
            <a:ext cx="203934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决定沉淀类型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6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6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6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6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69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69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69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69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07" grpId="0"/>
      <p:bldP spid="3690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8" name="矩形 49167"/>
          <p:cNvSpPr>
            <a:spLocks noChangeArrowheads="1"/>
          </p:cNvSpPr>
          <p:nvPr/>
        </p:nvSpPr>
        <p:spPr bwMode="auto">
          <a:xfrm>
            <a:off x="1945090" y="999737"/>
            <a:ext cx="719940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        </a:t>
            </a:r>
            <a:r>
              <a:rPr lang="zh-CN" altLang="en-US" sz="28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定向速率</a:t>
            </a:r>
            <a:r>
              <a:rPr lang="en-US" altLang="zh-CN" sz="2800" b="1" i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</a:t>
            </a:r>
            <a:r>
              <a:rPr lang="zh-CN" altLang="en-US" sz="2800" b="1" baseline="-25000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定</a:t>
            </a:r>
            <a:r>
              <a:rPr lang="zh-CN" altLang="en-US" sz="28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的大小取决于沉淀</a:t>
            </a:r>
            <a:r>
              <a:rPr lang="zh-CN" altLang="en-US" sz="28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物质本性</a:t>
            </a:r>
            <a:r>
              <a:rPr lang="en-US" altLang="zh-CN" sz="2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</p:txBody>
      </p:sp>
      <p:sp>
        <p:nvSpPr>
          <p:cNvPr id="49169" name="矩形 49168"/>
          <p:cNvSpPr>
            <a:spLocks noChangeArrowheads="1"/>
          </p:cNvSpPr>
          <p:nvPr/>
        </p:nvSpPr>
        <p:spPr bwMode="auto">
          <a:xfrm>
            <a:off x="1708599" y="1671437"/>
            <a:ext cx="7672387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en-US" altLang="zh-CN" sz="2500" b="1" dirty="0" smtClean="0"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强极性难溶物质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如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MgNH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4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PO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4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、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BaSO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4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等</a:t>
            </a:r>
            <a:r>
              <a:rPr lang="en-US" altLang="zh-CN" sz="2500" b="1" i="1" dirty="0">
                <a:latin typeface="新宋体" panose="02010609030101010101" pitchFamily="49" charset="-122"/>
                <a:ea typeface="新宋体" panose="02010609030101010101" pitchFamily="49" charset="-122"/>
              </a:rPr>
              <a:t>v</a:t>
            </a:r>
            <a:r>
              <a:rPr lang="zh-CN" altLang="en-US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定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较大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    </a:t>
            </a:r>
            <a:r>
              <a:rPr lang="en-US" altLang="zh-CN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2.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氢氧化物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特别是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Fe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2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O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3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·</a:t>
            </a:r>
            <a:r>
              <a:rPr lang="en-US" altLang="zh-CN" sz="2500" b="1" i="1" dirty="0">
                <a:latin typeface="新宋体" panose="02010609030101010101" pitchFamily="49" charset="-122"/>
                <a:ea typeface="新宋体" panose="02010609030101010101" pitchFamily="49" charset="-122"/>
              </a:rPr>
              <a:t>x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H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2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O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之类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2500" b="1" i="1" dirty="0">
                <a:latin typeface="新宋体" panose="02010609030101010101" pitchFamily="49" charset="-122"/>
                <a:ea typeface="新宋体" panose="02010609030101010101" pitchFamily="49" charset="-122"/>
              </a:rPr>
              <a:t>v</a:t>
            </a:r>
            <a:r>
              <a:rPr lang="zh-CN" altLang="en-US" sz="2500" b="1" baseline="-25000" dirty="0">
                <a:latin typeface="新宋体" panose="02010609030101010101" pitchFamily="49" charset="-122"/>
                <a:ea typeface="新宋体" panose="02010609030101010101" pitchFamily="49" charset="-122"/>
              </a:rPr>
              <a:t>定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较小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 </a:t>
            </a:r>
          </a:p>
        </p:txBody>
      </p:sp>
      <p:sp>
        <p:nvSpPr>
          <p:cNvPr id="49170" name="矩形 49169"/>
          <p:cNvSpPr>
            <a:spLocks noChangeArrowheads="1"/>
          </p:cNvSpPr>
          <p:nvPr/>
        </p:nvSpPr>
        <p:spPr bwMode="auto">
          <a:xfrm>
            <a:off x="1708599" y="3052612"/>
            <a:ext cx="88024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聚集速率</a:t>
            </a:r>
            <a:r>
              <a:rPr lang="en-US" altLang="zh-CN" sz="2800" b="1" i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</a:t>
            </a:r>
            <a:r>
              <a:rPr lang="zh-CN" altLang="en-US" sz="2800" b="1" baseline="-25000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聚</a:t>
            </a:r>
            <a:r>
              <a:rPr lang="zh-CN" altLang="en-US" sz="28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的大小取决于沉淀时条件（溶液饱和度）</a:t>
            </a:r>
            <a:r>
              <a:rPr lang="en-US" altLang="zh-CN" sz="28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  <a:endParaRPr lang="en-US" altLang="zh-CN" sz="2800" b="1" dirty="0">
              <a:solidFill>
                <a:srgbClr val="FF33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037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4.3.1 沉淀的类型与沉淀的形成</a:t>
            </a:r>
          </a:p>
        </p:txBody>
      </p:sp>
      <p:sp>
        <p:nvSpPr>
          <p:cNvPr id="103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3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54" y="758173"/>
            <a:ext cx="1805258" cy="164278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75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8" grpId="0"/>
      <p:bldP spid="49169" grpId="0" build="p"/>
      <p:bldP spid="491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9" name="矩形 47128"/>
          <p:cNvSpPr/>
          <p:nvPr/>
        </p:nvSpPr>
        <p:spPr>
          <a:xfrm>
            <a:off x="721107" y="4933394"/>
            <a:ext cx="4753580" cy="66941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要</a:t>
            </a:r>
            <a:r>
              <a:rPr lang="zh-CN" altLang="en-US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降低</a:t>
            </a:r>
            <a:r>
              <a:rPr lang="en-US" altLang="zh-CN" sz="2500" b="1" i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v</a:t>
            </a:r>
            <a:r>
              <a:rPr lang="zh-CN" altLang="en-US" sz="2500" b="1" baseline="-25000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聚</a:t>
            </a:r>
            <a:r>
              <a:rPr lang="en-US" altLang="zh-CN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,</a:t>
            </a:r>
            <a:r>
              <a:rPr lang="zh-CN" altLang="en-US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可设法降低</a:t>
            </a:r>
            <a:r>
              <a:rPr lang="en-US" altLang="zh-CN" sz="2500" b="1" i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c</a:t>
            </a:r>
            <a:r>
              <a:rPr lang="en-US" altLang="zh-CN" sz="2500" b="1" baseline="-25000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Q</a:t>
            </a:r>
            <a:r>
              <a:rPr lang="en-US" altLang="zh-CN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, </a:t>
            </a:r>
            <a:r>
              <a:rPr lang="zh-CN" altLang="en-US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增加</a:t>
            </a:r>
            <a:r>
              <a:rPr lang="en-US" altLang="zh-CN" sz="2500" b="1" i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s</a:t>
            </a:r>
            <a:r>
              <a:rPr lang="en-US" altLang="zh-CN" sz="2500" b="1" noProof="1" smtClean="0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.</a:t>
            </a:r>
            <a:endParaRPr lang="en-US" altLang="zh-CN" sz="2500" b="1" noProof="1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7133" name="矩形 47132"/>
          <p:cNvSpPr>
            <a:spLocks noChangeArrowheads="1"/>
          </p:cNvSpPr>
          <p:nvPr/>
        </p:nvSpPr>
        <p:spPr bwMode="auto">
          <a:xfrm>
            <a:off x="566370" y="4221459"/>
            <a:ext cx="5698660" cy="858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5041" tIns="44221" rIns="85041" bIns="44221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相对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过饱和度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↑</a:t>
            </a:r>
            <a:r>
              <a:rPr lang="en-US" altLang="zh-CN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,</a:t>
            </a:r>
            <a:r>
              <a:rPr lang="en-US" altLang="zh-CN" sz="2500" b="1" i="1" dirty="0">
                <a:latin typeface="新宋体" panose="02010609030101010101" pitchFamily="49" charset="-122"/>
                <a:ea typeface="新宋体" panose="02010609030101010101" pitchFamily="49" charset="-122"/>
              </a:rPr>
              <a:t> v</a:t>
            </a:r>
            <a:r>
              <a:rPr lang="zh-CN" altLang="en-US" sz="2500" b="1" baseline="-250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聚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越快</a:t>
            </a:r>
            <a:r>
              <a:rPr lang="zh-CN" altLang="en-US" sz="2500" b="1" baseline="-250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，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越易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引起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均相成核 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221" name="文本框 68635"/>
          <p:cNvSpPr txBox="1">
            <a:spLocks noChangeArrowheads="1"/>
          </p:cNvSpPr>
          <p:nvPr/>
        </p:nvSpPr>
        <p:spPr bwMode="auto">
          <a:xfrm>
            <a:off x="276469" y="235240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4.3.1 沉淀的类型与沉淀的形成</a:t>
            </a:r>
          </a:p>
        </p:txBody>
      </p:sp>
      <p:sp>
        <p:nvSpPr>
          <p:cNvPr id="922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22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aphicFrame>
        <p:nvGraphicFramePr>
          <p:cNvPr id="8" name="对象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394854"/>
              </p:ext>
            </p:extLst>
          </p:nvPr>
        </p:nvGraphicFramePr>
        <p:xfrm>
          <a:off x="2131736" y="1825818"/>
          <a:ext cx="263207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r:id="rId7" imgW="1206500" imgH="419100" progId="Equation.3">
                  <p:embed/>
                </p:oleObj>
              </mc:Choice>
              <mc:Fallback>
                <p:oleObj r:id="rId7" imgW="1206500" imgH="419100" progId="Equation.3">
                  <p:embed/>
                  <p:pic>
                    <p:nvPicPr>
                      <p:cNvPr id="49166" name="对象 4916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736" y="1825818"/>
                        <a:ext cx="263207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33111" y="805056"/>
            <a:ext cx="4716463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 u="sng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相对过饱和度与沉淀类型</a:t>
            </a:r>
            <a:r>
              <a:rPr lang="en-US" altLang="zh-CN" sz="25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Van 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</a:rPr>
              <a:t>Weimarn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冯</a:t>
            </a:r>
            <a:r>
              <a:rPr lang="en-US" altLang="zh-CN" sz="2500" b="1" dirty="0">
                <a:ea typeface="楷体_GB2312" pitchFamily="49" charset="-122"/>
              </a:rPr>
              <a:t>·</a:t>
            </a:r>
            <a:r>
              <a:rPr lang="zh-CN" altLang="en-US" sz="2500" b="1" dirty="0">
                <a:ea typeface="楷体_GB2312" pitchFamily="49" charset="-122"/>
              </a:rPr>
              <a:t>韦曼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经验公式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80920" y="3263845"/>
            <a:ext cx="615585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式中:</a:t>
            </a:r>
            <a:r>
              <a:rPr lang="en-US" altLang="zh-CN" sz="2500" b="1" i="1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c</a:t>
            </a:r>
            <a:r>
              <a:rPr lang="en-US" altLang="zh-CN" sz="2500" b="1" baseline="-250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Q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: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开始沉淀瞬间溶质总浓度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i="1" dirty="0">
                <a:latin typeface="新宋体" panose="02010609030101010101" pitchFamily="49" charset="-122"/>
                <a:ea typeface="新宋体" panose="02010609030101010101" pitchFamily="49" charset="-122"/>
              </a:rPr>
              <a:t>         s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: 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开始沉淀时沉淀物的溶解度</a:t>
            </a:r>
            <a:r>
              <a:rPr lang="en-US" altLang="zh-CN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  <a:endParaRPr lang="en-US" altLang="zh-CN" sz="25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圆角矩形标注 10"/>
          <p:cNvSpPr>
            <a:spLocks noChangeArrowheads="1"/>
          </p:cNvSpPr>
          <p:nvPr/>
        </p:nvSpPr>
        <p:spPr bwMode="auto">
          <a:xfrm>
            <a:off x="6462436" y="1276543"/>
            <a:ext cx="1495425" cy="519113"/>
          </a:xfrm>
          <a:prstGeom prst="wedgeRoundRectCallout">
            <a:avLst>
              <a:gd name="adj1" fmla="val -150727"/>
              <a:gd name="adj2" fmla="val 91407"/>
              <a:gd name="adj3" fmla="val 16667"/>
            </a:avLst>
          </a:prstGeom>
          <a:solidFill>
            <a:srgbClr val="FF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5041" tIns="44221" rIns="85041" bIns="44221" anchor="ctr">
            <a:spAutoFit/>
          </a:bodyPr>
          <a:lstStyle/>
          <a:p>
            <a:pPr algn="ctr"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过饱和度</a:t>
            </a:r>
          </a:p>
        </p:txBody>
      </p:sp>
      <p:sp>
        <p:nvSpPr>
          <p:cNvPr id="12" name="圆角矩形标注 11"/>
          <p:cNvSpPr>
            <a:spLocks noChangeArrowheads="1"/>
          </p:cNvSpPr>
          <p:nvPr/>
        </p:nvSpPr>
        <p:spPr bwMode="auto">
          <a:xfrm>
            <a:off x="5671861" y="1971868"/>
            <a:ext cx="2132013" cy="520700"/>
          </a:xfrm>
          <a:prstGeom prst="wedgeRoundRectCallout">
            <a:avLst>
              <a:gd name="adj1" fmla="val -95486"/>
              <a:gd name="adj2" fmla="val 4426"/>
              <a:gd name="adj3" fmla="val 16667"/>
            </a:avLst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5041" tIns="44221" rIns="85041" bIns="44221" anchor="ctr">
            <a:spAutoFit/>
          </a:bodyPr>
          <a:lstStyle/>
          <a:p>
            <a:pPr algn="ctr"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相对过饱和度</a:t>
            </a:r>
          </a:p>
        </p:txBody>
      </p:sp>
      <p:sp>
        <p:nvSpPr>
          <p:cNvPr id="13" name="椭圆 12"/>
          <p:cNvSpPr>
            <a:spLocks noChangeArrowheads="1"/>
          </p:cNvSpPr>
          <p:nvPr/>
        </p:nvSpPr>
        <p:spPr bwMode="auto">
          <a:xfrm>
            <a:off x="3928786" y="1871856"/>
            <a:ext cx="720725" cy="792162"/>
          </a:xfrm>
          <a:prstGeom prst="ellipse">
            <a:avLst/>
          </a:prstGeom>
          <a:noFill/>
          <a:ln w="3175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14" name="圆角矩形标注 13"/>
          <p:cNvSpPr>
            <a:spLocks noChangeArrowheads="1"/>
          </p:cNvSpPr>
          <p:nvPr/>
        </p:nvSpPr>
        <p:spPr bwMode="auto">
          <a:xfrm>
            <a:off x="6079849" y="2730693"/>
            <a:ext cx="2260600" cy="941388"/>
          </a:xfrm>
          <a:prstGeom prst="wedgeRoundRectCallout">
            <a:avLst>
              <a:gd name="adj1" fmla="val -155282"/>
              <a:gd name="adj2" fmla="val -78569"/>
              <a:gd name="adj3" fmla="val 16667"/>
            </a:avLst>
          </a:prstGeom>
          <a:solidFill>
            <a:srgbClr val="CC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85041" tIns="44221" rIns="85041" bIns="44221" anchor="ctr">
            <a:spAutoFit/>
          </a:bodyPr>
          <a:lstStyle/>
          <a:p>
            <a:pPr algn="ctr"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与沉淀性质</a:t>
            </a:r>
            <a:r>
              <a:rPr lang="en-US" altLang="zh-CN" sz="2500" b="1">
                <a:ea typeface="楷体_GB2312" pitchFamily="49" charset="-122"/>
              </a:rPr>
              <a:t>;</a:t>
            </a:r>
            <a:r>
              <a:rPr lang="en-US" altLang="zh-CN" sz="2500" b="1" i="1">
                <a:ea typeface="楷体_GB2312" pitchFamily="49" charset="-122"/>
              </a:rPr>
              <a:t>T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algn="ctr"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介质等有关</a:t>
            </a:r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3868461" y="2268731"/>
            <a:ext cx="849313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标注 1"/>
          <p:cNvSpPr/>
          <p:nvPr/>
        </p:nvSpPr>
        <p:spPr>
          <a:xfrm>
            <a:off x="345601" y="2431538"/>
            <a:ext cx="1585636" cy="679577"/>
          </a:xfrm>
          <a:prstGeom prst="wedgeRectCallout">
            <a:avLst>
              <a:gd name="adj1" fmla="val 67741"/>
              <a:gd name="adj2" fmla="val -78986"/>
            </a:avLst>
          </a:prstGeom>
          <a:solidFill>
            <a:srgbClr val="F8F8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晶核数目</a:t>
            </a:r>
            <a:endParaRPr lang="zh-CN" altLang="en-US" sz="2400" b="1" dirty="0">
              <a:solidFill>
                <a:schemeClr val="tx1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65030" y="4237748"/>
            <a:ext cx="4692927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b="1" noProof="1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结论</a:t>
            </a:r>
            <a:r>
              <a:rPr lang="en-US" altLang="zh-CN" sz="2400" b="1" noProof="1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: </a:t>
            </a:r>
            <a:r>
              <a:rPr lang="zh-CN" altLang="en-US" sz="24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沉淀的类型不仅决定于沉淀的本质</a:t>
            </a:r>
            <a:r>
              <a:rPr lang="en-US" altLang="zh-CN" sz="24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,</a:t>
            </a:r>
            <a:r>
              <a:rPr lang="zh-CN" altLang="en-US" sz="24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也决定于沉淀时的条件</a:t>
            </a:r>
            <a:r>
              <a:rPr lang="en-US" altLang="zh-CN" sz="24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.</a:t>
            </a:r>
            <a:endParaRPr lang="zh-CN" altLang="en-US" sz="2400" b="1" noProof="1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9" grpId="0"/>
      <p:bldP spid="47133" grpId="0"/>
      <p:bldP spid="9" grpId="0" build="p"/>
      <p:bldP spid="10" grpId="0" build="p"/>
      <p:bldP spid="11" grpId="0" bldLvl="0" animBg="1"/>
      <p:bldP spid="12" grpId="0" bldLvl="0" animBg="1"/>
      <p:bldP spid="14" grpId="0" bldLvl="0" animBg="1"/>
      <p:bldP spid="15" grpId="0" animBg="1"/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8635"/>
          <p:cNvSpPr txBox="1">
            <a:spLocks noChangeArrowheads="1"/>
          </p:cNvSpPr>
          <p:nvPr/>
        </p:nvSpPr>
        <p:spPr bwMode="auto">
          <a:xfrm>
            <a:off x="260350" y="239713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4.3.2 影响沉淀纯度的主要因素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2280695" y="1796234"/>
            <a:ext cx="370707" cy="2934157"/>
          </a:xfrm>
          <a:prstGeom prst="leftBrace">
            <a:avLst/>
          </a:prstGeom>
          <a:ln w="38100">
            <a:solidFill>
              <a:srgbClr val="0070C0"/>
            </a:solidFill>
          </a:ln>
          <a:effectLst>
            <a:outerShdw blurRad="139700" dist="63500" dir="8100000" sx="98000" sy="98000" algn="tr" rotWithShape="0">
              <a:prstClr val="black">
                <a:alpha val="5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81077" y="1432713"/>
            <a:ext cx="1028700" cy="727041"/>
            <a:chOff x="2717878" y="1163553"/>
            <a:chExt cx="1028700" cy="727041"/>
          </a:xfrm>
        </p:grpSpPr>
        <p:sp>
          <p:nvSpPr>
            <p:cNvPr id="8" name="椭圆 7"/>
            <p:cNvSpPr/>
            <p:nvPr/>
          </p:nvSpPr>
          <p:spPr>
            <a:xfrm>
              <a:off x="2868708" y="1163553"/>
              <a:ext cx="727041" cy="72704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317500" dist="1905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/>
              </a:endParaRPr>
            </a:p>
          </p:txBody>
        </p:sp>
        <p:sp>
          <p:nvSpPr>
            <p:cNvPr id="9" name="TextBox 36"/>
            <p:cNvSpPr txBox="1"/>
            <p:nvPr/>
          </p:nvSpPr>
          <p:spPr>
            <a:xfrm>
              <a:off x="2717878" y="1296241"/>
              <a:ext cx="1028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/>
                  <a:ea typeface="微软雅黑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60350" y="2519151"/>
            <a:ext cx="1892012" cy="187197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1" name="同心圆 1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ea typeface="微软雅黑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rgbClr val="0070C0"/>
                  </a:solidFill>
                  <a:latin typeface="微软雅黑"/>
                  <a:ea typeface="微软雅黑"/>
                </a:rPr>
                <a:t>影响沉淀纯度的主要因素</a:t>
              </a:r>
              <a:endParaRPr lang="en-US" altLang="zh-CN" sz="2400" b="1" dirty="0">
                <a:solidFill>
                  <a:srgbClr val="0070C0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913066" y="4350268"/>
            <a:ext cx="1028700" cy="811400"/>
            <a:chOff x="2719496" y="2497084"/>
            <a:chExt cx="1028700" cy="811400"/>
          </a:xfrm>
        </p:grpSpPr>
        <p:grpSp>
          <p:nvGrpSpPr>
            <p:cNvPr id="14" name="组合 13"/>
            <p:cNvGrpSpPr/>
            <p:nvPr/>
          </p:nvGrpSpPr>
          <p:grpSpPr>
            <a:xfrm>
              <a:off x="2828146" y="2497084"/>
              <a:ext cx="811400" cy="811400"/>
              <a:chOff x="304800" y="673100"/>
              <a:chExt cx="4000500" cy="4000500"/>
            </a:xfrm>
            <a:effectLst>
              <a:outerShdw blurRad="317500" dist="1905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6" name="同心圆 15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ea typeface="微软雅黑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ea typeface="微软雅黑"/>
                </a:endParaRPr>
              </a:p>
            </p:txBody>
          </p:sp>
        </p:grpSp>
        <p:sp>
          <p:nvSpPr>
            <p:cNvPr id="15" name="TextBox 37"/>
            <p:cNvSpPr txBox="1"/>
            <p:nvPr/>
          </p:nvSpPr>
          <p:spPr>
            <a:xfrm>
              <a:off x="2719496" y="2671952"/>
              <a:ext cx="1028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070C0"/>
                  </a:solidFill>
                  <a:latin typeface="微软雅黑"/>
                  <a:ea typeface="微软雅黑"/>
                </a:rPr>
                <a:t>02</a:t>
              </a:r>
              <a:endParaRPr lang="zh-CN" altLang="en-US" sz="2400" dirty="0">
                <a:solidFill>
                  <a:srgbClr val="0070C0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060607" y="1439166"/>
            <a:ext cx="1721136" cy="54884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2" name="圆角矩形 21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4351930" y="1373339"/>
              <a:ext cx="3742172" cy="258445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4" name="TextBox 51"/>
          <p:cNvSpPr txBox="1"/>
          <p:nvPr/>
        </p:nvSpPr>
        <p:spPr>
          <a:xfrm>
            <a:off x="4290282" y="1456415"/>
            <a:ext cx="1107996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共沉淀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4155325" y="4486994"/>
            <a:ext cx="1721136" cy="54884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" name="圆角矩形 27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4351930" y="1373339"/>
              <a:ext cx="3742172" cy="2584451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0" name="TextBox 51"/>
          <p:cNvSpPr txBox="1"/>
          <p:nvPr/>
        </p:nvSpPr>
        <p:spPr>
          <a:xfrm>
            <a:off x="4367177" y="4556928"/>
            <a:ext cx="1107996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继沉淀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左大括号 30"/>
          <p:cNvSpPr/>
          <p:nvPr/>
        </p:nvSpPr>
        <p:spPr>
          <a:xfrm>
            <a:off x="6134709" y="971765"/>
            <a:ext cx="370707" cy="2110602"/>
          </a:xfrm>
          <a:prstGeom prst="leftBrace">
            <a:avLst>
              <a:gd name="adj1" fmla="val 8333"/>
              <a:gd name="adj2" fmla="val 39806"/>
            </a:avLst>
          </a:prstGeom>
          <a:ln w="38100">
            <a:solidFill>
              <a:srgbClr val="0070C0"/>
            </a:solidFill>
          </a:ln>
          <a:effectLst>
            <a:outerShdw blurRad="139700" dist="63500" dir="8100000" sx="98000" sy="98000" algn="tr" rotWithShape="0">
              <a:prstClr val="black">
                <a:alpha val="5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7746" y="2155313"/>
            <a:ext cx="2646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沉淀进行时，可溶性杂质也被同时沉淀下来的现象</a:t>
            </a:r>
            <a:endParaRPr lang="zh-CN" altLang="en-US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841022" y="746320"/>
            <a:ext cx="1721136" cy="54884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6" name="圆角矩形 35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4351930" y="1373339"/>
              <a:ext cx="3742172" cy="258445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8" name="TextBox 51"/>
          <p:cNvSpPr txBox="1"/>
          <p:nvPr/>
        </p:nvSpPr>
        <p:spPr>
          <a:xfrm>
            <a:off x="6995648" y="763569"/>
            <a:ext cx="1415772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表面吸附</a:t>
            </a:r>
            <a:endParaRPr lang="zh-CN" altLang="en-US" sz="24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919861" y="1754306"/>
            <a:ext cx="1721136" cy="54884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0" name="圆角矩形 39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4351930" y="1373339"/>
              <a:ext cx="3742172" cy="258445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2" name="TextBox 51"/>
          <p:cNvSpPr txBox="1"/>
          <p:nvPr/>
        </p:nvSpPr>
        <p:spPr>
          <a:xfrm>
            <a:off x="7063355" y="1771555"/>
            <a:ext cx="1507144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吸留 包夹</a:t>
            </a:r>
            <a:endParaRPr lang="zh-CN" altLang="en-US" sz="24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913021" y="2663149"/>
            <a:ext cx="1721136" cy="54884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4" name="圆角矩形 43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4351930" y="1373339"/>
              <a:ext cx="3742172" cy="258445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6" name="TextBox 51"/>
          <p:cNvSpPr txBox="1"/>
          <p:nvPr/>
        </p:nvSpPr>
        <p:spPr>
          <a:xfrm>
            <a:off x="7373479" y="2706740"/>
            <a:ext cx="800219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混晶</a:t>
            </a:r>
            <a:endParaRPr lang="zh-CN" altLang="en-US" sz="24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244603" y="4343726"/>
            <a:ext cx="443748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/>
            <a:r>
              <a:rPr lang="zh-CN" altLang="en-US" sz="24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又叫后沉淀，</a:t>
            </a:r>
            <a:r>
              <a:rPr lang="zh-CN" altLang="en-US" sz="2500" b="1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一种</a:t>
            </a:r>
            <a:r>
              <a:rPr lang="zh-CN" altLang="en-US" sz="2500" b="1" dirty="0" smtClean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组分在沉淀之后</a:t>
            </a:r>
            <a:r>
              <a:rPr lang="en-US" altLang="zh-CN" sz="2500" b="1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</a:t>
            </a:r>
            <a:r>
              <a:rPr lang="zh-CN" altLang="en-US" sz="2500" b="1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另一原本难沉淀的组分在该沉淀表面析出沉淀的现象</a:t>
            </a:r>
            <a:endParaRPr lang="en-US" altLang="zh-CN" sz="2500" b="1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498553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0" grpId="0"/>
      <p:bldP spid="31" grpId="0" animBg="1"/>
      <p:bldP spid="32" grpId="0"/>
      <p:bldP spid="38" grpId="0"/>
      <p:bldP spid="42" grpId="0"/>
      <p:bldP spid="46" grpId="0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8" name="矩形 43017"/>
          <p:cNvSpPr>
            <a:spLocks noChangeArrowheads="1"/>
          </p:cNvSpPr>
          <p:nvPr/>
        </p:nvSpPr>
        <p:spPr bwMode="auto">
          <a:xfrm>
            <a:off x="412012" y="725975"/>
            <a:ext cx="97931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(</a:t>
            </a:r>
            <a:r>
              <a:rPr lang="en-US" altLang="zh-CN" sz="25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1)</a:t>
            </a:r>
            <a:r>
              <a:rPr lang="zh-CN" altLang="en-US" sz="25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表面</a:t>
            </a:r>
            <a:r>
              <a:rPr lang="zh-CN" altLang="en-US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吸附（物理吸附）</a:t>
            </a:r>
            <a:r>
              <a:rPr lang="en-US" altLang="zh-CN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  <a:endParaRPr lang="en-US" altLang="zh-CN" sz="25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原因</a:t>
            </a:r>
            <a:r>
              <a:rPr lang="en-US" altLang="zh-CN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晶体表面</a:t>
            </a:r>
            <a:r>
              <a:rPr lang="zh-CN" altLang="en-US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离子电荷不完全等衡，吸引与之带相反电荷的离子。  </a:t>
            </a:r>
            <a:endParaRPr lang="zh-CN" altLang="en-US" sz="2500" b="1" dirty="0">
              <a:solidFill>
                <a:srgbClr val="FF33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0244" name="文本框 68635"/>
          <p:cNvSpPr txBox="1">
            <a:spLocks noChangeArrowheads="1"/>
          </p:cNvSpPr>
          <p:nvPr/>
        </p:nvSpPr>
        <p:spPr bwMode="auto">
          <a:xfrm>
            <a:off x="260350" y="239713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4.3.2 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共沉淀的类型</a:t>
            </a:r>
            <a:endParaRPr lang="zh-CN" altLang="en-US" sz="2200" b="1" dirty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10245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46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60351" y="1605604"/>
            <a:ext cx="11404604" cy="1246187"/>
          </a:xfrm>
          <a:prstGeom prst="rect">
            <a:avLst/>
          </a:prstGeom>
          <a:solidFill>
            <a:srgbClr val="FFFFCC">
              <a:alpha val="50195"/>
            </a:srgbClr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例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. 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在含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SO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4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2-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及少量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Pb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2+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、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Ca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2+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以及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NO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3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-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等离子的溶液中用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BaCl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2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溶液沉淀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SO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4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2-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时的表面吸附状况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. </a:t>
            </a:r>
            <a:r>
              <a:rPr lang="zh-CN" altLang="en-US" sz="2400" b="1" dirty="0">
                <a:ea typeface="新宋体" panose="02010609030101010101" pitchFamily="49" charset="-122"/>
                <a:sym typeface="Monotype Sorts" pitchFamily="2" charset="2"/>
              </a:rPr>
              <a:t>已知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:  </a:t>
            </a:r>
            <a:r>
              <a:rPr lang="en-US" altLang="zh-CN" sz="2400" b="1" i="1" dirty="0">
                <a:ea typeface="新宋体" panose="02010609030101010101" pitchFamily="49" charset="-122"/>
                <a:sym typeface="Monotype Sorts" pitchFamily="2" charset="2"/>
              </a:rPr>
              <a:t>r 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Ba</a:t>
            </a:r>
            <a:r>
              <a:rPr lang="en-US" altLang="zh-CN" sz="2400" b="1" baseline="-10000" dirty="0">
                <a:ea typeface="新宋体" panose="02010609030101010101" pitchFamily="49" charset="-122"/>
                <a:sym typeface="Monotype Sorts" pitchFamily="2" charset="2"/>
              </a:rPr>
              <a:t>2+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 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= 135pm; </a:t>
            </a:r>
            <a:r>
              <a:rPr lang="en-US" altLang="zh-CN" sz="2400" b="1" i="1" dirty="0">
                <a:ea typeface="新宋体" panose="02010609030101010101" pitchFamily="49" charset="-122"/>
                <a:sym typeface="Monotype Sorts" pitchFamily="2" charset="2"/>
              </a:rPr>
              <a:t>r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Pb</a:t>
            </a:r>
            <a:r>
              <a:rPr lang="en-US" altLang="zh-CN" sz="2400" b="1" baseline="-10000" dirty="0">
                <a:ea typeface="新宋体" panose="02010609030101010101" pitchFamily="49" charset="-122"/>
                <a:sym typeface="Monotype Sorts" pitchFamily="2" charset="2"/>
              </a:rPr>
              <a:t>2+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 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= 120pm; </a:t>
            </a:r>
            <a:r>
              <a:rPr lang="en-US" altLang="zh-CN" sz="2400" b="1" i="1" dirty="0">
                <a:ea typeface="新宋体" panose="02010609030101010101" pitchFamily="49" charset="-122"/>
                <a:sym typeface="Monotype Sorts" pitchFamily="2" charset="2"/>
              </a:rPr>
              <a:t>r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Ca</a:t>
            </a:r>
            <a:r>
              <a:rPr lang="en-US" altLang="zh-CN" sz="2400" b="1" baseline="-10000" dirty="0">
                <a:ea typeface="新宋体" panose="02010609030101010101" pitchFamily="49" charset="-122"/>
                <a:sym typeface="Monotype Sorts" pitchFamily="2" charset="2"/>
              </a:rPr>
              <a:t>2+</a:t>
            </a:r>
            <a:r>
              <a:rPr lang="en-US" altLang="zh-CN" sz="2400" b="1" baseline="30000" dirty="0">
                <a:ea typeface="新宋体" panose="02010609030101010101" pitchFamily="49" charset="-122"/>
                <a:sym typeface="Monotype Sorts" pitchFamily="2" charset="2"/>
              </a:rPr>
              <a:t> 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= 99pm. </a:t>
            </a:r>
            <a:r>
              <a:rPr lang="en-US" altLang="zh-CN" sz="2400" b="1" i="1" dirty="0" err="1">
                <a:ea typeface="新宋体" panose="02010609030101010101" pitchFamily="49" charset="-122"/>
                <a:sym typeface="Monotype Sorts" pitchFamily="2" charset="2"/>
              </a:rPr>
              <a:t>s</a:t>
            </a:r>
            <a:r>
              <a:rPr lang="en-US" altLang="zh-CN" sz="2400" b="1" baseline="-25000" dirty="0" err="1">
                <a:ea typeface="新宋体" panose="02010609030101010101" pitchFamily="49" charset="-122"/>
                <a:sym typeface="Monotype Sorts" pitchFamily="2" charset="2"/>
              </a:rPr>
              <a:t>Ba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(NO</a:t>
            </a:r>
            <a:r>
              <a:rPr lang="en-US" altLang="zh-CN" sz="2400" b="1" baseline="-40000" dirty="0">
                <a:ea typeface="新宋体" panose="02010609030101010101" pitchFamily="49" charset="-122"/>
                <a:sym typeface="Monotype Sorts" pitchFamily="2" charset="2"/>
              </a:rPr>
              <a:t>3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)</a:t>
            </a:r>
            <a:r>
              <a:rPr lang="en-US" altLang="zh-CN" sz="2400" b="1" baseline="-40000" dirty="0">
                <a:ea typeface="新宋体" panose="02010609030101010101" pitchFamily="49" charset="-122"/>
                <a:sym typeface="Monotype Sorts" pitchFamily="2" charset="2"/>
              </a:rPr>
              <a:t>2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 &lt; </a:t>
            </a:r>
            <a:r>
              <a:rPr lang="en-US" altLang="zh-CN" sz="2400" b="1" i="1" dirty="0">
                <a:ea typeface="新宋体" panose="02010609030101010101" pitchFamily="49" charset="-122"/>
                <a:sym typeface="Monotype Sorts" pitchFamily="2" charset="2"/>
              </a:rPr>
              <a:t>s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BaCl</a:t>
            </a:r>
            <a:r>
              <a:rPr lang="en-US" altLang="zh-CN" sz="2400" b="1" baseline="-40000" dirty="0">
                <a:ea typeface="新宋体" panose="02010609030101010101" pitchFamily="49" charset="-122"/>
                <a:sym typeface="Monotype Sorts" pitchFamily="2" charset="2"/>
              </a:rPr>
              <a:t>2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;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 </a:t>
            </a:r>
            <a:r>
              <a:rPr lang="en-US" altLang="zh-CN" sz="2400" b="1" i="1" dirty="0" err="1">
                <a:ea typeface="新宋体" panose="02010609030101010101" pitchFamily="49" charset="-122"/>
                <a:sym typeface="Monotype Sorts" pitchFamily="2" charset="2"/>
              </a:rPr>
              <a:t>s</a:t>
            </a:r>
            <a:r>
              <a:rPr lang="en-US" altLang="zh-CN" sz="2400" b="1" baseline="-25000" dirty="0" err="1">
                <a:ea typeface="新宋体" panose="02010609030101010101" pitchFamily="49" charset="-122"/>
                <a:sym typeface="Monotype Sorts" pitchFamily="2" charset="2"/>
              </a:rPr>
              <a:t>Pb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(NO</a:t>
            </a:r>
            <a:r>
              <a:rPr lang="en-US" altLang="zh-CN" sz="2400" b="1" baseline="-40000" dirty="0">
                <a:ea typeface="新宋体" panose="02010609030101010101" pitchFamily="49" charset="-122"/>
                <a:sym typeface="Monotype Sorts" pitchFamily="2" charset="2"/>
              </a:rPr>
              <a:t>3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)</a:t>
            </a:r>
            <a:r>
              <a:rPr lang="en-US" altLang="zh-CN" sz="2400" b="1" baseline="-40000" dirty="0">
                <a:ea typeface="新宋体" panose="02010609030101010101" pitchFamily="49" charset="-122"/>
                <a:sym typeface="Monotype Sorts" pitchFamily="2" charset="2"/>
              </a:rPr>
              <a:t>2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 &gt; </a:t>
            </a:r>
            <a:r>
              <a:rPr lang="en-US" altLang="zh-CN" sz="2400" b="1" i="1" dirty="0">
                <a:ea typeface="新宋体" panose="02010609030101010101" pitchFamily="49" charset="-122"/>
                <a:sym typeface="Monotype Sorts" pitchFamily="2" charset="2"/>
              </a:rPr>
              <a:t>s</a:t>
            </a:r>
            <a:r>
              <a:rPr lang="en-US" altLang="zh-CN" sz="2400" b="1" baseline="-25000" dirty="0">
                <a:ea typeface="新宋体" panose="02010609030101010101" pitchFamily="49" charset="-122"/>
                <a:sym typeface="Monotype Sorts" pitchFamily="2" charset="2"/>
              </a:rPr>
              <a:t>PbCl</a:t>
            </a:r>
            <a:r>
              <a:rPr lang="en-US" altLang="zh-CN" sz="2400" b="1" baseline="-40000" dirty="0">
                <a:ea typeface="新宋体" panose="02010609030101010101" pitchFamily="49" charset="-122"/>
                <a:sym typeface="Monotype Sorts" pitchFamily="2" charset="2"/>
              </a:rPr>
              <a:t>2</a:t>
            </a:r>
            <a:r>
              <a:rPr lang="en-US" altLang="zh-CN" sz="2400" b="1" dirty="0">
                <a:ea typeface="新宋体" panose="02010609030101010101" pitchFamily="49" charset="-122"/>
                <a:sym typeface="Monotype Sorts" pitchFamily="2" charset="2"/>
              </a:rPr>
              <a:t>.</a:t>
            </a:r>
          </a:p>
        </p:txBody>
      </p:sp>
      <p:grpSp>
        <p:nvGrpSpPr>
          <p:cNvPr id="9" name="组合 69646"/>
          <p:cNvGrpSpPr>
            <a:grpSpLocks/>
          </p:cNvGrpSpPr>
          <p:nvPr/>
        </p:nvGrpSpPr>
        <p:grpSpPr bwMode="auto">
          <a:xfrm>
            <a:off x="2009775" y="2905456"/>
            <a:ext cx="1360488" cy="3267075"/>
            <a:chOff x="453" y="1065"/>
            <a:chExt cx="907" cy="2178"/>
          </a:xfrm>
        </p:grpSpPr>
        <p:sp>
          <p:nvSpPr>
            <p:cNvPr id="10" name="矩形 9"/>
            <p:cNvSpPr/>
            <p:nvPr/>
          </p:nvSpPr>
          <p:spPr>
            <a:xfrm>
              <a:off x="453" y="2607"/>
              <a:ext cx="794" cy="6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     │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—SO</a:t>
              </a:r>
              <a:r>
                <a:rPr lang="en-US" altLang="zh-CN" sz="1890" b="1" baseline="-25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4</a:t>
              </a:r>
              <a:r>
                <a:rPr lang="en-US" altLang="zh-CN" sz="1890" b="1" baseline="30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2-</a:t>
              </a: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     │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53" y="1065"/>
              <a:ext cx="794" cy="4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     │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—SO</a:t>
              </a:r>
              <a:r>
                <a:rPr lang="en-US" altLang="zh-CN" sz="1890" b="1" baseline="-25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4</a:t>
              </a:r>
              <a:r>
                <a:rPr lang="en-US" altLang="zh-CN" sz="1890" b="1" baseline="30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2-</a:t>
              </a: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53" y="1450"/>
              <a:ext cx="740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     │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—Ba</a:t>
              </a:r>
              <a:r>
                <a:rPr lang="en-US" altLang="zh-CN" sz="1890" b="1" baseline="30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2+</a:t>
              </a: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53" y="1837"/>
              <a:ext cx="794" cy="4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     │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—SO</a:t>
              </a:r>
              <a:r>
                <a:rPr lang="en-US" altLang="zh-CN" sz="1890" b="1" baseline="-25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4</a:t>
              </a:r>
              <a:r>
                <a:rPr lang="en-US" altLang="zh-CN" sz="1890" b="1" baseline="30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2-</a:t>
              </a: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53" y="2221"/>
              <a:ext cx="740" cy="4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     │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—Ba</a:t>
              </a:r>
              <a:r>
                <a:rPr lang="en-US" altLang="zh-CN" sz="1890" b="1" baseline="30000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2+</a:t>
              </a:r>
              <a:r>
                <a:rPr lang="en-US" altLang="zh-CN" sz="1890" b="1" noProof="1">
                  <a:ea typeface="楷体_GB2312" panose="02010609030101010101" pitchFamily="49" charset="-122"/>
                  <a:cs typeface="+mn-ea"/>
                  <a:sym typeface="Monotype Sorts" pitchFamily="2" charset="2"/>
                </a:rPr>
                <a:t>—</a:t>
              </a:r>
              <a:endParaRPr lang="en-US" altLang="zh-CN" sz="1890" b="1" noProof="1">
                <a:ea typeface="楷体_GB2312" panose="02010609030101010101" pitchFamily="49" charset="-122"/>
                <a:sym typeface="Monotype Sorts" pitchFamily="2" charset="2"/>
              </a:endParaRPr>
            </a:p>
          </p:txBody>
        </p:sp>
        <p:sp>
          <p:nvSpPr>
            <p:cNvPr id="15" name="直接连接符 69652"/>
            <p:cNvSpPr>
              <a:spLocks noChangeShapeType="1"/>
            </p:cNvSpPr>
            <p:nvPr/>
          </p:nvSpPr>
          <p:spPr bwMode="auto">
            <a:xfrm>
              <a:off x="1360" y="1133"/>
              <a:ext cx="0" cy="2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2111375" y="4027819"/>
            <a:ext cx="842963" cy="436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chemeClr val="bg2"/>
                </a:solidFill>
                <a:ea typeface="楷体_GB2312" panose="02010609030101010101" pitchFamily="49" charset="-122"/>
                <a:cs typeface="+mn-ea"/>
                <a:sym typeface="Monotype Sorts" pitchFamily="2" charset="2"/>
              </a:rPr>
              <a:t>晶 格</a:t>
            </a:r>
            <a:endParaRPr lang="zh-CN" altLang="en-US" sz="2270" b="1" noProof="1">
              <a:solidFill>
                <a:schemeClr val="bg2"/>
              </a:solidFill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86175" y="3178506"/>
            <a:ext cx="720725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Ba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2+</a:t>
            </a:r>
            <a:endParaRPr lang="en-US" altLang="zh-CN" sz="2270" b="1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686175" y="4300869"/>
            <a:ext cx="720725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Ba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2+</a:t>
            </a:r>
            <a:endParaRPr lang="en-US" altLang="zh-CN" sz="2270" b="1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686175" y="5491494"/>
            <a:ext cx="720725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Pb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2+</a:t>
            </a:r>
            <a:endParaRPr lang="en-US" altLang="zh-CN" sz="2270" b="1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75200" y="3178506"/>
            <a:ext cx="771525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NO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3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75200" y="4300869"/>
            <a:ext cx="771525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NO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3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75200" y="5491494"/>
            <a:ext cx="5334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61038" y="3178506"/>
            <a:ext cx="7366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Ca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2+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61038" y="4300869"/>
            <a:ext cx="736600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Ca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2+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761038" y="5491494"/>
            <a:ext cx="7366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Ca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2+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540125" y="3829381"/>
            <a:ext cx="792163" cy="2889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-   +</a:t>
            </a:r>
            <a:endParaRPr lang="en-US" altLang="zh-CN" sz="2270" noProof="1">
              <a:ea typeface="宋体" pitchFamily="2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540125" y="4981906"/>
            <a:ext cx="792163" cy="2889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-   +</a:t>
            </a:r>
            <a:endParaRPr lang="en-US" altLang="zh-CN" sz="2270" noProof="1">
              <a:ea typeface="宋体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577013" y="3178506"/>
            <a:ext cx="5334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577013" y="4300869"/>
            <a:ext cx="533400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577013" y="5491494"/>
            <a:ext cx="5334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775200" y="3757944"/>
            <a:ext cx="533400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775200" y="4915231"/>
            <a:ext cx="533400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577013" y="3757944"/>
            <a:ext cx="533400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77013" y="4915231"/>
            <a:ext cx="533400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Cl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8556625" y="5048581"/>
            <a:ext cx="790575" cy="287338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-   +</a:t>
            </a:r>
            <a:endParaRPr lang="en-US" altLang="zh-CN" sz="2270" noProof="1"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31188" y="5366081"/>
            <a:ext cx="1341437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rgbClr val="00CC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  <a:sym typeface="Monotype Sorts" pitchFamily="2" charset="2"/>
              </a:rPr>
              <a:t>水偶极子</a:t>
            </a:r>
            <a:endParaRPr lang="zh-CN" altLang="en-US" sz="2270" b="1" noProof="1">
              <a:solidFill>
                <a:srgbClr val="00CC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132138" y="3789694"/>
            <a:ext cx="503237" cy="782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  <a:sym typeface="Monotype Sorts" pitchFamily="2" charset="2"/>
              </a:rPr>
              <a:t>表面</a:t>
            </a:r>
            <a:endParaRPr lang="zh-CN" altLang="en-US" sz="2270" b="1" noProof="1">
              <a:solidFill>
                <a:srgbClr val="FF00FF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436938" y="2872119"/>
            <a:ext cx="1025525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b="1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  <a:sym typeface="Monotype Sorts" pitchFamily="2" charset="2"/>
              </a:rPr>
              <a:t>吸附层</a:t>
            </a:r>
            <a:endParaRPr lang="zh-CN" altLang="en-US" sz="2200" b="1" noProof="1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  <a:cs typeface="+mn-ea"/>
              <a:sym typeface="Monotype Sorts" pitchFamily="2" charset="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95813" y="2872119"/>
            <a:ext cx="1050925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  <a:sym typeface="Monotype Sorts" pitchFamily="2" charset="2"/>
              </a:rPr>
              <a:t>扩散层</a:t>
            </a:r>
          </a:p>
        </p:txBody>
      </p:sp>
      <p:sp>
        <p:nvSpPr>
          <p:cNvPr id="40" name="右大括号 39"/>
          <p:cNvSpPr>
            <a:spLocks/>
          </p:cNvSpPr>
          <p:nvPr/>
        </p:nvSpPr>
        <p:spPr bwMode="auto">
          <a:xfrm rot="5400000">
            <a:off x="4387851" y="5421643"/>
            <a:ext cx="144462" cy="1008063"/>
          </a:xfrm>
          <a:prstGeom prst="rightBrace">
            <a:avLst>
              <a:gd name="adj1" fmla="val 578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41" name="矩形 40"/>
          <p:cNvSpPr/>
          <p:nvPr/>
        </p:nvSpPr>
        <p:spPr>
          <a:xfrm>
            <a:off x="3709988" y="5897894"/>
            <a:ext cx="1630362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  <a:sym typeface="Monotype Sorts" pitchFamily="2" charset="2"/>
              </a:rPr>
              <a:t>吸附化合物</a:t>
            </a:r>
          </a:p>
        </p:txBody>
      </p:sp>
      <p:sp>
        <p:nvSpPr>
          <p:cNvPr id="42" name="矩形 41"/>
          <p:cNvSpPr/>
          <p:nvPr/>
        </p:nvSpPr>
        <p:spPr>
          <a:xfrm>
            <a:off x="4001966" y="2305193"/>
            <a:ext cx="1050925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  <a:sym typeface="Monotype Sorts" pitchFamily="2" charset="2"/>
              </a:rPr>
              <a:t>双电层</a:t>
            </a:r>
            <a:endParaRPr lang="zh-CN" altLang="en-US" sz="2270" b="1" noProof="1">
              <a:solidFill>
                <a:srgbClr val="FF00FF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686175" y="4300869"/>
            <a:ext cx="720725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Ba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2+</a:t>
            </a:r>
            <a:endParaRPr lang="en-US" altLang="zh-CN" sz="2270" b="1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75200" y="3178506"/>
            <a:ext cx="771525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NO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3</a:t>
            </a:r>
            <a:r>
              <a:rPr lang="en-US" altLang="zh-CN" sz="2270" b="1" baseline="30000" noProof="1">
                <a:ea typeface="楷体_GB2312" panose="02010609030101010101" pitchFamily="49" charset="-122"/>
                <a:cs typeface="+mn-ea"/>
                <a:sym typeface="Monotype Sorts" pitchFamily="2" charset="2"/>
              </a:rPr>
              <a:t>-</a:t>
            </a:r>
            <a:endParaRPr lang="en-US" altLang="zh-CN" sz="2270" b="1" baseline="30000" noProof="1">
              <a:ea typeface="楷体_GB2312" panose="02010609030101010101" pitchFamily="49" charset="-122"/>
              <a:sym typeface="Monotype Sorts" pitchFamily="2" charset="2"/>
            </a:endParaRPr>
          </a:p>
        </p:txBody>
      </p:sp>
      <p:sp>
        <p:nvSpPr>
          <p:cNvPr id="45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5546723" y="6191679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6" name="右大括号 45"/>
          <p:cNvSpPr>
            <a:spLocks/>
          </p:cNvSpPr>
          <p:nvPr/>
        </p:nvSpPr>
        <p:spPr bwMode="auto">
          <a:xfrm rot="5400000" flipH="1">
            <a:off x="4417964" y="2245710"/>
            <a:ext cx="239808" cy="1008063"/>
          </a:xfrm>
          <a:prstGeom prst="rightBrace">
            <a:avLst>
              <a:gd name="adj1" fmla="val 5789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0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28000"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8" grpId="0" build="p"/>
      <p:bldP spid="8" grpId="0" bldLvl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bldLvl="0" animBg="1"/>
      <p:bldP spid="27" grpId="0" bldLvl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bldLvl="0" animBg="1"/>
      <p:bldP spid="36" grpId="0"/>
      <p:bldP spid="37" grpId="0"/>
      <p:bldP spid="38" grpId="0"/>
      <p:bldP spid="39" grpId="0"/>
      <p:bldP spid="41" grpId="0"/>
      <p:bldP spid="42" grpId="0"/>
      <p:bldP spid="43" grpId="0"/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1" name="矩形 51210"/>
          <p:cNvSpPr>
            <a:spLocks noChangeArrowheads="1"/>
          </p:cNvSpPr>
          <p:nvPr/>
        </p:nvSpPr>
        <p:spPr bwMode="auto">
          <a:xfrm>
            <a:off x="1189038" y="2122488"/>
            <a:ext cx="98583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 </a:t>
            </a:r>
            <a:r>
              <a:rPr lang="zh-CN" altLang="en-US" sz="25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扩散层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在杂质离子浓度相同时</a:t>
            </a:r>
            <a:r>
              <a:rPr lang="zh-CN" altLang="en-US" sz="2500" b="1" u="sng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优先吸附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能与构晶离子形成溶解度或解离度最小的化合物的离子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  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  <a:hlinkClick r:id="" action="ppaction://hlinkshowjump?jump=nextslide"/>
              </a:rPr>
              <a:t>例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  <a:hlinkClick r:id="" action="ppaction://hlinkshowjump?jump=nextslide"/>
              </a:rPr>
              <a:t>.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 </a:t>
            </a:r>
            <a:r>
              <a:rPr lang="zh-CN" altLang="en-US" sz="2500" b="1" u="sng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离子价数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越高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, </a:t>
            </a:r>
            <a:r>
              <a:rPr lang="zh-CN" altLang="en-US" sz="2500" b="1" u="sng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浓度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越高就越易被吸附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④ </a:t>
            </a:r>
            <a:r>
              <a:rPr lang="zh-CN" altLang="en-US" sz="2500" b="1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比表面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(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单位质量颗粒的表面积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)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越大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,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吸附的杂质越多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⑤ </a:t>
            </a:r>
            <a:r>
              <a:rPr lang="zh-CN" altLang="en-US" sz="2500" b="1" u="sng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温度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低利于吸附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(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吸附为放热过程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).</a:t>
            </a:r>
          </a:p>
        </p:txBody>
      </p:sp>
      <p:sp>
        <p:nvSpPr>
          <p:cNvPr id="51212" name="矩形 51211"/>
          <p:cNvSpPr>
            <a:spLocks noChangeArrowheads="1"/>
          </p:cNvSpPr>
          <p:nvPr/>
        </p:nvSpPr>
        <p:spPr bwMode="auto">
          <a:xfrm>
            <a:off x="1189038" y="1239838"/>
            <a:ext cx="7418387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 </a:t>
            </a:r>
            <a:r>
              <a:rPr lang="zh-CN" altLang="en-US" sz="2500" b="1" dirty="0">
                <a:solidFill>
                  <a:srgbClr val="0000FF"/>
                </a:solidFill>
                <a:ea typeface="新宋体" panose="02010609030101010101" pitchFamily="49" charset="-122"/>
                <a:sym typeface="Monotype Sorts" pitchFamily="2" charset="2"/>
              </a:rPr>
              <a:t>吸附层</a:t>
            </a:r>
            <a:r>
              <a:rPr lang="zh-CN" altLang="en-US" sz="2500" b="1" u="sng" dirty="0">
                <a:ea typeface="新宋体" panose="02010609030101010101" pitchFamily="49" charset="-122"/>
                <a:sym typeface="Monotype Sorts" pitchFamily="2" charset="2"/>
              </a:rPr>
              <a:t>优先吸附</a:t>
            </a:r>
            <a:r>
              <a:rPr lang="zh-CN" altLang="en-US" sz="2500" b="1" dirty="0">
                <a:ea typeface="新宋体" panose="02010609030101010101" pitchFamily="49" charset="-122"/>
                <a:sym typeface="Monotype Sorts" pitchFamily="2" charset="2"/>
              </a:rPr>
              <a:t>构晶离子</a:t>
            </a:r>
            <a:r>
              <a:rPr lang="en-US" altLang="zh-CN" sz="2500" b="1" dirty="0">
                <a:ea typeface="新宋体" panose="02010609030101010101" pitchFamily="49" charset="-122"/>
                <a:sym typeface="Monotype Sorts" pitchFamily="2" charset="2"/>
              </a:rPr>
              <a:t>, </a:t>
            </a:r>
            <a:r>
              <a:rPr lang="zh-CN" altLang="en-US" sz="2500" b="1" u="sng" dirty="0">
                <a:ea typeface="新宋体" panose="02010609030101010101" pitchFamily="49" charset="-122"/>
                <a:sym typeface="Monotype Sorts" pitchFamily="2" charset="2"/>
              </a:rPr>
              <a:t>其次</a:t>
            </a:r>
            <a:r>
              <a:rPr lang="zh-CN" altLang="en-US" sz="2500" b="1" dirty="0">
                <a:ea typeface="新宋体" panose="02010609030101010101" pitchFamily="49" charset="-122"/>
                <a:sym typeface="Monotype Sorts" pitchFamily="2" charset="2"/>
              </a:rPr>
              <a:t>是与构晶离子大小相近</a:t>
            </a:r>
            <a:r>
              <a:rPr lang="en-US" altLang="zh-CN" sz="2500" b="1" dirty="0">
                <a:ea typeface="新宋体" panose="02010609030101010101" pitchFamily="49" charset="-122"/>
                <a:sym typeface="Monotype Sorts" pitchFamily="2" charset="2"/>
              </a:rPr>
              <a:t>,</a:t>
            </a:r>
            <a:r>
              <a:rPr lang="zh-CN" altLang="en-US" sz="2500" b="1" dirty="0">
                <a:ea typeface="新宋体" panose="02010609030101010101" pitchFamily="49" charset="-122"/>
                <a:sym typeface="Monotype Sorts" pitchFamily="2" charset="2"/>
              </a:rPr>
              <a:t>电荷相同的离子</a:t>
            </a:r>
            <a:r>
              <a:rPr lang="en-US" altLang="zh-CN" sz="2500" b="1" dirty="0">
                <a:ea typeface="新宋体" panose="02010609030101010101" pitchFamily="49" charset="-122"/>
                <a:sym typeface="Monotype Sorts" pitchFamily="2" charset="2"/>
              </a:rPr>
              <a:t>;</a:t>
            </a:r>
            <a:endParaRPr lang="en-US" altLang="zh-CN" sz="2500" b="1" dirty="0">
              <a:solidFill>
                <a:srgbClr val="FF3300"/>
              </a:solidFill>
              <a:ea typeface="新宋体" panose="02010609030101010101" pitchFamily="49" charset="-122"/>
            </a:endParaRPr>
          </a:p>
        </p:txBody>
      </p:sp>
      <p:sp>
        <p:nvSpPr>
          <p:cNvPr id="51213" name="左大括号 51212"/>
          <p:cNvSpPr>
            <a:spLocks/>
          </p:cNvSpPr>
          <p:nvPr/>
        </p:nvSpPr>
        <p:spPr bwMode="auto">
          <a:xfrm>
            <a:off x="1046163" y="1239838"/>
            <a:ext cx="184150" cy="3227387"/>
          </a:xfrm>
          <a:prstGeom prst="leftBrace">
            <a:avLst>
              <a:gd name="adj1" fmla="val 1454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11269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4.3.2 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表面吸附的一般规律</a:t>
            </a:r>
            <a:endParaRPr lang="zh-CN" altLang="en-US" sz="2200" b="1" dirty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11270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1271" name="椭圆 68634" descr="图片9">
            <a:hlinkClick r:id="rId4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1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1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1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1" grpId="0" build="p"/>
      <p:bldP spid="512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7" name="左大括号 52236"/>
          <p:cNvSpPr>
            <a:spLocks/>
          </p:cNvSpPr>
          <p:nvPr/>
        </p:nvSpPr>
        <p:spPr bwMode="auto">
          <a:xfrm>
            <a:off x="1090659" y="2155009"/>
            <a:ext cx="142875" cy="576263"/>
          </a:xfrm>
          <a:prstGeom prst="leftBrace">
            <a:avLst>
              <a:gd name="adj1" fmla="val 334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52239" name="矩形 52238"/>
          <p:cNvSpPr>
            <a:spLocks noChangeArrowheads="1"/>
          </p:cNvSpPr>
          <p:nvPr/>
        </p:nvSpPr>
        <p:spPr bwMode="auto">
          <a:xfrm>
            <a:off x="1258094" y="2016104"/>
            <a:ext cx="525621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加热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, 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洗涤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改变杂质离子的存在形式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如价态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).</a:t>
            </a:r>
          </a:p>
        </p:txBody>
      </p:sp>
      <p:sp>
        <p:nvSpPr>
          <p:cNvPr id="52249" name="矩形 52248"/>
          <p:cNvSpPr/>
          <p:nvPr/>
        </p:nvSpPr>
        <p:spPr>
          <a:xfrm>
            <a:off x="865105" y="1368113"/>
            <a:ext cx="3178976" cy="474026"/>
          </a:xfrm>
          <a:prstGeom prst="rect">
            <a:avLst/>
          </a:prstGeom>
          <a:noFill/>
          <a:ln w="9525">
            <a:noFill/>
          </a:ln>
        </p:spPr>
        <p:txBody>
          <a:bodyPr wrap="none" lIns="85041" tIns="44221" rIns="85041" bIns="44221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减免表面吸附的方法</a:t>
            </a:r>
            <a:r>
              <a:rPr lang="en-US" altLang="zh-CN" sz="2500" b="1" noProof="1" smtClean="0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500" b="1" noProof="1">
              <a:effectLst>
                <a:outerShdw blurRad="38100" dist="38100" dir="2700000">
                  <a:srgbClr val="FFFFFF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13319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4.3.2 影响沉淀纯度的主要因素</a:t>
            </a:r>
          </a:p>
        </p:txBody>
      </p:sp>
      <p:sp>
        <p:nvSpPr>
          <p:cNvPr id="13320" name="椭圆 62501" descr="图片8">
            <a:hlinkClick r:id="rId3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3321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9" grpId="0" build="p"/>
      <p:bldP spid="522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8" name="矩形 52237"/>
          <p:cNvSpPr>
            <a:spLocks noChangeArrowheads="1"/>
          </p:cNvSpPr>
          <p:nvPr/>
        </p:nvSpPr>
        <p:spPr bwMode="auto">
          <a:xfrm>
            <a:off x="865105" y="1080117"/>
            <a:ext cx="8999875" cy="2419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包藏、吸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留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  <a:p>
            <a:pPr lvl="0" eaLnBrk="1" hangingPunct="1"/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</a:t>
            </a:r>
            <a:r>
              <a:rPr lang="zh-CN" altLang="en-US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包藏：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母液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机械地</a:t>
            </a:r>
            <a:r>
              <a:rPr kumimoji="0" lang="zh-CN" altLang="en-US" sz="2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包于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沉淀中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称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0" eaLnBrk="1" hangingPunct="1"/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　　</a:t>
            </a:r>
            <a:r>
              <a:rPr lang="zh-CN" altLang="en-US" sz="25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吸</a:t>
            </a:r>
            <a:r>
              <a:rPr lang="zh-CN" altLang="en-US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留：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被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吸附的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杂质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机械地</a:t>
            </a:r>
            <a:r>
              <a:rPr kumimoji="0" lang="zh-CN" altLang="en-US" sz="2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嵌于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沉淀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中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CN" sz="25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原因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  <a:r>
              <a:rPr kumimoji="0" lang="en-US" altLang="zh-CN" sz="2500" b="1" i="0" u="none" strike="noStrike" kern="1200" cap="none" spc="0" normalizeH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沉淀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生长过快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杂质离子或母液来不及离开沉淀表面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3319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+mn-cs"/>
              </a:rPr>
              <a:t>4.3.2 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包藏 吸留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+mn-cs"/>
            </a:endParaRPr>
          </a:p>
        </p:txBody>
      </p:sp>
      <p:sp>
        <p:nvSpPr>
          <p:cNvPr id="13320" name="椭圆 62501" descr="图片8">
            <a:hlinkClick r:id="rId2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3321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2950971" y="443706"/>
            <a:ext cx="2414071" cy="609863"/>
          </a:xfrm>
          <a:prstGeom prst="wedgeRectCallout">
            <a:avLst>
              <a:gd name="adj1" fmla="val -46304"/>
              <a:gd name="adj2" fmla="val 9089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hangingPunct="1">
              <a:lnSpc>
                <a:spcPct val="105000"/>
              </a:lnSpc>
              <a:defRPr/>
            </a:pPr>
            <a:r>
              <a:rPr lang="zh-CN" altLang="en-US" sz="24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晶形沉淀不纯的主要原因</a:t>
            </a:r>
            <a:endParaRPr lang="zh-CN" altLang="en-US" sz="2400" b="1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49108" y="4074989"/>
            <a:ext cx="10287000" cy="1304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改变沉淀条件、陈化或重结晶等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陈化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:</a:t>
            </a:r>
            <a:r>
              <a:rPr lang="en-US" altLang="zh-CN" sz="2500" b="1" dirty="0">
                <a:solidFill>
                  <a:prstClr val="black"/>
                </a:solidFill>
                <a:ea typeface="新宋体" panose="02010609030101010101" pitchFamily="49" charset="-122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沉淀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生成后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,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</a:rPr>
              <a:t>使沉淀与母液共同放置一段时间或加热搅拌一定时间后再过滤分离。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新宋体" panose="02010609030101010101" pitchFamily="49" charset="-122"/>
                <a:cs typeface="+mn-cs"/>
                <a:sym typeface="Monotype Sorts" pitchFamily="2" charset="2"/>
              </a:rPr>
              <a:t>  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新宋体" panose="02010609030101010101" pitchFamily="49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5105" y="3543780"/>
            <a:ext cx="3501181" cy="474026"/>
          </a:xfrm>
          <a:prstGeom prst="rect">
            <a:avLst/>
          </a:prstGeom>
          <a:noFill/>
          <a:ln w="9525">
            <a:noFill/>
          </a:ln>
        </p:spPr>
        <p:txBody>
          <a:bodyPr wrap="none" lIns="85041" tIns="44221" rIns="85041" bIns="44221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减免包藏、吸留的方法</a:t>
            </a:r>
            <a:r>
              <a:rPr lang="en-US" altLang="zh-CN" sz="2500" b="1" noProof="1" smtClean="0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500" b="1" noProof="1">
              <a:effectLst>
                <a:outerShdw blurRad="38100" dist="38100" dir="2700000">
                  <a:srgbClr val="FFFFFF"/>
                </a:outerShdw>
              </a:effectLst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86444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2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2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2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2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2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8" grpId="0" build="p"/>
      <p:bldP spid="3" grpId="0" animBg="1"/>
      <p:bldP spid="8" grpId="0" build="p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3" name="矩形 54282"/>
          <p:cNvSpPr/>
          <p:nvPr/>
        </p:nvSpPr>
        <p:spPr>
          <a:xfrm>
            <a:off x="903288" y="1321317"/>
            <a:ext cx="9177689" cy="16996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原因</a:t>
            </a:r>
            <a:r>
              <a:rPr lang="zh-CN" altLang="en-US" sz="2800" b="1" noProof="1" smtClean="0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：</a:t>
            </a:r>
            <a:r>
              <a:rPr lang="en-US" altLang="zh-CN" sz="2800" b="1" i="1" noProof="1" smtClean="0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r</a:t>
            </a:r>
            <a:r>
              <a:rPr lang="zh-CN" altLang="en-US" sz="2800" b="1" baseline="-25000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杂质离子</a:t>
            </a:r>
            <a:r>
              <a:rPr lang="zh-CN" altLang="en-US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与</a:t>
            </a:r>
            <a:r>
              <a:rPr lang="en-US" altLang="zh-CN" sz="2800" b="1" i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r</a:t>
            </a:r>
            <a:r>
              <a:rPr lang="zh-CN" altLang="en-US" sz="2800" b="1" baseline="-25000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构晶离子</a:t>
            </a:r>
            <a:r>
              <a:rPr lang="zh-CN" altLang="en-US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相近</a:t>
            </a:r>
            <a:r>
              <a:rPr lang="en-US" altLang="zh-CN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,</a:t>
            </a:r>
            <a:r>
              <a:rPr lang="zh-CN" altLang="en-US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电荷相同</a:t>
            </a:r>
            <a:r>
              <a:rPr lang="en-US" altLang="zh-CN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,</a:t>
            </a:r>
            <a:r>
              <a:rPr lang="zh-CN" altLang="en-US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晶格也相同</a:t>
            </a:r>
            <a:r>
              <a:rPr lang="en-US" altLang="zh-CN" sz="28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.</a:t>
            </a:r>
            <a:endParaRPr lang="en-US" altLang="zh-CN" sz="2800" b="1" noProof="1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 smtClean="0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  </a:t>
            </a:r>
            <a:r>
              <a:rPr lang="zh-CN" altLang="en-US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如</a:t>
            </a:r>
            <a:r>
              <a:rPr lang="en-US" altLang="zh-CN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BaSO</a:t>
            </a:r>
            <a:r>
              <a:rPr lang="en-US" altLang="zh-CN" sz="2500" b="1" baseline="-25000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4</a:t>
            </a:r>
            <a:r>
              <a:rPr lang="zh-CN" altLang="en-US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沉淀时若有</a:t>
            </a:r>
            <a:r>
              <a:rPr lang="en-US" altLang="zh-CN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  <a:sym typeface="Monotype Sorts" pitchFamily="2" charset="2"/>
              </a:rPr>
              <a:t>Pb</a:t>
            </a:r>
            <a:r>
              <a:rPr lang="en-US" altLang="zh-CN" sz="2500" b="1" baseline="30000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  <a:sym typeface="Monotype Sorts" pitchFamily="2" charset="2"/>
              </a:rPr>
              <a:t>2+</a:t>
            </a:r>
            <a:r>
              <a:rPr lang="zh-CN" altLang="en-US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  <a:sym typeface="Monotype Sorts" pitchFamily="2" charset="2"/>
              </a:rPr>
              <a:t>存在就可能形成混晶</a:t>
            </a:r>
            <a:r>
              <a:rPr lang="en-US" altLang="zh-CN" sz="2500" b="1" noProof="1" smtClean="0">
                <a:latin typeface="新宋体" panose="02010609030101010101" pitchFamily="49" charset="-122"/>
                <a:ea typeface="新宋体" panose="02010609030101010101" pitchFamily="49" charset="-122"/>
                <a:cs typeface="+mn-ea"/>
                <a:sym typeface="Monotype Sorts" pitchFamily="2" charset="2"/>
              </a:rPr>
              <a:t>.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 sz="2500" b="1" noProof="1">
              <a:latin typeface="新宋体" panose="02010609030101010101" pitchFamily="49" charset="-122"/>
              <a:ea typeface="新宋体" panose="02010609030101010101" pitchFamily="49" charset="-122"/>
              <a:sym typeface="Monotype Sorts" pitchFamily="2" charset="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减免方法</a:t>
            </a:r>
            <a:r>
              <a:rPr lang="en-US" altLang="zh-CN" sz="2500" b="1" noProof="1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:</a:t>
            </a:r>
            <a:r>
              <a:rPr lang="zh-CN" altLang="en-US" sz="2500" b="1" noProof="1" smtClean="0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事先</a:t>
            </a:r>
            <a:r>
              <a:rPr lang="zh-CN" altLang="en-US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分离</a:t>
            </a:r>
            <a:r>
              <a:rPr lang="en-US" altLang="zh-CN" sz="2500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.</a:t>
            </a:r>
            <a:endParaRPr lang="en-US" altLang="zh-CN" sz="2500" b="1" noProof="1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4291" name="矩形 54290"/>
          <p:cNvSpPr>
            <a:spLocks noChangeArrowheads="1"/>
          </p:cNvSpPr>
          <p:nvPr/>
        </p:nvSpPr>
        <p:spPr bwMode="auto">
          <a:xfrm>
            <a:off x="903288" y="886074"/>
            <a:ext cx="1204176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混晶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5366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4.3.2 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混晶</a:t>
            </a:r>
            <a:endParaRPr lang="zh-CN" altLang="en-US" sz="2200" b="1" dirty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15367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5368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4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4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3" grpId="0" build="p"/>
      <p:bldP spid="5429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2" name="矩形 44041"/>
          <p:cNvSpPr>
            <a:spLocks noChangeArrowheads="1"/>
          </p:cNvSpPr>
          <p:nvPr/>
        </p:nvSpPr>
        <p:spPr bwMode="auto">
          <a:xfrm>
            <a:off x="750917" y="2024458"/>
            <a:ext cx="9644063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原因：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可能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是表面吸附导致沉淀</a:t>
            </a:r>
            <a:r>
              <a:rPr lang="zh-CN" altLang="en-US" sz="2500" b="1" u="sng" dirty="0">
                <a:latin typeface="新宋体" panose="02010609030101010101" pitchFamily="49" charset="-122"/>
                <a:ea typeface="新宋体" panose="02010609030101010101" pitchFamily="49" charset="-122"/>
              </a:rPr>
              <a:t>表面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沉淀剂浓度比溶液</a:t>
            </a:r>
            <a:r>
              <a:rPr lang="zh-CN" altLang="en-US" sz="2500" b="1" u="sng" dirty="0">
                <a:latin typeface="新宋体" panose="02010609030101010101" pitchFamily="49" charset="-122"/>
                <a:ea typeface="新宋体" panose="02010609030101010101" pitchFamily="49" charset="-122"/>
              </a:rPr>
              <a:t>本体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高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规律</a:t>
            </a:r>
            <a:r>
              <a:rPr lang="en-US" altLang="zh-CN" sz="2500" b="1" dirty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  <a:endParaRPr lang="en-US" altLang="zh-CN" sz="25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 ①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放置时间越长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杂质量增大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 ②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引入杂质量基本与杂质沉淀前或后存在无关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 ③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温度升高有时影响更严重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sym typeface="Monotype Sorts" pitchFamily="2" charset="2"/>
              </a:rPr>
              <a:t> ④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引入杂质量大于共沉淀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</p:txBody>
      </p:sp>
      <p:sp>
        <p:nvSpPr>
          <p:cNvPr id="44043" name="左大括号 44042"/>
          <p:cNvSpPr>
            <a:spLocks/>
          </p:cNvSpPr>
          <p:nvPr/>
        </p:nvSpPr>
        <p:spPr bwMode="auto">
          <a:xfrm>
            <a:off x="683582" y="2902725"/>
            <a:ext cx="243953" cy="1355725"/>
          </a:xfrm>
          <a:prstGeom prst="leftBrace">
            <a:avLst>
              <a:gd name="adj1" fmla="val 610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44052" name="文本框 44051"/>
          <p:cNvSpPr txBox="1">
            <a:spLocks noChangeArrowheads="1"/>
          </p:cNvSpPr>
          <p:nvPr/>
        </p:nvSpPr>
        <p:spPr bwMode="auto">
          <a:xfrm>
            <a:off x="681968" y="4601184"/>
            <a:ext cx="3121615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减免后沉淀的方法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44053" name="矩形 44052"/>
          <p:cNvSpPr>
            <a:spLocks noChangeArrowheads="1"/>
          </p:cNvSpPr>
          <p:nvPr/>
        </p:nvSpPr>
        <p:spPr bwMode="auto">
          <a:xfrm>
            <a:off x="73786" y="5064463"/>
            <a:ext cx="96440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缩短沉淀与母液共存时间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沉淀后搅拌一定时间过滤分离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</p:txBody>
      </p:sp>
      <p:sp>
        <p:nvSpPr>
          <p:cNvPr id="1639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639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412972" y="288128"/>
            <a:ext cx="58007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后</a:t>
            </a:r>
            <a:r>
              <a:rPr lang="zh-CN" altLang="en-US" sz="2500" b="1" u="sng" dirty="0" smtClean="0">
                <a:solidFill>
                  <a:srgbClr val="FF3300"/>
                </a:solidFill>
                <a:ea typeface="楷体_GB2312" pitchFamily="49" charset="-122"/>
              </a:rPr>
              <a:t>沉淀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40284" y="821369"/>
            <a:ext cx="204201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后</a:t>
            </a:r>
            <a:r>
              <a:rPr lang="zh-CN" altLang="en-US" sz="2500" b="1" u="sng" dirty="0" smtClean="0">
                <a:solidFill>
                  <a:srgbClr val="FF3300"/>
                </a:solidFill>
                <a:ea typeface="楷体_GB2312" pitchFamily="49" charset="-122"/>
              </a:rPr>
              <a:t>沉淀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40284" y="1229356"/>
            <a:ext cx="10792677" cy="474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5041" tIns="44221" rIns="85041" bIns="44221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一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种组分沉淀以后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另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一原本难沉淀的组分在该沉淀表面析出沉淀的现象</a:t>
            </a:r>
            <a:endParaRPr lang="en-US" altLang="zh-CN" sz="25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4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4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4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4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4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4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2" grpId="0" build="p"/>
      <p:bldP spid="44052" grpId="0"/>
      <p:bldP spid="44053" grpId="0"/>
      <p:bldP spid="10" grpId="0"/>
      <p:bldP spid="9" grpId="0"/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78652"/>
              </p:ext>
            </p:extLst>
          </p:nvPr>
        </p:nvGraphicFramePr>
        <p:xfrm>
          <a:off x="2377085" y="1728107"/>
          <a:ext cx="7415895" cy="2735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189">
                  <a:extLst>
                    <a:ext uri="{9D8B030D-6E8A-4147-A177-3AD203B41FA5}">
                      <a16:colId xmlns:a16="http://schemas.microsoft.com/office/drawing/2014/main" val="227977331"/>
                    </a:ext>
                  </a:extLst>
                </a:gridCol>
                <a:gridCol w="1501427">
                  <a:extLst>
                    <a:ext uri="{9D8B030D-6E8A-4147-A177-3AD203B41FA5}">
                      <a16:colId xmlns:a16="http://schemas.microsoft.com/office/drawing/2014/main" val="2621372147"/>
                    </a:ext>
                  </a:extLst>
                </a:gridCol>
                <a:gridCol w="1696921">
                  <a:extLst>
                    <a:ext uri="{9D8B030D-6E8A-4147-A177-3AD203B41FA5}">
                      <a16:colId xmlns:a16="http://schemas.microsoft.com/office/drawing/2014/main" val="717990036"/>
                    </a:ext>
                  </a:extLst>
                </a:gridCol>
                <a:gridCol w="1483179">
                  <a:extLst>
                    <a:ext uri="{9D8B030D-6E8A-4147-A177-3AD203B41FA5}">
                      <a16:colId xmlns:a16="http://schemas.microsoft.com/office/drawing/2014/main" val="398480936"/>
                    </a:ext>
                  </a:extLst>
                </a:gridCol>
                <a:gridCol w="1483179">
                  <a:extLst>
                    <a:ext uri="{9D8B030D-6E8A-4147-A177-3AD203B41FA5}">
                      <a16:colId xmlns:a16="http://schemas.microsoft.com/office/drawing/2014/main" val="869125659"/>
                    </a:ext>
                  </a:extLst>
                </a:gridCol>
              </a:tblGrid>
              <a:tr h="54719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影响沉淀主要因素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概念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原因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减免方法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598254"/>
                  </a:ext>
                </a:extLst>
              </a:tr>
              <a:tr h="547193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共沉淀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表面吸附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289460"/>
                  </a:ext>
                </a:extLst>
              </a:tr>
              <a:tr h="547193">
                <a:tc v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吸留 包夹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44664"/>
                  </a:ext>
                </a:extLst>
              </a:tr>
              <a:tr h="547193">
                <a:tc v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混晶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685239"/>
                  </a:ext>
                </a:extLst>
              </a:tr>
              <a:tr h="54719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</a:rPr>
                        <a:t>继沉淀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52463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61112" y="144130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复习</a:t>
            </a:r>
            <a:endParaRPr lang="zh-CN" altLang="en-US" sz="3600" b="1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60481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9" name="文本框 56328"/>
          <p:cNvSpPr txBox="1">
            <a:spLocks noChangeArrowheads="1"/>
          </p:cNvSpPr>
          <p:nvPr/>
        </p:nvSpPr>
        <p:spPr bwMode="auto">
          <a:xfrm>
            <a:off x="760413" y="903288"/>
            <a:ext cx="407193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沉淀次序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6330" name="矩形 56329"/>
          <p:cNvSpPr>
            <a:spLocks noChangeArrowheads="1"/>
          </p:cNvSpPr>
          <p:nvPr/>
        </p:nvSpPr>
        <p:spPr bwMode="auto">
          <a:xfrm>
            <a:off x="760413" y="1311275"/>
            <a:ext cx="96440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分离含量相差悬殊的两种组分时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一般应先沉淀含量少的组分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</p:txBody>
      </p:sp>
      <p:sp>
        <p:nvSpPr>
          <p:cNvPr id="56333" name="矩形 56332"/>
          <p:cNvSpPr>
            <a:spLocks noChangeArrowheads="1"/>
          </p:cNvSpPr>
          <p:nvPr/>
        </p:nvSpPr>
        <p:spPr bwMode="auto">
          <a:xfrm>
            <a:off x="760413" y="4383088"/>
            <a:ext cx="18018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3.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沉淀方法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6334" name="矩形 56333"/>
          <p:cNvSpPr/>
          <p:nvPr/>
        </p:nvSpPr>
        <p:spPr>
          <a:xfrm>
            <a:off x="831850" y="2882900"/>
            <a:ext cx="4094391" cy="49936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45" b="1" noProof="1">
                <a:ea typeface="楷体_GB2312" panose="02010609030101010101" pitchFamily="49" charset="-122"/>
                <a:cs typeface="+mn-ea"/>
              </a:rPr>
              <a:t>　　</a:t>
            </a:r>
            <a:r>
              <a:rPr lang="zh-CN" altLang="en-US" sz="2645" b="1" u="sng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稀、热、慢、搅、陈</a:t>
            </a:r>
            <a:r>
              <a:rPr lang="en-US" altLang="zh-CN" sz="2645" b="1" noProof="1">
                <a:latin typeface="新宋体" panose="02010609030101010101" pitchFamily="49" charset="-122"/>
                <a:ea typeface="新宋体" panose="02010609030101010101" pitchFamily="49" charset="-122"/>
                <a:cs typeface="+mn-ea"/>
              </a:rPr>
              <a:t>.</a:t>
            </a:r>
            <a:endParaRPr lang="en-US" altLang="zh-CN" sz="2645" b="1" noProof="1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6335" name="矩形 56334"/>
          <p:cNvSpPr/>
          <p:nvPr/>
        </p:nvSpPr>
        <p:spPr>
          <a:xfrm>
            <a:off x="760413" y="3317875"/>
            <a:ext cx="2170787" cy="47705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(2)</a:t>
            </a:r>
            <a:r>
              <a:rPr lang="zh-CN" altLang="en-US" sz="2500" b="1" noProof="1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非定形</a:t>
            </a:r>
            <a:r>
              <a:rPr lang="zh-CN" altLang="en-US" sz="2500" b="1" noProof="1" smtClean="0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沉淀</a:t>
            </a:r>
            <a:endParaRPr lang="en-US" altLang="zh-CN" sz="2500" b="1" noProof="1">
              <a:effectLst>
                <a:outerShdw blurRad="38100" dist="38100" dir="2700000">
                  <a:srgbClr val="FFFFFF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56336" name="矩形 56335"/>
          <p:cNvSpPr>
            <a:spLocks noChangeArrowheads="1"/>
          </p:cNvSpPr>
          <p:nvPr/>
        </p:nvSpPr>
        <p:spPr bwMode="auto">
          <a:xfrm>
            <a:off x="760413" y="3883025"/>
            <a:ext cx="10429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浓、热、快、稀、不陈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且一般可加入易挥发电解质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 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必要时再沉淀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</a:p>
        </p:txBody>
      </p:sp>
      <p:sp>
        <p:nvSpPr>
          <p:cNvPr id="56343" name="矩形 56342"/>
          <p:cNvSpPr>
            <a:spLocks noChangeArrowheads="1"/>
          </p:cNvSpPr>
          <p:nvPr/>
        </p:nvSpPr>
        <p:spPr bwMode="auto">
          <a:xfrm>
            <a:off x="760413" y="1882775"/>
            <a:ext cx="18018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沉淀条件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6344" name="矩形 56343"/>
          <p:cNvSpPr>
            <a:spLocks noChangeArrowheads="1"/>
          </p:cNvSpPr>
          <p:nvPr/>
        </p:nvSpPr>
        <p:spPr bwMode="auto">
          <a:xfrm>
            <a:off x="760413" y="2382838"/>
            <a:ext cx="6199133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 smtClean="0">
                <a:solidFill>
                  <a:srgbClr val="FF33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晶形沉淀（防止过饱和 定向速率主导）</a:t>
            </a:r>
            <a:endParaRPr lang="en-US" altLang="zh-CN" sz="2500" b="1" dirty="0">
              <a:solidFill>
                <a:srgbClr val="FF33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6345" name="矩形 56344"/>
          <p:cNvSpPr>
            <a:spLocks noChangeArrowheads="1"/>
          </p:cNvSpPr>
          <p:nvPr/>
        </p:nvSpPr>
        <p:spPr bwMode="auto">
          <a:xfrm>
            <a:off x="760413" y="4949825"/>
            <a:ext cx="72707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除一般方法外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有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均相沉淀法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小体积沉淀法</a:t>
            </a:r>
            <a:r>
              <a:rPr lang="zh-CN" altLang="en-US" sz="2500" b="1" dirty="0">
                <a:ea typeface="楷体_GB2312" pitchFamily="49" charset="-122"/>
              </a:rPr>
              <a:t>等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7419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4.3.3 获得良好、纯净沉淀的主要措施</a:t>
            </a:r>
          </a:p>
        </p:txBody>
      </p:sp>
      <p:sp>
        <p:nvSpPr>
          <p:cNvPr id="17420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7421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75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75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/>
      <p:bldP spid="56330" grpId="0" build="p"/>
      <p:bldP spid="56333" grpId="0"/>
      <p:bldP spid="56334" grpId="0"/>
      <p:bldP spid="56335" grpId="0"/>
      <p:bldP spid="56336" grpId="0"/>
      <p:bldP spid="56343" grpId="0"/>
      <p:bldP spid="56344" grpId="0"/>
      <p:bldP spid="563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9" name="文本框 61448"/>
          <p:cNvSpPr txBox="1">
            <a:spLocks noChangeArrowheads="1"/>
          </p:cNvSpPr>
          <p:nvPr/>
        </p:nvSpPr>
        <p:spPr bwMode="auto">
          <a:xfrm>
            <a:off x="688975" y="954088"/>
            <a:ext cx="67357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均相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沉淀法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61450" name="矩形 61449"/>
          <p:cNvSpPr>
            <a:spLocks noChangeArrowheads="1"/>
          </p:cNvSpPr>
          <p:nvPr/>
        </p:nvSpPr>
        <p:spPr bwMode="auto">
          <a:xfrm>
            <a:off x="688975" y="1362075"/>
            <a:ext cx="10144125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　　控制一定的条件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使沉淀剂从溶液中缓慢、均匀地产生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        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沉淀剂的产生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　　酸碱反应、酯类和其它有机物的水解、配合物的水解以及氧化还原反应等方式产生</a:t>
            </a:r>
            <a:r>
              <a:rPr lang="en-US" altLang="zh-CN" sz="2500" b="1">
                <a:ea typeface="楷体_GB2312" pitchFamily="49" charset="-122"/>
              </a:rPr>
              <a:t>. </a:t>
            </a:r>
          </a:p>
        </p:txBody>
      </p:sp>
      <p:sp>
        <p:nvSpPr>
          <p:cNvPr id="61451" name="矩形 61450"/>
          <p:cNvSpPr>
            <a:spLocks noChangeArrowheads="1"/>
          </p:cNvSpPr>
          <p:nvPr/>
        </p:nvSpPr>
        <p:spPr bwMode="auto">
          <a:xfrm>
            <a:off x="811213" y="3371850"/>
            <a:ext cx="7921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Ca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</a:p>
        </p:txBody>
      </p:sp>
      <p:sp>
        <p:nvSpPr>
          <p:cNvPr id="61452" name="直接连接符 61451"/>
          <p:cNvSpPr>
            <a:spLocks noChangeShapeType="1"/>
          </p:cNvSpPr>
          <p:nvPr/>
        </p:nvSpPr>
        <p:spPr bwMode="auto">
          <a:xfrm>
            <a:off x="1592263" y="3538538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53" name="矩形 61452"/>
          <p:cNvSpPr/>
          <p:nvPr/>
        </p:nvSpPr>
        <p:spPr>
          <a:xfrm>
            <a:off x="1795463" y="3097213"/>
            <a:ext cx="1341437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酸性介质</a:t>
            </a:r>
            <a:endParaRPr lang="zh-CN" altLang="en-US" sz="2270" b="1" noProof="1">
              <a:ea typeface="楷体_GB2312" panose="02010609030101010101" pitchFamily="49" charset="-122"/>
            </a:endParaRPr>
          </a:p>
        </p:txBody>
      </p:sp>
      <p:sp>
        <p:nvSpPr>
          <p:cNvPr id="61454" name="矩形 61453"/>
          <p:cNvSpPr/>
          <p:nvPr/>
        </p:nvSpPr>
        <p:spPr>
          <a:xfrm>
            <a:off x="1457325" y="3538538"/>
            <a:ext cx="226695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(NH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)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C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O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,</a:t>
            </a: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尿素</a:t>
            </a:r>
            <a:endParaRPr lang="zh-CN" altLang="en-US" sz="2270" b="1" noProof="1">
              <a:ea typeface="楷体_GB2312" panose="02010609030101010101" pitchFamily="49" charset="-122"/>
            </a:endParaRPr>
          </a:p>
        </p:txBody>
      </p:sp>
      <p:sp>
        <p:nvSpPr>
          <p:cNvPr id="61456" name="直接连接符 61455"/>
          <p:cNvSpPr>
            <a:spLocks noChangeShapeType="1"/>
          </p:cNvSpPr>
          <p:nvPr/>
        </p:nvSpPr>
        <p:spPr bwMode="auto">
          <a:xfrm>
            <a:off x="3735388" y="3538538"/>
            <a:ext cx="170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57" name="矩形 61456"/>
          <p:cNvSpPr/>
          <p:nvPr/>
        </p:nvSpPr>
        <p:spPr>
          <a:xfrm>
            <a:off x="3903663" y="3097213"/>
            <a:ext cx="1341437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90~100℃</a:t>
            </a:r>
            <a:endParaRPr lang="en-US" altLang="zh-CN" sz="2270" b="1" noProof="1">
              <a:ea typeface="楷体_GB2312" panose="02010609030101010101" pitchFamily="49" charset="-122"/>
            </a:endParaRPr>
          </a:p>
        </p:txBody>
      </p:sp>
      <p:sp>
        <p:nvSpPr>
          <p:cNvPr id="61458" name="矩形 61457"/>
          <p:cNvSpPr/>
          <p:nvPr/>
        </p:nvSpPr>
        <p:spPr>
          <a:xfrm>
            <a:off x="3633788" y="3538538"/>
            <a:ext cx="2147887" cy="436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尿素缓慢水解</a:t>
            </a:r>
            <a:endParaRPr lang="zh-CN" altLang="en-US" sz="2270" b="1" noProof="1">
              <a:ea typeface="楷体_GB2312" panose="02010609030101010101" pitchFamily="49" charset="-122"/>
            </a:endParaRPr>
          </a:p>
        </p:txBody>
      </p:sp>
      <p:sp>
        <p:nvSpPr>
          <p:cNvPr id="61459" name="矩形 61458"/>
          <p:cNvSpPr>
            <a:spLocks noChangeArrowheads="1"/>
          </p:cNvSpPr>
          <p:nvPr/>
        </p:nvSpPr>
        <p:spPr bwMode="auto">
          <a:xfrm>
            <a:off x="5572125" y="3168650"/>
            <a:ext cx="2239963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缓慢均匀生成</a:t>
            </a:r>
            <a:r>
              <a:rPr lang="en-US" altLang="zh-CN" sz="2500" b="1" dirty="0">
                <a:ea typeface="楷体_GB2312" pitchFamily="49" charset="-122"/>
              </a:rPr>
              <a:t>CaC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61460" name="矩形 61459"/>
          <p:cNvSpPr>
            <a:spLocks noChangeArrowheads="1"/>
          </p:cNvSpPr>
          <p:nvPr/>
        </p:nvSpPr>
        <p:spPr bwMode="auto">
          <a:xfrm>
            <a:off x="1831975" y="4097338"/>
            <a:ext cx="4548188" cy="67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60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                       </a:t>
            </a:r>
          </a:p>
          <a:p>
            <a:pPr eaLnBrk="1" hangingPunct="1">
              <a:lnSpc>
                <a:spcPct val="60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CO(NH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→2NH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CO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8445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4.3.3 获得良好、纯净沉淀的主要措施</a:t>
            </a:r>
          </a:p>
        </p:txBody>
      </p:sp>
      <p:sp>
        <p:nvSpPr>
          <p:cNvPr id="1844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8447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1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9" grpId="0"/>
      <p:bldP spid="61450" grpId="0" build="p"/>
      <p:bldP spid="61451" grpId="0"/>
      <p:bldP spid="61452" grpId="0" animBg="1"/>
      <p:bldP spid="61453" grpId="0"/>
      <p:bldP spid="61454" grpId="0"/>
      <p:bldP spid="61456" grpId="0" animBg="1"/>
      <p:bldP spid="61457" grpId="0"/>
      <p:bldP spid="61458" grpId="0"/>
      <p:bldP spid="61459" grpId="0"/>
      <p:bldP spid="6146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7" name="文本框 39946"/>
          <p:cNvSpPr txBox="1">
            <a:spLocks noChangeArrowheads="1"/>
          </p:cNvSpPr>
          <p:nvPr/>
        </p:nvSpPr>
        <p:spPr bwMode="auto">
          <a:xfrm>
            <a:off x="903288" y="2465388"/>
            <a:ext cx="5224462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除以上措施外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还可以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39948" name="矩形 39947"/>
          <p:cNvSpPr>
            <a:spLocks noChangeArrowheads="1"/>
          </p:cNvSpPr>
          <p:nvPr/>
        </p:nvSpPr>
        <p:spPr bwMode="auto">
          <a:xfrm>
            <a:off x="1303338" y="2968625"/>
            <a:ext cx="3157537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被吸附离子的浓度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有机沉淀剂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洗涤剂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④</a:t>
            </a:r>
            <a:r>
              <a:rPr lang="zh-CN" altLang="en-US" sz="2500" b="1">
                <a:ea typeface="楷体_GB2312" pitchFamily="49" charset="-122"/>
              </a:rPr>
              <a:t>再沉淀或重结晶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39950" name="矩形 39949"/>
          <p:cNvSpPr>
            <a:spLocks noChangeArrowheads="1"/>
          </p:cNvSpPr>
          <p:nvPr/>
        </p:nvSpPr>
        <p:spPr bwMode="auto">
          <a:xfrm>
            <a:off x="903288" y="1025525"/>
            <a:ext cx="1113801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不足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9951" name="矩形 39950"/>
          <p:cNvSpPr>
            <a:spLocks noChangeArrowheads="1"/>
          </p:cNvSpPr>
          <p:nvPr/>
        </p:nvSpPr>
        <p:spPr bwMode="auto">
          <a:xfrm>
            <a:off x="1358900" y="1576388"/>
            <a:ext cx="61595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沉淀易积在器壁上难取下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对混晶和后沉淀没多大改善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有时会加重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9952" name="左大括号 39951"/>
          <p:cNvSpPr>
            <a:spLocks/>
          </p:cNvSpPr>
          <p:nvPr/>
        </p:nvSpPr>
        <p:spPr bwMode="auto">
          <a:xfrm>
            <a:off x="1190625" y="1673225"/>
            <a:ext cx="142875" cy="504825"/>
          </a:xfrm>
          <a:prstGeom prst="leftBrace">
            <a:avLst>
              <a:gd name="adj1" fmla="val 293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19463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4.3.3 获得良好、纯净沉淀的主要措施</a:t>
            </a:r>
          </a:p>
        </p:txBody>
      </p:sp>
      <p:sp>
        <p:nvSpPr>
          <p:cNvPr id="3" name="左大括号 2"/>
          <p:cNvSpPr>
            <a:spLocks/>
          </p:cNvSpPr>
          <p:nvPr/>
        </p:nvSpPr>
        <p:spPr bwMode="auto">
          <a:xfrm>
            <a:off x="1158875" y="3128963"/>
            <a:ext cx="144463" cy="1296987"/>
          </a:xfrm>
          <a:prstGeom prst="leftBrace">
            <a:avLst>
              <a:gd name="adj1" fmla="val 745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19465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1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9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9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9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9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/>
      <p:bldP spid="39948" grpId="0" build="p"/>
      <p:bldP spid="39950" grpId="0"/>
      <p:bldP spid="39951" grpId="0" build="p"/>
    </p:bldLst>
  </p:timing>
</p:sld>
</file>

<file path=ppt/theme/theme1.xml><?xml version="1.0" encoding="utf-8"?>
<a:theme xmlns:a="http://schemas.openxmlformats.org/drawingml/2006/main" name="医学研究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688</TotalTime>
  <Pages>0</Pages>
  <Words>1305</Words>
  <Characters>0</Characters>
  <Application>Microsoft Office PowerPoint</Application>
  <DocSecurity>0</DocSecurity>
  <PresentationFormat>自定义</PresentationFormat>
  <Lines>0</Lines>
  <Paragraphs>228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Batang</vt:lpstr>
      <vt:lpstr>Monotype Sorts</vt:lpstr>
      <vt:lpstr>黑体</vt:lpstr>
      <vt:lpstr>楷体</vt:lpstr>
      <vt:lpstr>楷体_GB2312</vt:lpstr>
      <vt:lpstr>宋体</vt:lpstr>
      <vt:lpstr>微软雅黑</vt:lpstr>
      <vt:lpstr>新宋体</vt:lpstr>
      <vt:lpstr>造字工房悦黑体验版纤细体</vt:lpstr>
      <vt:lpstr>Arial</vt:lpstr>
      <vt:lpstr>Calibri</vt:lpstr>
      <vt:lpstr>Symbol</vt:lpstr>
      <vt:lpstr>Times New Roman</vt:lpstr>
      <vt:lpstr>Wingdings</vt:lpstr>
      <vt:lpstr>医学研究PPT模板</vt:lpstr>
      <vt:lpstr>1_医学研究PPT模板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ch04-03</dc:title>
  <dc:subject/>
  <dc:creator>江南大学</dc:creator>
  <cp:keywords/>
  <dc:description/>
  <cp:lastModifiedBy>USER</cp:lastModifiedBy>
  <cp:revision>362</cp:revision>
  <dcterms:created xsi:type="dcterms:W3CDTF">2012-06-20T03:37:37Z</dcterms:created>
  <dcterms:modified xsi:type="dcterms:W3CDTF">2021-10-21T01:14:30Z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2052-10.1.0.6156</vt:lpwstr>
  </property>
</Properties>
</file>